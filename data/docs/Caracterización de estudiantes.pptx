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7.xml" ContentType="application/vnd.openxmlformats-officedocument.presentationml.slide+xml"/>
  <Override PartName="/ppt/slides/slide5.xml" ContentType="application/vnd.openxmlformats-officedocument.presentationml.slide+xml"/>
  <Override PartName="/ppt/slides/slide9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customXml/itemProps2.xml" ContentType="application/vnd.openxmlformats-officedocument.customXmlProperties+xml"/>
  <Override PartName="/customXml/itemProps1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9" r:id="rId2"/>
    <p:sldId id="265" r:id="rId3"/>
    <p:sldId id="266" r:id="rId4"/>
    <p:sldId id="268" r:id="rId5"/>
    <p:sldId id="267" r:id="rId6"/>
    <p:sldId id="269" r:id="rId7"/>
    <p:sldId id="270" r:id="rId8"/>
    <p:sldId id="271" r:id="rId9"/>
    <p:sldId id="273" r:id="rId10"/>
  </p:sldIdLst>
  <p:sldSz cx="9144000" cy="6858000" type="screen4x3"/>
  <p:notesSz cx="6858000" cy="9144000"/>
  <p:defaultTextStyle>
    <a:defPPr>
      <a:defRPr lang="es-ES_tradnl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A713"/>
    <a:srgbClr val="36A1B0"/>
    <a:srgbClr val="DAA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156" autoAdjust="0"/>
    <p:restoredTop sz="98669" autoAdjust="0"/>
  </p:normalViewPr>
  <p:slideViewPr>
    <p:cSldViewPr snapToGrid="0" snapToObjects="1" showGuides="1">
      <p:cViewPr>
        <p:scale>
          <a:sx n="100" d="100"/>
          <a:sy n="100" d="100"/>
        </p:scale>
        <p:origin x="-762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9A2449-1130-4ACF-ADCA-85FECFA74E72}" type="datetimeFigureOut">
              <a:rPr lang="es-CO" smtClean="0"/>
              <a:t>28/02/2018</a:t>
            </a:fld>
            <a:endParaRPr lang="es-CO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s-CO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FC2F0-45E8-461B-87BF-1D692BC061F3}" type="slidenum">
              <a:rPr lang="es-CO" smtClean="0"/>
              <a:t>‹Nº›</a:t>
            </a:fld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2465125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1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smtClean="0"/>
              <a:t>Haga clic para modificar el estilo de subtítulo del patrón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28/02/2018</a:t>
            </a:fld>
            <a:endParaRPr lang="es-ES_tradnl" dirty="0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28/02/2018</a:t>
            </a:fld>
            <a:endParaRPr lang="es-ES_tradnl" dirty="0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28/02/2018</a:t>
            </a:fld>
            <a:endParaRPr lang="es-ES_tradnl" dirty="0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3575051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_tradnl" dirty="0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28/02/2018</a:t>
            </a:fld>
            <a:endParaRPr lang="es-ES_tradnl" dirty="0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61042-ED87-624F-A482-39FD6CCADDD3}" type="datetimeFigureOut">
              <a:rPr lang="es-ES_tradnl" smtClean="0"/>
              <a:t>28/02/2018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1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smtClean="0"/>
              <a:t>Clic para editar título</a:t>
            </a:r>
            <a:endParaRPr lang="es-ES_tradnl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1" y="1600202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_tradnl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457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61042-ED87-624F-A482-39FD6CCADDD3}" type="datetimeFigureOut">
              <a:rPr lang="es-ES_tradnl" smtClean="0"/>
              <a:t>28/02/2018</a:t>
            </a:fld>
            <a:endParaRPr lang="es-ES_tradnl" dirty="0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_tradnl" dirty="0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6553201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B36C7-147F-BE48-BF2A-05180A33B9E4}" type="slidenum">
              <a:rPr lang="es-ES_tradnl" smtClean="0"/>
              <a:t>‹Nº›</a:t>
            </a:fld>
            <a:endParaRPr lang="es-ES_tradn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_tradnl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www.unisimon.edu.co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1"/>
          <p:cNvSpPr txBox="1"/>
          <p:nvPr/>
        </p:nvSpPr>
        <p:spPr>
          <a:xfrm>
            <a:off x="977900" y="2357742"/>
            <a:ext cx="741680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SIAAF WEB</a:t>
            </a:r>
            <a:endParaRPr lang="es-CO" sz="2800" b="1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endParaRPr lang="es-CO" sz="2800" b="1" dirty="0" smtClean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8100000" algn="tr" rotWithShape="0">
                  <a:prstClr val="black">
                    <a:alpha val="40000"/>
                  </a:prstClr>
                </a:outerShdw>
              </a:effectLst>
            </a:endParaRPr>
          </a:p>
          <a:p>
            <a:pPr algn="ctr"/>
            <a:r>
              <a:rPr lang="es-CO" sz="2800" b="1" dirty="0" smtClean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8100000" algn="tr" rotWithShape="0">
                    <a:prstClr val="black">
                      <a:alpha val="40000"/>
                    </a:prstClr>
                  </a:outerShdw>
                </a:effectLst>
              </a:rPr>
              <a:t>INSTRUCTIVO PARA GENERAR EL REPORTE DE CARACTERIZACIÓN DE ESTUDIANTES</a:t>
            </a:r>
          </a:p>
        </p:txBody>
      </p:sp>
    </p:spTree>
    <p:extLst>
      <p:ext uri="{BB962C8B-B14F-4D97-AF65-F5344CB8AC3E}">
        <p14:creationId xmlns:p14="http://schemas.microsoft.com/office/powerpoint/2010/main" val="3314379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9" y="2003836"/>
            <a:ext cx="8386529" cy="41564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Ingrese desde su navegador al sitio web de la Universidad: </a:t>
            </a:r>
            <a:r>
              <a:rPr lang="es-CO" sz="1600" dirty="0" smtClean="0">
                <a:hlinkClick r:id="rId3"/>
              </a:rPr>
              <a:t>http://www.unisimon.edu.co/</a:t>
            </a:r>
            <a:r>
              <a:rPr lang="es-CO" sz="1600" dirty="0"/>
              <a:t> y </a:t>
            </a:r>
            <a:r>
              <a:rPr lang="es-CO" sz="1600" dirty="0" smtClean="0"/>
              <a:t>seleccione en menú </a:t>
            </a:r>
            <a:r>
              <a:rPr lang="es-CO" sz="1600" dirty="0"/>
              <a:t>principal la opción </a:t>
            </a:r>
            <a:r>
              <a:rPr lang="es-CO" sz="1600" dirty="0" smtClean="0"/>
              <a:t>«Portales»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397011" y="2634125"/>
            <a:ext cx="472299" cy="324000"/>
          </a:xfrm>
          <a:prstGeom prst="roundRect">
            <a:avLst/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78683" y="1731372"/>
            <a:ext cx="1888511" cy="1074691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63645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529" y="2074528"/>
            <a:ext cx="8331199" cy="412900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Dirigirse a la sección «Portal Profesores y Administrativos»</a:t>
            </a:r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3309996" y="3912705"/>
            <a:ext cx="2524273" cy="1861930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72000" y="1484912"/>
            <a:ext cx="0" cy="2371471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</p:spTree>
    <p:extLst>
      <p:ext uri="{BB962C8B-B14F-4D97-AF65-F5344CB8AC3E}">
        <p14:creationId xmlns:p14="http://schemas.microsoft.com/office/powerpoint/2010/main" val="1372675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200" y="2047108"/>
            <a:ext cx="8386528" cy="415642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Digite su </a:t>
            </a:r>
            <a:r>
              <a:rPr lang="es-CO" sz="1600" dirty="0"/>
              <a:t>usuario y contraseña para acceder al sistema y luego presione sobre el botón </a:t>
            </a:r>
            <a:r>
              <a:rPr lang="es-CO" sz="1600" dirty="0" smtClean="0"/>
              <a:t>«Acceder»</a:t>
            </a:r>
            <a:endParaRPr lang="es-CO" sz="1600" dirty="0"/>
          </a:p>
          <a:p>
            <a:pPr algn="ctr"/>
            <a:endParaRPr lang="es-CO" sz="1600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639957" y="4276311"/>
            <a:ext cx="3130826" cy="105354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7" name="6 Grupo"/>
          <p:cNvGrpSpPr/>
          <p:nvPr/>
        </p:nvGrpSpPr>
        <p:grpSpPr>
          <a:xfrm>
            <a:off x="4774025" y="1590261"/>
            <a:ext cx="801827" cy="3269974"/>
            <a:chOff x="5729176" y="1775902"/>
            <a:chExt cx="1191284" cy="1140874"/>
          </a:xfrm>
        </p:grpSpPr>
        <p:cxnSp>
          <p:nvCxnSpPr>
            <p:cNvPr id="8" name="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9" name="8 Conector recto de flecha"/>
            <p:cNvCxnSpPr/>
            <p:nvPr/>
          </p:nvCxnSpPr>
          <p:spPr>
            <a:xfrm flipH="1">
              <a:off x="5729176" y="2901696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10" name="CuadroTexto 1"/>
          <p:cNvSpPr txBox="1"/>
          <p:nvPr/>
        </p:nvSpPr>
        <p:spPr>
          <a:xfrm>
            <a:off x="0" y="719442"/>
            <a:ext cx="91440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200" b="1" dirty="0" smtClean="0"/>
              <a:t>Acceso</a:t>
            </a:r>
            <a:endParaRPr lang="es-CO" sz="2200" b="1" dirty="0"/>
          </a:p>
        </p:txBody>
      </p:sp>
    </p:spTree>
    <p:extLst>
      <p:ext uri="{BB962C8B-B14F-4D97-AF65-F5344CB8AC3E}">
        <p14:creationId xmlns:p14="http://schemas.microsoft.com/office/powerpoint/2010/main" val="41602398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9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Luego de ingresar </a:t>
            </a:r>
            <a:r>
              <a:rPr lang="es-CO" sz="1600" dirty="0" smtClean="0"/>
              <a:t>al sistema deberá </a:t>
            </a:r>
            <a:r>
              <a:rPr lang="es-CO" sz="1600" dirty="0"/>
              <a:t>seleccionar el módulo </a:t>
            </a:r>
            <a:r>
              <a:rPr lang="es-CO" sz="1600" dirty="0" smtClean="0"/>
              <a:t>«Estadísticas Institucionales»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 flipH="1">
            <a:off x="4416552" y="1603320"/>
            <a:ext cx="2421716" cy="1823804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6838268" y="3003631"/>
            <a:ext cx="1200832" cy="846987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954507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975" y="1762208"/>
            <a:ext cx="8400178" cy="415089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En la sección «</a:t>
            </a:r>
            <a:r>
              <a:rPr lang="es-CO" sz="1600" dirty="0" smtClean="0"/>
              <a:t>Bienestar institucional</a:t>
            </a:r>
            <a:r>
              <a:rPr lang="es-CO" sz="1600" dirty="0" smtClean="0"/>
              <a:t>» seleccionar la sede en la cual generará el reporte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4780425" y="1447801"/>
            <a:ext cx="505888" cy="2249718"/>
            <a:chOff x="5729176" y="1781163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81163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80198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2247900" y="3040207"/>
            <a:ext cx="2524125" cy="1257473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0855297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3086" y="1748979"/>
            <a:ext cx="8425067" cy="416319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/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 smtClean="0"/>
              <a:t>Módulo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el reporte </a:t>
            </a:r>
            <a:r>
              <a:rPr lang="es-CO" sz="1600" dirty="0" smtClean="0"/>
              <a:t>presionar el </a:t>
            </a:r>
            <a:r>
              <a:rPr lang="es-CO" sz="1600" dirty="0" smtClean="0"/>
              <a:t>botón «Ver» </a:t>
            </a:r>
            <a:r>
              <a:rPr lang="es-CO" sz="1600" dirty="0" smtClean="0"/>
              <a:t>en </a:t>
            </a:r>
            <a:r>
              <a:rPr lang="es-CO" sz="1600" dirty="0" smtClean="0"/>
              <a:t>la sección «</a:t>
            </a:r>
            <a:r>
              <a:rPr lang="es-CO" sz="1600" dirty="0"/>
              <a:t>Caracterización de </a:t>
            </a:r>
            <a:r>
              <a:rPr lang="es-CO" sz="1600" dirty="0" smtClean="0"/>
              <a:t>estudiantes»</a:t>
            </a:r>
            <a:endParaRPr lang="es-CO" sz="1600" dirty="0"/>
          </a:p>
        </p:txBody>
      </p:sp>
      <p:grpSp>
        <p:nvGrpSpPr>
          <p:cNvPr id="17" name="16 Grupo"/>
          <p:cNvGrpSpPr/>
          <p:nvPr/>
        </p:nvGrpSpPr>
        <p:grpSpPr>
          <a:xfrm>
            <a:off x="5150581" y="1504791"/>
            <a:ext cx="385516" cy="2106054"/>
            <a:chOff x="5729176" y="1775902"/>
            <a:chExt cx="1191284" cy="1140874"/>
          </a:xfrm>
        </p:grpSpPr>
        <p:cxnSp>
          <p:nvCxnSpPr>
            <p:cNvPr id="18" name="17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20" name="19 Conector recto de flecha"/>
            <p:cNvCxnSpPr/>
            <p:nvPr/>
          </p:nvCxnSpPr>
          <p:spPr>
            <a:xfrm flipH="1">
              <a:off x="5729176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  <p:sp>
        <p:nvSpPr>
          <p:cNvPr id="9" name="7 Rectángulo"/>
          <p:cNvSpPr/>
          <p:nvPr/>
        </p:nvSpPr>
        <p:spPr>
          <a:xfrm>
            <a:off x="7752168" y="1816032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0" name="7 Rectángulo"/>
          <p:cNvSpPr/>
          <p:nvPr/>
        </p:nvSpPr>
        <p:spPr>
          <a:xfrm>
            <a:off x="5724525" y="1952766"/>
            <a:ext cx="1193110" cy="9478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847088" y="2858409"/>
            <a:ext cx="3261625" cy="1504870"/>
          </a:xfrm>
          <a:prstGeom prst="roundRect">
            <a:avLst>
              <a:gd name="adj" fmla="val 6939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7752071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8" y="1952765"/>
            <a:ext cx="8377952" cy="41521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 smtClean="0"/>
              <a:t>Reporte por Cantidades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Seleccionar el </a:t>
            </a:r>
            <a:r>
              <a:rPr lang="es-CO" sz="1600" dirty="0"/>
              <a:t>a</a:t>
            </a:r>
            <a:r>
              <a:rPr lang="es-CO" sz="1600" dirty="0" smtClean="0"/>
              <a:t>ño, periodo y filtro, </a:t>
            </a:r>
            <a:r>
              <a:rPr lang="es-CO" sz="1600" dirty="0" smtClean="0"/>
              <a:t>para este caso los filtros a generar serán: «Distribución por grupo étnico</a:t>
            </a:r>
            <a:r>
              <a:rPr lang="es-CO" sz="1600" dirty="0" smtClean="0"/>
              <a:t>» y </a:t>
            </a:r>
            <a:r>
              <a:rPr lang="es-CO" sz="1600" dirty="0"/>
              <a:t>«Distribución por </a:t>
            </a:r>
            <a:r>
              <a:rPr lang="es-CO" sz="1600" dirty="0" smtClean="0"/>
              <a:t>discapacidad» para obtener las cantidades de estudiantes por programas</a:t>
            </a:r>
            <a:endParaRPr lang="es-CO" sz="1600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19174" y="1952765"/>
            <a:ext cx="1" cy="108617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7 Rectángulo"/>
          <p:cNvSpPr/>
          <p:nvPr/>
        </p:nvSpPr>
        <p:spPr>
          <a:xfrm>
            <a:off x="7752168" y="1992900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847088" y="3057228"/>
            <a:ext cx="5742432" cy="52120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10" name="CuadroTexto 2"/>
          <p:cNvSpPr txBox="1"/>
          <p:nvPr/>
        </p:nvSpPr>
        <p:spPr>
          <a:xfrm>
            <a:off x="330198" y="6197841"/>
            <a:ext cx="83779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El reporte se podrá </a:t>
            </a:r>
            <a:r>
              <a:rPr lang="es-CO" sz="1600" dirty="0" smtClean="0"/>
              <a:t>imprimir </a:t>
            </a:r>
            <a:r>
              <a:rPr lang="es-CO" sz="1600" dirty="0"/>
              <a:t>y generar el un documento en Excel, para ello seleccione el botón correspondiente a la acción deseada</a:t>
            </a:r>
          </a:p>
        </p:txBody>
      </p:sp>
      <p:sp>
        <p:nvSpPr>
          <p:cNvPr id="11" name="10 Rectángulo redondeado"/>
          <p:cNvSpPr/>
          <p:nvPr/>
        </p:nvSpPr>
        <p:spPr>
          <a:xfrm>
            <a:off x="7077456" y="3703320"/>
            <a:ext cx="1389888" cy="265176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2" name="11 Grupo"/>
          <p:cNvGrpSpPr/>
          <p:nvPr/>
        </p:nvGrpSpPr>
        <p:grpSpPr>
          <a:xfrm flipH="1" flipV="1">
            <a:off x="4519174" y="3835908"/>
            <a:ext cx="2530849" cy="2361932"/>
            <a:chOff x="5733543" y="1775902"/>
            <a:chExt cx="1191284" cy="1140874"/>
          </a:xfrm>
        </p:grpSpPr>
        <p:cxnSp>
          <p:nvCxnSpPr>
            <p:cNvPr id="13" name="12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4" name="13 Conector recto de flecha"/>
            <p:cNvCxnSpPr/>
            <p:nvPr/>
          </p:nvCxnSpPr>
          <p:spPr>
            <a:xfrm flipH="1">
              <a:off x="5733543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21684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0198" y="1952765"/>
            <a:ext cx="8377952" cy="415217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uadroTexto 1"/>
          <p:cNvSpPr txBox="1"/>
          <p:nvPr/>
        </p:nvSpPr>
        <p:spPr>
          <a:xfrm>
            <a:off x="0" y="719442"/>
            <a:ext cx="9144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2000" b="1" dirty="0" smtClean="0"/>
              <a:t>Reporte Detallado</a:t>
            </a:r>
            <a:endParaRPr lang="es-CO" sz="2200" b="1" dirty="0"/>
          </a:p>
        </p:txBody>
      </p:sp>
      <p:sp>
        <p:nvSpPr>
          <p:cNvPr id="3" name="CuadroTexto 2"/>
          <p:cNvSpPr txBox="1"/>
          <p:nvPr/>
        </p:nvSpPr>
        <p:spPr>
          <a:xfrm>
            <a:off x="330200" y="1166236"/>
            <a:ext cx="8483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 smtClean="0"/>
              <a:t>Para generar el detalle de cada estudiante se deberá seleccionar el </a:t>
            </a:r>
            <a:r>
              <a:rPr lang="es-CO" sz="1600" dirty="0"/>
              <a:t>a</a:t>
            </a:r>
            <a:r>
              <a:rPr lang="es-CO" sz="1600" dirty="0" smtClean="0"/>
              <a:t>ño, periodo y filtro, </a:t>
            </a:r>
            <a:r>
              <a:rPr lang="es-CO" sz="1600" dirty="0" smtClean="0"/>
              <a:t>para este caso los filtros a generar serán «Distribución por grupo étnico detallado</a:t>
            </a:r>
            <a:r>
              <a:rPr lang="es-CO" sz="1600" dirty="0" smtClean="0"/>
              <a:t>» y </a:t>
            </a:r>
            <a:r>
              <a:rPr lang="es-CO" sz="1600" dirty="0"/>
              <a:t>«Distribución por </a:t>
            </a:r>
            <a:r>
              <a:rPr lang="es-CO" sz="1600" dirty="0" smtClean="0"/>
              <a:t>discapacidad</a:t>
            </a:r>
            <a:r>
              <a:rPr lang="es-CO" sz="1600" dirty="0"/>
              <a:t> detallado</a:t>
            </a:r>
            <a:r>
              <a:rPr lang="es-CO" sz="1600" dirty="0" smtClean="0"/>
              <a:t>»</a:t>
            </a:r>
            <a:endParaRPr lang="es-CO" sz="1600" dirty="0"/>
          </a:p>
        </p:txBody>
      </p:sp>
      <p:cxnSp>
        <p:nvCxnSpPr>
          <p:cNvPr id="18" name="17 Conector recto de flecha"/>
          <p:cNvCxnSpPr/>
          <p:nvPr/>
        </p:nvCxnSpPr>
        <p:spPr>
          <a:xfrm>
            <a:off x="4519174" y="1952765"/>
            <a:ext cx="1" cy="1086175"/>
          </a:xfrm>
          <a:prstGeom prst="straightConnector1">
            <a:avLst/>
          </a:prstGeom>
          <a:ln>
            <a:solidFill>
              <a:srgbClr val="36A1B0"/>
            </a:solidFill>
            <a:tailEnd type="arrow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9" name="7 Rectángulo"/>
          <p:cNvSpPr/>
          <p:nvPr/>
        </p:nvSpPr>
        <p:spPr>
          <a:xfrm>
            <a:off x="7752168" y="1992900"/>
            <a:ext cx="573865" cy="18956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s-ES_tradnl"/>
            </a:defPPr>
            <a:lvl1pPr marL="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s-CO" dirty="0"/>
          </a:p>
        </p:txBody>
      </p:sp>
      <p:sp>
        <p:nvSpPr>
          <p:cNvPr id="15" name="14 Rectángulo redondeado"/>
          <p:cNvSpPr/>
          <p:nvPr/>
        </p:nvSpPr>
        <p:spPr>
          <a:xfrm>
            <a:off x="1847088" y="3057228"/>
            <a:ext cx="5742432" cy="521208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sp>
        <p:nvSpPr>
          <p:cNvPr id="8" name="CuadroTexto 2"/>
          <p:cNvSpPr txBox="1"/>
          <p:nvPr/>
        </p:nvSpPr>
        <p:spPr>
          <a:xfrm>
            <a:off x="330198" y="6197841"/>
            <a:ext cx="83779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1600" dirty="0"/>
              <a:t>El reporte se podrá </a:t>
            </a:r>
            <a:r>
              <a:rPr lang="es-CO" sz="1600" dirty="0" smtClean="0"/>
              <a:t>imprimir </a:t>
            </a:r>
            <a:r>
              <a:rPr lang="es-CO" sz="1600" dirty="0"/>
              <a:t>y generar el un documento en Excel, para ello seleccione el botón correspondiente a la acción deseada</a:t>
            </a:r>
          </a:p>
        </p:txBody>
      </p:sp>
      <p:sp>
        <p:nvSpPr>
          <p:cNvPr id="10" name="9 Rectángulo redondeado"/>
          <p:cNvSpPr/>
          <p:nvPr/>
        </p:nvSpPr>
        <p:spPr>
          <a:xfrm>
            <a:off x="7077456" y="3703320"/>
            <a:ext cx="1389888" cy="265176"/>
          </a:xfrm>
          <a:prstGeom prst="roundRect">
            <a:avLst>
              <a:gd name="adj" fmla="val 12223"/>
            </a:avLst>
          </a:prstGeom>
          <a:noFill/>
          <a:ln w="19050">
            <a:solidFill>
              <a:srgbClr val="F9A713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O" dirty="0"/>
          </a:p>
        </p:txBody>
      </p:sp>
      <p:grpSp>
        <p:nvGrpSpPr>
          <p:cNvPr id="11" name="10 Grupo"/>
          <p:cNvGrpSpPr/>
          <p:nvPr/>
        </p:nvGrpSpPr>
        <p:grpSpPr>
          <a:xfrm flipH="1" flipV="1">
            <a:off x="4519174" y="3835908"/>
            <a:ext cx="2530849" cy="2361932"/>
            <a:chOff x="5733543" y="1775902"/>
            <a:chExt cx="1191284" cy="1140874"/>
          </a:xfrm>
        </p:grpSpPr>
        <p:cxnSp>
          <p:nvCxnSpPr>
            <p:cNvPr id="12" name="11 Conector recto de flecha"/>
            <p:cNvCxnSpPr/>
            <p:nvPr/>
          </p:nvCxnSpPr>
          <p:spPr>
            <a:xfrm>
              <a:off x="6917811" y="1775902"/>
              <a:ext cx="0" cy="1140874"/>
            </a:xfrm>
            <a:prstGeom prst="straightConnector1">
              <a:avLst/>
            </a:prstGeom>
            <a:ln>
              <a:solidFill>
                <a:srgbClr val="36A1B0"/>
              </a:solidFill>
              <a:tailEnd type="none"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3" name="12 Conector recto de flecha"/>
            <p:cNvCxnSpPr/>
            <p:nvPr/>
          </p:nvCxnSpPr>
          <p:spPr>
            <a:xfrm flipH="1">
              <a:off x="5733543" y="2914449"/>
              <a:ext cx="1191284" cy="0"/>
            </a:xfrm>
            <a:prstGeom prst="straightConnector1">
              <a:avLst/>
            </a:prstGeom>
            <a:ln>
              <a:solidFill>
                <a:srgbClr val="36A1B0"/>
              </a:solidFill>
              <a:headEnd type="none"/>
              <a:tailEnd type="arrow"/>
            </a:ln>
            <a:effectLst>
              <a:outerShdw blurRad="50800" dist="38100" dir="5400000" algn="t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4224654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71F020BE888BB4AB316B9373C8B4F2E" ma:contentTypeVersion="16" ma:contentTypeDescription="Create a new document." ma:contentTypeScope="" ma:versionID="d4dd329fb7aefe8f0833961973de1dd5">
  <xsd:schema xmlns:xsd="http://www.w3.org/2001/XMLSchema" xmlns:xs="http://www.w3.org/2001/XMLSchema" xmlns:p="http://schemas.microsoft.com/office/2006/metadata/properties" xmlns:ns2="d5c1a6a5-0428-459c-81cd-cf402d4ff623" xmlns:ns3="4b5fc4ab-1594-4dd7-8d7e-2e0a7577b23f" targetNamespace="http://schemas.microsoft.com/office/2006/metadata/properties" ma:root="true" ma:fieldsID="566a881b36aa1cdccae23e7b73ffdaca" ns2:_="" ns3:_="">
    <xsd:import namespace="d5c1a6a5-0428-459c-81cd-cf402d4ff623"/>
    <xsd:import namespace="4b5fc4ab-1594-4dd7-8d7e-2e0a7577b23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Location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5c1a6a5-0428-459c-81cd-cf402d4ff62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caddd62e-4cdf-4ab6-87d1-e7567672f2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b5fc4ab-1594-4dd7-8d7e-2e0a7577b23f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89790768-eeed-4a9d-bea6-26e76a0d1d82}" ma:internalName="TaxCatchAll" ma:showField="CatchAllData" ma:web="4b5fc4ab-1594-4dd7-8d7e-2e0a7577b23f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d5c1a6a5-0428-459c-81cd-cf402d4ff623">
      <Terms xmlns="http://schemas.microsoft.com/office/infopath/2007/PartnerControls"/>
    </lcf76f155ced4ddcb4097134ff3c332f>
    <TaxCatchAll xmlns="4b5fc4ab-1594-4dd7-8d7e-2e0a7577b23f" xsi:nil="true"/>
  </documentManagement>
</p:properties>
</file>

<file path=customXml/itemProps1.xml><?xml version="1.0" encoding="utf-8"?>
<ds:datastoreItem xmlns:ds="http://schemas.openxmlformats.org/officeDocument/2006/customXml" ds:itemID="{D95E46E6-9400-4086-9B4B-8E1F8194250A}"/>
</file>

<file path=customXml/itemProps2.xml><?xml version="1.0" encoding="utf-8"?>
<ds:datastoreItem xmlns:ds="http://schemas.openxmlformats.org/officeDocument/2006/customXml" ds:itemID="{CE98D943-507A-416C-8E74-9450C10EA165}"/>
</file>

<file path=customXml/itemProps3.xml><?xml version="1.0" encoding="utf-8"?>
<ds:datastoreItem xmlns:ds="http://schemas.openxmlformats.org/officeDocument/2006/customXml" ds:itemID="{8746CA0A-2CB1-4A7F-9699-75C61A252193}"/>
</file>

<file path=docProps/app.xml><?xml version="1.0" encoding="utf-8"?>
<Properties xmlns="http://schemas.openxmlformats.org/officeDocument/2006/extended-properties" xmlns:vt="http://schemas.openxmlformats.org/officeDocument/2006/docPropsVTypes">
  <TotalTime>1046</TotalTime>
  <Words>244</Words>
  <Application>Microsoft Office PowerPoint</Application>
  <PresentationFormat>Presentación en pantalla (4:3)</PresentationFormat>
  <Paragraphs>21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usb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Diapositiva 1</dc:title>
  <dc:creator>S3-COMORG-JOAQUIN</dc:creator>
  <cp:lastModifiedBy>Andrea Pastori Rojas</cp:lastModifiedBy>
  <cp:revision>70</cp:revision>
  <dcterms:created xsi:type="dcterms:W3CDTF">2017-01-26T20:10:20Z</dcterms:created>
  <dcterms:modified xsi:type="dcterms:W3CDTF">2018-02-28T16:20:33Z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0x010100F71F020BE888BB4AB316B9373C8B4F2E</vt:lpwstr>
  </property>
</Properties>
</file>