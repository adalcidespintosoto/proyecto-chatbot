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8"/>
  </p:notesMasterIdLst>
  <p:sldIdLst>
    <p:sldId id="256" r:id="rId5"/>
    <p:sldId id="257" r:id="rId6"/>
    <p:sldId id="258" r:id="rId7"/>
    <p:sldId id="259" r:id="rId8"/>
    <p:sldId id="260" r:id="rId9"/>
    <p:sldId id="262" r:id="rId10"/>
    <p:sldId id="263" r:id="rId11"/>
    <p:sldId id="261" r:id="rId12"/>
    <p:sldId id="264" r:id="rId13"/>
    <p:sldId id="265" r:id="rId14"/>
    <p:sldId id="266" r:id="rId15"/>
    <p:sldId id="267" r:id="rId16"/>
    <p:sldId id="268" r:id="rId17"/>
    <p:sldId id="269" r:id="rId18"/>
    <p:sldId id="270" r:id="rId19"/>
    <p:sldId id="271" r:id="rId20"/>
    <p:sldId id="274" r:id="rId21"/>
    <p:sldId id="275" r:id="rId22"/>
    <p:sldId id="272" r:id="rId23"/>
    <p:sldId id="276" r:id="rId24"/>
    <p:sldId id="277" r:id="rId25"/>
    <p:sldId id="278" r:id="rId26"/>
    <p:sldId id="273" r:id="rId27"/>
    <p:sldId id="279" r:id="rId28"/>
    <p:sldId id="280" r:id="rId29"/>
    <p:sldId id="281" r:id="rId30"/>
    <p:sldId id="282" r:id="rId31"/>
    <p:sldId id="283" r:id="rId32"/>
    <p:sldId id="284" r:id="rId33"/>
    <p:sldId id="285" r:id="rId34"/>
    <p:sldId id="286" r:id="rId35"/>
    <p:sldId id="288" r:id="rId36"/>
    <p:sldId id="289" r:id="rId37"/>
    <p:sldId id="287" r:id="rId38"/>
    <p:sldId id="290" r:id="rId39"/>
    <p:sldId id="291" r:id="rId40"/>
    <p:sldId id="292" r:id="rId41"/>
    <p:sldId id="293" r:id="rId42"/>
    <p:sldId id="294" r:id="rId43"/>
    <p:sldId id="295" r:id="rId44"/>
    <p:sldId id="296" r:id="rId45"/>
    <p:sldId id="297" r:id="rId46"/>
    <p:sldId id="298" r:id="rId47"/>
  </p:sldIdLst>
  <p:sldSz cx="9144000" cy="6858000" type="screen4x3"/>
  <p:notesSz cx="6858000" cy="9144000"/>
  <p:defaultTextStyle>
    <a:defPPr>
      <a:defRPr lang="es-ES_trad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32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B4A293-8B80-4955-A277-79EE717279F5}" v="4" dt="2022-03-19T15:24:16.0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249" autoAdjust="0"/>
  </p:normalViewPr>
  <p:slideViewPr>
    <p:cSldViewPr snapToGrid="0" snapToObjects="1" showGuides="1">
      <p:cViewPr varScale="1">
        <p:scale>
          <a:sx n="68" d="100"/>
          <a:sy n="68" d="100"/>
        </p:scale>
        <p:origin x="144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Patricia Pastori Rojas" userId="S::andrea.pastori@unisimon.edu.co::62588e05-5874-4b1f-bb98-2372ec742878" providerId="AD" clId="Web-{EAB4A293-8B80-4955-A277-79EE717279F5}"/>
    <pc:docChg chg="modSld">
      <pc:chgData name="Andrea Patricia Pastori Rojas" userId="S::andrea.pastori@unisimon.edu.co::62588e05-5874-4b1f-bb98-2372ec742878" providerId="AD" clId="Web-{EAB4A293-8B80-4955-A277-79EE717279F5}" dt="2022-03-19T15:24:16.041" v="1" actId="1076"/>
      <pc:docMkLst>
        <pc:docMk/>
      </pc:docMkLst>
      <pc:sldChg chg="modSp">
        <pc:chgData name="Andrea Patricia Pastori Rojas" userId="S::andrea.pastori@unisimon.edu.co::62588e05-5874-4b1f-bb98-2372ec742878" providerId="AD" clId="Web-{EAB4A293-8B80-4955-A277-79EE717279F5}" dt="2022-03-19T15:18:17.784" v="0" actId="20577"/>
        <pc:sldMkLst>
          <pc:docMk/>
          <pc:sldMk cId="634921481" sldId="263"/>
        </pc:sldMkLst>
        <pc:spChg chg="mod">
          <ac:chgData name="Andrea Patricia Pastori Rojas" userId="S::andrea.pastori@unisimon.edu.co::62588e05-5874-4b1f-bb98-2372ec742878" providerId="AD" clId="Web-{EAB4A293-8B80-4955-A277-79EE717279F5}" dt="2022-03-19T15:18:17.784" v="0" actId="20577"/>
          <ac:spMkLst>
            <pc:docMk/>
            <pc:sldMk cId="634921481" sldId="263"/>
            <ac:spMk id="5" creationId="{47071506-BEA6-4E50-A809-4A217864D87D}"/>
          </ac:spMkLst>
        </pc:spChg>
      </pc:sldChg>
      <pc:sldChg chg="modSp">
        <pc:chgData name="Andrea Patricia Pastori Rojas" userId="S::andrea.pastori@unisimon.edu.co::62588e05-5874-4b1f-bb98-2372ec742878" providerId="AD" clId="Web-{EAB4A293-8B80-4955-A277-79EE717279F5}" dt="2022-03-19T15:24:16.041" v="1" actId="1076"/>
        <pc:sldMkLst>
          <pc:docMk/>
          <pc:sldMk cId="674951639" sldId="282"/>
        </pc:sldMkLst>
        <pc:spChg chg="mod">
          <ac:chgData name="Andrea Patricia Pastori Rojas" userId="S::andrea.pastori@unisimon.edu.co::62588e05-5874-4b1f-bb98-2372ec742878" providerId="AD" clId="Web-{EAB4A293-8B80-4955-A277-79EE717279F5}" dt="2022-03-19T15:24:16.041" v="1" actId="1076"/>
          <ac:spMkLst>
            <pc:docMk/>
            <pc:sldMk cId="674951639" sldId="282"/>
            <ac:spMk id="2" creationId="{6708E516-DBA4-4CCC-8AD0-CA7C3DD8C3DB}"/>
          </ac:spMkLst>
        </pc:spChg>
      </pc:sldChg>
    </pc:docChg>
  </pc:docChgLst>
  <pc:docChgLst>
    <pc:chgData name="FRENCY MILENA ANTEQUERA LASSO" userId="S::frency.antequera@unisimon.edu.co::589a1c82-6ef2-4c61-a5f2-73241828cf2e" providerId="AD" clId="Web-{620F285D-96EF-47FC-A1BA-4B15320F2FCA}"/>
    <pc:docChg chg="mod">
      <pc:chgData name="FRENCY MILENA ANTEQUERA LASSO" userId="S::frency.antequera@unisimon.edu.co::589a1c82-6ef2-4c61-a5f2-73241828cf2e" providerId="AD" clId="Web-{620F285D-96EF-47FC-A1BA-4B15320F2FCA}" dt="2023-10-19T16:38:54.478" v="0" actId="33475"/>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E73141-5387-4575-A479-4D293E20AC0A}" type="datetimeFigureOut">
              <a:rPr lang="es-CO" smtClean="0"/>
              <a:t>19/10/2023</a:t>
            </a:fld>
            <a:endParaRPr lang="es-CO"/>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C6A388-45DE-44CC-B345-AF354C6A788D}" type="slidenum">
              <a:rPr lang="es-CO" smtClean="0"/>
              <a:t>‹Nº›</a:t>
            </a:fld>
            <a:endParaRPr lang="es-CO"/>
          </a:p>
        </p:txBody>
      </p:sp>
    </p:spTree>
    <p:extLst>
      <p:ext uri="{BB962C8B-B14F-4D97-AF65-F5344CB8AC3E}">
        <p14:creationId xmlns:p14="http://schemas.microsoft.com/office/powerpoint/2010/main" val="799583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2CC6A388-45DE-44CC-B345-AF354C6A788D}" type="slidenum">
              <a:rPr lang="es-CO" smtClean="0"/>
              <a:t>20</a:t>
            </a:fld>
            <a:endParaRPr lang="es-CO"/>
          </a:p>
        </p:txBody>
      </p:sp>
    </p:spTree>
    <p:extLst>
      <p:ext uri="{BB962C8B-B14F-4D97-AF65-F5344CB8AC3E}">
        <p14:creationId xmlns:p14="http://schemas.microsoft.com/office/powerpoint/2010/main" val="35580477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es-ES_tradnl"/>
              <a:t>Clic para editar título</a:t>
            </a: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a:t>Haga clic para modificar el estilo de subtítulo del patrón</a:t>
            </a:r>
          </a:p>
        </p:txBody>
      </p:sp>
      <p:sp>
        <p:nvSpPr>
          <p:cNvPr id="4" name="Marcador de fecha 3"/>
          <p:cNvSpPr>
            <a:spLocks noGrp="1"/>
          </p:cNvSpPr>
          <p:nvPr>
            <p:ph type="dt" sz="half" idx="10"/>
          </p:nvPr>
        </p:nvSpPr>
        <p:spPr/>
        <p:txBody>
          <a:bodyPr/>
          <a:lstStyle/>
          <a:p>
            <a:fld id="{00297DF9-FAD7-1E47-AA47-37C096A7FDB9}" type="datetimeFigureOut">
              <a:rPr lang="es-ES_tradnl" smtClean="0"/>
              <a:t>19/10/2023</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F0FC9FE0-5858-2F43-A25D-DD70A0A170F8}" type="slidenum">
              <a:rPr lang="es-ES_tradnl" smtClean="0"/>
              <a:t>‹Nº›</a:t>
            </a:fld>
            <a:endParaRPr lang="es-ES_tradn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p>
        </p:txBody>
      </p:sp>
      <p:sp>
        <p:nvSpPr>
          <p:cNvPr id="3" name="Marcador de contenido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4" name="Marcador de fecha 3"/>
          <p:cNvSpPr>
            <a:spLocks noGrp="1"/>
          </p:cNvSpPr>
          <p:nvPr>
            <p:ph type="dt" sz="half" idx="10"/>
          </p:nvPr>
        </p:nvSpPr>
        <p:spPr/>
        <p:txBody>
          <a:bodyPr/>
          <a:lstStyle/>
          <a:p>
            <a:fld id="{00297DF9-FAD7-1E47-AA47-37C096A7FDB9}" type="datetimeFigureOut">
              <a:rPr lang="es-ES_tradnl" smtClean="0"/>
              <a:t>19/10/2023</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F0FC9FE0-5858-2F43-A25D-DD70A0A170F8}" type="slidenum">
              <a:rPr lang="es-ES_tradnl" smtClean="0"/>
              <a:t>‹Nº›</a:t>
            </a:fld>
            <a:endParaRPr lang="es-ES_tradn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es-ES_tradnl"/>
              <a:t>Clic para editar título</a:t>
            </a:r>
          </a:p>
        </p:txBody>
      </p:sp>
      <p:sp>
        <p:nvSpPr>
          <p:cNvPr id="3" name="Marcador de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a:t>Haga clic para modificar el estilo de texto del patrón</a:t>
            </a:r>
          </a:p>
        </p:txBody>
      </p:sp>
      <p:sp>
        <p:nvSpPr>
          <p:cNvPr id="4" name="Marcador de fecha 3"/>
          <p:cNvSpPr>
            <a:spLocks noGrp="1"/>
          </p:cNvSpPr>
          <p:nvPr>
            <p:ph type="dt" sz="half" idx="10"/>
          </p:nvPr>
        </p:nvSpPr>
        <p:spPr/>
        <p:txBody>
          <a:bodyPr/>
          <a:lstStyle/>
          <a:p>
            <a:fld id="{00297DF9-FAD7-1E47-AA47-37C096A7FDB9}" type="datetimeFigureOut">
              <a:rPr lang="es-ES_tradnl" smtClean="0"/>
              <a:t>19/10/2023</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F0FC9FE0-5858-2F43-A25D-DD70A0A170F8}" type="slidenum">
              <a:rPr lang="es-ES_tradnl" smtClean="0"/>
              <a:t>‹Nº›</a:t>
            </a:fld>
            <a:endParaRPr lang="es-ES_trad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p>
        </p:txBody>
      </p:sp>
      <p:sp>
        <p:nvSpPr>
          <p:cNvPr id="3" name="Marcador de conteni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4" name="Marcador de conteni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5" name="Marcador de fecha 4"/>
          <p:cNvSpPr>
            <a:spLocks noGrp="1"/>
          </p:cNvSpPr>
          <p:nvPr>
            <p:ph type="dt" sz="half" idx="10"/>
          </p:nvPr>
        </p:nvSpPr>
        <p:spPr/>
        <p:txBody>
          <a:bodyPr/>
          <a:lstStyle/>
          <a:p>
            <a:fld id="{00297DF9-FAD7-1E47-AA47-37C096A7FDB9}" type="datetimeFigureOut">
              <a:rPr lang="es-ES_tradnl" smtClean="0"/>
              <a:t>19/10/2023</a:t>
            </a:fld>
            <a:endParaRPr lang="es-ES_tradnl"/>
          </a:p>
        </p:txBody>
      </p:sp>
      <p:sp>
        <p:nvSpPr>
          <p:cNvPr id="6" name="Marcador de pie de página 5"/>
          <p:cNvSpPr>
            <a:spLocks noGrp="1"/>
          </p:cNvSpPr>
          <p:nvPr>
            <p:ph type="ftr" sz="quarter" idx="11"/>
          </p:nvPr>
        </p:nvSpPr>
        <p:spPr/>
        <p:txBody>
          <a:bodyPr/>
          <a:lstStyle/>
          <a:p>
            <a:endParaRPr lang="es-ES_tradnl"/>
          </a:p>
        </p:txBody>
      </p:sp>
      <p:sp>
        <p:nvSpPr>
          <p:cNvPr id="7" name="Marcador de número de diapositiva 6"/>
          <p:cNvSpPr>
            <a:spLocks noGrp="1"/>
          </p:cNvSpPr>
          <p:nvPr>
            <p:ph type="sldNum" sz="quarter" idx="12"/>
          </p:nvPr>
        </p:nvSpPr>
        <p:spPr/>
        <p:txBody>
          <a:bodyPr/>
          <a:lstStyle/>
          <a:p>
            <a:fld id="{F0FC9FE0-5858-2F43-A25D-DD70A0A170F8}" type="slidenum">
              <a:rPr lang="es-ES_tradnl" smtClean="0"/>
              <a:t>‹Nº›</a:t>
            </a:fld>
            <a:endParaRPr lang="es-ES_trad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es-ES_tradnl"/>
              <a:t>Clic para editar título</a:t>
            </a:r>
          </a:p>
        </p:txBody>
      </p:sp>
      <p:sp>
        <p:nvSpPr>
          <p:cNvPr id="3" name="Marcador de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4" name="Marcador de conteni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5" name="Marcador de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6" name="Marcador de conteni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7" name="Marcador de fecha 6"/>
          <p:cNvSpPr>
            <a:spLocks noGrp="1"/>
          </p:cNvSpPr>
          <p:nvPr>
            <p:ph type="dt" sz="half" idx="10"/>
          </p:nvPr>
        </p:nvSpPr>
        <p:spPr/>
        <p:txBody>
          <a:bodyPr/>
          <a:lstStyle/>
          <a:p>
            <a:fld id="{00297DF9-FAD7-1E47-AA47-37C096A7FDB9}" type="datetimeFigureOut">
              <a:rPr lang="es-ES_tradnl" smtClean="0"/>
              <a:t>19/10/2023</a:t>
            </a:fld>
            <a:endParaRPr lang="es-ES_tradnl"/>
          </a:p>
        </p:txBody>
      </p:sp>
      <p:sp>
        <p:nvSpPr>
          <p:cNvPr id="8" name="Marcador de pie de página 7"/>
          <p:cNvSpPr>
            <a:spLocks noGrp="1"/>
          </p:cNvSpPr>
          <p:nvPr>
            <p:ph type="ftr" sz="quarter" idx="11"/>
          </p:nvPr>
        </p:nvSpPr>
        <p:spPr/>
        <p:txBody>
          <a:bodyPr/>
          <a:lstStyle/>
          <a:p>
            <a:endParaRPr lang="es-ES_tradnl"/>
          </a:p>
        </p:txBody>
      </p:sp>
      <p:sp>
        <p:nvSpPr>
          <p:cNvPr id="9" name="Marcador de número de diapositiva 8"/>
          <p:cNvSpPr>
            <a:spLocks noGrp="1"/>
          </p:cNvSpPr>
          <p:nvPr>
            <p:ph type="sldNum" sz="quarter" idx="12"/>
          </p:nvPr>
        </p:nvSpPr>
        <p:spPr/>
        <p:txBody>
          <a:bodyPr/>
          <a:lstStyle/>
          <a:p>
            <a:fld id="{F0FC9FE0-5858-2F43-A25D-DD70A0A170F8}" type="slidenum">
              <a:rPr lang="es-ES_tradnl" smtClean="0"/>
              <a:t>‹Nº›</a:t>
            </a:fld>
            <a:endParaRPr lang="es-ES_tradn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p>
        </p:txBody>
      </p:sp>
      <p:sp>
        <p:nvSpPr>
          <p:cNvPr id="3" name="Marcador de fecha 2"/>
          <p:cNvSpPr>
            <a:spLocks noGrp="1"/>
          </p:cNvSpPr>
          <p:nvPr>
            <p:ph type="dt" sz="half" idx="10"/>
          </p:nvPr>
        </p:nvSpPr>
        <p:spPr/>
        <p:txBody>
          <a:bodyPr/>
          <a:lstStyle/>
          <a:p>
            <a:fld id="{00297DF9-FAD7-1E47-AA47-37C096A7FDB9}" type="datetimeFigureOut">
              <a:rPr lang="es-ES_tradnl" smtClean="0"/>
              <a:t>19/10/2023</a:t>
            </a:fld>
            <a:endParaRPr lang="es-ES_tradnl"/>
          </a:p>
        </p:txBody>
      </p:sp>
      <p:sp>
        <p:nvSpPr>
          <p:cNvPr id="4" name="Marcador de pie de página 3"/>
          <p:cNvSpPr>
            <a:spLocks noGrp="1"/>
          </p:cNvSpPr>
          <p:nvPr>
            <p:ph type="ftr" sz="quarter" idx="11"/>
          </p:nvPr>
        </p:nvSpPr>
        <p:spPr/>
        <p:txBody>
          <a:bodyPr/>
          <a:lstStyle/>
          <a:p>
            <a:endParaRPr lang="es-ES_tradnl"/>
          </a:p>
        </p:txBody>
      </p:sp>
      <p:sp>
        <p:nvSpPr>
          <p:cNvPr id="5" name="Marcador de número de diapositiva 4"/>
          <p:cNvSpPr>
            <a:spLocks noGrp="1"/>
          </p:cNvSpPr>
          <p:nvPr>
            <p:ph type="sldNum" sz="quarter" idx="12"/>
          </p:nvPr>
        </p:nvSpPr>
        <p:spPr/>
        <p:txBody>
          <a:bodyPr/>
          <a:lstStyle/>
          <a:p>
            <a:fld id="{F0FC9FE0-5858-2F43-A25D-DD70A0A170F8}" type="slidenum">
              <a:rPr lang="es-ES_tradnl" smtClean="0"/>
              <a:t>‹Nº›</a:t>
            </a:fld>
            <a:endParaRPr lang="es-ES_tradn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00297DF9-FAD7-1E47-AA47-37C096A7FDB9}" type="datetimeFigureOut">
              <a:rPr lang="es-ES_tradnl" smtClean="0"/>
              <a:t>19/10/2023</a:t>
            </a:fld>
            <a:endParaRPr lang="es-ES_tradnl"/>
          </a:p>
        </p:txBody>
      </p:sp>
      <p:sp>
        <p:nvSpPr>
          <p:cNvPr id="3" name="Marcador de pie de página 2"/>
          <p:cNvSpPr>
            <a:spLocks noGrp="1"/>
          </p:cNvSpPr>
          <p:nvPr>
            <p:ph type="ftr" sz="quarter" idx="11"/>
          </p:nvPr>
        </p:nvSpPr>
        <p:spPr/>
        <p:txBody>
          <a:bodyPr/>
          <a:lstStyle/>
          <a:p>
            <a:endParaRPr lang="es-ES_tradnl"/>
          </a:p>
        </p:txBody>
      </p:sp>
      <p:sp>
        <p:nvSpPr>
          <p:cNvPr id="4" name="Marcador de número de diapositiva 3"/>
          <p:cNvSpPr>
            <a:spLocks noGrp="1"/>
          </p:cNvSpPr>
          <p:nvPr>
            <p:ph type="sldNum" sz="quarter" idx="12"/>
          </p:nvPr>
        </p:nvSpPr>
        <p:spPr/>
        <p:txBody>
          <a:bodyPr/>
          <a:lstStyle/>
          <a:p>
            <a:fld id="{F0FC9FE0-5858-2F43-A25D-DD70A0A170F8}" type="slidenum">
              <a:rPr lang="es-ES_tradnl" smtClean="0"/>
              <a:t>‹Nº›</a:t>
            </a:fld>
            <a:endParaRPr lang="es-ES_tradn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es-ES_tradnl"/>
              <a:t>Clic para editar título</a:t>
            </a:r>
          </a:p>
        </p:txBody>
      </p:sp>
      <p:sp>
        <p:nvSpPr>
          <p:cNvPr id="3" name="Marcador de conteni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4" name="Marcador de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00297DF9-FAD7-1E47-AA47-37C096A7FDB9}" type="datetimeFigureOut">
              <a:rPr lang="es-ES_tradnl" smtClean="0"/>
              <a:t>19/10/2023</a:t>
            </a:fld>
            <a:endParaRPr lang="es-ES_tradnl"/>
          </a:p>
        </p:txBody>
      </p:sp>
      <p:sp>
        <p:nvSpPr>
          <p:cNvPr id="6" name="Marcador de pie de página 5"/>
          <p:cNvSpPr>
            <a:spLocks noGrp="1"/>
          </p:cNvSpPr>
          <p:nvPr>
            <p:ph type="ftr" sz="quarter" idx="11"/>
          </p:nvPr>
        </p:nvSpPr>
        <p:spPr/>
        <p:txBody>
          <a:bodyPr/>
          <a:lstStyle/>
          <a:p>
            <a:endParaRPr lang="es-ES_tradnl"/>
          </a:p>
        </p:txBody>
      </p:sp>
      <p:sp>
        <p:nvSpPr>
          <p:cNvPr id="7" name="Marcador de número de diapositiva 6"/>
          <p:cNvSpPr>
            <a:spLocks noGrp="1"/>
          </p:cNvSpPr>
          <p:nvPr>
            <p:ph type="sldNum" sz="quarter" idx="12"/>
          </p:nvPr>
        </p:nvSpPr>
        <p:spPr/>
        <p:txBody>
          <a:bodyPr/>
          <a:lstStyle/>
          <a:p>
            <a:fld id="{F0FC9FE0-5858-2F43-A25D-DD70A0A170F8}" type="slidenum">
              <a:rPr lang="es-ES_tradnl" smtClean="0"/>
              <a:t>‹Nº›</a:t>
            </a:fld>
            <a:endParaRPr lang="es-ES_tradn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es-ES_tradnl"/>
              <a:t>Clic para editar título</a:t>
            </a:r>
          </a:p>
        </p:txBody>
      </p:sp>
      <p:sp>
        <p:nvSpPr>
          <p:cNvPr id="3" name="Marcador de posición de imagen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_tradnl"/>
          </a:p>
        </p:txBody>
      </p:sp>
      <p:sp>
        <p:nvSpPr>
          <p:cNvPr id="4" name="Marcador de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00297DF9-FAD7-1E47-AA47-37C096A7FDB9}" type="datetimeFigureOut">
              <a:rPr lang="es-ES_tradnl" smtClean="0"/>
              <a:t>19/10/2023</a:t>
            </a:fld>
            <a:endParaRPr lang="es-ES_tradnl"/>
          </a:p>
        </p:txBody>
      </p:sp>
      <p:sp>
        <p:nvSpPr>
          <p:cNvPr id="6" name="Marcador de pie de página 5"/>
          <p:cNvSpPr>
            <a:spLocks noGrp="1"/>
          </p:cNvSpPr>
          <p:nvPr>
            <p:ph type="ftr" sz="quarter" idx="11"/>
          </p:nvPr>
        </p:nvSpPr>
        <p:spPr/>
        <p:txBody>
          <a:bodyPr/>
          <a:lstStyle/>
          <a:p>
            <a:endParaRPr lang="es-ES_tradnl"/>
          </a:p>
        </p:txBody>
      </p:sp>
      <p:sp>
        <p:nvSpPr>
          <p:cNvPr id="7" name="Marcador de número de diapositiva 6"/>
          <p:cNvSpPr>
            <a:spLocks noGrp="1"/>
          </p:cNvSpPr>
          <p:nvPr>
            <p:ph type="sldNum" sz="quarter" idx="12"/>
          </p:nvPr>
        </p:nvSpPr>
        <p:spPr/>
        <p:txBody>
          <a:bodyPr/>
          <a:lstStyle/>
          <a:p>
            <a:fld id="{F0FC9FE0-5858-2F43-A25D-DD70A0A170F8}" type="slidenum">
              <a:rPr lang="es-ES_tradnl" smtClean="0"/>
              <a:t>‹Nº›</a:t>
            </a:fld>
            <a:endParaRPr lang="es-ES_tradn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p>
        </p:txBody>
      </p:sp>
      <p:sp>
        <p:nvSpPr>
          <p:cNvPr id="3" name="Marcador de texto vertical 2"/>
          <p:cNvSpPr>
            <a:spLocks noGrp="1"/>
          </p:cNvSpPr>
          <p:nvPr>
            <p:ph type="body" orient="vert" idx="1"/>
          </p:nvPr>
        </p:nvSpPr>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4" name="Marcador de fecha 3"/>
          <p:cNvSpPr>
            <a:spLocks noGrp="1"/>
          </p:cNvSpPr>
          <p:nvPr>
            <p:ph type="dt" sz="half" idx="10"/>
          </p:nvPr>
        </p:nvSpPr>
        <p:spPr/>
        <p:txBody>
          <a:bodyPr/>
          <a:lstStyle/>
          <a:p>
            <a:fld id="{00297DF9-FAD7-1E47-AA47-37C096A7FDB9}" type="datetimeFigureOut">
              <a:rPr lang="es-ES_tradnl" smtClean="0"/>
              <a:t>19/10/2023</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F0FC9FE0-5858-2F43-A25D-DD70A0A170F8}" type="slidenum">
              <a:rPr lang="es-ES_tradnl" smtClean="0"/>
              <a:t>‹Nº›</a:t>
            </a:fld>
            <a:endParaRPr lang="es-ES_tradn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es-ES_tradnl"/>
              <a:t>Clic para editar título</a:t>
            </a:r>
          </a:p>
        </p:txBody>
      </p:sp>
      <p:sp>
        <p:nvSpPr>
          <p:cNvPr id="3" name="Marcador de texto vertical 2"/>
          <p:cNvSpPr>
            <a:spLocks noGrp="1"/>
          </p:cNvSpPr>
          <p:nvPr>
            <p:ph type="body" orient="vert" idx="1"/>
          </p:nvPr>
        </p:nvSpPr>
        <p:spPr>
          <a:xfrm>
            <a:off x="457200" y="274638"/>
            <a:ext cx="6019800" cy="5851525"/>
          </a:xfr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4" name="Marcador de fecha 3"/>
          <p:cNvSpPr>
            <a:spLocks noGrp="1"/>
          </p:cNvSpPr>
          <p:nvPr>
            <p:ph type="dt" sz="half" idx="10"/>
          </p:nvPr>
        </p:nvSpPr>
        <p:spPr/>
        <p:txBody>
          <a:bodyPr/>
          <a:lstStyle/>
          <a:p>
            <a:fld id="{00297DF9-FAD7-1E47-AA47-37C096A7FDB9}" type="datetimeFigureOut">
              <a:rPr lang="es-ES_tradnl" smtClean="0"/>
              <a:t>19/10/2023</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F0FC9FE0-5858-2F43-A25D-DD70A0A170F8}" type="slidenum">
              <a:rPr lang="es-ES_tradnl" smtClean="0"/>
              <a:t>‹Nº›</a:t>
            </a:fld>
            <a:endParaRPr lang="es-ES_tradn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_tradnl"/>
              <a:t>Clic para editar título</a:t>
            </a:r>
          </a:p>
        </p:txBody>
      </p:sp>
      <p:sp>
        <p:nvSpPr>
          <p:cNvPr id="3" name="Marcador de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4" name="Marcador de fech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297DF9-FAD7-1E47-AA47-37C096A7FDB9}" type="datetimeFigureOut">
              <a:rPr lang="es-ES_tradnl" smtClean="0"/>
              <a:t>19/10/2023</a:t>
            </a:fld>
            <a:endParaRPr lang="es-ES_tradnl"/>
          </a:p>
        </p:txBody>
      </p:sp>
      <p:sp>
        <p:nvSpPr>
          <p:cNvPr id="5" name="Marcador de pie de pá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_tradnl"/>
          </a:p>
        </p:txBody>
      </p:sp>
      <p:sp>
        <p:nvSpPr>
          <p:cNvPr id="6" name="Marcador de número de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FC9FE0-5858-2F43-A25D-DD70A0A170F8}" type="slidenum">
              <a:rPr lang="es-ES_tradnl" smtClean="0"/>
              <a:t>‹Nº›</a:t>
            </a:fld>
            <a:endParaRPr lang="es-ES_tradnl"/>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_trad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site.unisimon.edu.co/"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999527-3748-412B-975E-5D1AA1BAFD6A}"/>
              </a:ext>
            </a:extLst>
          </p:cNvPr>
          <p:cNvSpPr>
            <a:spLocks noGrp="1"/>
          </p:cNvSpPr>
          <p:nvPr>
            <p:ph type="ctrTitle"/>
          </p:nvPr>
        </p:nvSpPr>
        <p:spPr/>
        <p:txBody>
          <a:bodyPr/>
          <a:lstStyle/>
          <a:p>
            <a:r>
              <a:rPr lang="es-CO" b="1" dirty="0"/>
              <a:t>Manual de Usuario</a:t>
            </a:r>
          </a:p>
        </p:txBody>
      </p:sp>
      <p:sp>
        <p:nvSpPr>
          <p:cNvPr id="3" name="Subtítulo 2">
            <a:extLst>
              <a:ext uri="{FF2B5EF4-FFF2-40B4-BE49-F238E27FC236}">
                <a16:creationId xmlns:a16="http://schemas.microsoft.com/office/drawing/2014/main" id="{7C2903D0-D05D-4844-A74F-23885699FD2B}"/>
              </a:ext>
            </a:extLst>
          </p:cNvPr>
          <p:cNvSpPr>
            <a:spLocks noGrp="1"/>
          </p:cNvSpPr>
          <p:nvPr>
            <p:ph type="subTitle" idx="1"/>
          </p:nvPr>
        </p:nvSpPr>
        <p:spPr/>
        <p:txBody>
          <a:bodyPr/>
          <a:lstStyle/>
          <a:p>
            <a:r>
              <a:rPr lang="es-CO" b="1" dirty="0">
                <a:solidFill>
                  <a:schemeClr val="tx1"/>
                </a:solidFill>
              </a:rPr>
              <a:t>SITE 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Inicio de Sesión</a:t>
            </a:r>
          </a:p>
        </p:txBody>
      </p:sp>
      <p:sp>
        <p:nvSpPr>
          <p:cNvPr id="7" name="CuadroTexto 6">
            <a:extLst>
              <a:ext uri="{FF2B5EF4-FFF2-40B4-BE49-F238E27FC236}">
                <a16:creationId xmlns:a16="http://schemas.microsoft.com/office/drawing/2014/main" id="{452B134A-1C4B-4A19-B7CC-E737CAF43EA7}"/>
              </a:ext>
            </a:extLst>
          </p:cNvPr>
          <p:cNvSpPr txBox="1"/>
          <p:nvPr/>
        </p:nvSpPr>
        <p:spPr>
          <a:xfrm>
            <a:off x="309490" y="1600900"/>
            <a:ext cx="8609428" cy="1477328"/>
          </a:xfrm>
          <a:prstGeom prst="rect">
            <a:avLst/>
          </a:prstGeom>
          <a:noFill/>
        </p:spPr>
        <p:txBody>
          <a:bodyPr wrap="square" rtlCol="0">
            <a:spAutoFit/>
          </a:bodyPr>
          <a:lstStyle/>
          <a:p>
            <a:r>
              <a:rPr lang="es-CO" dirty="0"/>
              <a:t>Para iniciar sesión en el sistema puede ingresar utilizando cualquier navegador, preferiblemente Chrome/Firefox Mozilla. Una vez abierto el navegador ingresa a la siguiente pagina o URL.</a:t>
            </a:r>
          </a:p>
          <a:p>
            <a:endParaRPr lang="es-CO" dirty="0"/>
          </a:p>
          <a:p>
            <a:r>
              <a:rPr lang="es-CO" dirty="0">
                <a:solidFill>
                  <a:schemeClr val="tx2"/>
                </a:solidFill>
                <a:hlinkClick r:id="rId2"/>
              </a:rPr>
              <a:t>https://site.unisimon.edu.co</a:t>
            </a:r>
            <a:endParaRPr lang="es-CO" dirty="0">
              <a:solidFill>
                <a:schemeClr val="tx2"/>
              </a:solidFill>
            </a:endParaRPr>
          </a:p>
        </p:txBody>
      </p:sp>
      <p:pic>
        <p:nvPicPr>
          <p:cNvPr id="8" name="Imagen 7">
            <a:extLst>
              <a:ext uri="{FF2B5EF4-FFF2-40B4-BE49-F238E27FC236}">
                <a16:creationId xmlns:a16="http://schemas.microsoft.com/office/drawing/2014/main" id="{69D5A17B-E106-4BBD-80B4-AC0849A0013F}"/>
              </a:ext>
            </a:extLst>
          </p:cNvPr>
          <p:cNvPicPr>
            <a:picLocks noChangeAspect="1"/>
          </p:cNvPicPr>
          <p:nvPr/>
        </p:nvPicPr>
        <p:blipFill>
          <a:blip r:embed="rId3"/>
          <a:stretch>
            <a:fillRect/>
          </a:stretch>
        </p:blipFill>
        <p:spPr>
          <a:xfrm>
            <a:off x="3517893" y="3078228"/>
            <a:ext cx="5203110" cy="292532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CuadroTexto 8">
            <a:extLst>
              <a:ext uri="{FF2B5EF4-FFF2-40B4-BE49-F238E27FC236}">
                <a16:creationId xmlns:a16="http://schemas.microsoft.com/office/drawing/2014/main" id="{D785861D-67A9-4ECF-9F6B-DD16921493E4}"/>
              </a:ext>
            </a:extLst>
          </p:cNvPr>
          <p:cNvSpPr txBox="1"/>
          <p:nvPr/>
        </p:nvSpPr>
        <p:spPr>
          <a:xfrm>
            <a:off x="309490" y="3429000"/>
            <a:ext cx="2715064" cy="1754326"/>
          </a:xfrm>
          <a:prstGeom prst="rect">
            <a:avLst/>
          </a:prstGeom>
          <a:noFill/>
        </p:spPr>
        <p:txBody>
          <a:bodyPr wrap="square" rtlCol="0">
            <a:spAutoFit/>
          </a:bodyPr>
          <a:lstStyle/>
          <a:p>
            <a:pPr algn="just"/>
            <a:r>
              <a:rPr lang="es-CO" dirty="0"/>
              <a:t>Una vez acceda a la pagina este le solicitara su usuario/contraseña el cual ya es de su conocimiento y de carácter individual para cada funcionario.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Dashboard</a:t>
            </a:r>
            <a:endParaRPr lang="es-ES_tradnl" dirty="0"/>
          </a:p>
        </p:txBody>
      </p:sp>
      <p:pic>
        <p:nvPicPr>
          <p:cNvPr id="9" name="Marcador de contenido 8">
            <a:extLst>
              <a:ext uri="{FF2B5EF4-FFF2-40B4-BE49-F238E27FC236}">
                <a16:creationId xmlns:a16="http://schemas.microsoft.com/office/drawing/2014/main" id="{42D62045-58F9-4311-B125-2D5AF9533452}"/>
              </a:ext>
            </a:extLst>
          </p:cNvPr>
          <p:cNvPicPr>
            <a:picLocks noGrp="1" noChangeAspect="1"/>
          </p:cNvPicPr>
          <p:nvPr>
            <p:ph idx="1"/>
          </p:nvPr>
        </p:nvPicPr>
        <p:blipFill>
          <a:blip r:embed="rId2"/>
          <a:stretch>
            <a:fillRect/>
          </a:stretch>
        </p:blipFill>
        <p:spPr>
          <a:xfrm>
            <a:off x="1533378" y="3261237"/>
            <a:ext cx="6077243" cy="34167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2" name="CuadroTexto 11">
            <a:extLst>
              <a:ext uri="{FF2B5EF4-FFF2-40B4-BE49-F238E27FC236}">
                <a16:creationId xmlns:a16="http://schemas.microsoft.com/office/drawing/2014/main" id="{8C74E887-BF8C-4F4A-BA4A-091CF5149FC1}"/>
              </a:ext>
            </a:extLst>
          </p:cNvPr>
          <p:cNvSpPr txBox="1"/>
          <p:nvPr/>
        </p:nvSpPr>
        <p:spPr>
          <a:xfrm>
            <a:off x="457200" y="1417638"/>
            <a:ext cx="8229600" cy="1754326"/>
          </a:xfrm>
          <a:prstGeom prst="rect">
            <a:avLst/>
          </a:prstGeom>
          <a:noFill/>
        </p:spPr>
        <p:txBody>
          <a:bodyPr wrap="square" rtlCol="0">
            <a:spAutoFit/>
          </a:bodyPr>
          <a:lstStyle/>
          <a:p>
            <a:r>
              <a:rPr lang="es-CO" dirty="0"/>
              <a:t>Si su usuario y contraseña son correctos, el sistema le mostrara el </a:t>
            </a:r>
            <a:r>
              <a:rPr lang="es-CO" b="1" dirty="0"/>
              <a:t>Dashboard</a:t>
            </a:r>
            <a:r>
              <a:rPr lang="es-CO" dirty="0"/>
              <a:t> o </a:t>
            </a:r>
            <a:r>
              <a:rPr lang="es-CO" b="1" dirty="0"/>
              <a:t>pagina de aterrizaje. </a:t>
            </a:r>
            <a:r>
              <a:rPr lang="es-CO" dirty="0"/>
              <a:t>Donde se visualizara el listado de eventos por confirmar para cotizaciones y reservas internas.</a:t>
            </a:r>
          </a:p>
          <a:p>
            <a:endParaRPr lang="es-CO" dirty="0"/>
          </a:p>
          <a:p>
            <a:r>
              <a:rPr lang="es-CO" dirty="0"/>
              <a:t>De igual forma en la parte izquierda de la pantalla se visualizara el menú con los distintos módulos que cuenta el sistema.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AF27DC-AA16-4BE0-BD73-585AF788602D}"/>
              </a:ext>
            </a:extLst>
          </p:cNvPr>
          <p:cNvSpPr>
            <a:spLocks noGrp="1"/>
          </p:cNvSpPr>
          <p:nvPr>
            <p:ph type="title"/>
          </p:nvPr>
        </p:nvSpPr>
        <p:spPr/>
        <p:txBody>
          <a:bodyPr/>
          <a:lstStyle/>
          <a:p>
            <a:r>
              <a:rPr lang="es-CO" dirty="0"/>
              <a:t>Menú Principal</a:t>
            </a:r>
          </a:p>
        </p:txBody>
      </p:sp>
      <p:sp>
        <p:nvSpPr>
          <p:cNvPr id="6" name="CuadroTexto 5">
            <a:extLst>
              <a:ext uri="{FF2B5EF4-FFF2-40B4-BE49-F238E27FC236}">
                <a16:creationId xmlns:a16="http://schemas.microsoft.com/office/drawing/2014/main" id="{BF31A1BB-2FD7-4132-AEAD-B24A545D0432}"/>
              </a:ext>
            </a:extLst>
          </p:cNvPr>
          <p:cNvSpPr txBox="1"/>
          <p:nvPr/>
        </p:nvSpPr>
        <p:spPr>
          <a:xfrm>
            <a:off x="3235569" y="1245004"/>
            <a:ext cx="5451231" cy="5632311"/>
          </a:xfrm>
          <a:prstGeom prst="rect">
            <a:avLst/>
          </a:prstGeom>
          <a:noFill/>
        </p:spPr>
        <p:txBody>
          <a:bodyPr wrap="square" rtlCol="0">
            <a:spAutoFit/>
          </a:bodyPr>
          <a:lstStyle/>
          <a:p>
            <a:r>
              <a:rPr lang="es-CO" dirty="0"/>
              <a:t>Cuenta con distintas opciones la cual iremos detallando en el transcurso de este manual. </a:t>
            </a:r>
          </a:p>
          <a:p>
            <a:endParaRPr lang="es-CO" dirty="0"/>
          </a:p>
          <a:p>
            <a:pPr marL="285750" indent="-285750">
              <a:buFont typeface="Arial" panose="020B0604020202020204" pitchFamily="34" charset="0"/>
              <a:buChar char="•"/>
            </a:pPr>
            <a:r>
              <a:rPr lang="es-CO" dirty="0"/>
              <a:t>Como primera opción encontraremos nuestro nombre de usuario, el cual una vez se de clic sobre este se desplegara un menú oculto donde encontraremos la opción para culminar o cerrar sesión en el sistema</a:t>
            </a:r>
          </a:p>
          <a:p>
            <a:pPr marL="285750" indent="-285750">
              <a:buFont typeface="Arial" panose="020B0604020202020204" pitchFamily="34" charset="0"/>
              <a:buChar char="•"/>
            </a:pPr>
            <a:endParaRPr lang="es-CO" dirty="0"/>
          </a:p>
          <a:p>
            <a:pPr marL="285750" indent="-285750">
              <a:buFont typeface="Arial" panose="020B0604020202020204" pitchFamily="34" charset="0"/>
              <a:buChar char="•"/>
            </a:pPr>
            <a:r>
              <a:rPr lang="es-CO" b="1" dirty="0"/>
              <a:t>Dashboard</a:t>
            </a:r>
            <a:r>
              <a:rPr lang="es-CO" dirty="0"/>
              <a:t>: Será nuestra pagina de aterrizaje y encontraremos información de cotizaciones y eventos internos por confirmar, entre otra información.</a:t>
            </a:r>
          </a:p>
          <a:p>
            <a:pPr marL="285750" indent="-285750">
              <a:buFont typeface="Arial" panose="020B0604020202020204" pitchFamily="34" charset="0"/>
              <a:buChar char="•"/>
            </a:pPr>
            <a:endParaRPr lang="es-CO" dirty="0"/>
          </a:p>
          <a:p>
            <a:pPr marL="285750" indent="-285750">
              <a:buFont typeface="Arial" panose="020B0604020202020204" pitchFamily="34" charset="0"/>
              <a:buChar char="•"/>
            </a:pPr>
            <a:r>
              <a:rPr lang="es-CO" b="1" dirty="0"/>
              <a:t>Agenda</a:t>
            </a:r>
            <a:r>
              <a:rPr lang="es-CO" dirty="0"/>
              <a:t>: Modulo donde consultaremos el calendario de eventos y reservas.</a:t>
            </a:r>
          </a:p>
          <a:p>
            <a:pPr marL="285750" indent="-285750">
              <a:buFont typeface="Arial" panose="020B0604020202020204" pitchFamily="34" charset="0"/>
              <a:buChar char="•"/>
            </a:pPr>
            <a:endParaRPr lang="es-CO" dirty="0"/>
          </a:p>
          <a:p>
            <a:pPr marL="285750" indent="-285750">
              <a:buFont typeface="Arial" panose="020B0604020202020204" pitchFamily="34" charset="0"/>
              <a:buChar char="•"/>
            </a:pPr>
            <a:r>
              <a:rPr lang="es-CO" b="1" dirty="0"/>
              <a:t>Reportes</a:t>
            </a:r>
            <a:r>
              <a:rPr lang="es-CO" dirty="0"/>
              <a:t>: Modulo encargado de gestionar todos los reportes utilizados actualmente.</a:t>
            </a:r>
          </a:p>
          <a:p>
            <a:endParaRPr lang="es-CO" dirty="0"/>
          </a:p>
        </p:txBody>
      </p:sp>
      <p:pic>
        <p:nvPicPr>
          <p:cNvPr id="8" name="Imagen 7">
            <a:extLst>
              <a:ext uri="{FF2B5EF4-FFF2-40B4-BE49-F238E27FC236}">
                <a16:creationId xmlns:a16="http://schemas.microsoft.com/office/drawing/2014/main" id="{FE4E6182-8C94-4C46-8441-E04DD72A2904}"/>
              </a:ext>
            </a:extLst>
          </p:cNvPr>
          <p:cNvPicPr>
            <a:picLocks noChangeAspect="1"/>
          </p:cNvPicPr>
          <p:nvPr/>
        </p:nvPicPr>
        <p:blipFill>
          <a:blip r:embed="rId2"/>
          <a:stretch>
            <a:fillRect/>
          </a:stretch>
        </p:blipFill>
        <p:spPr>
          <a:xfrm>
            <a:off x="457200" y="1417638"/>
            <a:ext cx="2476500" cy="4572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363040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5C85DF-A7A4-4E79-B1CC-DF115D8F1C70}"/>
              </a:ext>
            </a:extLst>
          </p:cNvPr>
          <p:cNvSpPr>
            <a:spLocks noGrp="1"/>
          </p:cNvSpPr>
          <p:nvPr>
            <p:ph type="title"/>
          </p:nvPr>
        </p:nvSpPr>
        <p:spPr/>
        <p:txBody>
          <a:bodyPr/>
          <a:lstStyle/>
          <a:p>
            <a:r>
              <a:rPr lang="es-CO" dirty="0"/>
              <a:t>Agenda</a:t>
            </a:r>
          </a:p>
        </p:txBody>
      </p:sp>
      <p:pic>
        <p:nvPicPr>
          <p:cNvPr id="4" name="Imagen 3">
            <a:extLst>
              <a:ext uri="{FF2B5EF4-FFF2-40B4-BE49-F238E27FC236}">
                <a16:creationId xmlns:a16="http://schemas.microsoft.com/office/drawing/2014/main" id="{9DBF231C-54FD-4AC8-B674-5E611F958336}"/>
              </a:ext>
            </a:extLst>
          </p:cNvPr>
          <p:cNvPicPr>
            <a:picLocks noChangeAspect="1"/>
          </p:cNvPicPr>
          <p:nvPr/>
        </p:nvPicPr>
        <p:blipFill>
          <a:blip r:embed="rId2"/>
          <a:stretch>
            <a:fillRect/>
          </a:stretch>
        </p:blipFill>
        <p:spPr>
          <a:xfrm>
            <a:off x="3427206" y="1417638"/>
            <a:ext cx="5449508" cy="289442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CuadroTexto 5">
            <a:extLst>
              <a:ext uri="{FF2B5EF4-FFF2-40B4-BE49-F238E27FC236}">
                <a16:creationId xmlns:a16="http://schemas.microsoft.com/office/drawing/2014/main" id="{C3AABD6A-3B5B-4F90-8C82-72055C1A65E8}"/>
              </a:ext>
            </a:extLst>
          </p:cNvPr>
          <p:cNvSpPr txBox="1"/>
          <p:nvPr/>
        </p:nvSpPr>
        <p:spPr>
          <a:xfrm>
            <a:off x="267286" y="1716258"/>
            <a:ext cx="2954216" cy="2308324"/>
          </a:xfrm>
          <a:prstGeom prst="rect">
            <a:avLst/>
          </a:prstGeom>
          <a:noFill/>
        </p:spPr>
        <p:txBody>
          <a:bodyPr wrap="square" rtlCol="0">
            <a:spAutoFit/>
          </a:bodyPr>
          <a:lstStyle/>
          <a:p>
            <a:pPr algn="just"/>
            <a:r>
              <a:rPr lang="es-CO" dirty="0"/>
              <a:t>Al ingresar se debe seleccionar la fecha a consultar su agenda. Una vez seleccionado en la parte derecha se nos visualizara el listado de eventos que se encuentren creados para esa fecha.</a:t>
            </a:r>
          </a:p>
        </p:txBody>
      </p:sp>
      <p:sp>
        <p:nvSpPr>
          <p:cNvPr id="7" name="CuadroTexto 6">
            <a:extLst>
              <a:ext uri="{FF2B5EF4-FFF2-40B4-BE49-F238E27FC236}">
                <a16:creationId xmlns:a16="http://schemas.microsoft.com/office/drawing/2014/main" id="{E3C7ADC6-8F25-49E2-A678-14903FE78956}"/>
              </a:ext>
            </a:extLst>
          </p:cNvPr>
          <p:cNvSpPr txBox="1"/>
          <p:nvPr/>
        </p:nvSpPr>
        <p:spPr>
          <a:xfrm>
            <a:off x="267287" y="4600526"/>
            <a:ext cx="8609428" cy="923330"/>
          </a:xfrm>
          <a:prstGeom prst="rect">
            <a:avLst/>
          </a:prstGeom>
          <a:noFill/>
        </p:spPr>
        <p:txBody>
          <a:bodyPr wrap="square" rtlCol="0">
            <a:spAutoFit/>
          </a:bodyPr>
          <a:lstStyle/>
          <a:p>
            <a:pPr algn="just"/>
            <a:r>
              <a:rPr lang="es-CO" dirty="0"/>
              <a:t>La agenda cuenta con una convención de colores configurados para resaltar el estado de cada uno de los eventos. Esta convención de colores se mantiene igual a la anterior utilizada en el sistema SITE de escritorio.</a:t>
            </a:r>
          </a:p>
        </p:txBody>
      </p:sp>
    </p:spTree>
    <p:extLst>
      <p:ext uri="{BB962C8B-B14F-4D97-AF65-F5344CB8AC3E}">
        <p14:creationId xmlns:p14="http://schemas.microsoft.com/office/powerpoint/2010/main" val="624261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9AA652-2068-44E1-98E8-B6DD47DA5AD4}"/>
              </a:ext>
            </a:extLst>
          </p:cNvPr>
          <p:cNvSpPr>
            <a:spLocks noGrp="1"/>
          </p:cNvSpPr>
          <p:nvPr>
            <p:ph type="title"/>
          </p:nvPr>
        </p:nvSpPr>
        <p:spPr/>
        <p:txBody>
          <a:bodyPr>
            <a:normAutofit/>
          </a:bodyPr>
          <a:lstStyle/>
          <a:p>
            <a:r>
              <a:rPr lang="es-CO" dirty="0"/>
              <a:t>Reportes</a:t>
            </a:r>
          </a:p>
        </p:txBody>
      </p:sp>
      <p:pic>
        <p:nvPicPr>
          <p:cNvPr id="4" name="Imagen 3">
            <a:extLst>
              <a:ext uri="{FF2B5EF4-FFF2-40B4-BE49-F238E27FC236}">
                <a16:creationId xmlns:a16="http://schemas.microsoft.com/office/drawing/2014/main" id="{729D5903-622A-40E4-963C-2EFEF1EF39C8}"/>
              </a:ext>
            </a:extLst>
          </p:cNvPr>
          <p:cNvPicPr>
            <a:picLocks noChangeAspect="1"/>
          </p:cNvPicPr>
          <p:nvPr/>
        </p:nvPicPr>
        <p:blipFill>
          <a:blip r:embed="rId2"/>
          <a:stretch>
            <a:fillRect/>
          </a:stretch>
        </p:blipFill>
        <p:spPr>
          <a:xfrm>
            <a:off x="2001129" y="3848394"/>
            <a:ext cx="5141741" cy="273496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CuadroTexto 4">
            <a:extLst>
              <a:ext uri="{FF2B5EF4-FFF2-40B4-BE49-F238E27FC236}">
                <a16:creationId xmlns:a16="http://schemas.microsoft.com/office/drawing/2014/main" id="{47071506-BEA6-4E50-A809-4A217864D87D}"/>
              </a:ext>
            </a:extLst>
          </p:cNvPr>
          <p:cNvSpPr txBox="1"/>
          <p:nvPr/>
        </p:nvSpPr>
        <p:spPr>
          <a:xfrm>
            <a:off x="457200" y="1478854"/>
            <a:ext cx="8229600" cy="2308324"/>
          </a:xfrm>
          <a:prstGeom prst="rect">
            <a:avLst/>
          </a:prstGeom>
          <a:noFill/>
        </p:spPr>
        <p:txBody>
          <a:bodyPr wrap="square" lIns="91440" tIns="45720" rIns="91440" bIns="45720" rtlCol="0" anchor="t">
            <a:spAutoFit/>
          </a:bodyPr>
          <a:lstStyle/>
          <a:p>
            <a:r>
              <a:rPr lang="es-CO" dirty="0"/>
              <a:t>Al ingresar encontraremos todos los reportes utilizados para obtener información del sistema los cuales incluye:</a:t>
            </a:r>
          </a:p>
          <a:p>
            <a:endParaRPr lang="es-CO" dirty="0"/>
          </a:p>
          <a:p>
            <a:pPr marL="742950" lvl="1" indent="-285750">
              <a:buFont typeface="Arial" panose="020B0604020202020204" pitchFamily="34" charset="0"/>
              <a:buChar char="•"/>
            </a:pPr>
            <a:r>
              <a:rPr lang="es-CO" dirty="0"/>
              <a:t>Reporte listado de clientes.</a:t>
            </a:r>
            <a:endParaRPr lang="es-CO" dirty="0">
              <a:cs typeface="Calibri"/>
            </a:endParaRPr>
          </a:p>
          <a:p>
            <a:pPr marL="742950" lvl="1" indent="-285750">
              <a:buFont typeface="Arial" panose="020B0604020202020204" pitchFamily="34" charset="0"/>
              <a:buChar char="•"/>
            </a:pPr>
            <a:r>
              <a:rPr lang="es-CO" dirty="0"/>
              <a:t>Reporte eventos internos</a:t>
            </a:r>
            <a:endParaRPr lang="es-CO" dirty="0">
              <a:cs typeface="Calibri"/>
            </a:endParaRPr>
          </a:p>
          <a:p>
            <a:pPr marL="742950" lvl="1" indent="-285750">
              <a:buFont typeface="Arial" panose="020B0604020202020204" pitchFamily="34" charset="0"/>
              <a:buChar char="•"/>
            </a:pPr>
            <a:r>
              <a:rPr lang="es-CO" dirty="0"/>
              <a:t>Reporte de recibos de caja</a:t>
            </a:r>
            <a:endParaRPr lang="es-CO" dirty="0">
              <a:cs typeface="Calibri"/>
            </a:endParaRPr>
          </a:p>
          <a:p>
            <a:endParaRPr lang="es-CO" dirty="0"/>
          </a:p>
          <a:p>
            <a:r>
              <a:rPr lang="es-CO" dirty="0"/>
              <a:t>Entre otros reportes que se pueden encontrar en el listado.</a:t>
            </a:r>
          </a:p>
        </p:txBody>
      </p:sp>
    </p:spTree>
    <p:extLst>
      <p:ext uri="{BB962C8B-B14F-4D97-AF65-F5344CB8AC3E}">
        <p14:creationId xmlns:p14="http://schemas.microsoft.com/office/powerpoint/2010/main" val="6349214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9A3CF9-69AC-428A-8386-EA1AB457FB61}"/>
              </a:ext>
            </a:extLst>
          </p:cNvPr>
          <p:cNvSpPr>
            <a:spLocks noGrp="1"/>
          </p:cNvSpPr>
          <p:nvPr>
            <p:ph type="title"/>
          </p:nvPr>
        </p:nvSpPr>
        <p:spPr/>
        <p:txBody>
          <a:bodyPr/>
          <a:lstStyle/>
          <a:p>
            <a:r>
              <a:rPr lang="es-CO" dirty="0"/>
              <a:t>Modulo Configuración</a:t>
            </a:r>
          </a:p>
        </p:txBody>
      </p:sp>
      <p:pic>
        <p:nvPicPr>
          <p:cNvPr id="6" name="Imagen 5">
            <a:extLst>
              <a:ext uri="{FF2B5EF4-FFF2-40B4-BE49-F238E27FC236}">
                <a16:creationId xmlns:a16="http://schemas.microsoft.com/office/drawing/2014/main" id="{8C9F428D-A7EA-41FA-8457-1119EED5A3F2}"/>
              </a:ext>
            </a:extLst>
          </p:cNvPr>
          <p:cNvPicPr>
            <a:picLocks noChangeAspect="1"/>
          </p:cNvPicPr>
          <p:nvPr/>
        </p:nvPicPr>
        <p:blipFill>
          <a:blip r:embed="rId2"/>
          <a:stretch>
            <a:fillRect/>
          </a:stretch>
        </p:blipFill>
        <p:spPr>
          <a:xfrm>
            <a:off x="457200" y="1842794"/>
            <a:ext cx="2371725" cy="38195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CuadroTexto 6">
            <a:extLst>
              <a:ext uri="{FF2B5EF4-FFF2-40B4-BE49-F238E27FC236}">
                <a16:creationId xmlns:a16="http://schemas.microsoft.com/office/drawing/2014/main" id="{9437F7F6-B4F2-411A-B27E-1E01EB234812}"/>
              </a:ext>
            </a:extLst>
          </p:cNvPr>
          <p:cNvSpPr txBox="1"/>
          <p:nvPr/>
        </p:nvSpPr>
        <p:spPr>
          <a:xfrm>
            <a:off x="2982350" y="1473462"/>
            <a:ext cx="5904565" cy="923330"/>
          </a:xfrm>
          <a:prstGeom prst="rect">
            <a:avLst/>
          </a:prstGeom>
          <a:noFill/>
        </p:spPr>
        <p:txBody>
          <a:bodyPr wrap="square" rtlCol="0">
            <a:spAutoFit/>
          </a:bodyPr>
          <a:lstStyle/>
          <a:p>
            <a:r>
              <a:rPr lang="es-CO" dirty="0"/>
              <a:t>Dentro de este modulo encontraremos todas las aplicaciones</a:t>
            </a:r>
          </a:p>
          <a:p>
            <a:r>
              <a:rPr lang="es-CO" dirty="0"/>
              <a:t>necesarias para realizar la configuración que nos permitirá registrar nuevas cotizaciones y eventos internos.</a:t>
            </a:r>
          </a:p>
        </p:txBody>
      </p:sp>
      <p:sp>
        <p:nvSpPr>
          <p:cNvPr id="8" name="CuadroTexto 7">
            <a:extLst>
              <a:ext uri="{FF2B5EF4-FFF2-40B4-BE49-F238E27FC236}">
                <a16:creationId xmlns:a16="http://schemas.microsoft.com/office/drawing/2014/main" id="{0BA97B7E-24D5-43DF-964D-6984974FF724}"/>
              </a:ext>
            </a:extLst>
          </p:cNvPr>
          <p:cNvSpPr txBox="1"/>
          <p:nvPr/>
        </p:nvSpPr>
        <p:spPr>
          <a:xfrm>
            <a:off x="2982350" y="2452616"/>
            <a:ext cx="5904565" cy="3693319"/>
          </a:xfrm>
          <a:prstGeom prst="rect">
            <a:avLst/>
          </a:prstGeom>
          <a:noFill/>
        </p:spPr>
        <p:txBody>
          <a:bodyPr wrap="square" rtlCol="0">
            <a:spAutoFit/>
          </a:bodyPr>
          <a:lstStyle/>
          <a:p>
            <a:pPr marL="285750" indent="-285750">
              <a:buFont typeface="Arial" panose="020B0604020202020204" pitchFamily="34" charset="0"/>
              <a:buChar char="•"/>
            </a:pPr>
            <a:r>
              <a:rPr lang="es-CO" b="1" dirty="0"/>
              <a:t>Clientes: </a:t>
            </a:r>
            <a:r>
              <a:rPr lang="es-CO" dirty="0"/>
              <a:t>Listado de clientes externos para una cotización.</a:t>
            </a:r>
          </a:p>
          <a:p>
            <a:pPr marL="285750" indent="-285750">
              <a:buFont typeface="Arial" panose="020B0604020202020204" pitchFamily="34" charset="0"/>
              <a:buChar char="•"/>
            </a:pPr>
            <a:endParaRPr lang="es-CO" dirty="0"/>
          </a:p>
          <a:p>
            <a:pPr marL="285750" indent="-285750">
              <a:buFont typeface="Arial" panose="020B0604020202020204" pitchFamily="34" charset="0"/>
              <a:buChar char="•"/>
            </a:pPr>
            <a:r>
              <a:rPr lang="es-CO" b="1" dirty="0"/>
              <a:t>Salones: </a:t>
            </a:r>
            <a:r>
              <a:rPr lang="es-CO" dirty="0"/>
              <a:t> Listado de auditorios, salones, salas y teatros utilizados para realizar una cotización y/o reserva interna.</a:t>
            </a:r>
          </a:p>
          <a:p>
            <a:pPr marL="285750" indent="-285750">
              <a:buFont typeface="Arial" panose="020B0604020202020204" pitchFamily="34" charset="0"/>
              <a:buChar char="•"/>
            </a:pPr>
            <a:endParaRPr lang="es-CO" dirty="0"/>
          </a:p>
          <a:p>
            <a:pPr marL="285750" indent="-285750">
              <a:buFont typeface="Arial" panose="020B0604020202020204" pitchFamily="34" charset="0"/>
              <a:buChar char="•"/>
            </a:pPr>
            <a:r>
              <a:rPr lang="es-CO" b="1" dirty="0"/>
              <a:t>Utilería: </a:t>
            </a:r>
            <a:r>
              <a:rPr lang="es-CO" dirty="0"/>
              <a:t>Listado de elementos utilizados para el montaje de un evento.</a:t>
            </a:r>
          </a:p>
          <a:p>
            <a:pPr marL="285750" indent="-285750">
              <a:buFont typeface="Arial" panose="020B0604020202020204" pitchFamily="34" charset="0"/>
              <a:buChar char="•"/>
            </a:pPr>
            <a:endParaRPr lang="es-CO" dirty="0"/>
          </a:p>
          <a:p>
            <a:pPr marL="285750" indent="-285750">
              <a:buFont typeface="Arial" panose="020B0604020202020204" pitchFamily="34" charset="0"/>
              <a:buChar char="•"/>
            </a:pPr>
            <a:r>
              <a:rPr lang="es-CO" b="1" dirty="0"/>
              <a:t>Festivo: </a:t>
            </a:r>
            <a:r>
              <a:rPr lang="es-CO" dirty="0"/>
              <a:t>Calendario de días festivos anuales registrados en el sistema para la creación de un evento.</a:t>
            </a:r>
          </a:p>
          <a:p>
            <a:pPr marL="285750" indent="-285750">
              <a:buFont typeface="Arial" panose="020B0604020202020204" pitchFamily="34" charset="0"/>
              <a:buChar char="•"/>
            </a:pPr>
            <a:endParaRPr lang="es-CO" dirty="0"/>
          </a:p>
          <a:p>
            <a:pPr marL="285750" indent="-285750">
              <a:buFont typeface="Arial" panose="020B0604020202020204" pitchFamily="34" charset="0"/>
              <a:buChar char="•"/>
            </a:pPr>
            <a:r>
              <a:rPr lang="es-CO" b="1" dirty="0"/>
              <a:t>Tarifas: </a:t>
            </a:r>
            <a:r>
              <a:rPr lang="es-CO" dirty="0"/>
              <a:t>Tarifa anual configurada para la creación de una cotización y/o evento interno.</a:t>
            </a:r>
            <a:endParaRPr lang="es-CO" b="1" dirty="0"/>
          </a:p>
        </p:txBody>
      </p:sp>
    </p:spTree>
    <p:extLst>
      <p:ext uri="{BB962C8B-B14F-4D97-AF65-F5344CB8AC3E}">
        <p14:creationId xmlns:p14="http://schemas.microsoft.com/office/powerpoint/2010/main" val="1342817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AC8EEC-BEE8-43CF-A3F9-8D9B3886AD18}"/>
              </a:ext>
            </a:extLst>
          </p:cNvPr>
          <p:cNvSpPr>
            <a:spLocks noGrp="1"/>
          </p:cNvSpPr>
          <p:nvPr>
            <p:ph type="title"/>
          </p:nvPr>
        </p:nvSpPr>
        <p:spPr/>
        <p:txBody>
          <a:bodyPr/>
          <a:lstStyle/>
          <a:p>
            <a:r>
              <a:rPr lang="es-CO" dirty="0"/>
              <a:t>Administración de Clientes</a:t>
            </a:r>
          </a:p>
        </p:txBody>
      </p:sp>
      <p:pic>
        <p:nvPicPr>
          <p:cNvPr id="4" name="Imagen 3">
            <a:extLst>
              <a:ext uri="{FF2B5EF4-FFF2-40B4-BE49-F238E27FC236}">
                <a16:creationId xmlns:a16="http://schemas.microsoft.com/office/drawing/2014/main" id="{8642CAE3-79D1-424D-AFC8-6EA27E961A6C}"/>
              </a:ext>
            </a:extLst>
          </p:cNvPr>
          <p:cNvPicPr>
            <a:picLocks noChangeAspect="1"/>
          </p:cNvPicPr>
          <p:nvPr/>
        </p:nvPicPr>
        <p:blipFill>
          <a:blip r:embed="rId2"/>
          <a:stretch>
            <a:fillRect/>
          </a:stretch>
        </p:blipFill>
        <p:spPr>
          <a:xfrm>
            <a:off x="1775795" y="1262257"/>
            <a:ext cx="5592409" cy="29398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CuadroTexto 4">
            <a:extLst>
              <a:ext uri="{FF2B5EF4-FFF2-40B4-BE49-F238E27FC236}">
                <a16:creationId xmlns:a16="http://schemas.microsoft.com/office/drawing/2014/main" id="{D7D36867-1B04-4B9A-B59F-FBD81E6EE210}"/>
              </a:ext>
            </a:extLst>
          </p:cNvPr>
          <p:cNvSpPr txBox="1"/>
          <p:nvPr/>
        </p:nvSpPr>
        <p:spPr>
          <a:xfrm>
            <a:off x="457200" y="4726745"/>
            <a:ext cx="8229600" cy="1200329"/>
          </a:xfrm>
          <a:prstGeom prst="rect">
            <a:avLst/>
          </a:prstGeom>
          <a:noFill/>
        </p:spPr>
        <p:txBody>
          <a:bodyPr wrap="square" rtlCol="0">
            <a:spAutoFit/>
          </a:bodyPr>
          <a:lstStyle/>
          <a:p>
            <a:pPr algn="just"/>
            <a:r>
              <a:rPr lang="es-CO" dirty="0"/>
              <a:t>Al ingresar encontraremos un panel de búsqueda el cual nos servirá para realizar la búsqueda de un cliente en especifico para gestionar su información, de igual forma se cuenta con opciones para crear un nuevo cliente, Generar reporte de clientes completo y eliminar o dar de baja a un cliente en especifico.</a:t>
            </a:r>
          </a:p>
        </p:txBody>
      </p:sp>
    </p:spTree>
    <p:extLst>
      <p:ext uri="{BB962C8B-B14F-4D97-AF65-F5344CB8AC3E}">
        <p14:creationId xmlns:p14="http://schemas.microsoft.com/office/powerpoint/2010/main" val="1060602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F80314-F070-4CD7-845D-659DEB389929}"/>
              </a:ext>
            </a:extLst>
          </p:cNvPr>
          <p:cNvSpPr>
            <a:spLocks noGrp="1"/>
          </p:cNvSpPr>
          <p:nvPr>
            <p:ph type="title"/>
          </p:nvPr>
        </p:nvSpPr>
        <p:spPr/>
        <p:txBody>
          <a:bodyPr/>
          <a:lstStyle/>
          <a:p>
            <a:r>
              <a:rPr lang="es-CO" dirty="0"/>
              <a:t>Nuevo Cliente</a:t>
            </a:r>
          </a:p>
        </p:txBody>
      </p:sp>
      <p:sp>
        <p:nvSpPr>
          <p:cNvPr id="4" name="CuadroTexto 3">
            <a:extLst>
              <a:ext uri="{FF2B5EF4-FFF2-40B4-BE49-F238E27FC236}">
                <a16:creationId xmlns:a16="http://schemas.microsoft.com/office/drawing/2014/main" id="{7D30015B-DAA7-4165-86FD-943C631EB6C4}"/>
              </a:ext>
            </a:extLst>
          </p:cNvPr>
          <p:cNvSpPr txBox="1"/>
          <p:nvPr/>
        </p:nvSpPr>
        <p:spPr>
          <a:xfrm>
            <a:off x="457200" y="1417638"/>
            <a:ext cx="8447649" cy="923330"/>
          </a:xfrm>
          <a:prstGeom prst="rect">
            <a:avLst/>
          </a:prstGeom>
          <a:noFill/>
        </p:spPr>
        <p:txBody>
          <a:bodyPr wrap="square" rtlCol="0">
            <a:spAutoFit/>
          </a:bodyPr>
          <a:lstStyle/>
          <a:p>
            <a:r>
              <a:rPr lang="es-CO" dirty="0"/>
              <a:t>Para crear un nuevo cliente debemos ingresar a la opción color naranjado con el nombre </a:t>
            </a:r>
            <a:r>
              <a:rPr lang="es-CO" b="1" dirty="0">
                <a:solidFill>
                  <a:schemeClr val="accent6">
                    <a:lumMod val="75000"/>
                  </a:schemeClr>
                </a:solidFill>
              </a:rPr>
              <a:t>“Nuevo Cliente”</a:t>
            </a:r>
            <a:r>
              <a:rPr lang="es-CO" dirty="0"/>
              <a:t>, una vez dentro de este se desplegara un formulario para ingresar toda la información de este nuevo cliente la cual debemos llenar y luego proceder a guardar.</a:t>
            </a:r>
            <a:endParaRPr lang="es-CO" b="1" dirty="0">
              <a:solidFill>
                <a:schemeClr val="accent6">
                  <a:lumMod val="75000"/>
                </a:schemeClr>
              </a:solidFill>
            </a:endParaRPr>
          </a:p>
        </p:txBody>
      </p:sp>
      <p:pic>
        <p:nvPicPr>
          <p:cNvPr id="5" name="Imagen 4">
            <a:extLst>
              <a:ext uri="{FF2B5EF4-FFF2-40B4-BE49-F238E27FC236}">
                <a16:creationId xmlns:a16="http://schemas.microsoft.com/office/drawing/2014/main" id="{1C444892-FA00-49E2-8D63-082843837652}"/>
              </a:ext>
            </a:extLst>
          </p:cNvPr>
          <p:cNvPicPr>
            <a:picLocks noChangeAspect="1"/>
          </p:cNvPicPr>
          <p:nvPr/>
        </p:nvPicPr>
        <p:blipFill>
          <a:blip r:embed="rId2"/>
          <a:stretch>
            <a:fillRect/>
          </a:stretch>
        </p:blipFill>
        <p:spPr>
          <a:xfrm>
            <a:off x="831063" y="2568565"/>
            <a:ext cx="7481873" cy="4014797"/>
          </a:xfrm>
          <a:prstGeom prst="rect">
            <a:avLst/>
          </a:prstGeom>
        </p:spPr>
      </p:pic>
    </p:spTree>
    <p:extLst>
      <p:ext uri="{BB962C8B-B14F-4D97-AF65-F5344CB8AC3E}">
        <p14:creationId xmlns:p14="http://schemas.microsoft.com/office/powerpoint/2010/main" val="2490968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422C57-3DAB-4167-9D92-A52C68FF59D1}"/>
              </a:ext>
            </a:extLst>
          </p:cNvPr>
          <p:cNvSpPr>
            <a:spLocks noGrp="1"/>
          </p:cNvSpPr>
          <p:nvPr>
            <p:ph type="title"/>
          </p:nvPr>
        </p:nvSpPr>
        <p:spPr/>
        <p:txBody>
          <a:bodyPr/>
          <a:lstStyle/>
          <a:p>
            <a:r>
              <a:rPr lang="es-CO" dirty="0"/>
              <a:t>Eliminación de Cliente</a:t>
            </a:r>
          </a:p>
        </p:txBody>
      </p:sp>
      <p:pic>
        <p:nvPicPr>
          <p:cNvPr id="4" name="Imagen 3">
            <a:extLst>
              <a:ext uri="{FF2B5EF4-FFF2-40B4-BE49-F238E27FC236}">
                <a16:creationId xmlns:a16="http://schemas.microsoft.com/office/drawing/2014/main" id="{17D42A07-2C08-4D23-8B74-22A7A8DA3532}"/>
              </a:ext>
            </a:extLst>
          </p:cNvPr>
          <p:cNvPicPr>
            <a:picLocks noChangeAspect="1"/>
          </p:cNvPicPr>
          <p:nvPr/>
        </p:nvPicPr>
        <p:blipFill rotWithShape="1">
          <a:blip r:embed="rId2"/>
          <a:srcRect l="30769" t="31546" r="30769" b="21560"/>
          <a:stretch/>
        </p:blipFill>
        <p:spPr>
          <a:xfrm>
            <a:off x="2813538" y="3429000"/>
            <a:ext cx="3516924" cy="2278966"/>
          </a:xfrm>
          <a:prstGeom prst="rect">
            <a:avLst/>
          </a:prstGeom>
        </p:spPr>
      </p:pic>
      <p:sp>
        <p:nvSpPr>
          <p:cNvPr id="5" name="CuadroTexto 4">
            <a:extLst>
              <a:ext uri="{FF2B5EF4-FFF2-40B4-BE49-F238E27FC236}">
                <a16:creationId xmlns:a16="http://schemas.microsoft.com/office/drawing/2014/main" id="{B0F9FB8B-1A72-4CC9-B860-0632004F7DC3}"/>
              </a:ext>
            </a:extLst>
          </p:cNvPr>
          <p:cNvSpPr txBox="1"/>
          <p:nvPr/>
        </p:nvSpPr>
        <p:spPr>
          <a:xfrm>
            <a:off x="457200" y="1702191"/>
            <a:ext cx="8229601" cy="923330"/>
          </a:xfrm>
          <a:prstGeom prst="rect">
            <a:avLst/>
          </a:prstGeom>
          <a:noFill/>
        </p:spPr>
        <p:txBody>
          <a:bodyPr wrap="square" rtlCol="0">
            <a:spAutoFit/>
          </a:bodyPr>
          <a:lstStyle/>
          <a:p>
            <a:pPr algn="just"/>
            <a:r>
              <a:rPr lang="es-CO" dirty="0"/>
              <a:t>Para eliminar un cliente debemos seleccionar en el panel de búsqueda la siguiente opción       una vez ingresemos a esta opción el sistema automáticamente nos solicitara una razón de eliminación, la cual quedara guardada en el sistema.</a:t>
            </a:r>
          </a:p>
        </p:txBody>
      </p:sp>
      <p:pic>
        <p:nvPicPr>
          <p:cNvPr id="6" name="Imagen 5">
            <a:extLst>
              <a:ext uri="{FF2B5EF4-FFF2-40B4-BE49-F238E27FC236}">
                <a16:creationId xmlns:a16="http://schemas.microsoft.com/office/drawing/2014/main" id="{18606C97-41BE-4405-872E-123BDB467874}"/>
              </a:ext>
            </a:extLst>
          </p:cNvPr>
          <p:cNvPicPr>
            <a:picLocks noChangeAspect="1"/>
          </p:cNvPicPr>
          <p:nvPr/>
        </p:nvPicPr>
        <p:blipFill>
          <a:blip r:embed="rId3"/>
          <a:stretch>
            <a:fillRect/>
          </a:stretch>
        </p:blipFill>
        <p:spPr>
          <a:xfrm>
            <a:off x="1392701" y="2015980"/>
            <a:ext cx="314325" cy="295275"/>
          </a:xfrm>
          <a:prstGeom prst="rect">
            <a:avLst/>
          </a:prstGeom>
        </p:spPr>
      </p:pic>
    </p:spTree>
    <p:extLst>
      <p:ext uri="{BB962C8B-B14F-4D97-AF65-F5344CB8AC3E}">
        <p14:creationId xmlns:p14="http://schemas.microsoft.com/office/powerpoint/2010/main" val="1171691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865A7B-ECD9-4EC5-A2D6-5252CF25C67E}"/>
              </a:ext>
            </a:extLst>
          </p:cNvPr>
          <p:cNvSpPr>
            <a:spLocks noGrp="1"/>
          </p:cNvSpPr>
          <p:nvPr>
            <p:ph type="title"/>
          </p:nvPr>
        </p:nvSpPr>
        <p:spPr/>
        <p:txBody>
          <a:bodyPr/>
          <a:lstStyle/>
          <a:p>
            <a:r>
              <a:rPr lang="es-CO" dirty="0"/>
              <a:t>Administración de Salones</a:t>
            </a:r>
          </a:p>
        </p:txBody>
      </p:sp>
      <p:pic>
        <p:nvPicPr>
          <p:cNvPr id="4" name="Imagen 3">
            <a:extLst>
              <a:ext uri="{FF2B5EF4-FFF2-40B4-BE49-F238E27FC236}">
                <a16:creationId xmlns:a16="http://schemas.microsoft.com/office/drawing/2014/main" id="{5E08BAB8-7270-4FD1-8048-909CC2645B5B}"/>
              </a:ext>
            </a:extLst>
          </p:cNvPr>
          <p:cNvPicPr>
            <a:picLocks noChangeAspect="1"/>
          </p:cNvPicPr>
          <p:nvPr/>
        </p:nvPicPr>
        <p:blipFill>
          <a:blip r:embed="rId2"/>
          <a:stretch>
            <a:fillRect/>
          </a:stretch>
        </p:blipFill>
        <p:spPr>
          <a:xfrm>
            <a:off x="1484141" y="3279966"/>
            <a:ext cx="6175717" cy="3303396"/>
          </a:xfrm>
          <a:prstGeom prst="rect">
            <a:avLst/>
          </a:prstGeom>
        </p:spPr>
      </p:pic>
      <p:sp>
        <p:nvSpPr>
          <p:cNvPr id="5" name="CuadroTexto 4">
            <a:extLst>
              <a:ext uri="{FF2B5EF4-FFF2-40B4-BE49-F238E27FC236}">
                <a16:creationId xmlns:a16="http://schemas.microsoft.com/office/drawing/2014/main" id="{D3BF7504-70DE-4805-BACD-2C8913C91CF6}"/>
              </a:ext>
            </a:extLst>
          </p:cNvPr>
          <p:cNvSpPr txBox="1"/>
          <p:nvPr/>
        </p:nvSpPr>
        <p:spPr>
          <a:xfrm>
            <a:off x="457199" y="1772529"/>
            <a:ext cx="8229601" cy="923330"/>
          </a:xfrm>
          <a:prstGeom prst="rect">
            <a:avLst/>
          </a:prstGeom>
          <a:noFill/>
        </p:spPr>
        <p:txBody>
          <a:bodyPr wrap="square" rtlCol="0">
            <a:spAutoFit/>
          </a:bodyPr>
          <a:lstStyle/>
          <a:p>
            <a:pPr algn="just"/>
            <a:r>
              <a:rPr lang="es-CO" dirty="0"/>
              <a:t>Al ingresar encontraremos el listado de auditorios, salas, salones y teatros. Configurados en el sistema, en caso de ser necesario el sistema nos brinda la posibilidad de buscar, crear, editar y eliminar algún salón.</a:t>
            </a:r>
          </a:p>
        </p:txBody>
      </p:sp>
    </p:spTree>
    <p:extLst>
      <p:ext uri="{BB962C8B-B14F-4D97-AF65-F5344CB8AC3E}">
        <p14:creationId xmlns:p14="http://schemas.microsoft.com/office/powerpoint/2010/main" val="3100891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7DD6A2-C85D-4BBF-A4E7-906B57C59335}"/>
              </a:ext>
            </a:extLst>
          </p:cNvPr>
          <p:cNvSpPr>
            <a:spLocks noGrp="1"/>
          </p:cNvSpPr>
          <p:nvPr>
            <p:ph type="title"/>
          </p:nvPr>
        </p:nvSpPr>
        <p:spPr/>
        <p:txBody>
          <a:bodyPr>
            <a:normAutofit/>
          </a:bodyPr>
          <a:lstStyle/>
          <a:p>
            <a:r>
              <a:rPr lang="es-CO" dirty="0"/>
              <a:t>Nuevo Salón</a:t>
            </a:r>
          </a:p>
        </p:txBody>
      </p:sp>
      <p:pic>
        <p:nvPicPr>
          <p:cNvPr id="4" name="Imagen 3">
            <a:extLst>
              <a:ext uri="{FF2B5EF4-FFF2-40B4-BE49-F238E27FC236}">
                <a16:creationId xmlns:a16="http://schemas.microsoft.com/office/drawing/2014/main" id="{5DE2DF0F-9054-418D-A63E-C03C66C04E60}"/>
              </a:ext>
            </a:extLst>
          </p:cNvPr>
          <p:cNvPicPr>
            <a:picLocks noChangeAspect="1"/>
          </p:cNvPicPr>
          <p:nvPr/>
        </p:nvPicPr>
        <p:blipFill>
          <a:blip r:embed="rId2"/>
          <a:stretch>
            <a:fillRect/>
          </a:stretch>
        </p:blipFill>
        <p:spPr>
          <a:xfrm>
            <a:off x="2088836" y="3429000"/>
            <a:ext cx="4966328" cy="2926446"/>
          </a:xfrm>
          <a:prstGeom prst="rect">
            <a:avLst/>
          </a:prstGeom>
        </p:spPr>
      </p:pic>
      <p:sp>
        <p:nvSpPr>
          <p:cNvPr id="5" name="CuadroTexto 4">
            <a:extLst>
              <a:ext uri="{FF2B5EF4-FFF2-40B4-BE49-F238E27FC236}">
                <a16:creationId xmlns:a16="http://schemas.microsoft.com/office/drawing/2014/main" id="{F7484054-BC54-453F-A62B-87C6C7029D4E}"/>
              </a:ext>
            </a:extLst>
          </p:cNvPr>
          <p:cNvSpPr txBox="1"/>
          <p:nvPr/>
        </p:nvSpPr>
        <p:spPr>
          <a:xfrm>
            <a:off x="457199" y="1417638"/>
            <a:ext cx="8447649" cy="923330"/>
          </a:xfrm>
          <a:prstGeom prst="rect">
            <a:avLst/>
          </a:prstGeom>
          <a:noFill/>
        </p:spPr>
        <p:txBody>
          <a:bodyPr wrap="square" rtlCol="0">
            <a:spAutoFit/>
          </a:bodyPr>
          <a:lstStyle/>
          <a:p>
            <a:r>
              <a:rPr lang="es-CO" dirty="0"/>
              <a:t>Para crear un nuevo salón debemos ingresar a la opción color naranjado con el nombre </a:t>
            </a:r>
            <a:r>
              <a:rPr lang="es-CO" b="1" dirty="0">
                <a:solidFill>
                  <a:schemeClr val="accent6">
                    <a:lumMod val="75000"/>
                  </a:schemeClr>
                </a:solidFill>
              </a:rPr>
              <a:t>“Nuevo salón”</a:t>
            </a:r>
            <a:r>
              <a:rPr lang="es-CO" dirty="0"/>
              <a:t>, una vez dentro de este se desplegara una pequeña ventana emergente solicitando información del formulario a crear.</a:t>
            </a:r>
            <a:endParaRPr lang="es-CO" b="1" dirty="0">
              <a:solidFill>
                <a:schemeClr val="accent6">
                  <a:lumMod val="75000"/>
                </a:schemeClr>
              </a:solidFill>
            </a:endParaRPr>
          </a:p>
        </p:txBody>
      </p:sp>
    </p:spTree>
    <p:extLst>
      <p:ext uri="{BB962C8B-B14F-4D97-AF65-F5344CB8AC3E}">
        <p14:creationId xmlns:p14="http://schemas.microsoft.com/office/powerpoint/2010/main" val="4139605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9EAD7E-E193-4E95-B755-72DDC1A9076B}"/>
              </a:ext>
            </a:extLst>
          </p:cNvPr>
          <p:cNvSpPr>
            <a:spLocks noGrp="1"/>
          </p:cNvSpPr>
          <p:nvPr>
            <p:ph type="title"/>
          </p:nvPr>
        </p:nvSpPr>
        <p:spPr/>
        <p:txBody>
          <a:bodyPr>
            <a:normAutofit/>
          </a:bodyPr>
          <a:lstStyle/>
          <a:p>
            <a:r>
              <a:rPr lang="es-CO" dirty="0"/>
              <a:t>Editar Salón</a:t>
            </a:r>
          </a:p>
        </p:txBody>
      </p:sp>
      <p:sp>
        <p:nvSpPr>
          <p:cNvPr id="4" name="CuadroTexto 3">
            <a:extLst>
              <a:ext uri="{FF2B5EF4-FFF2-40B4-BE49-F238E27FC236}">
                <a16:creationId xmlns:a16="http://schemas.microsoft.com/office/drawing/2014/main" id="{190F5B78-7060-46FD-8FCE-C6589A206296}"/>
              </a:ext>
            </a:extLst>
          </p:cNvPr>
          <p:cNvSpPr txBox="1"/>
          <p:nvPr/>
        </p:nvSpPr>
        <p:spPr>
          <a:xfrm>
            <a:off x="457200" y="1631852"/>
            <a:ext cx="8229600" cy="1477328"/>
          </a:xfrm>
          <a:prstGeom prst="rect">
            <a:avLst/>
          </a:prstGeom>
          <a:noFill/>
        </p:spPr>
        <p:txBody>
          <a:bodyPr wrap="square" rtlCol="0">
            <a:spAutoFit/>
          </a:bodyPr>
          <a:lstStyle/>
          <a:p>
            <a:pPr algn="just"/>
            <a:r>
              <a:rPr lang="es-CO" dirty="0"/>
              <a:t>Para editar un salón solo es necesario seleccionar la opción        la cual nos desplegara el mismo formulario utilizado anteriormente para crear el salón.</a:t>
            </a:r>
          </a:p>
          <a:p>
            <a:pPr algn="just"/>
            <a:endParaRPr lang="es-CO" dirty="0"/>
          </a:p>
          <a:p>
            <a:pPr algn="just"/>
            <a:r>
              <a:rPr lang="es-CO" dirty="0"/>
              <a:t>Solo será necesario modificar la información y proceder a guardar para que esta sea editada.</a:t>
            </a:r>
          </a:p>
        </p:txBody>
      </p:sp>
      <p:pic>
        <p:nvPicPr>
          <p:cNvPr id="5" name="Imagen 4">
            <a:extLst>
              <a:ext uri="{FF2B5EF4-FFF2-40B4-BE49-F238E27FC236}">
                <a16:creationId xmlns:a16="http://schemas.microsoft.com/office/drawing/2014/main" id="{E9D0AA44-081C-445D-A859-163FA32D00B9}"/>
              </a:ext>
            </a:extLst>
          </p:cNvPr>
          <p:cNvPicPr>
            <a:picLocks noChangeAspect="1"/>
          </p:cNvPicPr>
          <p:nvPr/>
        </p:nvPicPr>
        <p:blipFill>
          <a:blip r:embed="rId2"/>
          <a:stretch>
            <a:fillRect/>
          </a:stretch>
        </p:blipFill>
        <p:spPr>
          <a:xfrm>
            <a:off x="6206417" y="1692034"/>
            <a:ext cx="276225" cy="333375"/>
          </a:xfrm>
          <a:prstGeom prst="rect">
            <a:avLst/>
          </a:prstGeom>
        </p:spPr>
      </p:pic>
      <p:pic>
        <p:nvPicPr>
          <p:cNvPr id="6" name="Imagen 5">
            <a:extLst>
              <a:ext uri="{FF2B5EF4-FFF2-40B4-BE49-F238E27FC236}">
                <a16:creationId xmlns:a16="http://schemas.microsoft.com/office/drawing/2014/main" id="{B015760B-4D99-4441-B6D3-8B0A0EE52956}"/>
              </a:ext>
            </a:extLst>
          </p:cNvPr>
          <p:cNvPicPr>
            <a:picLocks noChangeAspect="1"/>
          </p:cNvPicPr>
          <p:nvPr/>
        </p:nvPicPr>
        <p:blipFill>
          <a:blip r:embed="rId3"/>
          <a:stretch>
            <a:fillRect/>
          </a:stretch>
        </p:blipFill>
        <p:spPr>
          <a:xfrm>
            <a:off x="2232819" y="3429000"/>
            <a:ext cx="4678362" cy="2932161"/>
          </a:xfrm>
          <a:prstGeom prst="rect">
            <a:avLst/>
          </a:prstGeom>
        </p:spPr>
      </p:pic>
    </p:spTree>
    <p:extLst>
      <p:ext uri="{BB962C8B-B14F-4D97-AF65-F5344CB8AC3E}">
        <p14:creationId xmlns:p14="http://schemas.microsoft.com/office/powerpoint/2010/main" val="1322757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DE7BCD-A4F6-41AD-9884-B74CA1F04428}"/>
              </a:ext>
            </a:extLst>
          </p:cNvPr>
          <p:cNvSpPr>
            <a:spLocks noGrp="1"/>
          </p:cNvSpPr>
          <p:nvPr>
            <p:ph type="title"/>
          </p:nvPr>
        </p:nvSpPr>
        <p:spPr/>
        <p:txBody>
          <a:bodyPr/>
          <a:lstStyle/>
          <a:p>
            <a:r>
              <a:rPr lang="es-CO" dirty="0"/>
              <a:t>Eliminar Salón</a:t>
            </a:r>
          </a:p>
        </p:txBody>
      </p:sp>
      <p:pic>
        <p:nvPicPr>
          <p:cNvPr id="4" name="Imagen 3">
            <a:extLst>
              <a:ext uri="{FF2B5EF4-FFF2-40B4-BE49-F238E27FC236}">
                <a16:creationId xmlns:a16="http://schemas.microsoft.com/office/drawing/2014/main" id="{063CD799-19ED-427D-8A86-BF204EF019A0}"/>
              </a:ext>
            </a:extLst>
          </p:cNvPr>
          <p:cNvPicPr>
            <a:picLocks noChangeAspect="1"/>
          </p:cNvPicPr>
          <p:nvPr/>
        </p:nvPicPr>
        <p:blipFill rotWithShape="1">
          <a:blip r:embed="rId2"/>
          <a:srcRect l="30769" t="31546" r="30769" b="21560"/>
          <a:stretch/>
        </p:blipFill>
        <p:spPr>
          <a:xfrm>
            <a:off x="2813538" y="3429000"/>
            <a:ext cx="3516924" cy="2278966"/>
          </a:xfrm>
          <a:prstGeom prst="rect">
            <a:avLst/>
          </a:prstGeom>
        </p:spPr>
      </p:pic>
      <p:sp>
        <p:nvSpPr>
          <p:cNvPr id="5" name="CuadroTexto 4">
            <a:extLst>
              <a:ext uri="{FF2B5EF4-FFF2-40B4-BE49-F238E27FC236}">
                <a16:creationId xmlns:a16="http://schemas.microsoft.com/office/drawing/2014/main" id="{452C4F50-9441-4028-8653-DB25E9028E93}"/>
              </a:ext>
            </a:extLst>
          </p:cNvPr>
          <p:cNvSpPr txBox="1"/>
          <p:nvPr/>
        </p:nvSpPr>
        <p:spPr>
          <a:xfrm>
            <a:off x="457200" y="1702191"/>
            <a:ext cx="8229601" cy="923330"/>
          </a:xfrm>
          <a:prstGeom prst="rect">
            <a:avLst/>
          </a:prstGeom>
          <a:noFill/>
        </p:spPr>
        <p:txBody>
          <a:bodyPr wrap="square" rtlCol="0">
            <a:spAutoFit/>
          </a:bodyPr>
          <a:lstStyle/>
          <a:p>
            <a:pPr algn="just"/>
            <a:r>
              <a:rPr lang="es-CO" dirty="0"/>
              <a:t>Para eliminar un salón debemos seleccionar en el panel de búsqueda la siguiente opción       una vez ingresemos a esta opción el sistema automáticamente nos solicitara una razón de eliminación, la cual quedara guardada en el sistema.</a:t>
            </a:r>
          </a:p>
        </p:txBody>
      </p:sp>
      <p:pic>
        <p:nvPicPr>
          <p:cNvPr id="6" name="Imagen 5">
            <a:extLst>
              <a:ext uri="{FF2B5EF4-FFF2-40B4-BE49-F238E27FC236}">
                <a16:creationId xmlns:a16="http://schemas.microsoft.com/office/drawing/2014/main" id="{9FD9A024-BD72-4B32-9212-09A09F05CAC1}"/>
              </a:ext>
            </a:extLst>
          </p:cNvPr>
          <p:cNvPicPr>
            <a:picLocks noChangeAspect="1"/>
          </p:cNvPicPr>
          <p:nvPr/>
        </p:nvPicPr>
        <p:blipFill>
          <a:blip r:embed="rId3"/>
          <a:stretch>
            <a:fillRect/>
          </a:stretch>
        </p:blipFill>
        <p:spPr>
          <a:xfrm>
            <a:off x="1392701" y="2015980"/>
            <a:ext cx="314325" cy="295275"/>
          </a:xfrm>
          <a:prstGeom prst="rect">
            <a:avLst/>
          </a:prstGeom>
        </p:spPr>
      </p:pic>
    </p:spTree>
    <p:extLst>
      <p:ext uri="{BB962C8B-B14F-4D97-AF65-F5344CB8AC3E}">
        <p14:creationId xmlns:p14="http://schemas.microsoft.com/office/powerpoint/2010/main" val="3392353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97AD3A-3C11-4228-939C-417CD7CC162E}"/>
              </a:ext>
            </a:extLst>
          </p:cNvPr>
          <p:cNvSpPr>
            <a:spLocks noGrp="1"/>
          </p:cNvSpPr>
          <p:nvPr>
            <p:ph type="title"/>
          </p:nvPr>
        </p:nvSpPr>
        <p:spPr/>
        <p:txBody>
          <a:bodyPr>
            <a:normAutofit/>
          </a:bodyPr>
          <a:lstStyle/>
          <a:p>
            <a:r>
              <a:rPr lang="es-CO" dirty="0"/>
              <a:t>Administración de Utilería</a:t>
            </a:r>
          </a:p>
        </p:txBody>
      </p:sp>
      <p:pic>
        <p:nvPicPr>
          <p:cNvPr id="4" name="Imagen 3">
            <a:extLst>
              <a:ext uri="{FF2B5EF4-FFF2-40B4-BE49-F238E27FC236}">
                <a16:creationId xmlns:a16="http://schemas.microsoft.com/office/drawing/2014/main" id="{42A25F26-5FCD-446D-90B8-DD548E08FCA5}"/>
              </a:ext>
            </a:extLst>
          </p:cNvPr>
          <p:cNvPicPr>
            <a:picLocks noChangeAspect="1"/>
          </p:cNvPicPr>
          <p:nvPr/>
        </p:nvPicPr>
        <p:blipFill>
          <a:blip r:embed="rId2"/>
          <a:stretch>
            <a:fillRect/>
          </a:stretch>
        </p:blipFill>
        <p:spPr>
          <a:xfrm>
            <a:off x="1505243" y="3429000"/>
            <a:ext cx="6133514" cy="3268813"/>
          </a:xfrm>
          <a:prstGeom prst="rect">
            <a:avLst/>
          </a:prstGeom>
        </p:spPr>
      </p:pic>
      <p:sp>
        <p:nvSpPr>
          <p:cNvPr id="5" name="CuadroTexto 4">
            <a:extLst>
              <a:ext uri="{FF2B5EF4-FFF2-40B4-BE49-F238E27FC236}">
                <a16:creationId xmlns:a16="http://schemas.microsoft.com/office/drawing/2014/main" id="{993B32E2-33D0-44E4-9D07-84A926B253F3}"/>
              </a:ext>
            </a:extLst>
          </p:cNvPr>
          <p:cNvSpPr txBox="1"/>
          <p:nvPr/>
        </p:nvSpPr>
        <p:spPr>
          <a:xfrm>
            <a:off x="457199" y="1772529"/>
            <a:ext cx="8229601" cy="923330"/>
          </a:xfrm>
          <a:prstGeom prst="rect">
            <a:avLst/>
          </a:prstGeom>
          <a:noFill/>
        </p:spPr>
        <p:txBody>
          <a:bodyPr wrap="square" rtlCol="0">
            <a:spAutoFit/>
          </a:bodyPr>
          <a:lstStyle/>
          <a:p>
            <a:pPr algn="just"/>
            <a:r>
              <a:rPr lang="es-CO" dirty="0"/>
              <a:t>Al ingresar encontraremos el listado de elementos para el montaje de un evento configurados en el sistema, en caso de ser necesario el sistema nos brinda la posibilidad de buscar, crear, editar y eliminar algún elemento de utilería.</a:t>
            </a:r>
          </a:p>
        </p:txBody>
      </p:sp>
    </p:spTree>
    <p:extLst>
      <p:ext uri="{BB962C8B-B14F-4D97-AF65-F5344CB8AC3E}">
        <p14:creationId xmlns:p14="http://schemas.microsoft.com/office/powerpoint/2010/main" val="1861469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499506-3167-4559-AC0A-B4A8660C2CAB}"/>
              </a:ext>
            </a:extLst>
          </p:cNvPr>
          <p:cNvSpPr>
            <a:spLocks noGrp="1"/>
          </p:cNvSpPr>
          <p:nvPr>
            <p:ph type="title"/>
          </p:nvPr>
        </p:nvSpPr>
        <p:spPr/>
        <p:txBody>
          <a:bodyPr/>
          <a:lstStyle/>
          <a:p>
            <a:r>
              <a:rPr lang="es-CO" dirty="0"/>
              <a:t>Nueva Utilería</a:t>
            </a:r>
          </a:p>
        </p:txBody>
      </p:sp>
      <p:pic>
        <p:nvPicPr>
          <p:cNvPr id="4" name="Imagen 3">
            <a:extLst>
              <a:ext uri="{FF2B5EF4-FFF2-40B4-BE49-F238E27FC236}">
                <a16:creationId xmlns:a16="http://schemas.microsoft.com/office/drawing/2014/main" id="{55543101-D0D9-45BA-B8B3-3FD85E8A2114}"/>
              </a:ext>
            </a:extLst>
          </p:cNvPr>
          <p:cNvPicPr>
            <a:picLocks noChangeAspect="1"/>
          </p:cNvPicPr>
          <p:nvPr/>
        </p:nvPicPr>
        <p:blipFill>
          <a:blip r:embed="rId2"/>
          <a:stretch>
            <a:fillRect/>
          </a:stretch>
        </p:blipFill>
        <p:spPr>
          <a:xfrm>
            <a:off x="2074470" y="3653253"/>
            <a:ext cx="4995060" cy="2930109"/>
          </a:xfrm>
          <a:prstGeom prst="rect">
            <a:avLst/>
          </a:prstGeom>
        </p:spPr>
      </p:pic>
      <p:sp>
        <p:nvSpPr>
          <p:cNvPr id="5" name="CuadroTexto 4">
            <a:extLst>
              <a:ext uri="{FF2B5EF4-FFF2-40B4-BE49-F238E27FC236}">
                <a16:creationId xmlns:a16="http://schemas.microsoft.com/office/drawing/2014/main" id="{0E566978-B564-44DE-8F77-9D7332CB21B4}"/>
              </a:ext>
            </a:extLst>
          </p:cNvPr>
          <p:cNvSpPr txBox="1"/>
          <p:nvPr/>
        </p:nvSpPr>
        <p:spPr>
          <a:xfrm>
            <a:off x="457199" y="1417638"/>
            <a:ext cx="8447649" cy="923330"/>
          </a:xfrm>
          <a:prstGeom prst="rect">
            <a:avLst/>
          </a:prstGeom>
          <a:noFill/>
        </p:spPr>
        <p:txBody>
          <a:bodyPr wrap="square" rtlCol="0">
            <a:spAutoFit/>
          </a:bodyPr>
          <a:lstStyle/>
          <a:p>
            <a:r>
              <a:rPr lang="es-CO" dirty="0"/>
              <a:t>Para crear un nuevo elemento de utilería debemos ingresar a la opción color naranjado con el nombre </a:t>
            </a:r>
            <a:r>
              <a:rPr lang="es-CO" b="1" dirty="0">
                <a:solidFill>
                  <a:schemeClr val="accent6">
                    <a:lumMod val="75000"/>
                  </a:schemeClr>
                </a:solidFill>
              </a:rPr>
              <a:t>“Nueva Utilería”</a:t>
            </a:r>
            <a:r>
              <a:rPr lang="es-CO" dirty="0"/>
              <a:t>, una vez dentro de este se desplegara una pequeña ventana emergente solicitando información del formulario a crear.</a:t>
            </a:r>
            <a:endParaRPr lang="es-CO" b="1" dirty="0">
              <a:solidFill>
                <a:schemeClr val="accent6">
                  <a:lumMod val="75000"/>
                </a:schemeClr>
              </a:solidFill>
            </a:endParaRPr>
          </a:p>
        </p:txBody>
      </p:sp>
    </p:spTree>
    <p:extLst>
      <p:ext uri="{BB962C8B-B14F-4D97-AF65-F5344CB8AC3E}">
        <p14:creationId xmlns:p14="http://schemas.microsoft.com/office/powerpoint/2010/main" val="3347909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4E5DA0-6CCD-4143-BB17-F7F29579F3A2}"/>
              </a:ext>
            </a:extLst>
          </p:cNvPr>
          <p:cNvSpPr>
            <a:spLocks noGrp="1"/>
          </p:cNvSpPr>
          <p:nvPr>
            <p:ph type="title"/>
          </p:nvPr>
        </p:nvSpPr>
        <p:spPr/>
        <p:txBody>
          <a:bodyPr/>
          <a:lstStyle/>
          <a:p>
            <a:r>
              <a:rPr lang="es-CO" dirty="0"/>
              <a:t>Editar Utilería</a:t>
            </a:r>
          </a:p>
        </p:txBody>
      </p:sp>
      <p:pic>
        <p:nvPicPr>
          <p:cNvPr id="4" name="Imagen 3">
            <a:extLst>
              <a:ext uri="{FF2B5EF4-FFF2-40B4-BE49-F238E27FC236}">
                <a16:creationId xmlns:a16="http://schemas.microsoft.com/office/drawing/2014/main" id="{F670DBD2-6B05-4035-8CE2-570A01EF912D}"/>
              </a:ext>
            </a:extLst>
          </p:cNvPr>
          <p:cNvPicPr>
            <a:picLocks noChangeAspect="1"/>
          </p:cNvPicPr>
          <p:nvPr/>
        </p:nvPicPr>
        <p:blipFill>
          <a:blip r:embed="rId2"/>
          <a:stretch>
            <a:fillRect/>
          </a:stretch>
        </p:blipFill>
        <p:spPr>
          <a:xfrm>
            <a:off x="2141073" y="3734378"/>
            <a:ext cx="4861853" cy="2848984"/>
          </a:xfrm>
          <a:prstGeom prst="rect">
            <a:avLst/>
          </a:prstGeom>
        </p:spPr>
      </p:pic>
      <p:sp>
        <p:nvSpPr>
          <p:cNvPr id="5" name="CuadroTexto 4">
            <a:extLst>
              <a:ext uri="{FF2B5EF4-FFF2-40B4-BE49-F238E27FC236}">
                <a16:creationId xmlns:a16="http://schemas.microsoft.com/office/drawing/2014/main" id="{433CB8D9-0735-4553-9E44-7E46F975507A}"/>
              </a:ext>
            </a:extLst>
          </p:cNvPr>
          <p:cNvSpPr txBox="1"/>
          <p:nvPr/>
        </p:nvSpPr>
        <p:spPr>
          <a:xfrm>
            <a:off x="457200" y="1631852"/>
            <a:ext cx="8229600" cy="1477328"/>
          </a:xfrm>
          <a:prstGeom prst="rect">
            <a:avLst/>
          </a:prstGeom>
          <a:noFill/>
        </p:spPr>
        <p:txBody>
          <a:bodyPr wrap="square" rtlCol="0">
            <a:spAutoFit/>
          </a:bodyPr>
          <a:lstStyle/>
          <a:p>
            <a:pPr algn="just"/>
            <a:r>
              <a:rPr lang="es-CO" dirty="0"/>
              <a:t>Para editar un elemento de utilería solo es necesario seleccionar la opción        la cual nos desplegara el mismo formulario utilizado anteriormente para crear.</a:t>
            </a:r>
          </a:p>
          <a:p>
            <a:pPr algn="just"/>
            <a:endParaRPr lang="es-CO" dirty="0"/>
          </a:p>
          <a:p>
            <a:pPr algn="just"/>
            <a:r>
              <a:rPr lang="es-CO" dirty="0"/>
              <a:t>Solo será necesario modificar la información y proceder a guardar para que esta sea editada.</a:t>
            </a:r>
          </a:p>
        </p:txBody>
      </p:sp>
      <p:pic>
        <p:nvPicPr>
          <p:cNvPr id="6" name="Imagen 5">
            <a:extLst>
              <a:ext uri="{FF2B5EF4-FFF2-40B4-BE49-F238E27FC236}">
                <a16:creationId xmlns:a16="http://schemas.microsoft.com/office/drawing/2014/main" id="{D62A2205-69F4-44A1-A9D4-490E57961A56}"/>
              </a:ext>
            </a:extLst>
          </p:cNvPr>
          <p:cNvPicPr>
            <a:picLocks noChangeAspect="1"/>
          </p:cNvPicPr>
          <p:nvPr/>
        </p:nvPicPr>
        <p:blipFill>
          <a:blip r:embed="rId3"/>
          <a:stretch>
            <a:fillRect/>
          </a:stretch>
        </p:blipFill>
        <p:spPr>
          <a:xfrm>
            <a:off x="7627254" y="1692034"/>
            <a:ext cx="276225" cy="333375"/>
          </a:xfrm>
          <a:prstGeom prst="rect">
            <a:avLst/>
          </a:prstGeom>
        </p:spPr>
      </p:pic>
    </p:spTree>
    <p:extLst>
      <p:ext uri="{BB962C8B-B14F-4D97-AF65-F5344CB8AC3E}">
        <p14:creationId xmlns:p14="http://schemas.microsoft.com/office/powerpoint/2010/main" val="19727316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A5252B-2DB3-48E8-AB7B-F834189BD94A}"/>
              </a:ext>
            </a:extLst>
          </p:cNvPr>
          <p:cNvSpPr>
            <a:spLocks noGrp="1"/>
          </p:cNvSpPr>
          <p:nvPr>
            <p:ph type="title"/>
          </p:nvPr>
        </p:nvSpPr>
        <p:spPr/>
        <p:txBody>
          <a:bodyPr>
            <a:normAutofit/>
          </a:bodyPr>
          <a:lstStyle/>
          <a:p>
            <a:r>
              <a:rPr lang="es-CO" dirty="0"/>
              <a:t>Administración de Festivos</a:t>
            </a:r>
          </a:p>
        </p:txBody>
      </p:sp>
      <p:pic>
        <p:nvPicPr>
          <p:cNvPr id="4" name="Imagen 3">
            <a:extLst>
              <a:ext uri="{FF2B5EF4-FFF2-40B4-BE49-F238E27FC236}">
                <a16:creationId xmlns:a16="http://schemas.microsoft.com/office/drawing/2014/main" id="{D524B095-FD35-489F-BD73-06A4FDC562E5}"/>
              </a:ext>
            </a:extLst>
          </p:cNvPr>
          <p:cNvPicPr>
            <a:picLocks noChangeAspect="1"/>
          </p:cNvPicPr>
          <p:nvPr/>
        </p:nvPicPr>
        <p:blipFill>
          <a:blip r:embed="rId2"/>
          <a:stretch>
            <a:fillRect/>
          </a:stretch>
        </p:blipFill>
        <p:spPr>
          <a:xfrm>
            <a:off x="1361049" y="3170258"/>
            <a:ext cx="6421901" cy="3413104"/>
          </a:xfrm>
          <a:prstGeom prst="rect">
            <a:avLst/>
          </a:prstGeom>
        </p:spPr>
      </p:pic>
      <p:sp>
        <p:nvSpPr>
          <p:cNvPr id="5" name="CuadroTexto 4">
            <a:extLst>
              <a:ext uri="{FF2B5EF4-FFF2-40B4-BE49-F238E27FC236}">
                <a16:creationId xmlns:a16="http://schemas.microsoft.com/office/drawing/2014/main" id="{D99D036C-7B78-4FC2-AE70-C28E059B514D}"/>
              </a:ext>
            </a:extLst>
          </p:cNvPr>
          <p:cNvSpPr txBox="1"/>
          <p:nvPr/>
        </p:nvSpPr>
        <p:spPr>
          <a:xfrm>
            <a:off x="457199" y="1772529"/>
            <a:ext cx="8229601" cy="923330"/>
          </a:xfrm>
          <a:prstGeom prst="rect">
            <a:avLst/>
          </a:prstGeom>
          <a:noFill/>
        </p:spPr>
        <p:txBody>
          <a:bodyPr wrap="square" rtlCol="0">
            <a:spAutoFit/>
          </a:bodyPr>
          <a:lstStyle/>
          <a:p>
            <a:pPr algn="just"/>
            <a:r>
              <a:rPr lang="es-CO" dirty="0"/>
              <a:t>Al ingresar encontraremos el listado de periodos (Años) en los cuales encontraremos los días festivos comprendidos de cada uno de ellos. En caso de ser necesario el sistema nos brinda la posibilidad de buscar, crear, editar y eliminar.</a:t>
            </a:r>
          </a:p>
        </p:txBody>
      </p:sp>
    </p:spTree>
    <p:extLst>
      <p:ext uri="{BB962C8B-B14F-4D97-AF65-F5344CB8AC3E}">
        <p14:creationId xmlns:p14="http://schemas.microsoft.com/office/powerpoint/2010/main" val="37409706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0464EB-7DA5-44DD-9CCD-A8426CD0D947}"/>
              </a:ext>
            </a:extLst>
          </p:cNvPr>
          <p:cNvSpPr>
            <a:spLocks noGrp="1"/>
          </p:cNvSpPr>
          <p:nvPr>
            <p:ph type="title"/>
          </p:nvPr>
        </p:nvSpPr>
        <p:spPr/>
        <p:txBody>
          <a:bodyPr/>
          <a:lstStyle/>
          <a:p>
            <a:r>
              <a:rPr lang="es-CO" dirty="0"/>
              <a:t>Nuevo Festivo</a:t>
            </a:r>
          </a:p>
        </p:txBody>
      </p:sp>
      <p:sp>
        <p:nvSpPr>
          <p:cNvPr id="4" name="CuadroTexto 3">
            <a:extLst>
              <a:ext uri="{FF2B5EF4-FFF2-40B4-BE49-F238E27FC236}">
                <a16:creationId xmlns:a16="http://schemas.microsoft.com/office/drawing/2014/main" id="{26B8BB88-63B1-48E8-87EE-86F846F11ACA}"/>
              </a:ext>
            </a:extLst>
          </p:cNvPr>
          <p:cNvSpPr txBox="1"/>
          <p:nvPr/>
        </p:nvSpPr>
        <p:spPr>
          <a:xfrm>
            <a:off x="457199" y="1417638"/>
            <a:ext cx="8447649" cy="646331"/>
          </a:xfrm>
          <a:prstGeom prst="rect">
            <a:avLst/>
          </a:prstGeom>
          <a:noFill/>
        </p:spPr>
        <p:txBody>
          <a:bodyPr wrap="square" rtlCol="0">
            <a:spAutoFit/>
          </a:bodyPr>
          <a:lstStyle/>
          <a:p>
            <a:r>
              <a:rPr lang="es-CO" dirty="0"/>
              <a:t>Para crear un nuevo Periodo festivo debemos ingresar a la opción color naranjado con el nombre </a:t>
            </a:r>
            <a:r>
              <a:rPr lang="es-CO" b="1" dirty="0">
                <a:solidFill>
                  <a:schemeClr val="accent6">
                    <a:lumMod val="75000"/>
                  </a:schemeClr>
                </a:solidFill>
              </a:rPr>
              <a:t>“Nueva Festivo”</a:t>
            </a:r>
            <a:r>
              <a:rPr lang="es-CO" dirty="0"/>
              <a:t>, una vez dentro de este se desplegara un formulario.</a:t>
            </a:r>
            <a:endParaRPr lang="es-CO" b="1" dirty="0">
              <a:solidFill>
                <a:schemeClr val="accent6">
                  <a:lumMod val="75000"/>
                </a:schemeClr>
              </a:solidFill>
            </a:endParaRPr>
          </a:p>
        </p:txBody>
      </p:sp>
      <p:pic>
        <p:nvPicPr>
          <p:cNvPr id="5" name="Imagen 4">
            <a:extLst>
              <a:ext uri="{FF2B5EF4-FFF2-40B4-BE49-F238E27FC236}">
                <a16:creationId xmlns:a16="http://schemas.microsoft.com/office/drawing/2014/main" id="{0F596490-468F-4760-AF42-AF9A970207B7}"/>
              </a:ext>
            </a:extLst>
          </p:cNvPr>
          <p:cNvPicPr>
            <a:picLocks noChangeAspect="1"/>
          </p:cNvPicPr>
          <p:nvPr/>
        </p:nvPicPr>
        <p:blipFill>
          <a:blip r:embed="rId3"/>
          <a:stretch>
            <a:fillRect/>
          </a:stretch>
        </p:blipFill>
        <p:spPr>
          <a:xfrm>
            <a:off x="3348110" y="2560638"/>
            <a:ext cx="5556737" cy="2879724"/>
          </a:xfrm>
          <a:prstGeom prst="rect">
            <a:avLst/>
          </a:prstGeom>
        </p:spPr>
      </p:pic>
      <p:sp>
        <p:nvSpPr>
          <p:cNvPr id="6" name="CuadroTexto 5">
            <a:extLst>
              <a:ext uri="{FF2B5EF4-FFF2-40B4-BE49-F238E27FC236}">
                <a16:creationId xmlns:a16="http://schemas.microsoft.com/office/drawing/2014/main" id="{B9F93DED-1A99-4AD4-BF50-4ECBF17409F8}"/>
              </a:ext>
            </a:extLst>
          </p:cNvPr>
          <p:cNvSpPr txBox="1"/>
          <p:nvPr/>
        </p:nvSpPr>
        <p:spPr>
          <a:xfrm>
            <a:off x="457200" y="2560638"/>
            <a:ext cx="2750234" cy="2585323"/>
          </a:xfrm>
          <a:prstGeom prst="rect">
            <a:avLst/>
          </a:prstGeom>
          <a:noFill/>
        </p:spPr>
        <p:txBody>
          <a:bodyPr wrap="square" rtlCol="0">
            <a:spAutoFit/>
          </a:bodyPr>
          <a:lstStyle/>
          <a:p>
            <a:pPr algn="just"/>
            <a:r>
              <a:rPr lang="es-CO" dirty="0"/>
              <a:t>Una vez en el formulario, este nos solicitara el numero del periodo a crear, seguido debemos seleccionar el tipo de ingreso de los días festivos.</a:t>
            </a:r>
          </a:p>
          <a:p>
            <a:pPr algn="just"/>
            <a:endParaRPr lang="es-CO" dirty="0"/>
          </a:p>
          <a:p>
            <a:pPr marL="285750" indent="-285750" algn="just">
              <a:buFont typeface="Arial" panose="020B0604020202020204" pitchFamily="34" charset="0"/>
              <a:buChar char="•"/>
            </a:pPr>
            <a:r>
              <a:rPr lang="es-CO" dirty="0"/>
              <a:t>Días Festivos Individual</a:t>
            </a:r>
          </a:p>
          <a:p>
            <a:pPr marL="285750" indent="-285750" algn="just">
              <a:buFont typeface="Arial" panose="020B0604020202020204" pitchFamily="34" charset="0"/>
              <a:buChar char="•"/>
            </a:pPr>
            <a:r>
              <a:rPr lang="es-CO" dirty="0"/>
              <a:t>Cargar Excel de Días</a:t>
            </a:r>
          </a:p>
        </p:txBody>
      </p:sp>
    </p:spTree>
    <p:extLst>
      <p:ext uri="{BB962C8B-B14F-4D97-AF65-F5344CB8AC3E}">
        <p14:creationId xmlns:p14="http://schemas.microsoft.com/office/powerpoint/2010/main" val="219221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7A91F94-E303-4B41-8F77-36B3712A829A}"/>
              </a:ext>
            </a:extLst>
          </p:cNvPr>
          <p:cNvPicPr>
            <a:picLocks noChangeAspect="1"/>
          </p:cNvPicPr>
          <p:nvPr/>
        </p:nvPicPr>
        <p:blipFill>
          <a:blip r:embed="rId2"/>
          <a:stretch>
            <a:fillRect/>
          </a:stretch>
        </p:blipFill>
        <p:spPr>
          <a:xfrm>
            <a:off x="731520" y="3429000"/>
            <a:ext cx="7680960" cy="2793655"/>
          </a:xfrm>
          <a:prstGeom prst="rect">
            <a:avLst/>
          </a:prstGeom>
        </p:spPr>
      </p:pic>
      <p:sp>
        <p:nvSpPr>
          <p:cNvPr id="5" name="CuadroTexto 4">
            <a:extLst>
              <a:ext uri="{FF2B5EF4-FFF2-40B4-BE49-F238E27FC236}">
                <a16:creationId xmlns:a16="http://schemas.microsoft.com/office/drawing/2014/main" id="{6B931522-9B08-4EA6-8958-344004E01788}"/>
              </a:ext>
            </a:extLst>
          </p:cNvPr>
          <p:cNvSpPr txBox="1"/>
          <p:nvPr/>
        </p:nvSpPr>
        <p:spPr>
          <a:xfrm>
            <a:off x="393895" y="1097280"/>
            <a:ext cx="8496887" cy="1477328"/>
          </a:xfrm>
          <a:prstGeom prst="rect">
            <a:avLst/>
          </a:prstGeom>
          <a:noFill/>
        </p:spPr>
        <p:txBody>
          <a:bodyPr wrap="square" rtlCol="0">
            <a:spAutoFit/>
          </a:bodyPr>
          <a:lstStyle/>
          <a:p>
            <a:r>
              <a:rPr lang="es-CO" dirty="0"/>
              <a:t>En caso de seleccionar el tipo de ingreso por </a:t>
            </a:r>
            <a:r>
              <a:rPr lang="es-CO" b="1" dirty="0"/>
              <a:t>día festivo individual</a:t>
            </a:r>
            <a:r>
              <a:rPr lang="es-CO" dirty="0"/>
              <a:t>, debemos ingresar uno a uno los días festivos a configurar y proceder a seleccionar agregar día.</a:t>
            </a:r>
          </a:p>
          <a:p>
            <a:endParaRPr lang="es-CO" dirty="0"/>
          </a:p>
          <a:p>
            <a:r>
              <a:rPr lang="es-CO" dirty="0"/>
              <a:t>De igual forma si ingresamos un día festivo erróneo podemos eliminarlo de la vista temporal de días festivos por guardar seleccionando la opción        .</a:t>
            </a:r>
          </a:p>
        </p:txBody>
      </p:sp>
      <p:pic>
        <p:nvPicPr>
          <p:cNvPr id="6" name="Imagen 5">
            <a:extLst>
              <a:ext uri="{FF2B5EF4-FFF2-40B4-BE49-F238E27FC236}">
                <a16:creationId xmlns:a16="http://schemas.microsoft.com/office/drawing/2014/main" id="{5FDA464B-C107-49D0-92F8-355C7EEB77C3}"/>
              </a:ext>
            </a:extLst>
          </p:cNvPr>
          <p:cNvPicPr>
            <a:picLocks noChangeAspect="1"/>
          </p:cNvPicPr>
          <p:nvPr/>
        </p:nvPicPr>
        <p:blipFill>
          <a:blip r:embed="rId3"/>
          <a:stretch>
            <a:fillRect/>
          </a:stretch>
        </p:blipFill>
        <p:spPr>
          <a:xfrm>
            <a:off x="6313974" y="2251197"/>
            <a:ext cx="314325" cy="295275"/>
          </a:xfrm>
          <a:prstGeom prst="rect">
            <a:avLst/>
          </a:prstGeom>
        </p:spPr>
      </p:pic>
    </p:spTree>
    <p:extLst>
      <p:ext uri="{BB962C8B-B14F-4D97-AF65-F5344CB8AC3E}">
        <p14:creationId xmlns:p14="http://schemas.microsoft.com/office/powerpoint/2010/main" val="25357917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A7F7146E-06F9-447A-A2EE-1FF55244396E}"/>
              </a:ext>
            </a:extLst>
          </p:cNvPr>
          <p:cNvPicPr>
            <a:picLocks noChangeAspect="1"/>
          </p:cNvPicPr>
          <p:nvPr/>
        </p:nvPicPr>
        <p:blipFill>
          <a:blip r:embed="rId2"/>
          <a:stretch>
            <a:fillRect/>
          </a:stretch>
        </p:blipFill>
        <p:spPr>
          <a:xfrm>
            <a:off x="573258" y="3429000"/>
            <a:ext cx="7997483" cy="2909959"/>
          </a:xfrm>
          <a:prstGeom prst="rect">
            <a:avLst/>
          </a:prstGeom>
        </p:spPr>
      </p:pic>
      <p:sp>
        <p:nvSpPr>
          <p:cNvPr id="5" name="CuadroTexto 4">
            <a:extLst>
              <a:ext uri="{FF2B5EF4-FFF2-40B4-BE49-F238E27FC236}">
                <a16:creationId xmlns:a16="http://schemas.microsoft.com/office/drawing/2014/main" id="{372284FA-7758-4022-A8C1-577A68E1BB87}"/>
              </a:ext>
            </a:extLst>
          </p:cNvPr>
          <p:cNvSpPr txBox="1"/>
          <p:nvPr/>
        </p:nvSpPr>
        <p:spPr>
          <a:xfrm>
            <a:off x="393895" y="1097280"/>
            <a:ext cx="8496887" cy="2031325"/>
          </a:xfrm>
          <a:prstGeom prst="rect">
            <a:avLst/>
          </a:prstGeom>
          <a:noFill/>
        </p:spPr>
        <p:txBody>
          <a:bodyPr wrap="square" rtlCol="0">
            <a:spAutoFit/>
          </a:bodyPr>
          <a:lstStyle/>
          <a:p>
            <a:r>
              <a:rPr lang="es-CO" dirty="0"/>
              <a:t>En caso de seleccionar el tipo de ingreso </a:t>
            </a:r>
            <a:r>
              <a:rPr lang="es-CO" b="1" dirty="0"/>
              <a:t>cargar Excel de días</a:t>
            </a:r>
            <a:r>
              <a:rPr lang="es-CO" dirty="0"/>
              <a:t>. Esta opción resulta mucho rápida que la anterior, ya que una vez se tenga la información de los días festivos ordenada en una sola columna en un Excel previamente creado solo es necesario cargar al sistema y proceder a guardar.</a:t>
            </a:r>
          </a:p>
          <a:p>
            <a:endParaRPr lang="es-CO" dirty="0"/>
          </a:p>
          <a:p>
            <a:r>
              <a:rPr lang="es-CO" dirty="0"/>
              <a:t>De igual forma si ingresamos un día festivo erróneo podemos eliminarlo de la vista temporal de días festivos por guardar seleccionando la opción        .</a:t>
            </a:r>
          </a:p>
        </p:txBody>
      </p:sp>
      <p:pic>
        <p:nvPicPr>
          <p:cNvPr id="6" name="Imagen 5">
            <a:extLst>
              <a:ext uri="{FF2B5EF4-FFF2-40B4-BE49-F238E27FC236}">
                <a16:creationId xmlns:a16="http://schemas.microsoft.com/office/drawing/2014/main" id="{3FC95EEB-3403-4976-B46C-6DD7D2BCB630}"/>
              </a:ext>
            </a:extLst>
          </p:cNvPr>
          <p:cNvPicPr>
            <a:picLocks noChangeAspect="1"/>
          </p:cNvPicPr>
          <p:nvPr/>
        </p:nvPicPr>
        <p:blipFill>
          <a:blip r:embed="rId3"/>
          <a:stretch>
            <a:fillRect/>
          </a:stretch>
        </p:blipFill>
        <p:spPr>
          <a:xfrm>
            <a:off x="6313974" y="2796704"/>
            <a:ext cx="314325" cy="295275"/>
          </a:xfrm>
          <a:prstGeom prst="rect">
            <a:avLst/>
          </a:prstGeom>
        </p:spPr>
      </p:pic>
    </p:spTree>
    <p:extLst>
      <p:ext uri="{BB962C8B-B14F-4D97-AF65-F5344CB8AC3E}">
        <p14:creationId xmlns:p14="http://schemas.microsoft.com/office/powerpoint/2010/main" val="2287014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3451A4-E1CD-4212-9633-A5E0285D104F}"/>
              </a:ext>
            </a:extLst>
          </p:cNvPr>
          <p:cNvSpPr>
            <a:spLocks noGrp="1"/>
          </p:cNvSpPr>
          <p:nvPr>
            <p:ph type="title"/>
          </p:nvPr>
        </p:nvSpPr>
        <p:spPr/>
        <p:txBody>
          <a:bodyPr/>
          <a:lstStyle/>
          <a:p>
            <a:r>
              <a:rPr lang="es-CO" dirty="0"/>
              <a:t>Administración de Tarifas</a:t>
            </a:r>
          </a:p>
        </p:txBody>
      </p:sp>
      <p:pic>
        <p:nvPicPr>
          <p:cNvPr id="4" name="Imagen 3">
            <a:extLst>
              <a:ext uri="{FF2B5EF4-FFF2-40B4-BE49-F238E27FC236}">
                <a16:creationId xmlns:a16="http://schemas.microsoft.com/office/drawing/2014/main" id="{5252F56B-D385-4A0D-BD48-C45855E82C1C}"/>
              </a:ext>
            </a:extLst>
          </p:cNvPr>
          <p:cNvPicPr>
            <a:picLocks noChangeAspect="1"/>
          </p:cNvPicPr>
          <p:nvPr/>
        </p:nvPicPr>
        <p:blipFill>
          <a:blip r:embed="rId2"/>
          <a:stretch>
            <a:fillRect/>
          </a:stretch>
        </p:blipFill>
        <p:spPr>
          <a:xfrm>
            <a:off x="816450" y="2982351"/>
            <a:ext cx="6794172" cy="3601011"/>
          </a:xfrm>
          <a:prstGeom prst="rect">
            <a:avLst/>
          </a:prstGeom>
        </p:spPr>
      </p:pic>
      <p:sp>
        <p:nvSpPr>
          <p:cNvPr id="6" name="CuadroTexto 5">
            <a:extLst>
              <a:ext uri="{FF2B5EF4-FFF2-40B4-BE49-F238E27FC236}">
                <a16:creationId xmlns:a16="http://schemas.microsoft.com/office/drawing/2014/main" id="{E029262C-F20B-4444-AFF8-91CC95F62A4E}"/>
              </a:ext>
            </a:extLst>
          </p:cNvPr>
          <p:cNvSpPr txBox="1"/>
          <p:nvPr/>
        </p:nvSpPr>
        <p:spPr>
          <a:xfrm>
            <a:off x="457200" y="1466656"/>
            <a:ext cx="8229601" cy="923330"/>
          </a:xfrm>
          <a:prstGeom prst="rect">
            <a:avLst/>
          </a:prstGeom>
          <a:noFill/>
        </p:spPr>
        <p:txBody>
          <a:bodyPr wrap="square" rtlCol="0">
            <a:spAutoFit/>
          </a:bodyPr>
          <a:lstStyle/>
          <a:p>
            <a:pPr algn="just"/>
            <a:r>
              <a:rPr lang="es-CO" dirty="0"/>
              <a:t>Al ingresar encontraremos el listado de periodos tarifario de los distintos auditorios, salones, salas y teatro. En caso de ser necesario el sistema nos brinda la posibilidad de buscar, crear, editar y eliminar.</a:t>
            </a:r>
          </a:p>
        </p:txBody>
      </p:sp>
    </p:spTree>
    <p:extLst>
      <p:ext uri="{BB962C8B-B14F-4D97-AF65-F5344CB8AC3E}">
        <p14:creationId xmlns:p14="http://schemas.microsoft.com/office/powerpoint/2010/main" val="9418589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EB9D1D-44B3-4624-83FF-E9910CE0BC35}"/>
              </a:ext>
            </a:extLst>
          </p:cNvPr>
          <p:cNvSpPr>
            <a:spLocks noGrp="1"/>
          </p:cNvSpPr>
          <p:nvPr>
            <p:ph type="title"/>
          </p:nvPr>
        </p:nvSpPr>
        <p:spPr/>
        <p:txBody>
          <a:bodyPr/>
          <a:lstStyle/>
          <a:p>
            <a:r>
              <a:rPr lang="es-CO" dirty="0"/>
              <a:t>Nueva Tarifa</a:t>
            </a:r>
          </a:p>
        </p:txBody>
      </p:sp>
      <p:pic>
        <p:nvPicPr>
          <p:cNvPr id="4" name="Imagen 3">
            <a:extLst>
              <a:ext uri="{FF2B5EF4-FFF2-40B4-BE49-F238E27FC236}">
                <a16:creationId xmlns:a16="http://schemas.microsoft.com/office/drawing/2014/main" id="{DDEAA915-305F-4897-9CB6-DE55ACB60944}"/>
              </a:ext>
            </a:extLst>
          </p:cNvPr>
          <p:cNvPicPr>
            <a:picLocks noChangeAspect="1"/>
          </p:cNvPicPr>
          <p:nvPr/>
        </p:nvPicPr>
        <p:blipFill>
          <a:blip r:embed="rId2"/>
          <a:stretch>
            <a:fillRect/>
          </a:stretch>
        </p:blipFill>
        <p:spPr>
          <a:xfrm>
            <a:off x="3080825" y="2510163"/>
            <a:ext cx="5542669" cy="3594898"/>
          </a:xfrm>
          <a:prstGeom prst="rect">
            <a:avLst/>
          </a:prstGeom>
        </p:spPr>
      </p:pic>
      <p:sp>
        <p:nvSpPr>
          <p:cNvPr id="5" name="CuadroTexto 4">
            <a:extLst>
              <a:ext uri="{FF2B5EF4-FFF2-40B4-BE49-F238E27FC236}">
                <a16:creationId xmlns:a16="http://schemas.microsoft.com/office/drawing/2014/main" id="{85A4267F-5008-4EE2-90DB-8620AEA6340F}"/>
              </a:ext>
            </a:extLst>
          </p:cNvPr>
          <p:cNvSpPr txBox="1"/>
          <p:nvPr/>
        </p:nvSpPr>
        <p:spPr>
          <a:xfrm>
            <a:off x="457199" y="1244423"/>
            <a:ext cx="8447649" cy="646331"/>
          </a:xfrm>
          <a:prstGeom prst="rect">
            <a:avLst/>
          </a:prstGeom>
          <a:noFill/>
        </p:spPr>
        <p:txBody>
          <a:bodyPr wrap="square" rtlCol="0">
            <a:spAutoFit/>
          </a:bodyPr>
          <a:lstStyle/>
          <a:p>
            <a:r>
              <a:rPr lang="es-CO" dirty="0"/>
              <a:t>Para crear un nuevo Periodo de tarifa debemos ingresar a la opción color naranjado con el nombre </a:t>
            </a:r>
            <a:r>
              <a:rPr lang="es-CO" b="1" dirty="0">
                <a:solidFill>
                  <a:schemeClr val="accent6">
                    <a:lumMod val="75000"/>
                  </a:schemeClr>
                </a:solidFill>
              </a:rPr>
              <a:t>“Nueva Tarifa”</a:t>
            </a:r>
            <a:r>
              <a:rPr lang="es-CO" dirty="0"/>
              <a:t>, una vez dentro de este se desplegara un formulario.</a:t>
            </a:r>
            <a:endParaRPr lang="es-CO" b="1" dirty="0">
              <a:solidFill>
                <a:schemeClr val="accent6">
                  <a:lumMod val="75000"/>
                </a:schemeClr>
              </a:solidFill>
            </a:endParaRPr>
          </a:p>
        </p:txBody>
      </p:sp>
      <p:sp>
        <p:nvSpPr>
          <p:cNvPr id="6" name="CuadroTexto 5">
            <a:extLst>
              <a:ext uri="{FF2B5EF4-FFF2-40B4-BE49-F238E27FC236}">
                <a16:creationId xmlns:a16="http://schemas.microsoft.com/office/drawing/2014/main" id="{620EE0DF-45CB-4423-BBAB-4AFAF6D39AB5}"/>
              </a:ext>
            </a:extLst>
          </p:cNvPr>
          <p:cNvSpPr txBox="1"/>
          <p:nvPr/>
        </p:nvSpPr>
        <p:spPr>
          <a:xfrm>
            <a:off x="457199" y="3291949"/>
            <a:ext cx="2440745" cy="2031325"/>
          </a:xfrm>
          <a:prstGeom prst="rect">
            <a:avLst/>
          </a:prstGeom>
          <a:noFill/>
        </p:spPr>
        <p:txBody>
          <a:bodyPr wrap="square" rtlCol="0">
            <a:spAutoFit/>
          </a:bodyPr>
          <a:lstStyle/>
          <a:p>
            <a:pPr algn="just"/>
            <a:r>
              <a:rPr lang="es-CO" dirty="0"/>
              <a:t>Donde se nos solicitara el periodo de la tarifa a crear y la información individual de cada una de la tarifa a cobrar cada uno de los salones.</a:t>
            </a:r>
          </a:p>
          <a:p>
            <a:pPr algn="just"/>
            <a:endParaRPr lang="es-CO" dirty="0"/>
          </a:p>
        </p:txBody>
      </p:sp>
    </p:spTree>
    <p:extLst>
      <p:ext uri="{BB962C8B-B14F-4D97-AF65-F5344CB8AC3E}">
        <p14:creationId xmlns:p14="http://schemas.microsoft.com/office/powerpoint/2010/main" val="31628785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B09CE7C0-ED92-4A4D-8DFD-CB28CFF23996}"/>
              </a:ext>
            </a:extLst>
          </p:cNvPr>
          <p:cNvPicPr>
            <a:picLocks noChangeAspect="1"/>
          </p:cNvPicPr>
          <p:nvPr/>
        </p:nvPicPr>
        <p:blipFill>
          <a:blip r:embed="rId2"/>
          <a:stretch>
            <a:fillRect/>
          </a:stretch>
        </p:blipFill>
        <p:spPr>
          <a:xfrm>
            <a:off x="2251233" y="3528093"/>
            <a:ext cx="4458652" cy="3182726"/>
          </a:xfrm>
          <a:prstGeom prst="rect">
            <a:avLst/>
          </a:prstGeom>
        </p:spPr>
      </p:pic>
      <p:sp>
        <p:nvSpPr>
          <p:cNvPr id="5" name="CuadroTexto 4">
            <a:extLst>
              <a:ext uri="{FF2B5EF4-FFF2-40B4-BE49-F238E27FC236}">
                <a16:creationId xmlns:a16="http://schemas.microsoft.com/office/drawing/2014/main" id="{24640D1F-6B6E-4FE6-B843-5A3540943868}"/>
              </a:ext>
            </a:extLst>
          </p:cNvPr>
          <p:cNvSpPr txBox="1"/>
          <p:nvPr/>
        </p:nvSpPr>
        <p:spPr>
          <a:xfrm>
            <a:off x="366565" y="1252025"/>
            <a:ext cx="8425743" cy="1754326"/>
          </a:xfrm>
          <a:prstGeom prst="rect">
            <a:avLst/>
          </a:prstGeom>
          <a:noFill/>
        </p:spPr>
        <p:txBody>
          <a:bodyPr wrap="square" rtlCol="0">
            <a:spAutoFit/>
          </a:bodyPr>
          <a:lstStyle/>
          <a:p>
            <a:pPr algn="just"/>
            <a:r>
              <a:rPr lang="es-CO" dirty="0"/>
              <a:t>Dentro del formularia encontraremos una opción </a:t>
            </a:r>
            <a:r>
              <a:rPr lang="es-CO" dirty="0">
                <a:solidFill>
                  <a:schemeClr val="accent6">
                    <a:lumMod val="75000"/>
                  </a:schemeClr>
                </a:solidFill>
              </a:rPr>
              <a:t>“Agregar Individual”, </a:t>
            </a:r>
            <a:r>
              <a:rPr lang="es-CO" dirty="0"/>
              <a:t>el cual nos mostrara una ventana emergente donde ingresaremos los datos para agregar la tarifa a un salón en especifico, seguido de su jornada, fecha inicio – fin, valor y vigencia de esta.</a:t>
            </a:r>
            <a:endParaRPr lang="es-CO" dirty="0">
              <a:solidFill>
                <a:schemeClr val="accent6">
                  <a:lumMod val="75000"/>
                </a:schemeClr>
              </a:solidFill>
            </a:endParaRPr>
          </a:p>
          <a:p>
            <a:pPr algn="just"/>
            <a:endParaRPr lang="es-CO" dirty="0">
              <a:solidFill>
                <a:schemeClr val="accent6">
                  <a:lumMod val="75000"/>
                </a:schemeClr>
              </a:solidFill>
            </a:endParaRPr>
          </a:p>
          <a:p>
            <a:pPr algn="just"/>
            <a:r>
              <a:rPr lang="es-CO" dirty="0"/>
              <a:t>Una vez ingresada esta información procedemos a seleccionar la opción agregar, para luego seguir configurando los salones que hagan falta para culminar nuestra tarifa.</a:t>
            </a:r>
          </a:p>
        </p:txBody>
      </p:sp>
    </p:spTree>
    <p:extLst>
      <p:ext uri="{BB962C8B-B14F-4D97-AF65-F5344CB8AC3E}">
        <p14:creationId xmlns:p14="http://schemas.microsoft.com/office/powerpoint/2010/main" val="28538189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385EB1-8437-49E3-ABC6-5DC7A49E2488}"/>
              </a:ext>
            </a:extLst>
          </p:cNvPr>
          <p:cNvSpPr>
            <a:spLocks noGrp="1"/>
          </p:cNvSpPr>
          <p:nvPr>
            <p:ph type="title"/>
          </p:nvPr>
        </p:nvSpPr>
        <p:spPr/>
        <p:txBody>
          <a:bodyPr/>
          <a:lstStyle/>
          <a:p>
            <a:r>
              <a:rPr lang="es-CO" dirty="0"/>
              <a:t>Editar Tarifa</a:t>
            </a:r>
          </a:p>
        </p:txBody>
      </p:sp>
      <p:pic>
        <p:nvPicPr>
          <p:cNvPr id="4" name="Imagen 3">
            <a:extLst>
              <a:ext uri="{FF2B5EF4-FFF2-40B4-BE49-F238E27FC236}">
                <a16:creationId xmlns:a16="http://schemas.microsoft.com/office/drawing/2014/main" id="{7A7472BE-2BC8-4278-A3FA-780A6D6B221D}"/>
              </a:ext>
            </a:extLst>
          </p:cNvPr>
          <p:cNvPicPr>
            <a:picLocks noChangeAspect="1"/>
          </p:cNvPicPr>
          <p:nvPr/>
        </p:nvPicPr>
        <p:blipFill>
          <a:blip r:embed="rId2"/>
          <a:stretch>
            <a:fillRect/>
          </a:stretch>
        </p:blipFill>
        <p:spPr>
          <a:xfrm>
            <a:off x="743921" y="3317457"/>
            <a:ext cx="7359069" cy="3268741"/>
          </a:xfrm>
          <a:prstGeom prst="rect">
            <a:avLst/>
          </a:prstGeom>
        </p:spPr>
      </p:pic>
      <p:sp>
        <p:nvSpPr>
          <p:cNvPr id="5" name="CuadroTexto 4">
            <a:extLst>
              <a:ext uri="{FF2B5EF4-FFF2-40B4-BE49-F238E27FC236}">
                <a16:creationId xmlns:a16="http://schemas.microsoft.com/office/drawing/2014/main" id="{AA8BB37E-D856-4812-90B6-B9E4CF8D4A1D}"/>
              </a:ext>
            </a:extLst>
          </p:cNvPr>
          <p:cNvSpPr txBox="1"/>
          <p:nvPr/>
        </p:nvSpPr>
        <p:spPr>
          <a:xfrm>
            <a:off x="457200" y="1417638"/>
            <a:ext cx="8229600" cy="2031325"/>
          </a:xfrm>
          <a:prstGeom prst="rect">
            <a:avLst/>
          </a:prstGeom>
          <a:noFill/>
        </p:spPr>
        <p:txBody>
          <a:bodyPr wrap="square" rtlCol="0">
            <a:spAutoFit/>
          </a:bodyPr>
          <a:lstStyle/>
          <a:p>
            <a:pPr algn="just"/>
            <a:r>
              <a:rPr lang="es-CO" dirty="0"/>
              <a:t>Para editar una tarifa solo es necesario seleccionar la opción       que encontramos en el panel de búsqueda, el cual nos abrirá el detalle de toda la tarifa seleccionada.</a:t>
            </a:r>
          </a:p>
          <a:p>
            <a:pPr algn="just"/>
            <a:endParaRPr lang="es-CO" dirty="0"/>
          </a:p>
          <a:p>
            <a:pPr marL="285750" indent="-285750" algn="just">
              <a:buFont typeface="Arial" panose="020B0604020202020204" pitchFamily="34" charset="0"/>
              <a:buChar char="•"/>
            </a:pPr>
            <a:r>
              <a:rPr lang="es-CO" dirty="0"/>
              <a:t>En caso de ser necesario eliminar alguna tarifa de un salón solo es necesario seleccionar la opción      .</a:t>
            </a:r>
          </a:p>
          <a:p>
            <a:pPr marL="285750" indent="-285750" algn="just">
              <a:buFont typeface="Arial" panose="020B0604020202020204" pitchFamily="34" charset="0"/>
              <a:buChar char="•"/>
            </a:pPr>
            <a:r>
              <a:rPr lang="es-CO" dirty="0"/>
              <a:t>En caso de querer crear un nuevo registro ingresaremos a la opción </a:t>
            </a:r>
            <a:r>
              <a:rPr lang="es-CO" dirty="0">
                <a:solidFill>
                  <a:schemeClr val="accent6">
                    <a:lumMod val="75000"/>
                  </a:schemeClr>
                </a:solidFill>
              </a:rPr>
              <a:t>“Nueva tarifa”</a:t>
            </a:r>
            <a:r>
              <a:rPr lang="es-CO" dirty="0"/>
              <a:t>, seguido se abrirá un pequeño formulario para configurar el nuevo registro de tarifa.</a:t>
            </a:r>
            <a:endParaRPr lang="es-CO" dirty="0">
              <a:solidFill>
                <a:schemeClr val="accent6">
                  <a:lumMod val="75000"/>
                </a:schemeClr>
              </a:solidFill>
            </a:endParaRPr>
          </a:p>
        </p:txBody>
      </p:sp>
      <p:pic>
        <p:nvPicPr>
          <p:cNvPr id="6" name="Imagen 5">
            <a:extLst>
              <a:ext uri="{FF2B5EF4-FFF2-40B4-BE49-F238E27FC236}">
                <a16:creationId xmlns:a16="http://schemas.microsoft.com/office/drawing/2014/main" id="{CDA17596-18D1-40BF-9674-6767FC888602}"/>
              </a:ext>
            </a:extLst>
          </p:cNvPr>
          <p:cNvPicPr>
            <a:picLocks noChangeAspect="1"/>
          </p:cNvPicPr>
          <p:nvPr/>
        </p:nvPicPr>
        <p:blipFill>
          <a:blip r:embed="rId3"/>
          <a:stretch>
            <a:fillRect/>
          </a:stretch>
        </p:blipFill>
        <p:spPr>
          <a:xfrm>
            <a:off x="6321523" y="1460301"/>
            <a:ext cx="276225" cy="333375"/>
          </a:xfrm>
          <a:prstGeom prst="rect">
            <a:avLst/>
          </a:prstGeom>
        </p:spPr>
      </p:pic>
      <p:pic>
        <p:nvPicPr>
          <p:cNvPr id="7" name="Imagen 6">
            <a:extLst>
              <a:ext uri="{FF2B5EF4-FFF2-40B4-BE49-F238E27FC236}">
                <a16:creationId xmlns:a16="http://schemas.microsoft.com/office/drawing/2014/main" id="{5CB7F7FA-B755-4BB0-A3CE-3D0E4779DADD}"/>
              </a:ext>
            </a:extLst>
          </p:cNvPr>
          <p:cNvPicPr>
            <a:picLocks noChangeAspect="1"/>
          </p:cNvPicPr>
          <p:nvPr/>
        </p:nvPicPr>
        <p:blipFill>
          <a:blip r:embed="rId4"/>
          <a:stretch>
            <a:fillRect/>
          </a:stretch>
        </p:blipFill>
        <p:spPr>
          <a:xfrm>
            <a:off x="2782983" y="2588925"/>
            <a:ext cx="314325" cy="295275"/>
          </a:xfrm>
          <a:prstGeom prst="rect">
            <a:avLst/>
          </a:prstGeom>
        </p:spPr>
      </p:pic>
    </p:spTree>
    <p:extLst>
      <p:ext uri="{BB962C8B-B14F-4D97-AF65-F5344CB8AC3E}">
        <p14:creationId xmlns:p14="http://schemas.microsoft.com/office/powerpoint/2010/main" val="19696209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08E516-DBA4-4CCC-8AD0-CA7C3DD8C3DB}"/>
              </a:ext>
            </a:extLst>
          </p:cNvPr>
          <p:cNvSpPr>
            <a:spLocks noGrp="1"/>
          </p:cNvSpPr>
          <p:nvPr>
            <p:ph type="title"/>
          </p:nvPr>
        </p:nvSpPr>
        <p:spPr>
          <a:xfrm>
            <a:off x="457200" y="286995"/>
            <a:ext cx="8229600" cy="1143000"/>
          </a:xfrm>
        </p:spPr>
        <p:txBody>
          <a:bodyPr/>
          <a:lstStyle/>
          <a:p>
            <a:r>
              <a:rPr lang="es-CO" dirty="0"/>
              <a:t>Modulo Movimientos</a:t>
            </a:r>
          </a:p>
        </p:txBody>
      </p:sp>
      <p:pic>
        <p:nvPicPr>
          <p:cNvPr id="4" name="Imagen 3">
            <a:extLst>
              <a:ext uri="{FF2B5EF4-FFF2-40B4-BE49-F238E27FC236}">
                <a16:creationId xmlns:a16="http://schemas.microsoft.com/office/drawing/2014/main" id="{B43765A2-FEAE-4390-B9D5-13443D858007}"/>
              </a:ext>
            </a:extLst>
          </p:cNvPr>
          <p:cNvPicPr>
            <a:picLocks noChangeAspect="1"/>
          </p:cNvPicPr>
          <p:nvPr/>
        </p:nvPicPr>
        <p:blipFill>
          <a:blip r:embed="rId2"/>
          <a:stretch>
            <a:fillRect/>
          </a:stretch>
        </p:blipFill>
        <p:spPr>
          <a:xfrm>
            <a:off x="457200" y="2396792"/>
            <a:ext cx="2324100" cy="2343150"/>
          </a:xfrm>
          <a:prstGeom prst="rect">
            <a:avLst/>
          </a:prstGeom>
        </p:spPr>
      </p:pic>
      <p:sp>
        <p:nvSpPr>
          <p:cNvPr id="5" name="CuadroTexto 4">
            <a:extLst>
              <a:ext uri="{FF2B5EF4-FFF2-40B4-BE49-F238E27FC236}">
                <a16:creationId xmlns:a16="http://schemas.microsoft.com/office/drawing/2014/main" id="{DC038D05-FB50-4EC5-ABE1-A4C7CAA858ED}"/>
              </a:ext>
            </a:extLst>
          </p:cNvPr>
          <p:cNvSpPr txBox="1"/>
          <p:nvPr/>
        </p:nvSpPr>
        <p:spPr>
          <a:xfrm>
            <a:off x="2982350" y="1473462"/>
            <a:ext cx="5904565" cy="923330"/>
          </a:xfrm>
          <a:prstGeom prst="rect">
            <a:avLst/>
          </a:prstGeom>
          <a:noFill/>
        </p:spPr>
        <p:txBody>
          <a:bodyPr wrap="square" rtlCol="0">
            <a:spAutoFit/>
          </a:bodyPr>
          <a:lstStyle/>
          <a:p>
            <a:r>
              <a:rPr lang="es-CO" dirty="0"/>
              <a:t>Dentro de este modulo encontraremos todas las aplicaciones</a:t>
            </a:r>
          </a:p>
          <a:p>
            <a:r>
              <a:rPr lang="es-CO" dirty="0"/>
              <a:t>necesarias para realizar cotizaciones, reservas internas, pagos y logística de eventos</a:t>
            </a:r>
          </a:p>
        </p:txBody>
      </p:sp>
      <p:sp>
        <p:nvSpPr>
          <p:cNvPr id="6" name="CuadroTexto 5">
            <a:extLst>
              <a:ext uri="{FF2B5EF4-FFF2-40B4-BE49-F238E27FC236}">
                <a16:creationId xmlns:a16="http://schemas.microsoft.com/office/drawing/2014/main" id="{A4273508-1332-480C-B547-C27096D9CBED}"/>
              </a:ext>
            </a:extLst>
          </p:cNvPr>
          <p:cNvSpPr txBox="1"/>
          <p:nvPr/>
        </p:nvSpPr>
        <p:spPr>
          <a:xfrm>
            <a:off x="2982350" y="2452616"/>
            <a:ext cx="5904565" cy="2031325"/>
          </a:xfrm>
          <a:prstGeom prst="rect">
            <a:avLst/>
          </a:prstGeom>
          <a:noFill/>
        </p:spPr>
        <p:txBody>
          <a:bodyPr wrap="square" rtlCol="0">
            <a:spAutoFit/>
          </a:bodyPr>
          <a:lstStyle/>
          <a:p>
            <a:pPr marL="285750" indent="-285750">
              <a:buFont typeface="Arial" panose="020B0604020202020204" pitchFamily="34" charset="0"/>
              <a:buChar char="•"/>
            </a:pPr>
            <a:r>
              <a:rPr lang="es-CO" b="1" dirty="0"/>
              <a:t>Cotizaciones - Reservas: </a:t>
            </a:r>
            <a:r>
              <a:rPr lang="es-CO" dirty="0"/>
              <a:t>Listado de cotizaciones y reservas internas creadas.</a:t>
            </a:r>
          </a:p>
          <a:p>
            <a:pPr marL="285750" indent="-285750">
              <a:buFont typeface="Arial" panose="020B0604020202020204" pitchFamily="34" charset="0"/>
              <a:buChar char="•"/>
            </a:pPr>
            <a:endParaRPr lang="es-CO" dirty="0"/>
          </a:p>
          <a:p>
            <a:pPr marL="285750" indent="-285750">
              <a:buFont typeface="Arial" panose="020B0604020202020204" pitchFamily="34" charset="0"/>
              <a:buChar char="•"/>
            </a:pPr>
            <a:r>
              <a:rPr lang="es-CO" b="1" dirty="0"/>
              <a:t>Pagos: </a:t>
            </a:r>
            <a:r>
              <a:rPr lang="es-CO" dirty="0"/>
              <a:t> Listado de pagos registrados de una cotización.</a:t>
            </a:r>
          </a:p>
          <a:p>
            <a:pPr marL="285750" indent="-285750">
              <a:buFont typeface="Arial" panose="020B0604020202020204" pitchFamily="34" charset="0"/>
              <a:buChar char="•"/>
            </a:pPr>
            <a:endParaRPr lang="es-CO" dirty="0"/>
          </a:p>
          <a:p>
            <a:pPr marL="285750" indent="-285750">
              <a:buFont typeface="Arial" panose="020B0604020202020204" pitchFamily="34" charset="0"/>
              <a:buChar char="•"/>
            </a:pPr>
            <a:r>
              <a:rPr lang="es-CO" b="1" dirty="0"/>
              <a:t>Logística: </a:t>
            </a:r>
            <a:r>
              <a:rPr lang="es-CO" dirty="0"/>
              <a:t>Listado de programación de logística de cotizaciones y/o eventos internos.</a:t>
            </a:r>
            <a:endParaRPr lang="es-CO" b="1" dirty="0"/>
          </a:p>
        </p:txBody>
      </p:sp>
    </p:spTree>
    <p:extLst>
      <p:ext uri="{BB962C8B-B14F-4D97-AF65-F5344CB8AC3E}">
        <p14:creationId xmlns:p14="http://schemas.microsoft.com/office/powerpoint/2010/main" val="6749516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C2125B-4E04-4B89-9F41-A186038D715E}"/>
              </a:ext>
            </a:extLst>
          </p:cNvPr>
          <p:cNvSpPr>
            <a:spLocks noGrp="1"/>
          </p:cNvSpPr>
          <p:nvPr>
            <p:ph type="title"/>
          </p:nvPr>
        </p:nvSpPr>
        <p:spPr/>
        <p:txBody>
          <a:bodyPr>
            <a:noAutofit/>
          </a:bodyPr>
          <a:lstStyle/>
          <a:p>
            <a:r>
              <a:rPr lang="es-CO" sz="2800" dirty="0"/>
              <a:t>Administración de cotización – eventos internos</a:t>
            </a:r>
          </a:p>
        </p:txBody>
      </p:sp>
      <p:pic>
        <p:nvPicPr>
          <p:cNvPr id="4" name="Imagen 3">
            <a:extLst>
              <a:ext uri="{FF2B5EF4-FFF2-40B4-BE49-F238E27FC236}">
                <a16:creationId xmlns:a16="http://schemas.microsoft.com/office/drawing/2014/main" id="{57C495D5-FCC5-4C0D-A3A0-B672946B588C}"/>
              </a:ext>
            </a:extLst>
          </p:cNvPr>
          <p:cNvPicPr>
            <a:picLocks noChangeAspect="1"/>
          </p:cNvPicPr>
          <p:nvPr/>
        </p:nvPicPr>
        <p:blipFill>
          <a:blip r:embed="rId2"/>
          <a:stretch>
            <a:fillRect/>
          </a:stretch>
        </p:blipFill>
        <p:spPr>
          <a:xfrm>
            <a:off x="759878" y="2954215"/>
            <a:ext cx="7624243" cy="3502538"/>
          </a:xfrm>
          <a:prstGeom prst="rect">
            <a:avLst/>
          </a:prstGeom>
        </p:spPr>
      </p:pic>
      <p:sp>
        <p:nvSpPr>
          <p:cNvPr id="5" name="CuadroTexto 4">
            <a:extLst>
              <a:ext uri="{FF2B5EF4-FFF2-40B4-BE49-F238E27FC236}">
                <a16:creationId xmlns:a16="http://schemas.microsoft.com/office/drawing/2014/main" id="{5949F800-58B8-4D40-84ED-13A18B21F8FD}"/>
              </a:ext>
            </a:extLst>
          </p:cNvPr>
          <p:cNvSpPr txBox="1"/>
          <p:nvPr/>
        </p:nvSpPr>
        <p:spPr>
          <a:xfrm>
            <a:off x="457198" y="1241573"/>
            <a:ext cx="8229601" cy="923330"/>
          </a:xfrm>
          <a:prstGeom prst="rect">
            <a:avLst/>
          </a:prstGeom>
          <a:noFill/>
        </p:spPr>
        <p:txBody>
          <a:bodyPr wrap="square" rtlCol="0">
            <a:spAutoFit/>
          </a:bodyPr>
          <a:lstStyle/>
          <a:p>
            <a:pPr algn="just"/>
            <a:r>
              <a:rPr lang="es-CO" dirty="0"/>
              <a:t>Al ingresar encontraremos el listado de cotizaciones y eventos internos que han sido creadas en el sistema, al igual que otras opciones que estaremos explicando detalladamente.</a:t>
            </a:r>
          </a:p>
        </p:txBody>
      </p:sp>
    </p:spTree>
    <p:extLst>
      <p:ext uri="{BB962C8B-B14F-4D97-AF65-F5344CB8AC3E}">
        <p14:creationId xmlns:p14="http://schemas.microsoft.com/office/powerpoint/2010/main" val="12155923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B2AC569B-8825-4ECB-9465-448C63E38513}"/>
              </a:ext>
            </a:extLst>
          </p:cNvPr>
          <p:cNvPicPr>
            <a:picLocks noChangeAspect="1"/>
          </p:cNvPicPr>
          <p:nvPr/>
        </p:nvPicPr>
        <p:blipFill>
          <a:blip r:embed="rId2"/>
          <a:stretch>
            <a:fillRect/>
          </a:stretch>
        </p:blipFill>
        <p:spPr>
          <a:xfrm>
            <a:off x="457200" y="4163671"/>
            <a:ext cx="4124325" cy="21812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Imagen 4">
            <a:extLst>
              <a:ext uri="{FF2B5EF4-FFF2-40B4-BE49-F238E27FC236}">
                <a16:creationId xmlns:a16="http://schemas.microsoft.com/office/drawing/2014/main" id="{19656C84-5ECB-45F6-9DB7-DBE13B83DE6C}"/>
              </a:ext>
            </a:extLst>
          </p:cNvPr>
          <p:cNvPicPr>
            <a:picLocks noChangeAspect="1"/>
          </p:cNvPicPr>
          <p:nvPr/>
        </p:nvPicPr>
        <p:blipFill>
          <a:blip r:embed="rId3"/>
          <a:stretch>
            <a:fillRect/>
          </a:stretch>
        </p:blipFill>
        <p:spPr>
          <a:xfrm>
            <a:off x="4795837" y="1069729"/>
            <a:ext cx="3657600" cy="22574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CuadroTexto 5">
            <a:extLst>
              <a:ext uri="{FF2B5EF4-FFF2-40B4-BE49-F238E27FC236}">
                <a16:creationId xmlns:a16="http://schemas.microsoft.com/office/drawing/2014/main" id="{2B50EF7A-0C58-4CCA-A35C-5313765C799D}"/>
              </a:ext>
            </a:extLst>
          </p:cNvPr>
          <p:cNvSpPr txBox="1"/>
          <p:nvPr/>
        </p:nvSpPr>
        <p:spPr>
          <a:xfrm>
            <a:off x="457200" y="1505243"/>
            <a:ext cx="3890964" cy="1477328"/>
          </a:xfrm>
          <a:prstGeom prst="rect">
            <a:avLst/>
          </a:prstGeom>
          <a:noFill/>
        </p:spPr>
        <p:txBody>
          <a:bodyPr wrap="square" rtlCol="0">
            <a:spAutoFit/>
          </a:bodyPr>
          <a:lstStyle/>
          <a:p>
            <a:pPr algn="just"/>
            <a:r>
              <a:rPr lang="es-CO" dirty="0"/>
              <a:t>Para visualizar el lisado de cotizaciones creadas debemos seleccionar la primera opción, como resultado en la tabla inferior se cargaran las cotizaciones creadas en el sistema</a:t>
            </a:r>
          </a:p>
        </p:txBody>
      </p:sp>
      <p:sp>
        <p:nvSpPr>
          <p:cNvPr id="7" name="CuadroTexto 6">
            <a:extLst>
              <a:ext uri="{FF2B5EF4-FFF2-40B4-BE49-F238E27FC236}">
                <a16:creationId xmlns:a16="http://schemas.microsoft.com/office/drawing/2014/main" id="{E015659F-DA9A-416D-A9A4-DDAAF6EBE0D4}"/>
              </a:ext>
            </a:extLst>
          </p:cNvPr>
          <p:cNvSpPr txBox="1"/>
          <p:nvPr/>
        </p:nvSpPr>
        <p:spPr>
          <a:xfrm>
            <a:off x="4795837" y="4374354"/>
            <a:ext cx="3890964" cy="1754326"/>
          </a:xfrm>
          <a:prstGeom prst="rect">
            <a:avLst/>
          </a:prstGeom>
          <a:noFill/>
        </p:spPr>
        <p:txBody>
          <a:bodyPr wrap="square" rtlCol="0">
            <a:spAutoFit/>
          </a:bodyPr>
          <a:lstStyle/>
          <a:p>
            <a:pPr algn="just"/>
            <a:r>
              <a:rPr lang="es-CO" dirty="0"/>
              <a:t>Para visualizar el lisado de eventos internos debemos seleccionar la segunda opción que a diferencia de cotizaciones esta se encuentra de color azul, como resultado en la tabal inferior se cargaran las reservas internas.</a:t>
            </a:r>
          </a:p>
        </p:txBody>
      </p:sp>
    </p:spTree>
    <p:extLst>
      <p:ext uri="{BB962C8B-B14F-4D97-AF65-F5344CB8AC3E}">
        <p14:creationId xmlns:p14="http://schemas.microsoft.com/office/powerpoint/2010/main" val="21202765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35BC414E-798D-4C51-BE9F-F3EE0611E5E7}"/>
              </a:ext>
            </a:extLst>
          </p:cNvPr>
          <p:cNvPicPr>
            <a:picLocks noChangeAspect="1"/>
          </p:cNvPicPr>
          <p:nvPr/>
        </p:nvPicPr>
        <p:blipFill>
          <a:blip r:embed="rId2"/>
          <a:stretch>
            <a:fillRect/>
          </a:stretch>
        </p:blipFill>
        <p:spPr>
          <a:xfrm>
            <a:off x="400929" y="4734700"/>
            <a:ext cx="8342142" cy="1437602"/>
          </a:xfrm>
          <a:prstGeom prst="rect">
            <a:avLst/>
          </a:prstGeom>
        </p:spPr>
      </p:pic>
      <p:sp>
        <p:nvSpPr>
          <p:cNvPr id="5" name="CuadroTexto 4">
            <a:extLst>
              <a:ext uri="{FF2B5EF4-FFF2-40B4-BE49-F238E27FC236}">
                <a16:creationId xmlns:a16="http://schemas.microsoft.com/office/drawing/2014/main" id="{EA489CF5-7590-47AF-B990-607050FC4794}"/>
              </a:ext>
            </a:extLst>
          </p:cNvPr>
          <p:cNvSpPr txBox="1"/>
          <p:nvPr/>
        </p:nvSpPr>
        <p:spPr>
          <a:xfrm>
            <a:off x="400930" y="1097278"/>
            <a:ext cx="8532056" cy="646331"/>
          </a:xfrm>
          <a:prstGeom prst="rect">
            <a:avLst/>
          </a:prstGeom>
          <a:noFill/>
        </p:spPr>
        <p:txBody>
          <a:bodyPr wrap="square" rtlCol="0">
            <a:spAutoFit/>
          </a:bodyPr>
          <a:lstStyle/>
          <a:p>
            <a:r>
              <a:rPr lang="es-CO" dirty="0"/>
              <a:t>Al momento de cargarse el listado de eventos a estos se le visualizaran unas opciones adicionales que son:</a:t>
            </a:r>
          </a:p>
        </p:txBody>
      </p:sp>
      <p:pic>
        <p:nvPicPr>
          <p:cNvPr id="6" name="Imagen 5">
            <a:extLst>
              <a:ext uri="{FF2B5EF4-FFF2-40B4-BE49-F238E27FC236}">
                <a16:creationId xmlns:a16="http://schemas.microsoft.com/office/drawing/2014/main" id="{02FD311D-7E15-4266-B4D6-DB5ACBD3B39D}"/>
              </a:ext>
            </a:extLst>
          </p:cNvPr>
          <p:cNvPicPr>
            <a:picLocks noChangeAspect="1"/>
          </p:cNvPicPr>
          <p:nvPr/>
        </p:nvPicPr>
        <p:blipFill rotWithShape="1">
          <a:blip r:embed="rId3"/>
          <a:srcRect l="1" t="6087" r="19417"/>
          <a:stretch/>
        </p:blipFill>
        <p:spPr>
          <a:xfrm>
            <a:off x="400930" y="2226073"/>
            <a:ext cx="583808" cy="1980940"/>
          </a:xfrm>
          <a:prstGeom prst="rect">
            <a:avLst/>
          </a:prstGeom>
        </p:spPr>
      </p:pic>
      <p:sp>
        <p:nvSpPr>
          <p:cNvPr id="7" name="CuadroTexto 6">
            <a:extLst>
              <a:ext uri="{FF2B5EF4-FFF2-40B4-BE49-F238E27FC236}">
                <a16:creationId xmlns:a16="http://schemas.microsoft.com/office/drawing/2014/main" id="{055B52F2-C9AA-4DD0-90DA-95F1F0AD2F2C}"/>
              </a:ext>
            </a:extLst>
          </p:cNvPr>
          <p:cNvSpPr txBox="1"/>
          <p:nvPr/>
        </p:nvSpPr>
        <p:spPr>
          <a:xfrm>
            <a:off x="1125415" y="2164639"/>
            <a:ext cx="4513800" cy="2031325"/>
          </a:xfrm>
          <a:prstGeom prst="rect">
            <a:avLst/>
          </a:prstGeom>
          <a:noFill/>
        </p:spPr>
        <p:txBody>
          <a:bodyPr wrap="none" rtlCol="0">
            <a:spAutoFit/>
          </a:bodyPr>
          <a:lstStyle/>
          <a:p>
            <a:r>
              <a:rPr lang="es-CO" dirty="0"/>
              <a:t>Reservar Evento</a:t>
            </a:r>
          </a:p>
          <a:p>
            <a:endParaRPr lang="es-CO" dirty="0"/>
          </a:p>
          <a:p>
            <a:r>
              <a:rPr lang="es-CO" dirty="0"/>
              <a:t>Imprimir reporte de cotización/evento interno</a:t>
            </a:r>
          </a:p>
          <a:p>
            <a:endParaRPr lang="es-CO" dirty="0"/>
          </a:p>
          <a:p>
            <a:r>
              <a:rPr lang="es-CO" dirty="0"/>
              <a:t>Editar cotización/evento interno</a:t>
            </a:r>
          </a:p>
          <a:p>
            <a:endParaRPr lang="es-CO" dirty="0"/>
          </a:p>
          <a:p>
            <a:r>
              <a:rPr lang="es-CO" dirty="0"/>
              <a:t>Eliminar cotización</a:t>
            </a:r>
          </a:p>
        </p:txBody>
      </p:sp>
    </p:spTree>
    <p:extLst>
      <p:ext uri="{BB962C8B-B14F-4D97-AF65-F5344CB8AC3E}">
        <p14:creationId xmlns:p14="http://schemas.microsoft.com/office/powerpoint/2010/main" val="5265571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09DE22-2EA6-4504-8A26-B8EAC6750F17}"/>
              </a:ext>
            </a:extLst>
          </p:cNvPr>
          <p:cNvSpPr>
            <a:spLocks noGrp="1"/>
          </p:cNvSpPr>
          <p:nvPr>
            <p:ph type="title"/>
          </p:nvPr>
        </p:nvSpPr>
        <p:spPr>
          <a:xfrm>
            <a:off x="457200" y="344978"/>
            <a:ext cx="8229600" cy="1143000"/>
          </a:xfrm>
        </p:spPr>
        <p:txBody>
          <a:bodyPr/>
          <a:lstStyle/>
          <a:p>
            <a:r>
              <a:rPr lang="es-CO" dirty="0"/>
              <a:t>Nueva cotización – evento interno</a:t>
            </a:r>
          </a:p>
        </p:txBody>
      </p:sp>
      <p:sp>
        <p:nvSpPr>
          <p:cNvPr id="4" name="CuadroTexto 3">
            <a:extLst>
              <a:ext uri="{FF2B5EF4-FFF2-40B4-BE49-F238E27FC236}">
                <a16:creationId xmlns:a16="http://schemas.microsoft.com/office/drawing/2014/main" id="{1A5CC860-FD90-4D04-8FFB-67AFF7D6ED57}"/>
              </a:ext>
            </a:extLst>
          </p:cNvPr>
          <p:cNvSpPr txBox="1"/>
          <p:nvPr/>
        </p:nvSpPr>
        <p:spPr>
          <a:xfrm>
            <a:off x="457199" y="1244423"/>
            <a:ext cx="8447649" cy="1477328"/>
          </a:xfrm>
          <a:prstGeom prst="rect">
            <a:avLst/>
          </a:prstGeom>
          <a:noFill/>
        </p:spPr>
        <p:txBody>
          <a:bodyPr wrap="square" rtlCol="0">
            <a:spAutoFit/>
          </a:bodyPr>
          <a:lstStyle/>
          <a:p>
            <a:r>
              <a:rPr lang="es-CO" dirty="0"/>
              <a:t>Para crear una nueva cotización o evento interno debemos ingresar a la opción color naranjado con el nombre </a:t>
            </a:r>
            <a:r>
              <a:rPr lang="es-CO" b="1" dirty="0">
                <a:solidFill>
                  <a:schemeClr val="accent6">
                    <a:lumMod val="75000"/>
                  </a:schemeClr>
                </a:solidFill>
              </a:rPr>
              <a:t>“Nueva Cotización ” </a:t>
            </a:r>
            <a:r>
              <a:rPr lang="es-CO" b="1" dirty="0"/>
              <a:t>o</a:t>
            </a:r>
            <a:r>
              <a:rPr lang="es-CO" b="1" dirty="0">
                <a:solidFill>
                  <a:schemeClr val="accent6">
                    <a:lumMod val="75000"/>
                  </a:schemeClr>
                </a:solidFill>
              </a:rPr>
              <a:t> “Nuevo Evento Interno”</a:t>
            </a:r>
            <a:r>
              <a:rPr lang="es-CO" dirty="0"/>
              <a:t>, una vez dentro de este se desplegara un formulario los cuales comparten similitudes.</a:t>
            </a:r>
          </a:p>
          <a:p>
            <a:endParaRPr lang="es-CO" b="1" dirty="0">
              <a:solidFill>
                <a:schemeClr val="accent6">
                  <a:lumMod val="75000"/>
                </a:schemeClr>
              </a:solidFill>
            </a:endParaRPr>
          </a:p>
          <a:p>
            <a:r>
              <a:rPr lang="es-CO" b="1" dirty="0"/>
              <a:t>Formulario Creación de Cotización</a:t>
            </a:r>
          </a:p>
        </p:txBody>
      </p:sp>
      <p:pic>
        <p:nvPicPr>
          <p:cNvPr id="5" name="Imagen 4">
            <a:extLst>
              <a:ext uri="{FF2B5EF4-FFF2-40B4-BE49-F238E27FC236}">
                <a16:creationId xmlns:a16="http://schemas.microsoft.com/office/drawing/2014/main" id="{B74B75DD-D174-4E1E-B613-E461CB9E3E73}"/>
              </a:ext>
            </a:extLst>
          </p:cNvPr>
          <p:cNvPicPr>
            <a:picLocks noChangeAspect="1"/>
          </p:cNvPicPr>
          <p:nvPr/>
        </p:nvPicPr>
        <p:blipFill>
          <a:blip r:embed="rId2"/>
          <a:stretch>
            <a:fillRect/>
          </a:stretch>
        </p:blipFill>
        <p:spPr>
          <a:xfrm>
            <a:off x="583810" y="2859924"/>
            <a:ext cx="7941212" cy="3616601"/>
          </a:xfrm>
          <a:prstGeom prst="rect">
            <a:avLst/>
          </a:prstGeom>
        </p:spPr>
      </p:pic>
    </p:spTree>
    <p:extLst>
      <p:ext uri="{BB962C8B-B14F-4D97-AF65-F5344CB8AC3E}">
        <p14:creationId xmlns:p14="http://schemas.microsoft.com/office/powerpoint/2010/main" val="23344463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52E508FD-3167-495C-80B3-FAACAF6FE46C}"/>
              </a:ext>
            </a:extLst>
          </p:cNvPr>
          <p:cNvSpPr txBox="1"/>
          <p:nvPr/>
        </p:nvSpPr>
        <p:spPr>
          <a:xfrm>
            <a:off x="562707" y="2551837"/>
            <a:ext cx="8060787" cy="1754326"/>
          </a:xfrm>
          <a:prstGeom prst="rect">
            <a:avLst/>
          </a:prstGeom>
          <a:noFill/>
        </p:spPr>
        <p:txBody>
          <a:bodyPr wrap="square" rtlCol="0">
            <a:spAutoFit/>
          </a:bodyPr>
          <a:lstStyle/>
          <a:p>
            <a:r>
              <a:rPr lang="es-CO" dirty="0"/>
              <a:t>Una vez en el formulario este solicitara ingresar la información necesaria para crear una cotización, la cual solicita fecha de creación, plazo y automáticamente se calculo con respecto al plazo la fecha de vencimiento para reservar la cotización.</a:t>
            </a:r>
          </a:p>
          <a:p>
            <a:endParaRPr lang="es-CO" dirty="0"/>
          </a:p>
          <a:p>
            <a:r>
              <a:rPr lang="es-CO" dirty="0"/>
              <a:t>Al igual que se solicita los datos del cliente al cual se le va a cargar la cotización, seguido del listado eventos que se cargaran a la cotización.</a:t>
            </a:r>
          </a:p>
        </p:txBody>
      </p:sp>
    </p:spTree>
    <p:extLst>
      <p:ext uri="{BB962C8B-B14F-4D97-AF65-F5344CB8AC3E}">
        <p14:creationId xmlns:p14="http://schemas.microsoft.com/office/powerpoint/2010/main" val="20373917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311585BE-DCF8-40BE-A0CA-B24CB66EB582}"/>
              </a:ext>
            </a:extLst>
          </p:cNvPr>
          <p:cNvPicPr>
            <a:picLocks noChangeAspect="1"/>
          </p:cNvPicPr>
          <p:nvPr/>
        </p:nvPicPr>
        <p:blipFill>
          <a:blip r:embed="rId2"/>
          <a:stretch>
            <a:fillRect/>
          </a:stretch>
        </p:blipFill>
        <p:spPr>
          <a:xfrm>
            <a:off x="787790" y="2973966"/>
            <a:ext cx="7568419" cy="3565539"/>
          </a:xfrm>
          <a:prstGeom prst="rect">
            <a:avLst/>
          </a:prstGeom>
        </p:spPr>
      </p:pic>
      <p:sp>
        <p:nvSpPr>
          <p:cNvPr id="6" name="CuadroTexto 5">
            <a:extLst>
              <a:ext uri="{FF2B5EF4-FFF2-40B4-BE49-F238E27FC236}">
                <a16:creationId xmlns:a16="http://schemas.microsoft.com/office/drawing/2014/main" id="{E034D8A3-8997-454E-9EB6-9057261F4457}"/>
              </a:ext>
            </a:extLst>
          </p:cNvPr>
          <p:cNvSpPr txBox="1"/>
          <p:nvPr/>
        </p:nvSpPr>
        <p:spPr>
          <a:xfrm>
            <a:off x="443132" y="998806"/>
            <a:ext cx="8257735" cy="1754326"/>
          </a:xfrm>
          <a:prstGeom prst="rect">
            <a:avLst/>
          </a:prstGeom>
          <a:noFill/>
        </p:spPr>
        <p:txBody>
          <a:bodyPr wrap="square" rtlCol="0">
            <a:spAutoFit/>
          </a:bodyPr>
          <a:lstStyle/>
          <a:p>
            <a:pPr algn="just"/>
            <a:r>
              <a:rPr lang="es-CO" dirty="0"/>
              <a:t>Al agregar un evento nuevo, se debe ingresar la información relevante a este que va desde el nombre con el cual se identificara el evento hasta una breve observación en caso de ser necesario. Cabe resaltar que algunos campos son obligatorios los cuales están implícitamente marcados. De igual manera el la parte derecha de la ventana se  visualizara el valor parcial y total del evento acorde a su configuración en la tarifa seleccionada, por medio del salón y demás campos a ingresar.</a:t>
            </a:r>
          </a:p>
        </p:txBody>
      </p:sp>
    </p:spTree>
    <p:extLst>
      <p:ext uri="{BB962C8B-B14F-4D97-AF65-F5344CB8AC3E}">
        <p14:creationId xmlns:p14="http://schemas.microsoft.com/office/powerpoint/2010/main" val="24757044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1BC93659-8615-4C11-BA87-205EC8717CC2}"/>
              </a:ext>
            </a:extLst>
          </p:cNvPr>
          <p:cNvPicPr>
            <a:picLocks noChangeAspect="1"/>
          </p:cNvPicPr>
          <p:nvPr/>
        </p:nvPicPr>
        <p:blipFill>
          <a:blip r:embed="rId2"/>
          <a:stretch>
            <a:fillRect/>
          </a:stretch>
        </p:blipFill>
        <p:spPr>
          <a:xfrm>
            <a:off x="1109588" y="1150999"/>
            <a:ext cx="6777112" cy="3560025"/>
          </a:xfrm>
          <a:prstGeom prst="rect">
            <a:avLst/>
          </a:prstGeom>
        </p:spPr>
      </p:pic>
      <p:sp>
        <p:nvSpPr>
          <p:cNvPr id="6" name="CuadroTexto 5">
            <a:extLst>
              <a:ext uri="{FF2B5EF4-FFF2-40B4-BE49-F238E27FC236}">
                <a16:creationId xmlns:a16="http://schemas.microsoft.com/office/drawing/2014/main" id="{A66CF1C9-2B91-4AB4-A2D1-3E7668C6022D}"/>
              </a:ext>
            </a:extLst>
          </p:cNvPr>
          <p:cNvSpPr txBox="1"/>
          <p:nvPr/>
        </p:nvSpPr>
        <p:spPr>
          <a:xfrm>
            <a:off x="537444" y="807354"/>
            <a:ext cx="3960700" cy="369332"/>
          </a:xfrm>
          <a:prstGeom prst="rect">
            <a:avLst/>
          </a:prstGeom>
          <a:noFill/>
        </p:spPr>
        <p:txBody>
          <a:bodyPr wrap="none" rtlCol="0">
            <a:spAutoFit/>
          </a:bodyPr>
          <a:lstStyle/>
          <a:p>
            <a:r>
              <a:rPr lang="es-CO" b="1" dirty="0"/>
              <a:t>Formulario Creación de Reserva Interna</a:t>
            </a:r>
          </a:p>
        </p:txBody>
      </p:sp>
      <p:sp>
        <p:nvSpPr>
          <p:cNvPr id="7" name="CuadroTexto 6">
            <a:extLst>
              <a:ext uri="{FF2B5EF4-FFF2-40B4-BE49-F238E27FC236}">
                <a16:creationId xmlns:a16="http://schemas.microsoft.com/office/drawing/2014/main" id="{587088D2-237A-4421-9639-43F0864D6ED1}"/>
              </a:ext>
            </a:extLst>
          </p:cNvPr>
          <p:cNvSpPr txBox="1"/>
          <p:nvPr/>
        </p:nvSpPr>
        <p:spPr>
          <a:xfrm>
            <a:off x="630965" y="4944500"/>
            <a:ext cx="7882070" cy="1754326"/>
          </a:xfrm>
          <a:prstGeom prst="rect">
            <a:avLst/>
          </a:prstGeom>
          <a:noFill/>
        </p:spPr>
        <p:txBody>
          <a:bodyPr wrap="square" rtlCol="0">
            <a:spAutoFit/>
          </a:bodyPr>
          <a:lstStyle/>
          <a:p>
            <a:pPr algn="just"/>
            <a:r>
              <a:rPr lang="es-CO" dirty="0"/>
              <a:t>Podemos observar a simple vista el formulario de creación de una reserva interna es muy parecido en su mayoría de opciones al formulario de cotización, con el uno cambio notorio que es el ingreso de la información del cliente o usuario interno al cual se le realizara la reserva interna. Donde ingresaremos el nombre y la dependencia correspondiente y el sistema cargara automáticamente su información.</a:t>
            </a:r>
          </a:p>
        </p:txBody>
      </p:sp>
    </p:spTree>
    <p:extLst>
      <p:ext uri="{BB962C8B-B14F-4D97-AF65-F5344CB8AC3E}">
        <p14:creationId xmlns:p14="http://schemas.microsoft.com/office/powerpoint/2010/main" val="4338301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63E900-E389-43F7-BE7A-176B468EDCA1}"/>
              </a:ext>
            </a:extLst>
          </p:cNvPr>
          <p:cNvSpPr>
            <a:spLocks noGrp="1"/>
          </p:cNvSpPr>
          <p:nvPr>
            <p:ph type="title"/>
          </p:nvPr>
        </p:nvSpPr>
        <p:spPr>
          <a:xfrm>
            <a:off x="457200" y="373114"/>
            <a:ext cx="8229600" cy="1143000"/>
          </a:xfrm>
        </p:spPr>
        <p:txBody>
          <a:bodyPr/>
          <a:lstStyle/>
          <a:p>
            <a:r>
              <a:rPr lang="es-CO" dirty="0"/>
              <a:t>Administración de Pagos</a:t>
            </a:r>
          </a:p>
        </p:txBody>
      </p:sp>
      <p:pic>
        <p:nvPicPr>
          <p:cNvPr id="4" name="Imagen 3">
            <a:extLst>
              <a:ext uri="{FF2B5EF4-FFF2-40B4-BE49-F238E27FC236}">
                <a16:creationId xmlns:a16="http://schemas.microsoft.com/office/drawing/2014/main" id="{E970126D-C05A-455F-8901-6BEFCE322566}"/>
              </a:ext>
            </a:extLst>
          </p:cNvPr>
          <p:cNvPicPr>
            <a:picLocks noChangeAspect="1"/>
          </p:cNvPicPr>
          <p:nvPr/>
        </p:nvPicPr>
        <p:blipFill>
          <a:blip r:embed="rId2"/>
          <a:stretch>
            <a:fillRect/>
          </a:stretch>
        </p:blipFill>
        <p:spPr>
          <a:xfrm>
            <a:off x="868680" y="2774862"/>
            <a:ext cx="7406640" cy="3841132"/>
          </a:xfrm>
          <a:prstGeom prst="rect">
            <a:avLst/>
          </a:prstGeom>
        </p:spPr>
      </p:pic>
      <p:sp>
        <p:nvSpPr>
          <p:cNvPr id="5" name="CuadroTexto 4">
            <a:extLst>
              <a:ext uri="{FF2B5EF4-FFF2-40B4-BE49-F238E27FC236}">
                <a16:creationId xmlns:a16="http://schemas.microsoft.com/office/drawing/2014/main" id="{253EBD65-7E88-4488-A4E4-F8A1BD1651AF}"/>
              </a:ext>
            </a:extLst>
          </p:cNvPr>
          <p:cNvSpPr txBox="1"/>
          <p:nvPr/>
        </p:nvSpPr>
        <p:spPr>
          <a:xfrm>
            <a:off x="457200" y="1516114"/>
            <a:ext cx="8229600" cy="923330"/>
          </a:xfrm>
          <a:prstGeom prst="rect">
            <a:avLst/>
          </a:prstGeom>
          <a:noFill/>
        </p:spPr>
        <p:txBody>
          <a:bodyPr wrap="square" rtlCol="0">
            <a:spAutoFit/>
          </a:bodyPr>
          <a:lstStyle/>
          <a:p>
            <a:r>
              <a:rPr lang="es-CO" dirty="0"/>
              <a:t>Al ingresar encontraremos el listado de pagos realizados a las cotizaciones creadas en el sistema, de igual manera el sistema nos ofrece otras opciones como son nuevo pago, imprimir recibo de pago, ver registro de pago, eliminar registro de pago.</a:t>
            </a:r>
          </a:p>
        </p:txBody>
      </p:sp>
    </p:spTree>
    <p:extLst>
      <p:ext uri="{BB962C8B-B14F-4D97-AF65-F5344CB8AC3E}">
        <p14:creationId xmlns:p14="http://schemas.microsoft.com/office/powerpoint/2010/main" val="41046109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36A310-4B7D-422B-A22F-FF06E7353B2C}"/>
              </a:ext>
            </a:extLst>
          </p:cNvPr>
          <p:cNvSpPr>
            <a:spLocks noGrp="1"/>
          </p:cNvSpPr>
          <p:nvPr>
            <p:ph type="title"/>
          </p:nvPr>
        </p:nvSpPr>
        <p:spPr/>
        <p:txBody>
          <a:bodyPr/>
          <a:lstStyle/>
          <a:p>
            <a:r>
              <a:rPr lang="es-CO" dirty="0"/>
              <a:t>Nuevo Pago</a:t>
            </a:r>
          </a:p>
        </p:txBody>
      </p:sp>
      <p:pic>
        <p:nvPicPr>
          <p:cNvPr id="4" name="Imagen 3">
            <a:extLst>
              <a:ext uri="{FF2B5EF4-FFF2-40B4-BE49-F238E27FC236}">
                <a16:creationId xmlns:a16="http://schemas.microsoft.com/office/drawing/2014/main" id="{55F04A0E-D2C7-479B-9E3C-28CDF5D4FCCC}"/>
              </a:ext>
            </a:extLst>
          </p:cNvPr>
          <p:cNvPicPr>
            <a:picLocks noChangeAspect="1"/>
          </p:cNvPicPr>
          <p:nvPr/>
        </p:nvPicPr>
        <p:blipFill>
          <a:blip r:embed="rId2"/>
          <a:stretch>
            <a:fillRect/>
          </a:stretch>
        </p:blipFill>
        <p:spPr>
          <a:xfrm>
            <a:off x="991772" y="2835402"/>
            <a:ext cx="7160455" cy="3747960"/>
          </a:xfrm>
          <a:prstGeom prst="rect">
            <a:avLst/>
          </a:prstGeom>
        </p:spPr>
      </p:pic>
      <p:sp>
        <p:nvSpPr>
          <p:cNvPr id="5" name="CuadroTexto 4">
            <a:extLst>
              <a:ext uri="{FF2B5EF4-FFF2-40B4-BE49-F238E27FC236}">
                <a16:creationId xmlns:a16="http://schemas.microsoft.com/office/drawing/2014/main" id="{D5977282-17E3-43BE-A9A1-C63EA8409959}"/>
              </a:ext>
            </a:extLst>
          </p:cNvPr>
          <p:cNvSpPr txBox="1"/>
          <p:nvPr/>
        </p:nvSpPr>
        <p:spPr>
          <a:xfrm>
            <a:off x="457200" y="1417638"/>
            <a:ext cx="8229600" cy="923330"/>
          </a:xfrm>
          <a:prstGeom prst="rect">
            <a:avLst/>
          </a:prstGeom>
          <a:noFill/>
        </p:spPr>
        <p:txBody>
          <a:bodyPr wrap="square" rtlCol="0">
            <a:spAutoFit/>
          </a:bodyPr>
          <a:lstStyle/>
          <a:p>
            <a:r>
              <a:rPr lang="es-CO" dirty="0"/>
              <a:t>Al ingresar nos solicitara seleccionar el cliente al cual se va a registrar el pago, seguido de la información de este donde nos solicita fecha de pago, valor de pago, tipo de pago entre otros campos.</a:t>
            </a:r>
          </a:p>
        </p:txBody>
      </p:sp>
    </p:spTree>
    <p:extLst>
      <p:ext uri="{BB962C8B-B14F-4D97-AF65-F5344CB8AC3E}">
        <p14:creationId xmlns:p14="http://schemas.microsoft.com/office/powerpoint/2010/main" val="28631982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2A0067-9897-4A98-BBBC-CCCD87EB8FF6}"/>
              </a:ext>
            </a:extLst>
          </p:cNvPr>
          <p:cNvSpPr>
            <a:spLocks noGrp="1"/>
          </p:cNvSpPr>
          <p:nvPr>
            <p:ph type="title"/>
          </p:nvPr>
        </p:nvSpPr>
        <p:spPr/>
        <p:txBody>
          <a:bodyPr/>
          <a:lstStyle/>
          <a:p>
            <a:r>
              <a:rPr lang="es-CO" dirty="0"/>
              <a:t>Ver Pago</a:t>
            </a:r>
          </a:p>
        </p:txBody>
      </p:sp>
      <p:pic>
        <p:nvPicPr>
          <p:cNvPr id="4" name="Imagen 3">
            <a:extLst>
              <a:ext uri="{FF2B5EF4-FFF2-40B4-BE49-F238E27FC236}">
                <a16:creationId xmlns:a16="http://schemas.microsoft.com/office/drawing/2014/main" id="{F2574330-BDFB-42A3-BD4A-CA85DD85E2DE}"/>
              </a:ext>
            </a:extLst>
          </p:cNvPr>
          <p:cNvPicPr>
            <a:picLocks noChangeAspect="1"/>
          </p:cNvPicPr>
          <p:nvPr/>
        </p:nvPicPr>
        <p:blipFill>
          <a:blip r:embed="rId2"/>
          <a:stretch>
            <a:fillRect/>
          </a:stretch>
        </p:blipFill>
        <p:spPr>
          <a:xfrm>
            <a:off x="984738" y="3364616"/>
            <a:ext cx="7174524" cy="3218746"/>
          </a:xfrm>
          <a:prstGeom prst="rect">
            <a:avLst/>
          </a:prstGeom>
        </p:spPr>
      </p:pic>
      <p:sp>
        <p:nvSpPr>
          <p:cNvPr id="5" name="CuadroTexto 4">
            <a:extLst>
              <a:ext uri="{FF2B5EF4-FFF2-40B4-BE49-F238E27FC236}">
                <a16:creationId xmlns:a16="http://schemas.microsoft.com/office/drawing/2014/main" id="{09034179-A41B-4EF8-B38A-AF5138A15FFF}"/>
              </a:ext>
            </a:extLst>
          </p:cNvPr>
          <p:cNvSpPr txBox="1"/>
          <p:nvPr/>
        </p:nvSpPr>
        <p:spPr>
          <a:xfrm>
            <a:off x="457200" y="1547446"/>
            <a:ext cx="8229600" cy="923330"/>
          </a:xfrm>
          <a:prstGeom prst="rect">
            <a:avLst/>
          </a:prstGeom>
          <a:noFill/>
        </p:spPr>
        <p:txBody>
          <a:bodyPr wrap="square" rtlCol="0">
            <a:spAutoFit/>
          </a:bodyPr>
          <a:lstStyle/>
          <a:p>
            <a:r>
              <a:rPr lang="es-CO" dirty="0"/>
              <a:t>Una vez ingresado en la opción        podremos visualizar toda la información al detalle del registro de pago seleccionado, desde la información del cliente hasta el método de pago utilizado y demás datos.</a:t>
            </a:r>
          </a:p>
        </p:txBody>
      </p:sp>
      <p:pic>
        <p:nvPicPr>
          <p:cNvPr id="6" name="Imagen 5">
            <a:extLst>
              <a:ext uri="{FF2B5EF4-FFF2-40B4-BE49-F238E27FC236}">
                <a16:creationId xmlns:a16="http://schemas.microsoft.com/office/drawing/2014/main" id="{A59578FD-E86F-4563-9668-6706A0235FFF}"/>
              </a:ext>
            </a:extLst>
          </p:cNvPr>
          <p:cNvPicPr>
            <a:picLocks noChangeAspect="1"/>
          </p:cNvPicPr>
          <p:nvPr/>
        </p:nvPicPr>
        <p:blipFill>
          <a:blip r:embed="rId3"/>
          <a:stretch>
            <a:fillRect/>
          </a:stretch>
        </p:blipFill>
        <p:spPr>
          <a:xfrm>
            <a:off x="3505420" y="1575582"/>
            <a:ext cx="276225" cy="323850"/>
          </a:xfrm>
          <a:prstGeom prst="rect">
            <a:avLst/>
          </a:prstGeom>
        </p:spPr>
      </p:pic>
    </p:spTree>
    <p:extLst>
      <p:ext uri="{BB962C8B-B14F-4D97-AF65-F5344CB8AC3E}">
        <p14:creationId xmlns:p14="http://schemas.microsoft.com/office/powerpoint/2010/main" val="14326223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B53837-C064-493F-9C4E-6610BA86D4D9}"/>
              </a:ext>
            </a:extLst>
          </p:cNvPr>
          <p:cNvSpPr>
            <a:spLocks noGrp="1"/>
          </p:cNvSpPr>
          <p:nvPr>
            <p:ph type="title"/>
          </p:nvPr>
        </p:nvSpPr>
        <p:spPr/>
        <p:txBody>
          <a:bodyPr/>
          <a:lstStyle/>
          <a:p>
            <a:r>
              <a:rPr lang="es-CO" dirty="0"/>
              <a:t>Eliminar Pago</a:t>
            </a:r>
          </a:p>
        </p:txBody>
      </p:sp>
      <p:pic>
        <p:nvPicPr>
          <p:cNvPr id="4" name="Imagen 3">
            <a:extLst>
              <a:ext uri="{FF2B5EF4-FFF2-40B4-BE49-F238E27FC236}">
                <a16:creationId xmlns:a16="http://schemas.microsoft.com/office/drawing/2014/main" id="{BE921B25-0715-4C33-B566-91BE264B150E}"/>
              </a:ext>
            </a:extLst>
          </p:cNvPr>
          <p:cNvPicPr>
            <a:picLocks noChangeAspect="1"/>
          </p:cNvPicPr>
          <p:nvPr/>
        </p:nvPicPr>
        <p:blipFill>
          <a:blip r:embed="rId2"/>
          <a:stretch>
            <a:fillRect/>
          </a:stretch>
        </p:blipFill>
        <p:spPr>
          <a:xfrm>
            <a:off x="3244095" y="3129784"/>
            <a:ext cx="5442705" cy="3232885"/>
          </a:xfrm>
          <a:prstGeom prst="rect">
            <a:avLst/>
          </a:prstGeom>
        </p:spPr>
      </p:pic>
      <p:sp>
        <p:nvSpPr>
          <p:cNvPr id="5" name="CuadroTexto 4">
            <a:extLst>
              <a:ext uri="{FF2B5EF4-FFF2-40B4-BE49-F238E27FC236}">
                <a16:creationId xmlns:a16="http://schemas.microsoft.com/office/drawing/2014/main" id="{10EF6495-767E-4649-97A9-624C6ECE070D}"/>
              </a:ext>
            </a:extLst>
          </p:cNvPr>
          <p:cNvSpPr txBox="1"/>
          <p:nvPr/>
        </p:nvSpPr>
        <p:spPr>
          <a:xfrm>
            <a:off x="457199" y="1445774"/>
            <a:ext cx="8229601" cy="1477328"/>
          </a:xfrm>
          <a:prstGeom prst="rect">
            <a:avLst/>
          </a:prstGeom>
          <a:noFill/>
        </p:spPr>
        <p:txBody>
          <a:bodyPr wrap="square" rtlCol="0">
            <a:spAutoFit/>
          </a:bodyPr>
          <a:lstStyle/>
          <a:p>
            <a:pPr algn="just"/>
            <a:r>
              <a:rPr lang="es-CO" dirty="0"/>
              <a:t>Para eliminar un registro de pago debemos seleccionar en el panel de búsqueda la siguiente opción       una vez ingresemos a esta opción el sistema automáticamente solicitara un usuario y contraseña de autenticación para proceder con esta eliminación.</a:t>
            </a:r>
          </a:p>
          <a:p>
            <a:pPr algn="just"/>
            <a:endParaRPr lang="es-CO" dirty="0"/>
          </a:p>
        </p:txBody>
      </p:sp>
      <p:pic>
        <p:nvPicPr>
          <p:cNvPr id="6" name="Imagen 5">
            <a:extLst>
              <a:ext uri="{FF2B5EF4-FFF2-40B4-BE49-F238E27FC236}">
                <a16:creationId xmlns:a16="http://schemas.microsoft.com/office/drawing/2014/main" id="{283E892C-3DCC-44BA-B92C-60648C80AC9C}"/>
              </a:ext>
            </a:extLst>
          </p:cNvPr>
          <p:cNvPicPr>
            <a:picLocks noChangeAspect="1"/>
          </p:cNvPicPr>
          <p:nvPr/>
        </p:nvPicPr>
        <p:blipFill>
          <a:blip r:embed="rId3"/>
          <a:stretch>
            <a:fillRect/>
          </a:stretch>
        </p:blipFill>
        <p:spPr>
          <a:xfrm>
            <a:off x="2208626" y="1759801"/>
            <a:ext cx="314325" cy="295275"/>
          </a:xfrm>
          <a:prstGeom prst="rect">
            <a:avLst/>
          </a:prstGeom>
        </p:spPr>
      </p:pic>
      <p:sp>
        <p:nvSpPr>
          <p:cNvPr id="7" name="CuadroTexto 6">
            <a:extLst>
              <a:ext uri="{FF2B5EF4-FFF2-40B4-BE49-F238E27FC236}">
                <a16:creationId xmlns:a16="http://schemas.microsoft.com/office/drawing/2014/main" id="{EDCDBE5C-0A33-44C4-8F4B-85192566C8C3}"/>
              </a:ext>
            </a:extLst>
          </p:cNvPr>
          <p:cNvSpPr txBox="1"/>
          <p:nvPr/>
        </p:nvSpPr>
        <p:spPr>
          <a:xfrm>
            <a:off x="457199" y="3038067"/>
            <a:ext cx="2623626" cy="3416320"/>
          </a:xfrm>
          <a:prstGeom prst="rect">
            <a:avLst/>
          </a:prstGeom>
          <a:noFill/>
        </p:spPr>
        <p:txBody>
          <a:bodyPr wrap="square" rtlCol="0">
            <a:spAutoFit/>
          </a:bodyPr>
          <a:lstStyle/>
          <a:p>
            <a:pPr algn="just"/>
            <a:r>
              <a:rPr lang="es-CO" dirty="0"/>
              <a:t>Cabe resaltar que al ser la eliminación de un registro de pago solo será eliminado por un usuario que contenga los privilegios configurados para dicho proceso por ende no todos los usuarios se encuentran autorizados para realizar esta acción.</a:t>
            </a:r>
          </a:p>
          <a:p>
            <a:pPr algn="just"/>
            <a:endParaRPr lang="es-CO" dirty="0"/>
          </a:p>
        </p:txBody>
      </p:sp>
    </p:spTree>
    <p:extLst>
      <p:ext uri="{BB962C8B-B14F-4D97-AF65-F5344CB8AC3E}">
        <p14:creationId xmlns:p14="http://schemas.microsoft.com/office/powerpoint/2010/main" val="6501334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5CA0C6-4CE9-4512-A10A-2382FAEBF50B}"/>
              </a:ext>
            </a:extLst>
          </p:cNvPr>
          <p:cNvSpPr>
            <a:spLocks noGrp="1"/>
          </p:cNvSpPr>
          <p:nvPr>
            <p:ph type="title"/>
          </p:nvPr>
        </p:nvSpPr>
        <p:spPr/>
        <p:txBody>
          <a:bodyPr/>
          <a:lstStyle/>
          <a:p>
            <a:r>
              <a:rPr lang="es-CO" dirty="0"/>
              <a:t>Logística de Eventos</a:t>
            </a:r>
          </a:p>
        </p:txBody>
      </p:sp>
      <p:pic>
        <p:nvPicPr>
          <p:cNvPr id="4" name="Imagen 3">
            <a:extLst>
              <a:ext uri="{FF2B5EF4-FFF2-40B4-BE49-F238E27FC236}">
                <a16:creationId xmlns:a16="http://schemas.microsoft.com/office/drawing/2014/main" id="{D9724186-5C7F-4E17-9B71-A98802D298D6}"/>
              </a:ext>
            </a:extLst>
          </p:cNvPr>
          <p:cNvPicPr>
            <a:picLocks noChangeAspect="1"/>
          </p:cNvPicPr>
          <p:nvPr/>
        </p:nvPicPr>
        <p:blipFill>
          <a:blip r:embed="rId2"/>
          <a:stretch>
            <a:fillRect/>
          </a:stretch>
        </p:blipFill>
        <p:spPr>
          <a:xfrm>
            <a:off x="648875" y="2751010"/>
            <a:ext cx="7846249" cy="3589376"/>
          </a:xfrm>
          <a:prstGeom prst="rect">
            <a:avLst/>
          </a:prstGeom>
        </p:spPr>
      </p:pic>
      <p:sp>
        <p:nvSpPr>
          <p:cNvPr id="5" name="CuadroTexto 4">
            <a:extLst>
              <a:ext uri="{FF2B5EF4-FFF2-40B4-BE49-F238E27FC236}">
                <a16:creationId xmlns:a16="http://schemas.microsoft.com/office/drawing/2014/main" id="{55080199-D28C-4880-ACAF-C4B9A2E113BA}"/>
              </a:ext>
            </a:extLst>
          </p:cNvPr>
          <p:cNvSpPr txBox="1"/>
          <p:nvPr/>
        </p:nvSpPr>
        <p:spPr>
          <a:xfrm>
            <a:off x="457200" y="1665972"/>
            <a:ext cx="8229600" cy="646331"/>
          </a:xfrm>
          <a:prstGeom prst="rect">
            <a:avLst/>
          </a:prstGeom>
          <a:noFill/>
        </p:spPr>
        <p:txBody>
          <a:bodyPr wrap="square" rtlCol="0">
            <a:spAutoFit/>
          </a:bodyPr>
          <a:lstStyle/>
          <a:p>
            <a:r>
              <a:rPr lang="es-CO" dirty="0"/>
              <a:t>Al ingresar debemos seleccionar para que evento debemos configurar la logista si es para cotizaciones o eventos internos. </a:t>
            </a:r>
          </a:p>
        </p:txBody>
      </p:sp>
    </p:spTree>
    <p:extLst>
      <p:ext uri="{BB962C8B-B14F-4D97-AF65-F5344CB8AC3E}">
        <p14:creationId xmlns:p14="http://schemas.microsoft.com/office/powerpoint/2010/main" val="26814816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C02250A-A78D-4BA3-A64E-D297A1A89EDE}"/>
              </a:ext>
            </a:extLst>
          </p:cNvPr>
          <p:cNvPicPr>
            <a:picLocks noChangeAspect="1"/>
          </p:cNvPicPr>
          <p:nvPr/>
        </p:nvPicPr>
        <p:blipFill>
          <a:blip r:embed="rId2"/>
          <a:stretch>
            <a:fillRect/>
          </a:stretch>
        </p:blipFill>
        <p:spPr>
          <a:xfrm>
            <a:off x="682283" y="2892667"/>
            <a:ext cx="7779434" cy="3484538"/>
          </a:xfrm>
          <a:prstGeom prst="rect">
            <a:avLst/>
          </a:prstGeom>
        </p:spPr>
      </p:pic>
      <p:sp>
        <p:nvSpPr>
          <p:cNvPr id="6" name="Rectángulo 5">
            <a:extLst>
              <a:ext uri="{FF2B5EF4-FFF2-40B4-BE49-F238E27FC236}">
                <a16:creationId xmlns:a16="http://schemas.microsoft.com/office/drawing/2014/main" id="{D9E3C16A-2AD2-410A-B0BF-7F4674F3567A}"/>
              </a:ext>
            </a:extLst>
          </p:cNvPr>
          <p:cNvSpPr/>
          <p:nvPr/>
        </p:nvSpPr>
        <p:spPr>
          <a:xfrm>
            <a:off x="682283" y="1163271"/>
            <a:ext cx="7779434" cy="1200329"/>
          </a:xfrm>
          <a:prstGeom prst="rect">
            <a:avLst/>
          </a:prstGeom>
        </p:spPr>
        <p:txBody>
          <a:bodyPr wrap="square">
            <a:spAutoFit/>
          </a:bodyPr>
          <a:lstStyle/>
          <a:p>
            <a:r>
              <a:rPr lang="es-CO" dirty="0"/>
              <a:t>Al momento de seleccionar cotización debemos ingresar el cliente por ende se nos cargaran el listado de eventos registrados en el sistema. De igual forma funcionaria en el caso de seleccionar reserva interna, en el cual ingresaríamos el usuario interno.</a:t>
            </a:r>
          </a:p>
        </p:txBody>
      </p:sp>
    </p:spTree>
    <p:extLst>
      <p:ext uri="{BB962C8B-B14F-4D97-AF65-F5344CB8AC3E}">
        <p14:creationId xmlns:p14="http://schemas.microsoft.com/office/powerpoint/2010/main" val="410677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6D17A6-4B56-4047-95F7-5AF6252EA75C}"/>
              </a:ext>
            </a:extLst>
          </p:cNvPr>
          <p:cNvSpPr>
            <a:spLocks noGrp="1"/>
          </p:cNvSpPr>
          <p:nvPr>
            <p:ph type="title"/>
          </p:nvPr>
        </p:nvSpPr>
        <p:spPr>
          <a:xfrm>
            <a:off x="457200" y="457522"/>
            <a:ext cx="8229600" cy="1143000"/>
          </a:xfrm>
        </p:spPr>
        <p:txBody>
          <a:bodyPr/>
          <a:lstStyle/>
          <a:p>
            <a:r>
              <a:rPr lang="es-CO" dirty="0"/>
              <a:t>Crear Logística</a:t>
            </a:r>
          </a:p>
        </p:txBody>
      </p:sp>
      <p:pic>
        <p:nvPicPr>
          <p:cNvPr id="4" name="Imagen 3">
            <a:extLst>
              <a:ext uri="{FF2B5EF4-FFF2-40B4-BE49-F238E27FC236}">
                <a16:creationId xmlns:a16="http://schemas.microsoft.com/office/drawing/2014/main" id="{9176E5F5-728C-4A1E-A8F6-E80CF5C19147}"/>
              </a:ext>
            </a:extLst>
          </p:cNvPr>
          <p:cNvPicPr>
            <a:picLocks noChangeAspect="1"/>
          </p:cNvPicPr>
          <p:nvPr/>
        </p:nvPicPr>
        <p:blipFill>
          <a:blip r:embed="rId2"/>
          <a:stretch>
            <a:fillRect/>
          </a:stretch>
        </p:blipFill>
        <p:spPr>
          <a:xfrm>
            <a:off x="2088543" y="3083285"/>
            <a:ext cx="4966914" cy="3458192"/>
          </a:xfrm>
          <a:prstGeom prst="rect">
            <a:avLst/>
          </a:prstGeom>
        </p:spPr>
      </p:pic>
      <p:sp>
        <p:nvSpPr>
          <p:cNvPr id="6" name="CuadroTexto 5">
            <a:extLst>
              <a:ext uri="{FF2B5EF4-FFF2-40B4-BE49-F238E27FC236}">
                <a16:creationId xmlns:a16="http://schemas.microsoft.com/office/drawing/2014/main" id="{9F37FCCD-BFDD-4D3F-AED6-01663E30CFE6}"/>
              </a:ext>
            </a:extLst>
          </p:cNvPr>
          <p:cNvSpPr txBox="1"/>
          <p:nvPr/>
        </p:nvSpPr>
        <p:spPr>
          <a:xfrm>
            <a:off x="457200" y="1746336"/>
            <a:ext cx="8451713" cy="923330"/>
          </a:xfrm>
          <a:prstGeom prst="rect">
            <a:avLst/>
          </a:prstGeom>
          <a:noFill/>
        </p:spPr>
        <p:txBody>
          <a:bodyPr wrap="square" rtlCol="0">
            <a:spAutoFit/>
          </a:bodyPr>
          <a:lstStyle/>
          <a:p>
            <a:r>
              <a:rPr lang="es-CO" dirty="0"/>
              <a:t>Primero debemos ingresar la información básica, seleccionando el elemento de utilería seguido de la cantidad y finalizando con una breve descripción en caso de ser necesario para mas información del personal de logística.</a:t>
            </a:r>
          </a:p>
        </p:txBody>
      </p:sp>
    </p:spTree>
    <p:extLst>
      <p:ext uri="{BB962C8B-B14F-4D97-AF65-F5344CB8AC3E}">
        <p14:creationId xmlns:p14="http://schemas.microsoft.com/office/powerpoint/2010/main" val="27846854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55A3089-973C-4A48-A0CD-D8AE635790BC}"/>
              </a:ext>
            </a:extLst>
          </p:cNvPr>
          <p:cNvPicPr>
            <a:picLocks noChangeAspect="1"/>
          </p:cNvPicPr>
          <p:nvPr/>
        </p:nvPicPr>
        <p:blipFill>
          <a:blip r:embed="rId2"/>
          <a:stretch>
            <a:fillRect/>
          </a:stretch>
        </p:blipFill>
        <p:spPr>
          <a:xfrm>
            <a:off x="1891143" y="2841672"/>
            <a:ext cx="5361713" cy="3725624"/>
          </a:xfrm>
          <a:prstGeom prst="rect">
            <a:avLst/>
          </a:prstGeom>
        </p:spPr>
      </p:pic>
      <p:sp>
        <p:nvSpPr>
          <p:cNvPr id="5" name="CuadroTexto 4">
            <a:extLst>
              <a:ext uri="{FF2B5EF4-FFF2-40B4-BE49-F238E27FC236}">
                <a16:creationId xmlns:a16="http://schemas.microsoft.com/office/drawing/2014/main" id="{FCE7108A-EC2A-4CD5-9749-04221B8C28BC}"/>
              </a:ext>
            </a:extLst>
          </p:cNvPr>
          <p:cNvSpPr txBox="1"/>
          <p:nvPr/>
        </p:nvSpPr>
        <p:spPr>
          <a:xfrm>
            <a:off x="346142" y="1439416"/>
            <a:ext cx="8451713" cy="1200329"/>
          </a:xfrm>
          <a:prstGeom prst="rect">
            <a:avLst/>
          </a:prstGeom>
          <a:noFill/>
        </p:spPr>
        <p:txBody>
          <a:bodyPr wrap="square" rtlCol="0">
            <a:spAutoFit/>
          </a:bodyPr>
          <a:lstStyle/>
          <a:p>
            <a:r>
              <a:rPr lang="es-CO" dirty="0"/>
              <a:t>Como segundo paso debemos seleccionar el o los eventos a los cuales le aplicaremos dicha configuración de logística. Siendo este segundo paso practico con el fin de agilizar el proceso creación de logística ya que varios eventos pueden tener la misma configuración.</a:t>
            </a:r>
          </a:p>
        </p:txBody>
      </p:sp>
    </p:spTree>
    <p:extLst>
      <p:ext uri="{BB962C8B-B14F-4D97-AF65-F5344CB8AC3E}">
        <p14:creationId xmlns:p14="http://schemas.microsoft.com/office/powerpoint/2010/main" val="21371872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E4ECDC82-0030-4C4D-A7C9-4604DF702327}"/>
              </a:ext>
            </a:extLst>
          </p:cNvPr>
          <p:cNvPicPr>
            <a:picLocks noChangeAspect="1"/>
          </p:cNvPicPr>
          <p:nvPr/>
        </p:nvPicPr>
        <p:blipFill>
          <a:blip r:embed="rId2"/>
          <a:stretch>
            <a:fillRect/>
          </a:stretch>
        </p:blipFill>
        <p:spPr>
          <a:xfrm>
            <a:off x="6246056" y="2940682"/>
            <a:ext cx="2609557" cy="3733904"/>
          </a:xfrm>
          <a:prstGeom prst="rect">
            <a:avLst/>
          </a:prstGeom>
        </p:spPr>
      </p:pic>
      <p:sp>
        <p:nvSpPr>
          <p:cNvPr id="10" name="CuadroTexto 9">
            <a:extLst>
              <a:ext uri="{FF2B5EF4-FFF2-40B4-BE49-F238E27FC236}">
                <a16:creationId xmlns:a16="http://schemas.microsoft.com/office/drawing/2014/main" id="{66F8FAF5-B0D0-42AB-9629-22CBFA2FA19F}"/>
              </a:ext>
            </a:extLst>
          </p:cNvPr>
          <p:cNvSpPr txBox="1"/>
          <p:nvPr/>
        </p:nvSpPr>
        <p:spPr>
          <a:xfrm>
            <a:off x="2350025" y="1295418"/>
            <a:ext cx="6505588" cy="923330"/>
          </a:xfrm>
          <a:prstGeom prst="rect">
            <a:avLst/>
          </a:prstGeom>
          <a:noFill/>
        </p:spPr>
        <p:txBody>
          <a:bodyPr wrap="square" rtlCol="0">
            <a:spAutoFit/>
          </a:bodyPr>
          <a:lstStyle/>
          <a:p>
            <a:pPr algn="just"/>
            <a:r>
              <a:rPr lang="es-CO" dirty="0"/>
              <a:t>Para finaliza esta migración del sistema </a:t>
            </a:r>
            <a:r>
              <a:rPr lang="es-CO" b="1" dirty="0"/>
              <a:t>SITE 2.0</a:t>
            </a:r>
            <a:r>
              <a:rPr lang="es-CO" dirty="0"/>
              <a:t>, es posible acceder desde una </a:t>
            </a:r>
            <a:r>
              <a:rPr lang="es-CO" b="1" dirty="0"/>
              <a:t>Tablet</a:t>
            </a:r>
            <a:r>
              <a:rPr lang="es-CO" dirty="0"/>
              <a:t> o </a:t>
            </a:r>
            <a:r>
              <a:rPr lang="es-CO" b="1" dirty="0"/>
              <a:t>smartphone </a:t>
            </a:r>
            <a:r>
              <a:rPr lang="es-CO" dirty="0"/>
              <a:t> por medio del navegador instalado en su dispositivo.</a:t>
            </a:r>
          </a:p>
        </p:txBody>
      </p:sp>
      <p:pic>
        <p:nvPicPr>
          <p:cNvPr id="12" name="Imagen 11">
            <a:extLst>
              <a:ext uri="{FF2B5EF4-FFF2-40B4-BE49-F238E27FC236}">
                <a16:creationId xmlns:a16="http://schemas.microsoft.com/office/drawing/2014/main" id="{F90D2569-F83D-4F48-A468-6A0AA1892349}"/>
              </a:ext>
            </a:extLst>
          </p:cNvPr>
          <p:cNvPicPr>
            <a:picLocks noChangeAspect="1"/>
          </p:cNvPicPr>
          <p:nvPr/>
        </p:nvPicPr>
        <p:blipFill>
          <a:blip r:embed="rId3"/>
          <a:stretch>
            <a:fillRect/>
          </a:stretch>
        </p:blipFill>
        <p:spPr>
          <a:xfrm>
            <a:off x="379256" y="867669"/>
            <a:ext cx="1542064" cy="3130061"/>
          </a:xfrm>
          <a:prstGeom prst="rect">
            <a:avLst/>
          </a:prstGeom>
        </p:spPr>
      </p:pic>
      <p:sp>
        <p:nvSpPr>
          <p:cNvPr id="14" name="CuadroTexto 13">
            <a:extLst>
              <a:ext uri="{FF2B5EF4-FFF2-40B4-BE49-F238E27FC236}">
                <a16:creationId xmlns:a16="http://schemas.microsoft.com/office/drawing/2014/main" id="{BE176677-484D-4FC9-A683-2D7C450B3844}"/>
              </a:ext>
            </a:extLst>
          </p:cNvPr>
          <p:cNvSpPr txBox="1"/>
          <p:nvPr/>
        </p:nvSpPr>
        <p:spPr>
          <a:xfrm>
            <a:off x="478302" y="4811206"/>
            <a:ext cx="5134707" cy="646331"/>
          </a:xfrm>
          <a:prstGeom prst="rect">
            <a:avLst/>
          </a:prstGeom>
          <a:noFill/>
        </p:spPr>
        <p:txBody>
          <a:bodyPr wrap="square" rtlCol="0">
            <a:spAutoFit/>
          </a:bodyPr>
          <a:lstStyle/>
          <a:p>
            <a:r>
              <a:rPr lang="es-CO" dirty="0"/>
              <a:t>Se deja a gusto personal utilizar el dispositivo de su preferencia para </a:t>
            </a:r>
            <a:r>
              <a:rPr lang="es-CO"/>
              <a:t>acceder al </a:t>
            </a:r>
            <a:r>
              <a:rPr lang="es-CO" dirty="0"/>
              <a:t>sistema.</a:t>
            </a:r>
          </a:p>
        </p:txBody>
      </p:sp>
    </p:spTree>
    <p:extLst>
      <p:ext uri="{BB962C8B-B14F-4D97-AF65-F5344CB8AC3E}">
        <p14:creationId xmlns:p14="http://schemas.microsoft.com/office/powerpoint/2010/main" val="287597718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5c1a6a5-0428-459c-81cd-cf402d4ff623">
      <Terms xmlns="http://schemas.microsoft.com/office/infopath/2007/PartnerControls"/>
    </lcf76f155ced4ddcb4097134ff3c332f>
    <TaxCatchAll xmlns="4b5fc4ab-1594-4dd7-8d7e-2e0a7577b23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71F020BE888BB4AB316B9373C8B4F2E" ma:contentTypeVersion="16" ma:contentTypeDescription="Create a new document." ma:contentTypeScope="" ma:versionID="d4dd329fb7aefe8f0833961973de1dd5">
  <xsd:schema xmlns:xsd="http://www.w3.org/2001/XMLSchema" xmlns:xs="http://www.w3.org/2001/XMLSchema" xmlns:p="http://schemas.microsoft.com/office/2006/metadata/properties" xmlns:ns2="d5c1a6a5-0428-459c-81cd-cf402d4ff623" xmlns:ns3="4b5fc4ab-1594-4dd7-8d7e-2e0a7577b23f" targetNamespace="http://schemas.microsoft.com/office/2006/metadata/properties" ma:root="true" ma:fieldsID="566a881b36aa1cdccae23e7b73ffdaca" ns2:_="" ns3:_="">
    <xsd:import namespace="d5c1a6a5-0428-459c-81cd-cf402d4ff623"/>
    <xsd:import namespace="4b5fc4ab-1594-4dd7-8d7e-2e0a7577b23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c1a6a5-0428-459c-81cd-cf402d4ff6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addd62e-4cdf-4ab6-87d1-e7567672f23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b5fc4ab-1594-4dd7-8d7e-2e0a7577b23f"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89790768-eeed-4a9d-bea6-26e76a0d1d82}" ma:internalName="TaxCatchAll" ma:showField="CatchAllData" ma:web="4b5fc4ab-1594-4dd7-8d7e-2e0a7577b23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279F2C-B904-4F7E-8C3B-5BC80A5691D6}">
  <ds:schemaRefs>
    <ds:schemaRef ds:uri="http://schemas.microsoft.com/office/2006/metadata/properties"/>
    <ds:schemaRef ds:uri="http://schemas.microsoft.com/office/infopath/2007/PartnerControls"/>
    <ds:schemaRef ds:uri="d5c1a6a5-0428-459c-81cd-cf402d4ff623"/>
    <ds:schemaRef ds:uri="4b5fc4ab-1594-4dd7-8d7e-2e0a7577b23f"/>
  </ds:schemaRefs>
</ds:datastoreItem>
</file>

<file path=customXml/itemProps2.xml><?xml version="1.0" encoding="utf-8"?>
<ds:datastoreItem xmlns:ds="http://schemas.openxmlformats.org/officeDocument/2006/customXml" ds:itemID="{1FB45035-4948-4394-B9A2-34C0B1C30C8E}">
  <ds:schemaRefs>
    <ds:schemaRef ds:uri="http://schemas.microsoft.com/sharepoint/v3/contenttype/forms"/>
  </ds:schemaRefs>
</ds:datastoreItem>
</file>

<file path=customXml/itemProps3.xml><?xml version="1.0" encoding="utf-8"?>
<ds:datastoreItem xmlns:ds="http://schemas.openxmlformats.org/officeDocument/2006/customXml" ds:itemID="{E31AE328-99DE-41EF-85D4-1D357C9F0862}"/>
</file>

<file path=docProps/app.xml><?xml version="1.0" encoding="utf-8"?>
<Properties xmlns="http://schemas.openxmlformats.org/officeDocument/2006/extended-properties" xmlns:vt="http://schemas.openxmlformats.org/officeDocument/2006/docPropsVTypes">
  <TotalTime>380</TotalTime>
  <Words>2265</Words>
  <Application>Microsoft Office PowerPoint</Application>
  <PresentationFormat>Presentación en pantalla (4:3)</PresentationFormat>
  <Paragraphs>143</Paragraphs>
  <Slides>43</Slides>
  <Notes>1</Notes>
  <HiddenSlides>0</HiddenSlides>
  <MMClips>0</MMClips>
  <ScaleCrop>false</ScaleCrop>
  <HeadingPairs>
    <vt:vector size="4" baseType="variant">
      <vt:variant>
        <vt:lpstr>Tema</vt:lpstr>
      </vt:variant>
      <vt:variant>
        <vt:i4>1</vt:i4>
      </vt:variant>
      <vt:variant>
        <vt:lpstr>Títulos de diapositiva</vt:lpstr>
      </vt:variant>
      <vt:variant>
        <vt:i4>43</vt:i4>
      </vt:variant>
    </vt:vector>
  </HeadingPairs>
  <TitlesOfParts>
    <vt:vector size="44" baseType="lpstr">
      <vt:lpstr>Tema de Office</vt:lpstr>
      <vt:lpstr>Presentación de PowerPoint</vt:lpstr>
      <vt:lpstr>Manual de Usuario</vt:lpstr>
      <vt:lpstr>Inicio de Sesión</vt:lpstr>
      <vt:lpstr>Dashboard</vt:lpstr>
      <vt:lpstr>Menú Principal</vt:lpstr>
      <vt:lpstr>Agenda</vt:lpstr>
      <vt:lpstr>Reportes</vt:lpstr>
      <vt:lpstr>Modulo Configuración</vt:lpstr>
      <vt:lpstr>Administración de Clientes</vt:lpstr>
      <vt:lpstr>Nuevo Cliente</vt:lpstr>
      <vt:lpstr>Eliminación de Cliente</vt:lpstr>
      <vt:lpstr>Administración de Salones</vt:lpstr>
      <vt:lpstr>Nuevo Salón</vt:lpstr>
      <vt:lpstr>Editar Salón</vt:lpstr>
      <vt:lpstr>Eliminar Salón</vt:lpstr>
      <vt:lpstr>Administración de Utilería</vt:lpstr>
      <vt:lpstr>Nueva Utilería</vt:lpstr>
      <vt:lpstr>Editar Utilería</vt:lpstr>
      <vt:lpstr>Administración de Festivos</vt:lpstr>
      <vt:lpstr>Nuevo Festivo</vt:lpstr>
      <vt:lpstr>Presentación de PowerPoint</vt:lpstr>
      <vt:lpstr>Presentación de PowerPoint</vt:lpstr>
      <vt:lpstr>Administración de Tarifas</vt:lpstr>
      <vt:lpstr>Nueva Tarifa</vt:lpstr>
      <vt:lpstr>Presentación de PowerPoint</vt:lpstr>
      <vt:lpstr>Editar Tarifa</vt:lpstr>
      <vt:lpstr>Modulo Movimientos</vt:lpstr>
      <vt:lpstr>Administración de cotización – eventos internos</vt:lpstr>
      <vt:lpstr>Presentación de PowerPoint</vt:lpstr>
      <vt:lpstr>Presentación de PowerPoint</vt:lpstr>
      <vt:lpstr>Nueva cotización – evento interno</vt:lpstr>
      <vt:lpstr>Presentación de PowerPoint</vt:lpstr>
      <vt:lpstr>Presentación de PowerPoint</vt:lpstr>
      <vt:lpstr>Presentación de PowerPoint</vt:lpstr>
      <vt:lpstr>Administración de Pagos</vt:lpstr>
      <vt:lpstr>Nuevo Pago</vt:lpstr>
      <vt:lpstr>Ver Pago</vt:lpstr>
      <vt:lpstr>Eliminar Pago</vt:lpstr>
      <vt:lpstr>Logística de Eventos</vt:lpstr>
      <vt:lpstr>Presentación de PowerPoint</vt:lpstr>
      <vt:lpstr>Crear Logística</vt:lpstr>
      <vt:lpstr>Presentación de PowerPoint</vt:lpstr>
      <vt:lpstr>Presentación de PowerPoint</vt:lpstr>
    </vt:vector>
  </TitlesOfParts>
  <Company>usb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S3-COMORG-JOAQUIN</dc:creator>
  <cp:lastModifiedBy>RESERVA 02</cp:lastModifiedBy>
  <cp:revision>47</cp:revision>
  <dcterms:created xsi:type="dcterms:W3CDTF">2018-01-24T15:16:31Z</dcterms:created>
  <dcterms:modified xsi:type="dcterms:W3CDTF">2023-10-19T16:38:54Z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0x010100F71F020BE888BB4AB316B9373C8B4F2E</vt:lpwstr>
  </property>
  <property fmtid="{D5CDD505-2E9C-101B-9397-08002B2CF9AE}" pid="3" name="MSIP_Label_f535a957-b352-4c2d-aa57-80f72177303d_Enabled">
    <vt:lpwstr>true</vt:lpwstr>
  </property>
  <property fmtid="{D5CDD505-2E9C-101B-9397-08002B2CF9AE}" pid="4" name="MSIP_Label_f535a957-b352-4c2d-aa57-80f72177303d_SetDate">
    <vt:lpwstr>2023-10-19T16:38:54Z</vt:lpwstr>
  </property>
  <property fmtid="{D5CDD505-2E9C-101B-9397-08002B2CF9AE}" pid="5" name="MSIP_Label_f535a957-b352-4c2d-aa57-80f72177303d_Method">
    <vt:lpwstr>Standard</vt:lpwstr>
  </property>
  <property fmtid="{D5CDD505-2E9C-101B-9397-08002B2CF9AE}" pid="6" name="MSIP_Label_f535a957-b352-4c2d-aa57-80f72177303d_Name">
    <vt:lpwstr>defa4170-0d19-0005-0004-bc88714345d2</vt:lpwstr>
  </property>
  <property fmtid="{D5CDD505-2E9C-101B-9397-08002B2CF9AE}" pid="7" name="MSIP_Label_f535a957-b352-4c2d-aa57-80f72177303d_SiteId">
    <vt:lpwstr>34303541-74ec-4d4a-8c5a-8049d2fd6ce6</vt:lpwstr>
  </property>
  <property fmtid="{D5CDD505-2E9C-101B-9397-08002B2CF9AE}" pid="8" name="MSIP_Label_f535a957-b352-4c2d-aa57-80f72177303d_ActionId">
    <vt:lpwstr>2075e1f1-a20c-4354-bda4-bcea78cb7156</vt:lpwstr>
  </property>
  <property fmtid="{D5CDD505-2E9C-101B-9397-08002B2CF9AE}" pid="9" name="MSIP_Label_f535a957-b352-4c2d-aa57-80f72177303d_ContentBits">
    <vt:lpwstr>0</vt:lpwstr>
  </property>
  <property fmtid="{D5CDD505-2E9C-101B-9397-08002B2CF9AE}" pid="10" name="MediaServiceImageTags">
    <vt:lpwstr/>
  </property>
</Properties>
</file>