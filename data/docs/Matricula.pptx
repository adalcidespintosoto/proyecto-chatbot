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0" r:id="rId5"/>
  </p:sldMasterIdLst>
  <p:sldIdLst>
    <p:sldId id="266" r:id="rId6"/>
    <p:sldId id="267" r:id="rId7"/>
    <p:sldId id="268" r:id="rId8"/>
    <p:sldId id="269" r:id="rId9"/>
    <p:sldId id="258" r:id="rId10"/>
    <p:sldId id="257" r:id="rId11"/>
    <p:sldId id="259" r:id="rId12"/>
    <p:sldId id="260" r:id="rId13"/>
    <p:sldId id="262" r:id="rId14"/>
    <p:sldId id="263" r:id="rId15"/>
    <p:sldId id="261" r:id="rId16"/>
    <p:sldId id="264" r:id="rId17"/>
    <p:sldId id="265" r:id="rId18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713"/>
    <a:srgbClr val="DAA600"/>
    <a:srgbClr val="36A1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416503-1CD7-4A5C-AC68-4A6D4A169927}" v="5" dt="2021-06-10T15:33:27.8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 Patricia Pastori Rojas" userId="S::andrea.pastori@unisimon.edu.co::62588e05-5874-4b1f-bb98-2372ec742878" providerId="AD" clId="Web-{FB68CB3A-EAC3-450F-A23F-3EABE93C0156}"/>
    <pc:docChg chg="mod">
      <pc:chgData name="Andrea Patricia Pastori Rojas" userId="S::andrea.pastori@unisimon.edu.co::62588e05-5874-4b1f-bb98-2372ec742878" providerId="AD" clId="Web-{FB68CB3A-EAC3-450F-A23F-3EABE93C0156}" dt="2023-12-11T14:24:39.440" v="0" actId="33475"/>
      <pc:docMkLst>
        <pc:docMk/>
      </pc:docMkLst>
    </pc:docChg>
  </pc:docChgLst>
  <pc:docChgLst>
    <pc:chgData name="Andrea Patricia Pastori Rojas" userId="S::andrea.pastori@unisimon.edu.co::62588e05-5874-4b1f-bb98-2372ec742878" providerId="AD" clId="Web-{F37941BD-29DC-4E90-9B3F-3F716102BE10}"/>
    <pc:docChg chg="modSld">
      <pc:chgData name="Andrea Patricia Pastori Rojas" userId="S::andrea.pastori@unisimon.edu.co::62588e05-5874-4b1f-bb98-2372ec742878" providerId="AD" clId="Web-{F37941BD-29DC-4E90-9B3F-3F716102BE10}" dt="2021-05-06T21:34:58.298" v="0" actId="14100"/>
      <pc:docMkLst>
        <pc:docMk/>
      </pc:docMkLst>
      <pc:sldChg chg="modSp">
        <pc:chgData name="Andrea Patricia Pastori Rojas" userId="S::andrea.pastori@unisimon.edu.co::62588e05-5874-4b1f-bb98-2372ec742878" providerId="AD" clId="Web-{F37941BD-29DC-4E90-9B3F-3F716102BE10}" dt="2021-05-06T21:34:58.298" v="0" actId="14100"/>
        <pc:sldMkLst>
          <pc:docMk/>
          <pc:sldMk cId="102800785" sldId="262"/>
        </pc:sldMkLst>
        <pc:picChg chg="mod">
          <ac:chgData name="Andrea Patricia Pastori Rojas" userId="S::andrea.pastori@unisimon.edu.co::62588e05-5874-4b1f-bb98-2372ec742878" providerId="AD" clId="Web-{F37941BD-29DC-4E90-9B3F-3F716102BE10}" dt="2021-05-06T21:34:58.298" v="0" actId="14100"/>
          <ac:picMkLst>
            <pc:docMk/>
            <pc:sldMk cId="102800785" sldId="262"/>
            <ac:picMk id="1040" creationId="{00000000-0000-0000-0000-000000000000}"/>
          </ac:picMkLst>
        </pc:picChg>
      </pc:sldChg>
    </pc:docChg>
  </pc:docChgLst>
  <pc:docChgLst>
    <pc:chgData name="Andrea Patricia Pastori Rojas" userId="62588e05-5874-4b1f-bb98-2372ec742878" providerId="ADAL" clId="{BD416503-1CD7-4A5C-AC68-4A6D4A169927}"/>
    <pc:docChg chg="modSld">
      <pc:chgData name="Andrea Patricia Pastori Rojas" userId="62588e05-5874-4b1f-bb98-2372ec742878" providerId="ADAL" clId="{BD416503-1CD7-4A5C-AC68-4A6D4A169927}" dt="2021-06-10T15:33:27.853" v="0" actId="14100"/>
      <pc:docMkLst>
        <pc:docMk/>
      </pc:docMkLst>
      <pc:sldChg chg="modSp mod">
        <pc:chgData name="Andrea Patricia Pastori Rojas" userId="62588e05-5874-4b1f-bb98-2372ec742878" providerId="ADAL" clId="{BD416503-1CD7-4A5C-AC68-4A6D4A169927}" dt="2021-06-10T15:33:27.853" v="0" actId="14100"/>
        <pc:sldMkLst>
          <pc:docMk/>
          <pc:sldMk cId="102800785" sldId="262"/>
        </pc:sldMkLst>
        <pc:picChg chg="mod">
          <ac:chgData name="Andrea Patricia Pastori Rojas" userId="62588e05-5874-4b1f-bb98-2372ec742878" providerId="ADAL" clId="{BD416503-1CD7-4A5C-AC68-4A6D4A169927}" dt="2021-06-10T15:33:27.853" v="0" actId="14100"/>
          <ac:picMkLst>
            <pc:docMk/>
            <pc:sldMk cId="102800785" sldId="262"/>
            <ac:picMk id="1040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11/12/2023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11/12/2023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11/12/2023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11/12/2023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11/12/2023</a:t>
            </a:fld>
            <a:endParaRPr lang="es-ES_tradnl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11/12/2023</a:t>
            </a:fld>
            <a:endParaRPr lang="es-ES_tradn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11/12/2023</a:t>
            </a:fld>
            <a:endParaRPr lang="es-ES_tradnl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11/12/2023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11/12/2023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11/12/2023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11/12/2023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11/12/2023</a:t>
            </a:fld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7097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11/12/2023</a:t>
            </a:fld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26171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11/12/2023</a:t>
            </a:fld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15163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11/12/2023</a:t>
            </a:fld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79659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11/12/2023</a:t>
            </a:fld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87983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11/12/2023</a:t>
            </a:fld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77580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11/12/2023</a:t>
            </a:fld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3510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11/12/2023</a:t>
            </a:fld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1134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11/12/2023</a:t>
            </a:fld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0828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11/12/2023</a:t>
            </a:fld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02750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11/12/2023</a:t>
            </a:fld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609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/>
              <a:t>11/12/2023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/>
              <a:t>‹Nº›</a:t>
            </a:fld>
            <a:endParaRPr lang="es-ES_trad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11/12/2023</a:t>
            </a:fld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1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977900" y="2357742"/>
            <a:ext cx="7416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PORTAL DE ESTUDIANTES</a:t>
            </a:r>
          </a:p>
          <a:p>
            <a:pPr algn="ctr"/>
            <a:endParaRPr lang="es-CO" sz="2800" b="1">
              <a:solidFill>
                <a:prstClr val="black">
                  <a:lumMod val="85000"/>
                  <a:lumOff val="15000"/>
                </a:prst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PARA GENERAR REALIZAR EL PROCESO DE MATRÍCULA</a:t>
            </a:r>
          </a:p>
        </p:txBody>
      </p:sp>
    </p:spTree>
    <p:extLst>
      <p:ext uri="{BB962C8B-B14F-4D97-AF65-F5344CB8AC3E}">
        <p14:creationId xmlns:p14="http://schemas.microsoft.com/office/powerpoint/2010/main" val="435468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>
                <a:solidFill>
                  <a:prstClr val="black"/>
                </a:solidFill>
              </a:rPr>
              <a:t>Acceso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>
                <a:solidFill>
                  <a:prstClr val="black"/>
                </a:solidFill>
              </a:rPr>
              <a:t>Ingrese desde su navegador al sitio web de la Universidad: </a:t>
            </a:r>
            <a:r>
              <a:rPr lang="es-CO" sz="1600">
                <a:solidFill>
                  <a:prstClr val="black"/>
                </a:solidFill>
                <a:hlinkClick r:id="rId3"/>
              </a:rPr>
              <a:t>http://www.unisimon.edu.co/</a:t>
            </a:r>
            <a:r>
              <a:rPr lang="es-CO" sz="1600">
                <a:solidFill>
                  <a:prstClr val="black"/>
                </a:solidFill>
              </a:rPr>
              <a:t> y seleccionar en menú principal la opción «Portales»</a:t>
            </a:r>
          </a:p>
          <a:p>
            <a:pPr algn="ctr"/>
            <a:endParaRPr lang="es-CO" sz="1600">
              <a:solidFill>
                <a:prstClr val="black"/>
              </a:solidFill>
            </a:endParaRPr>
          </a:p>
        </p:txBody>
      </p:sp>
      <p:sp>
        <p:nvSpPr>
          <p:cNvPr id="15" name="14 Rectángulo redondeado"/>
          <p:cNvSpPr/>
          <p:nvPr/>
        </p:nvSpPr>
        <p:spPr>
          <a:xfrm>
            <a:off x="6397011" y="2634125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>
              <a:solidFill>
                <a:prstClr val="black"/>
              </a:solidFill>
            </a:endParaRPr>
          </a:p>
        </p:txBody>
      </p:sp>
      <p:grpSp>
        <p:nvGrpSpPr>
          <p:cNvPr id="17" name="16 Grupo"/>
          <p:cNvGrpSpPr/>
          <p:nvPr/>
        </p:nvGrpSpPr>
        <p:grpSpPr>
          <a:xfrm flipH="1">
            <a:off x="4478683" y="1731372"/>
            <a:ext cx="1888511" cy="107469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95723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2074528"/>
            <a:ext cx="8331199" cy="4129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>
                <a:solidFill>
                  <a:prstClr val="black"/>
                </a:solidFill>
              </a:rPr>
              <a:t>Dirigirse a la sección «Portal Estudiantes»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642996" y="3931755"/>
            <a:ext cx="2524273" cy="186193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>
              <a:solidFill>
                <a:prstClr val="black"/>
              </a:solidFill>
            </a:endParaRPr>
          </a:p>
        </p:txBody>
      </p:sp>
      <p:grpSp>
        <p:nvGrpSpPr>
          <p:cNvPr id="6" name="5 Grupo"/>
          <p:cNvGrpSpPr/>
          <p:nvPr/>
        </p:nvGrpSpPr>
        <p:grpSpPr>
          <a:xfrm>
            <a:off x="3169213" y="1590261"/>
            <a:ext cx="1402787" cy="3269974"/>
            <a:chOff x="5729176" y="1775902"/>
            <a:chExt cx="1191284" cy="1140874"/>
          </a:xfrm>
        </p:grpSpPr>
        <p:cxnSp>
          <p:nvCxnSpPr>
            <p:cNvPr id="7" name="6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" name="7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39612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353" y="2047108"/>
            <a:ext cx="8411375" cy="41564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>
                <a:solidFill>
                  <a:prstClr val="black"/>
                </a:solidFill>
              </a:rPr>
              <a:t>Digite su usuario y contraseña para acceder al sistema y luego presione sobre el botón «Acceder»</a:t>
            </a:r>
          </a:p>
          <a:p>
            <a:pPr algn="ctr"/>
            <a:endParaRPr lang="es-CO" sz="1600">
              <a:solidFill>
                <a:prstClr val="black"/>
              </a:solidFill>
            </a:endParaRPr>
          </a:p>
        </p:txBody>
      </p:sp>
      <p:sp>
        <p:nvSpPr>
          <p:cNvPr id="15" name="14 Rectángulo redondeado"/>
          <p:cNvSpPr/>
          <p:nvPr/>
        </p:nvSpPr>
        <p:spPr>
          <a:xfrm>
            <a:off x="1639957" y="4333461"/>
            <a:ext cx="3130826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>
              <a:solidFill>
                <a:prstClr val="black"/>
              </a:solidFill>
            </a:endParaRPr>
          </a:p>
        </p:txBody>
      </p:sp>
      <p:grpSp>
        <p:nvGrpSpPr>
          <p:cNvPr id="7" name="6 Grupo"/>
          <p:cNvGrpSpPr/>
          <p:nvPr/>
        </p:nvGrpSpPr>
        <p:grpSpPr>
          <a:xfrm>
            <a:off x="4774025" y="1590261"/>
            <a:ext cx="801827" cy="3269974"/>
            <a:chOff x="5729176" y="177590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99556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769" y="2139249"/>
            <a:ext cx="8601953" cy="42631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/>
              <a:t>Matrícula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438411" y="1312540"/>
            <a:ext cx="82546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/>
              <a:t>Para ingresar al módulo presionar el icono «Matrícula y Escogencia de Horario»</a:t>
            </a:r>
          </a:p>
        </p:txBody>
      </p:sp>
      <p:sp>
        <p:nvSpPr>
          <p:cNvPr id="13" name="12 Rectángulo redondeado"/>
          <p:cNvSpPr/>
          <p:nvPr/>
        </p:nvSpPr>
        <p:spPr>
          <a:xfrm>
            <a:off x="4774318" y="3135399"/>
            <a:ext cx="1566848" cy="910955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14" name="13 Grupo"/>
          <p:cNvGrpSpPr/>
          <p:nvPr/>
        </p:nvGrpSpPr>
        <p:grpSpPr>
          <a:xfrm flipH="1">
            <a:off x="4443664" y="1685925"/>
            <a:ext cx="330653" cy="1991553"/>
            <a:chOff x="5729176" y="1771710"/>
            <a:chExt cx="1193027" cy="1140874"/>
          </a:xfrm>
        </p:grpSpPr>
        <p:cxnSp>
          <p:nvCxnSpPr>
            <p:cNvPr id="15" name="14 Conector recto de flecha"/>
            <p:cNvCxnSpPr/>
            <p:nvPr/>
          </p:nvCxnSpPr>
          <p:spPr>
            <a:xfrm>
              <a:off x="6922203" y="1771710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6" name="15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4" name="3 Rectángulo"/>
          <p:cNvSpPr/>
          <p:nvPr/>
        </p:nvSpPr>
        <p:spPr>
          <a:xfrm>
            <a:off x="7886700" y="2139249"/>
            <a:ext cx="571500" cy="26105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7299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769" y="2130062"/>
            <a:ext cx="8609947" cy="426085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/>
              <a:t>Matrícula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0" y="1312540"/>
            <a:ext cx="91439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/>
              <a:t>Para iniciar el proceso deberá seleccionar el programa que desea matricular</a:t>
            </a:r>
          </a:p>
        </p:txBody>
      </p:sp>
      <p:sp>
        <p:nvSpPr>
          <p:cNvPr id="4" name="3 Rectángulo redondeado"/>
          <p:cNvSpPr/>
          <p:nvPr/>
        </p:nvSpPr>
        <p:spPr>
          <a:xfrm>
            <a:off x="1240077" y="3356975"/>
            <a:ext cx="3920646" cy="1265128"/>
          </a:xfrm>
          <a:prstGeom prst="roundRect">
            <a:avLst>
              <a:gd name="adj" fmla="val 10279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3" name="22 Conector recto de flecha"/>
          <p:cNvCxnSpPr/>
          <p:nvPr/>
        </p:nvCxnSpPr>
        <p:spPr>
          <a:xfrm>
            <a:off x="3272874" y="1683342"/>
            <a:ext cx="0" cy="1623529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6 Rectángulo"/>
          <p:cNvSpPr/>
          <p:nvPr/>
        </p:nvSpPr>
        <p:spPr>
          <a:xfrm>
            <a:off x="7906578" y="2139249"/>
            <a:ext cx="571500" cy="26105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769" y="2130062"/>
            <a:ext cx="8609946" cy="426085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/>
              <a:t>Pasos de Matrícula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290769" y="1312540"/>
            <a:ext cx="88532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/>
              <a:t>Seleccionar el paso activo para su proceso</a:t>
            </a:r>
          </a:p>
        </p:txBody>
      </p:sp>
      <p:sp>
        <p:nvSpPr>
          <p:cNvPr id="4" name="3 Rectángulo redondeado"/>
          <p:cNvSpPr/>
          <p:nvPr/>
        </p:nvSpPr>
        <p:spPr>
          <a:xfrm>
            <a:off x="890016" y="3344783"/>
            <a:ext cx="7400543" cy="1129681"/>
          </a:xfrm>
          <a:prstGeom prst="roundRect">
            <a:avLst>
              <a:gd name="adj" fmla="val 10279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3" name="22 Conector recto de flecha"/>
          <p:cNvCxnSpPr/>
          <p:nvPr/>
        </p:nvCxnSpPr>
        <p:spPr>
          <a:xfrm>
            <a:off x="4577418" y="1672486"/>
            <a:ext cx="0" cy="1623529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6 Rectángulo"/>
          <p:cNvSpPr/>
          <p:nvPr/>
        </p:nvSpPr>
        <p:spPr>
          <a:xfrm>
            <a:off x="7926456" y="2139249"/>
            <a:ext cx="571500" cy="26105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27455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53" y="1489527"/>
            <a:ext cx="8609949" cy="426085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2162485" y="5977412"/>
            <a:ext cx="5061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/>
              <a:t>Para aceptar las condiciones del crédito seleccionar la casilla «    » y luego presionar el botón «Continuar»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3533" y="6301911"/>
            <a:ext cx="171450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/>
              <a:t>Condiciones de crédito</a:t>
            </a:r>
          </a:p>
        </p:txBody>
      </p:sp>
      <p:sp>
        <p:nvSpPr>
          <p:cNvPr id="4" name="3 Rectángulo redondeado"/>
          <p:cNvSpPr/>
          <p:nvPr/>
        </p:nvSpPr>
        <p:spPr>
          <a:xfrm>
            <a:off x="4457440" y="5199547"/>
            <a:ext cx="68876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13" name="12 Grupo"/>
          <p:cNvGrpSpPr/>
          <p:nvPr/>
        </p:nvGrpSpPr>
        <p:grpSpPr>
          <a:xfrm rot="5400000">
            <a:off x="935021" y="4894618"/>
            <a:ext cx="1208136" cy="1615378"/>
            <a:chOff x="5723566" y="1775902"/>
            <a:chExt cx="1191284" cy="1140874"/>
          </a:xfrm>
        </p:grpSpPr>
        <p:cxnSp>
          <p:nvCxnSpPr>
            <p:cNvPr id="10" name="9 Conector recto de flecha"/>
            <p:cNvCxnSpPr/>
            <p:nvPr/>
          </p:nvCxnSpPr>
          <p:spPr>
            <a:xfrm>
              <a:off x="6903156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6" name="15 Conector recto de flecha"/>
            <p:cNvCxnSpPr/>
            <p:nvPr/>
          </p:nvCxnSpPr>
          <p:spPr>
            <a:xfrm flipH="1">
              <a:off x="5723566" y="29111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5" name="14 Rectángulo redondeado"/>
          <p:cNvSpPr/>
          <p:nvPr/>
        </p:nvSpPr>
        <p:spPr>
          <a:xfrm>
            <a:off x="649057" y="4857341"/>
            <a:ext cx="198149" cy="197861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17" name="16 Grupo"/>
          <p:cNvGrpSpPr/>
          <p:nvPr/>
        </p:nvGrpSpPr>
        <p:grpSpPr>
          <a:xfrm flipV="1">
            <a:off x="5181118" y="5344818"/>
            <a:ext cx="694448" cy="579289"/>
            <a:chOff x="572356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03156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3566" y="2912042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4" name="13 Rectángulo"/>
          <p:cNvSpPr/>
          <p:nvPr/>
        </p:nvSpPr>
        <p:spPr>
          <a:xfrm>
            <a:off x="7906578" y="1519344"/>
            <a:ext cx="571500" cy="26105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5976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0" name="Picture 1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768" y="2132280"/>
            <a:ext cx="8609946" cy="425863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/>
              <a:t>Oficializar pagos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290768" y="1154044"/>
            <a:ext cx="86099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/>
              <a:t>En la oficialización de pagos se observarán cuatro secciones: estado académico, valores actuales de matrícula, abonos realizados y resumen de estado de cuenta. Para actualización de datos y oficialización se deberá presionar el botón «Oficializar»</a:t>
            </a:r>
          </a:p>
        </p:txBody>
      </p:sp>
      <p:sp>
        <p:nvSpPr>
          <p:cNvPr id="21" name="20 Rectángulo redondeado"/>
          <p:cNvSpPr/>
          <p:nvPr/>
        </p:nvSpPr>
        <p:spPr>
          <a:xfrm>
            <a:off x="4168979" y="5948022"/>
            <a:ext cx="743381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3" name="22 Conector recto de flecha"/>
          <p:cNvCxnSpPr/>
          <p:nvPr/>
        </p:nvCxnSpPr>
        <p:spPr>
          <a:xfrm>
            <a:off x="4529493" y="1948464"/>
            <a:ext cx="0" cy="3960000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6 Rectángulo"/>
          <p:cNvSpPr/>
          <p:nvPr/>
        </p:nvSpPr>
        <p:spPr>
          <a:xfrm>
            <a:off x="7919002" y="2149937"/>
            <a:ext cx="571500" cy="26105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800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767" y="2130059"/>
            <a:ext cx="8609947" cy="426085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/>
              <a:t>Actualización de datos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1426464" y="1263772"/>
            <a:ext cx="63276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/>
              <a:t>Se deberán actualizar los datos básicos para finalizar la oficialización, posteriormente presionar el botón «Guardar»</a:t>
            </a:r>
          </a:p>
        </p:txBody>
      </p:sp>
      <p:sp>
        <p:nvSpPr>
          <p:cNvPr id="21" name="20 Rectángulo redondeado"/>
          <p:cNvSpPr/>
          <p:nvPr/>
        </p:nvSpPr>
        <p:spPr>
          <a:xfrm>
            <a:off x="4168979" y="5948022"/>
            <a:ext cx="743381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85" t="15905" r="28636" b="5208"/>
          <a:stretch/>
        </p:blipFill>
        <p:spPr bwMode="auto">
          <a:xfrm>
            <a:off x="5596128" y="2226675"/>
            <a:ext cx="3145261" cy="3323024"/>
          </a:xfrm>
          <a:prstGeom prst="rect">
            <a:avLst/>
          </a:prstGeom>
          <a:ln w="28575">
            <a:solidFill>
              <a:srgbClr val="F9A713"/>
            </a:solidFill>
            <a:miter lim="800000"/>
            <a:headEnd/>
            <a:tailEnd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grpSp>
        <p:nvGrpSpPr>
          <p:cNvPr id="9" name="8 Grupo"/>
          <p:cNvGrpSpPr/>
          <p:nvPr/>
        </p:nvGrpSpPr>
        <p:grpSpPr>
          <a:xfrm flipH="1">
            <a:off x="3389375" y="1863120"/>
            <a:ext cx="718799" cy="4250921"/>
            <a:chOff x="5587734" y="1792047"/>
            <a:chExt cx="1191284" cy="1125794"/>
          </a:xfrm>
        </p:grpSpPr>
        <p:cxnSp>
          <p:nvCxnSpPr>
            <p:cNvPr id="10" name="9 Conector recto de flecha"/>
            <p:cNvCxnSpPr/>
            <p:nvPr/>
          </p:nvCxnSpPr>
          <p:spPr>
            <a:xfrm>
              <a:off x="6761714" y="1792047"/>
              <a:ext cx="0" cy="1125020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1" name="10 Conector recto de flecha"/>
            <p:cNvCxnSpPr/>
            <p:nvPr/>
          </p:nvCxnSpPr>
          <p:spPr>
            <a:xfrm flipH="1">
              <a:off x="5587734" y="2917841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12" name="11 Grupo"/>
          <p:cNvGrpSpPr/>
          <p:nvPr/>
        </p:nvGrpSpPr>
        <p:grpSpPr>
          <a:xfrm rot="16200000" flipH="1">
            <a:off x="5811927" y="4746842"/>
            <a:ext cx="504697" cy="2221666"/>
            <a:chOff x="5587734" y="1792047"/>
            <a:chExt cx="1191284" cy="1125794"/>
          </a:xfrm>
        </p:grpSpPr>
        <p:cxnSp>
          <p:nvCxnSpPr>
            <p:cNvPr id="13" name="12 Conector recto de flecha"/>
            <p:cNvCxnSpPr/>
            <p:nvPr/>
          </p:nvCxnSpPr>
          <p:spPr>
            <a:xfrm>
              <a:off x="6761714" y="1792047"/>
              <a:ext cx="0" cy="1125020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" name="13 Conector recto de flecha"/>
            <p:cNvCxnSpPr/>
            <p:nvPr/>
          </p:nvCxnSpPr>
          <p:spPr>
            <a:xfrm flipH="1">
              <a:off x="5587734" y="2917841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32154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765" y="2130059"/>
            <a:ext cx="8609949" cy="426085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/>
              <a:t>Asignaturas y Estados Académicos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290768" y="1154044"/>
            <a:ext cx="44031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/>
              <a:t>Para aceptar la proyección académica, deberá verificar las asignaturas proyectadas y presionar el botón «Aceptar»</a:t>
            </a:r>
          </a:p>
        </p:txBody>
      </p:sp>
      <p:sp>
        <p:nvSpPr>
          <p:cNvPr id="21" name="20 Rectángulo redondeado"/>
          <p:cNvSpPr/>
          <p:nvPr/>
        </p:nvSpPr>
        <p:spPr>
          <a:xfrm>
            <a:off x="4224050" y="5648406"/>
            <a:ext cx="743381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3" name="22 Conector recto de flecha"/>
          <p:cNvCxnSpPr/>
          <p:nvPr/>
        </p:nvCxnSpPr>
        <p:spPr>
          <a:xfrm>
            <a:off x="2611637" y="1985041"/>
            <a:ext cx="0" cy="1367759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8" name="7 Rectángulo redondeado"/>
          <p:cNvSpPr/>
          <p:nvPr/>
        </p:nvSpPr>
        <p:spPr>
          <a:xfrm>
            <a:off x="615011" y="3405990"/>
            <a:ext cx="3980730" cy="1604922"/>
          </a:xfrm>
          <a:prstGeom prst="roundRect">
            <a:avLst>
              <a:gd name="adj" fmla="val 10590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10" name="9 Grupo"/>
          <p:cNvGrpSpPr/>
          <p:nvPr/>
        </p:nvGrpSpPr>
        <p:grpSpPr>
          <a:xfrm flipH="1">
            <a:off x="2587251" y="5023105"/>
            <a:ext cx="1612414" cy="799494"/>
            <a:chOff x="5587734" y="1792047"/>
            <a:chExt cx="1191284" cy="1125794"/>
          </a:xfrm>
        </p:grpSpPr>
        <p:cxnSp>
          <p:nvCxnSpPr>
            <p:cNvPr id="11" name="10 Conector recto de flecha"/>
            <p:cNvCxnSpPr/>
            <p:nvPr/>
          </p:nvCxnSpPr>
          <p:spPr>
            <a:xfrm>
              <a:off x="6761714" y="1792047"/>
              <a:ext cx="0" cy="1125020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2" name="11 Conector recto de flecha"/>
            <p:cNvCxnSpPr/>
            <p:nvPr/>
          </p:nvCxnSpPr>
          <p:spPr>
            <a:xfrm flipH="1">
              <a:off x="5587734" y="2917841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3" name="CuadroTexto 2"/>
          <p:cNvSpPr txBox="1"/>
          <p:nvPr/>
        </p:nvSpPr>
        <p:spPr>
          <a:xfrm>
            <a:off x="5059680" y="1211289"/>
            <a:ext cx="38423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/>
              <a:t>Para imprimir el recibo de matrícula, presionar el icono «Recibo matrícula»</a:t>
            </a:r>
          </a:p>
        </p:txBody>
      </p:sp>
      <p:grpSp>
        <p:nvGrpSpPr>
          <p:cNvPr id="15" name="14 Grupo"/>
          <p:cNvGrpSpPr/>
          <p:nvPr/>
        </p:nvGrpSpPr>
        <p:grpSpPr>
          <a:xfrm flipH="1">
            <a:off x="6773574" y="1840992"/>
            <a:ext cx="565531" cy="2379651"/>
            <a:chOff x="5587734" y="1792047"/>
            <a:chExt cx="1191284" cy="1125794"/>
          </a:xfrm>
        </p:grpSpPr>
        <p:cxnSp>
          <p:nvCxnSpPr>
            <p:cNvPr id="16" name="15 Conector recto de flecha"/>
            <p:cNvCxnSpPr/>
            <p:nvPr/>
          </p:nvCxnSpPr>
          <p:spPr>
            <a:xfrm>
              <a:off x="6761714" y="1792047"/>
              <a:ext cx="0" cy="1125020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7" name="16 Conector recto de flecha"/>
            <p:cNvCxnSpPr/>
            <p:nvPr/>
          </p:nvCxnSpPr>
          <p:spPr>
            <a:xfrm flipH="1">
              <a:off x="5587734" y="2917841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8" name="17 Rectángulo redondeado"/>
          <p:cNvSpPr/>
          <p:nvPr/>
        </p:nvSpPr>
        <p:spPr>
          <a:xfrm>
            <a:off x="7363490" y="4058643"/>
            <a:ext cx="927070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18 Rectángulo"/>
          <p:cNvSpPr/>
          <p:nvPr/>
        </p:nvSpPr>
        <p:spPr>
          <a:xfrm>
            <a:off x="7926456" y="2159127"/>
            <a:ext cx="571500" cy="26105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78659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770" y="2130062"/>
            <a:ext cx="8609946" cy="426085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/>
              <a:t>Escogencia de Horarios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222123" y="1312540"/>
            <a:ext cx="35939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/>
              <a:t>Se debe presionar sobre cada asignatura para realizar la selección del horario</a:t>
            </a:r>
          </a:p>
        </p:txBody>
      </p:sp>
      <p:sp>
        <p:nvSpPr>
          <p:cNvPr id="4" name="3 Rectángulo redondeado"/>
          <p:cNvSpPr/>
          <p:nvPr/>
        </p:nvSpPr>
        <p:spPr>
          <a:xfrm>
            <a:off x="2622293" y="3041142"/>
            <a:ext cx="5995974" cy="2615946"/>
          </a:xfrm>
          <a:prstGeom prst="roundRect">
            <a:avLst>
              <a:gd name="adj" fmla="val 5015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CuadroTexto 2"/>
          <p:cNvSpPr txBox="1"/>
          <p:nvPr/>
        </p:nvSpPr>
        <p:spPr>
          <a:xfrm>
            <a:off x="5169408" y="1312539"/>
            <a:ext cx="34630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/>
              <a:t>Calendario para la visualización del horario escogido</a:t>
            </a:r>
          </a:p>
        </p:txBody>
      </p:sp>
      <p:cxnSp>
        <p:nvCxnSpPr>
          <p:cNvPr id="23" name="22 Conector recto de flecha"/>
          <p:cNvCxnSpPr/>
          <p:nvPr/>
        </p:nvCxnSpPr>
        <p:spPr>
          <a:xfrm flipH="1">
            <a:off x="1493344" y="1897313"/>
            <a:ext cx="0" cy="1098000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" name="14 Conector recto de flecha"/>
          <p:cNvCxnSpPr/>
          <p:nvPr/>
        </p:nvCxnSpPr>
        <p:spPr>
          <a:xfrm flipH="1">
            <a:off x="6876112" y="1897313"/>
            <a:ext cx="0" cy="1098000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8" name="17 Rectángulo redondeado"/>
          <p:cNvSpPr/>
          <p:nvPr/>
        </p:nvSpPr>
        <p:spPr>
          <a:xfrm>
            <a:off x="482972" y="3041142"/>
            <a:ext cx="2022103" cy="2615946"/>
          </a:xfrm>
          <a:prstGeom prst="roundRect">
            <a:avLst>
              <a:gd name="adj" fmla="val 5015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9 Rectángulo"/>
          <p:cNvSpPr/>
          <p:nvPr/>
        </p:nvSpPr>
        <p:spPr>
          <a:xfrm>
            <a:off x="7926456" y="2159127"/>
            <a:ext cx="571500" cy="26105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108068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770" y="2130062"/>
            <a:ext cx="8609946" cy="426085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/>
              <a:t>Escogencia de Horarios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39243" y="1312540"/>
            <a:ext cx="29356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/>
              <a:t>1. Seleccionar la asignatura deseada para escoger el horario</a:t>
            </a:r>
          </a:p>
        </p:txBody>
      </p:sp>
      <p:sp>
        <p:nvSpPr>
          <p:cNvPr id="19" name="CuadroTexto 2"/>
          <p:cNvSpPr txBox="1"/>
          <p:nvPr/>
        </p:nvSpPr>
        <p:spPr>
          <a:xfrm>
            <a:off x="2865120" y="1320093"/>
            <a:ext cx="31943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/>
              <a:t>2. Ubicar el horario y grupo deseado y presionar el botón «Escoger»</a:t>
            </a:r>
          </a:p>
        </p:txBody>
      </p:sp>
      <p:cxnSp>
        <p:nvCxnSpPr>
          <p:cNvPr id="23" name="22 Conector recto de flecha"/>
          <p:cNvCxnSpPr/>
          <p:nvPr/>
        </p:nvCxnSpPr>
        <p:spPr>
          <a:xfrm>
            <a:off x="1493344" y="1897313"/>
            <a:ext cx="0" cy="180376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8" name="17 Rectángulo redondeado"/>
          <p:cNvSpPr/>
          <p:nvPr/>
        </p:nvSpPr>
        <p:spPr>
          <a:xfrm>
            <a:off x="633983" y="3701074"/>
            <a:ext cx="1731265" cy="346669"/>
          </a:xfrm>
          <a:prstGeom prst="roundRect">
            <a:avLst>
              <a:gd name="adj" fmla="val 5015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71" t="5266" r="5304" b="5930"/>
          <a:stretch/>
        </p:blipFill>
        <p:spPr bwMode="auto">
          <a:xfrm>
            <a:off x="3011028" y="2245719"/>
            <a:ext cx="5889688" cy="2910710"/>
          </a:xfrm>
          <a:prstGeom prst="rect">
            <a:avLst/>
          </a:prstGeom>
          <a:ln w="28575">
            <a:solidFill>
              <a:srgbClr val="F9A713"/>
            </a:solidFill>
            <a:miter lim="800000"/>
            <a:headEnd/>
            <a:tailEnd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13" name="12 Rectángulo redondeado"/>
          <p:cNvSpPr/>
          <p:nvPr/>
        </p:nvSpPr>
        <p:spPr>
          <a:xfrm>
            <a:off x="3108960" y="2926080"/>
            <a:ext cx="877824" cy="292608"/>
          </a:xfrm>
          <a:prstGeom prst="roundRect">
            <a:avLst>
              <a:gd name="adj" fmla="val 5015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CuadroTexto 2"/>
          <p:cNvSpPr txBox="1"/>
          <p:nvPr/>
        </p:nvSpPr>
        <p:spPr>
          <a:xfrm>
            <a:off x="6071617" y="1320093"/>
            <a:ext cx="30601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/>
              <a:t>3. Para finalizar el horario presione el botón «Finalizar»</a:t>
            </a:r>
          </a:p>
        </p:txBody>
      </p:sp>
      <p:cxnSp>
        <p:nvCxnSpPr>
          <p:cNvPr id="16" name="15 Conector recto de flecha"/>
          <p:cNvCxnSpPr/>
          <p:nvPr/>
        </p:nvCxnSpPr>
        <p:spPr>
          <a:xfrm>
            <a:off x="3547872" y="1904868"/>
            <a:ext cx="0" cy="974703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grpSp>
        <p:nvGrpSpPr>
          <p:cNvPr id="20" name="19 Grupo"/>
          <p:cNvGrpSpPr/>
          <p:nvPr/>
        </p:nvGrpSpPr>
        <p:grpSpPr>
          <a:xfrm>
            <a:off x="6437376" y="1904868"/>
            <a:ext cx="1164336" cy="4138475"/>
            <a:chOff x="5729176" y="1775902"/>
            <a:chExt cx="1191284" cy="1140874"/>
          </a:xfrm>
        </p:grpSpPr>
        <p:cxnSp>
          <p:nvCxnSpPr>
            <p:cNvPr id="21" name="20 Conector recto de flecha"/>
            <p:cNvCxnSpPr/>
            <p:nvPr/>
          </p:nvCxnSpPr>
          <p:spPr>
            <a:xfrm>
              <a:off x="6903156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2" name="21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24" name="23 Rectángulo redondeado"/>
          <p:cNvSpPr/>
          <p:nvPr/>
        </p:nvSpPr>
        <p:spPr>
          <a:xfrm>
            <a:off x="5693665" y="5860463"/>
            <a:ext cx="707135" cy="292608"/>
          </a:xfrm>
          <a:prstGeom prst="roundRect">
            <a:avLst>
              <a:gd name="adj" fmla="val 5015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410090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7C63067-C4DD-4A40-8995-A850A516A18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594F718-317C-428A-9A30-9188A19DECEA}">
  <ds:schemaRefs>
    <ds:schemaRef ds:uri="http://schemas.microsoft.com/office/2006/metadata/properties"/>
    <ds:schemaRef ds:uri="http://schemas.microsoft.com/office/infopath/2007/PartnerControls"/>
    <ds:schemaRef ds:uri="d5c1a6a5-0428-459c-81cd-cf402d4ff623"/>
    <ds:schemaRef ds:uri="4b5fc4ab-1594-4dd7-8d7e-2e0a7577b23f"/>
  </ds:schemaRefs>
</ds:datastoreItem>
</file>

<file path=customXml/itemProps3.xml><?xml version="1.0" encoding="utf-8"?>
<ds:datastoreItem xmlns:ds="http://schemas.openxmlformats.org/officeDocument/2006/customXml" ds:itemID="{314419F2-B199-4034-9828-B51E91D87BD7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Presentación en pantalla (4:3)</PresentationFormat>
  <Slides>13</Slides>
  <Notes>0</Notes>
  <HiddenSlides>0</HiddenSlide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diapositiva</vt:lpstr>
      </vt:variant>
      <vt:variant>
        <vt:i4>13</vt:i4>
      </vt:variant>
    </vt:vector>
  </HeadingPairs>
  <TitlesOfParts>
    <vt:vector size="15" baseType="lpstr">
      <vt:lpstr>Tema de Office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S3-COMORG-JOAQUIN</dc:creator>
  <cp:revision>2</cp:revision>
  <dcterms:created xsi:type="dcterms:W3CDTF">2017-01-26T20:10:20Z</dcterms:created>
  <dcterms:modified xsi:type="dcterms:W3CDTF">2023-12-11T14:24:39Z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  <property fmtid="{D5CDD505-2E9C-101B-9397-08002B2CF9AE}" pid="3" name="MSIP_Label_f535a957-b352-4c2d-aa57-80f72177303d_Enabled">
    <vt:lpwstr>true</vt:lpwstr>
  </property>
  <property fmtid="{D5CDD505-2E9C-101B-9397-08002B2CF9AE}" pid="4" name="MSIP_Label_f535a957-b352-4c2d-aa57-80f72177303d_SetDate">
    <vt:lpwstr>2023-12-11T14:24:39Z</vt:lpwstr>
  </property>
  <property fmtid="{D5CDD505-2E9C-101B-9397-08002B2CF9AE}" pid="5" name="MSIP_Label_f535a957-b352-4c2d-aa57-80f72177303d_Method">
    <vt:lpwstr>Standard</vt:lpwstr>
  </property>
  <property fmtid="{D5CDD505-2E9C-101B-9397-08002B2CF9AE}" pid="6" name="MSIP_Label_f535a957-b352-4c2d-aa57-80f72177303d_Name">
    <vt:lpwstr>defa4170-0d19-0005-0004-bc88714345d2</vt:lpwstr>
  </property>
  <property fmtid="{D5CDD505-2E9C-101B-9397-08002B2CF9AE}" pid="7" name="MSIP_Label_f535a957-b352-4c2d-aa57-80f72177303d_SiteId">
    <vt:lpwstr>34303541-74ec-4d4a-8c5a-8049d2fd6ce6</vt:lpwstr>
  </property>
  <property fmtid="{D5CDD505-2E9C-101B-9397-08002B2CF9AE}" pid="8" name="MSIP_Label_f535a957-b352-4c2d-aa57-80f72177303d_ActionId">
    <vt:lpwstr>aa99b034-36c9-4b70-a262-d1d3a714960c</vt:lpwstr>
  </property>
  <property fmtid="{D5CDD505-2E9C-101B-9397-08002B2CF9AE}" pid="9" name="MSIP_Label_f535a957-b352-4c2d-aa57-80f72177303d_ContentBits">
    <vt:lpwstr>0</vt:lpwstr>
  </property>
  <property fmtid="{D5CDD505-2E9C-101B-9397-08002B2CF9AE}" pid="10" name="MediaServiceImageTags">
    <vt:lpwstr/>
  </property>
</Properties>
</file>