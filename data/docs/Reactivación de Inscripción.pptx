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5" r:id="rId5"/>
    <p:sldId id="276" r:id="rId6"/>
    <p:sldId id="263" r:id="rId7"/>
    <p:sldId id="264" r:id="rId8"/>
    <p:sldId id="265" r:id="rId9"/>
    <p:sldId id="266" r:id="rId10"/>
    <p:sldId id="267" r:id="rId11"/>
    <p:sldId id="268" r:id="rId12"/>
    <p:sldId id="277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22/04/2021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Gestión de Ingreso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Reactivación de inscripciones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8CADBB-305C-4A2D-8B8F-A998ECDCD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2958"/>
            <a:ext cx="9144000" cy="4443587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seleccione en el menú principal la opción «Admisiones pregrados»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174186" y="3558980"/>
            <a:ext cx="1273739" cy="24149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CED4A77D-6662-4541-8794-2AE1A396B07C}"/>
              </a:ext>
            </a:extLst>
          </p:cNvPr>
          <p:cNvGrpSpPr/>
          <p:nvPr/>
        </p:nvGrpSpPr>
        <p:grpSpPr>
          <a:xfrm>
            <a:off x="2610679" y="1802296"/>
            <a:ext cx="1961321" cy="1895061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DA0F23E0-C0FA-4130-A21A-EB31E6E8683E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7E9E5967-AA53-4D65-8AA0-391642D42CFD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ECFDEB5-1AD1-4185-B34D-C1509BE7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140"/>
            <a:ext cx="9144000" cy="4354513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Luego deberá seleccionar el botón «Inscríbete Ahora»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08236" y="4736710"/>
            <a:ext cx="1772214" cy="55919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>
            <a:extLst>
              <a:ext uri="{FF2B5EF4-FFF2-40B4-BE49-F238E27FC236}">
                <a16:creationId xmlns:a16="http://schemas.microsoft.com/office/drawing/2014/main" id="{44F2D2EC-E069-4F76-8740-5AFB459C30D4}"/>
              </a:ext>
            </a:extLst>
          </p:cNvPr>
          <p:cNvGrpSpPr/>
          <p:nvPr/>
        </p:nvGrpSpPr>
        <p:grpSpPr>
          <a:xfrm flipH="1">
            <a:off x="4571999" y="1550504"/>
            <a:ext cx="2067339" cy="3556486"/>
            <a:chOff x="5729176" y="1766332"/>
            <a:chExt cx="1191284" cy="1140874"/>
          </a:xfrm>
        </p:grpSpPr>
        <p:cxnSp>
          <p:nvCxnSpPr>
            <p:cNvPr id="8" name="7 Conector recto de flecha">
              <a:extLst>
                <a:ext uri="{FF2B5EF4-FFF2-40B4-BE49-F238E27FC236}">
                  <a16:creationId xmlns:a16="http://schemas.microsoft.com/office/drawing/2014/main" id="{24157832-DA4C-45F8-9BFF-BAFD92BA5428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>
              <a:extLst>
                <a:ext uri="{FF2B5EF4-FFF2-40B4-BE49-F238E27FC236}">
                  <a16:creationId xmlns:a16="http://schemas.microsoft.com/office/drawing/2014/main" id="{2FB2E1F9-01FF-433C-BBB9-FCFB396C8003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780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E77C80-3D80-4FC9-A126-98F4C0CB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8273"/>
            <a:ext cx="9144000" cy="437780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Seleccionar la sede «Barranquilla»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500647" y="3669910"/>
            <a:ext cx="1772214" cy="55919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9B5A2E0E-8FD4-4C98-A06B-E70F2E3F0AD6}"/>
              </a:ext>
            </a:extLst>
          </p:cNvPr>
          <p:cNvGrpSpPr/>
          <p:nvPr/>
        </p:nvGrpSpPr>
        <p:grpSpPr>
          <a:xfrm>
            <a:off x="4312617" y="1504790"/>
            <a:ext cx="418409" cy="2470862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8FFA9D56-B7D9-45A5-A101-7C9C6FE7529D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92DADF2C-121F-428F-8781-040132E212A4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304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computadora&#10;&#10;Descripción generada automáticamente con confianza media">
            <a:extLst>
              <a:ext uri="{FF2B5EF4-FFF2-40B4-BE49-F238E27FC236}">
                <a16:creationId xmlns:a16="http://schemas.microsoft.com/office/drawing/2014/main" id="{5B4B413E-D48E-4F4A-925D-742FE0389694}"/>
              </a:ext>
            </a:extLst>
          </p:cNvPr>
          <p:cNvPicPr/>
          <p:nvPr/>
        </p:nvPicPr>
        <p:blipFill rotWithShape="1">
          <a:blip r:embed="rId2"/>
          <a:srcRect l="1836" t="9753" r="1399" b="2394"/>
          <a:stretch/>
        </p:blipFill>
        <p:spPr>
          <a:xfrm>
            <a:off x="106019" y="1981311"/>
            <a:ext cx="8945217" cy="460502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DAB09D5-ED47-4DCC-821E-5012043CAE86}"/>
              </a:ext>
            </a:extLst>
          </p:cNvPr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Para ingresar a la plataforma, digite su numero de identificación y fecha de expedición. Y presione el botón “Continuar”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E54F7AB4-1068-452E-92A2-E66A258C9FA1}"/>
              </a:ext>
            </a:extLst>
          </p:cNvPr>
          <p:cNvSpPr/>
          <p:nvPr/>
        </p:nvSpPr>
        <p:spPr>
          <a:xfrm>
            <a:off x="3229516" y="4478292"/>
            <a:ext cx="2601421" cy="849081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67541FC2-7B6A-41CD-9302-151CF4B4A673}"/>
              </a:ext>
            </a:extLst>
          </p:cNvPr>
          <p:cNvGrpSpPr/>
          <p:nvPr/>
        </p:nvGrpSpPr>
        <p:grpSpPr>
          <a:xfrm>
            <a:off x="5929383" y="1590261"/>
            <a:ext cx="683452" cy="3339075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EE950A39-FEEF-4CDC-9270-BEA62C2908E2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3BBE4513-16A5-4665-80D8-3CD792D8E379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968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3BF9148-92C7-4970-B66A-443D9F1CEC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3" t="14460" r="1305" b="5946"/>
          <a:stretch/>
        </p:blipFill>
        <p:spPr>
          <a:xfrm>
            <a:off x="0" y="2259621"/>
            <a:ext cx="9166990" cy="419582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A11BEFA-A211-4DBF-BA11-72ABEDFF8632}"/>
              </a:ext>
            </a:extLst>
          </p:cNvPr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Seleccione el tipo de inscripción que desea reactivar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3D1933FB-1E0D-473F-8040-49430ACD875C}"/>
              </a:ext>
            </a:extLst>
          </p:cNvPr>
          <p:cNvSpPr/>
          <p:nvPr/>
        </p:nvSpPr>
        <p:spPr>
          <a:xfrm>
            <a:off x="610387" y="3256494"/>
            <a:ext cx="2058033" cy="2892516"/>
          </a:xfrm>
          <a:prstGeom prst="roundRect">
            <a:avLst>
              <a:gd name="adj" fmla="val 700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EBE2D7D9-8F70-40D0-B744-5F619C55546E}"/>
              </a:ext>
            </a:extLst>
          </p:cNvPr>
          <p:cNvGrpSpPr/>
          <p:nvPr/>
        </p:nvGrpSpPr>
        <p:grpSpPr>
          <a:xfrm>
            <a:off x="2672995" y="1504790"/>
            <a:ext cx="2058032" cy="3372010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00CCDEA2-EA36-48BF-BE84-F86231B88860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CF0B395C-5F12-4145-9CBD-9C2C881100DE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611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08CE4EF-03B0-48CF-8BCA-D7BAAEF826A3}"/>
              </a:ext>
            </a:extLst>
          </p:cNvPr>
          <p:cNvPicPr/>
          <p:nvPr/>
        </p:nvPicPr>
        <p:blipFill rotWithShape="1">
          <a:blip r:embed="rId2"/>
          <a:srcRect l="1488" t="10126" r="558" b="-1"/>
          <a:stretch/>
        </p:blipFill>
        <p:spPr>
          <a:xfrm>
            <a:off x="46382" y="1845534"/>
            <a:ext cx="9051235" cy="48010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98AB33D-4743-4890-A357-FDB173CDC3D2}"/>
              </a:ext>
            </a:extLst>
          </p:cNvPr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Posteriormente, seleccione el programa de su preferencia</a:t>
            </a:r>
            <a:endParaRPr lang="es-CO" sz="1600" dirty="0"/>
          </a:p>
        </p:txBody>
      </p:sp>
      <p:sp>
        <p:nvSpPr>
          <p:cNvPr id="6" name="14 Rectángulo redondeado">
            <a:extLst>
              <a:ext uri="{FF2B5EF4-FFF2-40B4-BE49-F238E27FC236}">
                <a16:creationId xmlns:a16="http://schemas.microsoft.com/office/drawing/2014/main" id="{90B934FB-7AF9-474F-9456-483B5EEEDE2E}"/>
              </a:ext>
            </a:extLst>
          </p:cNvPr>
          <p:cNvSpPr/>
          <p:nvPr/>
        </p:nvSpPr>
        <p:spPr>
          <a:xfrm>
            <a:off x="2958811" y="3280004"/>
            <a:ext cx="5204527" cy="2829248"/>
          </a:xfrm>
          <a:prstGeom prst="roundRect">
            <a:avLst>
              <a:gd name="adj" fmla="val 1057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C7E7688-E1E6-4BD1-9EAD-11B41EC9D8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16" t="43996" r="74133" b="10000"/>
          <a:stretch/>
        </p:blipFill>
        <p:spPr>
          <a:xfrm>
            <a:off x="675861" y="3429000"/>
            <a:ext cx="1656522" cy="2425148"/>
          </a:xfrm>
          <a:prstGeom prst="rect">
            <a:avLst/>
          </a:prstGeom>
        </p:spPr>
      </p:pic>
      <p:grpSp>
        <p:nvGrpSpPr>
          <p:cNvPr id="7" name="6 Grupo">
            <a:extLst>
              <a:ext uri="{FF2B5EF4-FFF2-40B4-BE49-F238E27FC236}">
                <a16:creationId xmlns:a16="http://schemas.microsoft.com/office/drawing/2014/main" id="{1BBDEB52-6624-4C86-8735-78CF25574890}"/>
              </a:ext>
            </a:extLst>
          </p:cNvPr>
          <p:cNvGrpSpPr/>
          <p:nvPr/>
        </p:nvGrpSpPr>
        <p:grpSpPr>
          <a:xfrm flipH="1">
            <a:off x="2233736" y="1504789"/>
            <a:ext cx="725075" cy="3292497"/>
            <a:chOff x="5729176" y="1766332"/>
            <a:chExt cx="1191284" cy="1140874"/>
          </a:xfrm>
        </p:grpSpPr>
        <p:cxnSp>
          <p:nvCxnSpPr>
            <p:cNvPr id="8" name="7 Conector recto de flecha">
              <a:extLst>
                <a:ext uri="{FF2B5EF4-FFF2-40B4-BE49-F238E27FC236}">
                  <a16:creationId xmlns:a16="http://schemas.microsoft.com/office/drawing/2014/main" id="{1C61546E-8A6E-423C-BDC8-3B3AA7B6DBA6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>
              <a:extLst>
                <a:ext uri="{FF2B5EF4-FFF2-40B4-BE49-F238E27FC236}">
                  <a16:creationId xmlns:a16="http://schemas.microsoft.com/office/drawing/2014/main" id="{13E1951C-201B-4730-9283-543E809783B9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045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501F598-1A62-4300-963A-0F9B434BEF78}"/>
              </a:ext>
            </a:extLst>
          </p:cNvPr>
          <p:cNvPicPr/>
          <p:nvPr/>
        </p:nvPicPr>
        <p:blipFill rotWithShape="1">
          <a:blip r:embed="rId2"/>
          <a:srcRect l="561" t="10225" r="967" b="541"/>
          <a:stretch/>
        </p:blipFill>
        <p:spPr>
          <a:xfrm>
            <a:off x="0" y="2126201"/>
            <a:ext cx="9148623" cy="467879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3082A72-4BF2-4F5E-8095-000C913E784C}"/>
              </a:ext>
            </a:extLst>
          </p:cNvPr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Si posee una inscripción previa, se solicitará confirmación para iniciar con el proceso de reactivación, en este caso, presione “Si”.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443E6EBE-7C17-4D7A-9B4B-1B0D975C9E25}"/>
              </a:ext>
            </a:extLst>
          </p:cNvPr>
          <p:cNvSpPr/>
          <p:nvPr/>
        </p:nvSpPr>
        <p:spPr>
          <a:xfrm>
            <a:off x="2957881" y="2126200"/>
            <a:ext cx="3283853" cy="1462327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D6F1B39F-FCD7-4FDD-9965-353DEA03B958}"/>
              </a:ext>
            </a:extLst>
          </p:cNvPr>
          <p:cNvGrpSpPr/>
          <p:nvPr/>
        </p:nvGrpSpPr>
        <p:grpSpPr>
          <a:xfrm>
            <a:off x="6300444" y="1485127"/>
            <a:ext cx="418409" cy="1462327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7B18858E-FB0F-455E-8852-6A33A7B85C1D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4F4B1C71-1BD0-4CAB-A83E-4CF402506AD1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947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EC6DBD6-0B12-4408-ACCE-A7F9FC86F79E}"/>
              </a:ext>
            </a:extLst>
          </p:cNvPr>
          <p:cNvPicPr/>
          <p:nvPr/>
        </p:nvPicPr>
        <p:blipFill rotWithShape="1">
          <a:blip r:embed="rId2"/>
          <a:srcRect l="1420" t="10457"/>
          <a:stretch/>
        </p:blipFill>
        <p:spPr>
          <a:xfrm>
            <a:off x="0" y="2073296"/>
            <a:ext cx="9086311" cy="47847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02040C-703A-4B52-A8F7-BB0AD255A518}"/>
              </a:ext>
            </a:extLst>
          </p:cNvPr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A continuación, seleccione los documentos que desea reutilizar de su inscripción anterior, para avanzar en el proceso presione el botón “Continuar”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A04BDC96-55F0-4F05-94D4-69C718522161}"/>
              </a:ext>
            </a:extLst>
          </p:cNvPr>
          <p:cNvSpPr/>
          <p:nvPr/>
        </p:nvSpPr>
        <p:spPr>
          <a:xfrm>
            <a:off x="1095917" y="3044460"/>
            <a:ext cx="6736118" cy="1328758"/>
          </a:xfrm>
          <a:prstGeom prst="roundRect">
            <a:avLst>
              <a:gd name="adj" fmla="val 1267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6 Grupo">
            <a:extLst>
              <a:ext uri="{FF2B5EF4-FFF2-40B4-BE49-F238E27FC236}">
                <a16:creationId xmlns:a16="http://schemas.microsoft.com/office/drawing/2014/main" id="{285901F7-7F47-43EB-8CDA-00845D70F707}"/>
              </a:ext>
            </a:extLst>
          </p:cNvPr>
          <p:cNvGrpSpPr/>
          <p:nvPr/>
        </p:nvGrpSpPr>
        <p:grpSpPr>
          <a:xfrm>
            <a:off x="7838878" y="1616765"/>
            <a:ext cx="418409" cy="2092074"/>
            <a:chOff x="5729176" y="1766332"/>
            <a:chExt cx="1191284" cy="1140874"/>
          </a:xfrm>
        </p:grpSpPr>
        <p:cxnSp>
          <p:nvCxnSpPr>
            <p:cNvPr id="7" name="7 Conector recto de flecha">
              <a:extLst>
                <a:ext uri="{FF2B5EF4-FFF2-40B4-BE49-F238E27FC236}">
                  <a16:creationId xmlns:a16="http://schemas.microsoft.com/office/drawing/2014/main" id="{666A00BB-4D90-49A7-AC39-EB1BB63B3625}"/>
                </a:ext>
              </a:extLst>
            </p:cNvPr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61472CCF-534E-4CA1-A908-C5F022447713}"/>
                </a:ext>
              </a:extLst>
            </p:cNvPr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779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4236019-1F7B-404C-88CD-D7C3D76AA8AB}"/>
              </a:ext>
            </a:extLst>
          </p:cNvPr>
          <p:cNvPicPr/>
          <p:nvPr/>
        </p:nvPicPr>
        <p:blipFill rotWithShape="1">
          <a:blip r:embed="rId2"/>
          <a:srcRect l="1003" t="10806" r="1146" b="2007"/>
          <a:stretch/>
        </p:blipFill>
        <p:spPr>
          <a:xfrm>
            <a:off x="26505" y="2379388"/>
            <a:ext cx="9051235" cy="433346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DE0801-7914-42DB-90C2-32F30E10D769}"/>
              </a:ext>
            </a:extLst>
          </p:cNvPr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Posteriormente para finalizar el proceso de reactivación de su inscripción anterior, se mostrará el formulario de Hoja de vida, en el cual deberá completar todos los campos solicitados.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D063D795-D1FB-4AB1-A522-3EFFF5D00978}"/>
              </a:ext>
            </a:extLst>
          </p:cNvPr>
          <p:cNvSpPr/>
          <p:nvPr/>
        </p:nvSpPr>
        <p:spPr>
          <a:xfrm>
            <a:off x="66260" y="3272343"/>
            <a:ext cx="8918714" cy="3340491"/>
          </a:xfrm>
          <a:prstGeom prst="roundRect">
            <a:avLst>
              <a:gd name="adj" fmla="val 674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770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2AE9F7A3-1C56-4FBD-9082-0BEF90818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27" b="8396"/>
          <a:stretch/>
        </p:blipFill>
        <p:spPr>
          <a:xfrm>
            <a:off x="0" y="2597425"/>
            <a:ext cx="9144000" cy="40154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DE0801-7914-42DB-90C2-32F30E10D769}"/>
              </a:ext>
            </a:extLst>
          </p:cNvPr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Calibri" pitchFamily="34" charset="0"/>
              </a:rPr>
              <a:t>Al finalizar el proceso de reactivación, se mostrará un mensaje indicando la confirmación del proceso</a:t>
            </a:r>
            <a:endParaRPr lang="es-CO" sz="1600" dirty="0"/>
          </a:p>
        </p:txBody>
      </p:sp>
      <p:sp>
        <p:nvSpPr>
          <p:cNvPr id="5" name="14 Rectángulo redondeado">
            <a:extLst>
              <a:ext uri="{FF2B5EF4-FFF2-40B4-BE49-F238E27FC236}">
                <a16:creationId xmlns:a16="http://schemas.microsoft.com/office/drawing/2014/main" id="{D063D795-D1FB-4AB1-A522-3EFFF5D00978}"/>
              </a:ext>
            </a:extLst>
          </p:cNvPr>
          <p:cNvSpPr/>
          <p:nvPr/>
        </p:nvSpPr>
        <p:spPr>
          <a:xfrm>
            <a:off x="2690190" y="2609733"/>
            <a:ext cx="3525080" cy="584041"/>
          </a:xfrm>
          <a:prstGeom prst="roundRect">
            <a:avLst>
              <a:gd name="adj" fmla="val 674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43822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EE424C6-C87A-4C81-AA09-049FC10EB0D1}"/>
</file>

<file path=customXml/itemProps2.xml><?xml version="1.0" encoding="utf-8"?>
<ds:datastoreItem xmlns:ds="http://schemas.openxmlformats.org/officeDocument/2006/customXml" ds:itemID="{16745BC8-F445-4EEE-A5A2-A2E606D19A17}"/>
</file>

<file path=customXml/itemProps3.xml><?xml version="1.0" encoding="utf-8"?>
<ds:datastoreItem xmlns:ds="http://schemas.openxmlformats.org/officeDocument/2006/customXml" ds:itemID="{6B65FB9D-F5C7-4800-96FC-D21D9E347C8E}"/>
</file>

<file path=docProps/app.xml><?xml version="1.0" encoding="utf-8"?>
<Properties xmlns="http://schemas.openxmlformats.org/officeDocument/2006/extended-properties" xmlns:vt="http://schemas.openxmlformats.org/officeDocument/2006/docPropsVTypes">
  <TotalTime>6232</TotalTime>
  <Words>194</Words>
  <Application>Microsoft Office PowerPoint</Application>
  <PresentationFormat>Presentación en pantalla (4:3)</PresentationFormat>
  <Paragraphs>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210</cp:revision>
  <dcterms:created xsi:type="dcterms:W3CDTF">2018-01-24T15:16:31Z</dcterms:created>
  <dcterms:modified xsi:type="dcterms:W3CDTF">2021-04-22T19:33:20Z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