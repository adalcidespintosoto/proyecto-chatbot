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sldIdLst>
    <p:sldId id="266" r:id="rId6"/>
    <p:sldId id="267" r:id="rId7"/>
    <p:sldId id="268" r:id="rId8"/>
    <p:sldId id="257" r:id="rId9"/>
    <p:sldId id="259" r:id="rId10"/>
    <p:sldId id="271" r:id="rId11"/>
    <p:sldId id="272" r:id="rId12"/>
    <p:sldId id="273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DAA600"/>
    <a:srgbClr val="36A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8636" autoAdjust="0"/>
  </p:normalViewPr>
  <p:slideViewPr>
    <p:cSldViewPr snapToGrid="0" snapToObjects="1"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97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617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516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96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798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58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51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134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82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275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0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31/10/2022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31/10/2022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ES_tradnl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ACADÉMICO </a:t>
            </a:r>
          </a:p>
          <a:p>
            <a:pPr algn="ctr"/>
            <a:endParaRPr lang="es-CO" sz="2800" b="1" dirty="0">
              <a:solidFill>
                <a:prstClr val="black">
                  <a:lumMod val="85000"/>
                  <a:lumOff val="15000"/>
                </a:prst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PAGOS EN LÍNEA</a:t>
            </a:r>
          </a:p>
        </p:txBody>
      </p:sp>
    </p:spTree>
    <p:extLst>
      <p:ext uri="{BB962C8B-B14F-4D97-AF65-F5344CB8AC3E}">
        <p14:creationId xmlns:p14="http://schemas.microsoft.com/office/powerpoint/2010/main" val="43546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3748" y="2003836"/>
            <a:ext cx="8319430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>
                <a:solidFill>
                  <a:prstClr val="black"/>
                </a:solidFill>
              </a:rPr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prstClr val="black"/>
                </a:solidFill>
              </a:rPr>
              <a:t>Ingrese desde su navegador al sitio web de la Universidad: </a:t>
            </a:r>
            <a:r>
              <a:rPr lang="es-CO" sz="1600" dirty="0">
                <a:solidFill>
                  <a:prstClr val="black"/>
                </a:solidFill>
                <a:hlinkClick r:id="rId3"/>
              </a:rPr>
              <a:t>http://www.unisimon.edu.co/</a:t>
            </a:r>
            <a:r>
              <a:rPr lang="es-CO" sz="1600" dirty="0">
                <a:solidFill>
                  <a:prstClr val="black"/>
                </a:solidFill>
              </a:rPr>
              <a:t>, </a:t>
            </a:r>
            <a:r>
              <a:rPr lang="es-MX" sz="1600" dirty="0">
                <a:solidFill>
                  <a:prstClr val="black"/>
                </a:solidFill>
              </a:rPr>
              <a:t>diríjase a «Aspirantes» y seleccione la opción «Pagos en Línea»</a:t>
            </a:r>
            <a:endParaRPr lang="es-CO" sz="1600" dirty="0">
              <a:solidFill>
                <a:prstClr val="black"/>
              </a:solidFill>
            </a:endParaRPr>
          </a:p>
          <a:p>
            <a:pPr algn="ctr"/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136945" y="2709946"/>
            <a:ext cx="61942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17" name="16 Grupo"/>
          <p:cNvGrpSpPr/>
          <p:nvPr/>
        </p:nvGrpSpPr>
        <p:grpSpPr>
          <a:xfrm>
            <a:off x="1828799" y="1731372"/>
            <a:ext cx="2649883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14 Rectángulo redondeado">
            <a:extLst>
              <a:ext uri="{FF2B5EF4-FFF2-40B4-BE49-F238E27FC236}">
                <a16:creationId xmlns:a16="http://schemas.microsoft.com/office/drawing/2014/main" id="{9D184D9D-7091-9602-7A3C-76291AE61527}"/>
              </a:ext>
            </a:extLst>
          </p:cNvPr>
          <p:cNvSpPr/>
          <p:nvPr/>
        </p:nvSpPr>
        <p:spPr>
          <a:xfrm>
            <a:off x="1207863" y="5252460"/>
            <a:ext cx="1001183" cy="233939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5" name="16 Grupo">
            <a:extLst>
              <a:ext uri="{FF2B5EF4-FFF2-40B4-BE49-F238E27FC236}">
                <a16:creationId xmlns:a16="http://schemas.microsoft.com/office/drawing/2014/main" id="{ECA0C486-08D6-6982-83BF-C3C2E1F72F59}"/>
              </a:ext>
            </a:extLst>
          </p:cNvPr>
          <p:cNvGrpSpPr/>
          <p:nvPr/>
        </p:nvGrpSpPr>
        <p:grpSpPr>
          <a:xfrm>
            <a:off x="1439678" y="3068511"/>
            <a:ext cx="5892" cy="2183949"/>
            <a:chOff x="6917811" y="1775902"/>
            <a:chExt cx="2649" cy="2318444"/>
          </a:xfrm>
        </p:grpSpPr>
        <p:cxnSp>
          <p:nvCxnSpPr>
            <p:cNvPr id="6" name="17 Conector recto de flecha">
              <a:extLst>
                <a:ext uri="{FF2B5EF4-FFF2-40B4-BE49-F238E27FC236}">
                  <a16:creationId xmlns:a16="http://schemas.microsoft.com/office/drawing/2014/main" id="{E3546F75-E02D-BC3F-30BC-67A35285445F}"/>
                </a:ext>
              </a:extLst>
            </p:cNvPr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19 Conector recto de flecha">
              <a:extLst>
                <a:ext uri="{FF2B5EF4-FFF2-40B4-BE49-F238E27FC236}">
                  <a16:creationId xmlns:a16="http://schemas.microsoft.com/office/drawing/2014/main" id="{8DE1705A-C05B-7722-BB18-CAB316C4F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7811" y="2901696"/>
              <a:ext cx="2649" cy="119265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572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99717" y="1839146"/>
            <a:ext cx="8302823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prstClr val="black"/>
                </a:solidFill>
              </a:rPr>
              <a:t>Digite el número de referencia del volante y su código, posteriormente presione el botón «Confirmar»</a:t>
            </a:r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3306744" y="4450140"/>
            <a:ext cx="2524273" cy="117583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cxnSp>
        <p:nvCxnSpPr>
          <p:cNvPr id="8" name="7 Conector recto de flecha"/>
          <p:cNvCxnSpPr>
            <a:cxnSpLocks/>
          </p:cNvCxnSpPr>
          <p:nvPr/>
        </p:nvCxnSpPr>
        <p:spPr>
          <a:xfrm>
            <a:off x="4572000" y="1705746"/>
            <a:ext cx="0" cy="2741752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DFD99FB7-19E5-C29E-BC12-85314F091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6" y="5228498"/>
            <a:ext cx="3536944" cy="1479307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6F03D7CD-1E29-A94F-2E8F-BD58DC4895D2}"/>
              </a:ext>
            </a:extLst>
          </p:cNvPr>
          <p:cNvSpPr/>
          <p:nvPr/>
        </p:nvSpPr>
        <p:spPr>
          <a:xfrm>
            <a:off x="7079810" y="5968152"/>
            <a:ext cx="1733990" cy="17915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772948-7AF8-1EAD-E7A9-866BFB0070E8}"/>
              </a:ext>
            </a:extLst>
          </p:cNvPr>
          <p:cNvSpPr/>
          <p:nvPr/>
        </p:nvSpPr>
        <p:spPr>
          <a:xfrm>
            <a:off x="7156010" y="6567701"/>
            <a:ext cx="1733990" cy="179151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6" name="7 Conector recto de flecha">
            <a:extLst>
              <a:ext uri="{FF2B5EF4-FFF2-40B4-BE49-F238E27FC236}">
                <a16:creationId xmlns:a16="http://schemas.microsoft.com/office/drawing/2014/main" id="{FDC574F7-11F9-CEC3-95F6-2B668551241A}"/>
              </a:ext>
            </a:extLst>
          </p:cNvPr>
          <p:cNvCxnSpPr>
            <a:cxnSpLocks/>
          </p:cNvCxnSpPr>
          <p:nvPr/>
        </p:nvCxnSpPr>
        <p:spPr>
          <a:xfrm>
            <a:off x="5595042" y="4734962"/>
            <a:ext cx="2209045" cy="1233190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7 Conector recto de flecha">
            <a:extLst>
              <a:ext uri="{FF2B5EF4-FFF2-40B4-BE49-F238E27FC236}">
                <a16:creationId xmlns:a16="http://schemas.microsoft.com/office/drawing/2014/main" id="{74965160-5DD4-CFFD-8212-7D812E9966DB}"/>
              </a:ext>
            </a:extLst>
          </p:cNvPr>
          <p:cNvCxnSpPr>
            <a:cxnSpLocks/>
          </p:cNvCxnSpPr>
          <p:nvPr/>
        </p:nvCxnSpPr>
        <p:spPr>
          <a:xfrm>
            <a:off x="5278166" y="5098953"/>
            <a:ext cx="1877844" cy="1429701"/>
          </a:xfrm>
          <a:prstGeom prst="straightConnector1">
            <a:avLst/>
          </a:prstGeom>
          <a:ln>
            <a:solidFill>
              <a:srgbClr val="36A1B0"/>
            </a:solidFill>
            <a:headEnd type="none"/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61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/>
          <p:nvPr/>
        </p:nvPicPr>
        <p:blipFill rotWithShape="1">
          <a:blip r:embed="rId2"/>
          <a:srcRect t="10811"/>
          <a:stretch/>
        </p:blipFill>
        <p:spPr>
          <a:xfrm>
            <a:off x="502087" y="1827072"/>
            <a:ext cx="8187309" cy="4563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Pagos en línea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0" y="1255390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comenzar el proceso, verifique los datos mostrados en el formulario y presione el botón «Continuar Pago»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2924174" y="1862542"/>
            <a:ext cx="3429001" cy="3395258"/>
          </a:xfrm>
          <a:prstGeom prst="roundRect">
            <a:avLst>
              <a:gd name="adj" fmla="val 354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3272874" y="1683342"/>
            <a:ext cx="0" cy="162352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9" name="8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3891914" y="2550060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10" name="9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3907154" y="2793900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11" name="10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3907154" y="3260271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pic>
        <p:nvPicPr>
          <p:cNvPr id="12" name="11 Imagen"/>
          <p:cNvPicPr/>
          <p:nvPr/>
        </p:nvPicPr>
        <p:blipFill rotWithShape="1">
          <a:blip r:embed="rId2"/>
          <a:srcRect l="47022" t="24545" r="38191" b="73634"/>
          <a:stretch/>
        </p:blipFill>
        <p:spPr>
          <a:xfrm>
            <a:off x="4048564" y="3505951"/>
            <a:ext cx="121069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sp>
        <p:nvSpPr>
          <p:cNvPr id="15" name="14 Rectángulo"/>
          <p:cNvSpPr/>
          <p:nvPr/>
        </p:nvSpPr>
        <p:spPr>
          <a:xfrm>
            <a:off x="3902153" y="4798087"/>
            <a:ext cx="65607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6" name="15 Imagen"/>
          <p:cNvPicPr/>
          <p:nvPr/>
        </p:nvPicPr>
        <p:blipFill rotWithShape="1">
          <a:blip r:embed="rId2"/>
          <a:srcRect l="58366" t="63710" r="30648" b="34469"/>
          <a:stretch/>
        </p:blipFill>
        <p:spPr>
          <a:xfrm>
            <a:off x="3891914" y="4557511"/>
            <a:ext cx="1367349" cy="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9 Imagen"/>
          <p:cNvPicPr/>
          <p:nvPr/>
        </p:nvPicPr>
        <p:blipFill>
          <a:blip r:embed="rId2"/>
          <a:srcRect l="4288" r="4288"/>
          <a:stretch/>
        </p:blipFill>
        <p:spPr>
          <a:xfrm>
            <a:off x="530984" y="1875737"/>
            <a:ext cx="8129516" cy="45726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En la siguiente ventana, seleccione el medio de pago que desea utilizar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5496057" y="4737100"/>
            <a:ext cx="3231483" cy="1214548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6038546" y="1651094"/>
            <a:ext cx="0" cy="307731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26456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2745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/>
          <p:nvPr/>
        </p:nvPicPr>
        <p:blipFill rotWithShape="1">
          <a:blip r:embed="rId2"/>
          <a:srcRect t="10181"/>
          <a:stretch/>
        </p:blipFill>
        <p:spPr>
          <a:xfrm>
            <a:off x="290769" y="2089306"/>
            <a:ext cx="8369731" cy="42931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sus credenciales del PSE, de lo contrario regístrese en el portal.</a:t>
            </a:r>
          </a:p>
          <a:p>
            <a:pPr algn="ctr"/>
            <a:r>
              <a:rPr lang="es-CO" sz="1600" dirty="0"/>
              <a:t>Luego de ingresar al portal, acceda a su banco y efectúe el pago.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2980822" y="2984500"/>
            <a:ext cx="2848478" cy="16002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526618" y="2089306"/>
            <a:ext cx="0" cy="89519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"/>
          <p:cNvSpPr/>
          <p:nvPr/>
        </p:nvSpPr>
        <p:spPr>
          <a:xfrm>
            <a:off x="7926456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8 Rectángulo"/>
          <p:cNvSpPr/>
          <p:nvPr/>
        </p:nvSpPr>
        <p:spPr>
          <a:xfrm>
            <a:off x="3420630" y="4409467"/>
            <a:ext cx="656070" cy="8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85477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7 Imagen"/>
          <p:cNvPicPr/>
          <p:nvPr/>
        </p:nvPicPr>
        <p:blipFill rotWithShape="1">
          <a:blip r:embed="rId2"/>
          <a:srcRect t="9922"/>
          <a:stretch/>
        </p:blipFill>
        <p:spPr>
          <a:xfrm>
            <a:off x="783770" y="2139249"/>
            <a:ext cx="7714186" cy="43427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312540"/>
            <a:ext cx="8853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nuevamente a su portal, para consultar el historial de transacciones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3037972" y="2177348"/>
            <a:ext cx="3305678" cy="3397951"/>
          </a:xfrm>
          <a:prstGeom prst="roundRect">
            <a:avLst>
              <a:gd name="adj" fmla="val 680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97402" y="1672486"/>
            <a:ext cx="0" cy="66235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"/>
          <p:cNvSpPr/>
          <p:nvPr/>
        </p:nvSpPr>
        <p:spPr>
          <a:xfrm>
            <a:off x="3669634" y="3053020"/>
            <a:ext cx="315626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"/>
          <p:cNvSpPr/>
          <p:nvPr/>
        </p:nvSpPr>
        <p:spPr>
          <a:xfrm>
            <a:off x="4292267" y="2793940"/>
            <a:ext cx="127333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4281940" y="3053020"/>
            <a:ext cx="127333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223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/>
          <p:nvPr/>
        </p:nvPicPr>
        <p:blipFill rotWithShape="1">
          <a:blip r:embed="rId2"/>
          <a:srcRect l="3539" t="10761" r="3681"/>
          <a:stretch/>
        </p:blipFill>
        <p:spPr>
          <a:xfrm>
            <a:off x="627663" y="1796629"/>
            <a:ext cx="8026400" cy="4824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290769" y="1134740"/>
            <a:ext cx="8700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s-CO" sz="1600" dirty="0"/>
              <a:t>Para finalizar el proceso descargue su comprobante de pago generado desde el portal de estudiantes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2580772" y="2672649"/>
            <a:ext cx="4035928" cy="3207452"/>
          </a:xfrm>
          <a:prstGeom prst="roundRect">
            <a:avLst>
              <a:gd name="adj" fmla="val 4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97402" y="1672486"/>
            <a:ext cx="0" cy="66235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3749040" y="3439043"/>
            <a:ext cx="1379220" cy="513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9 Rectángulo"/>
          <p:cNvSpPr/>
          <p:nvPr/>
        </p:nvSpPr>
        <p:spPr>
          <a:xfrm>
            <a:off x="4004914" y="4500820"/>
            <a:ext cx="1379220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4210654" y="4942780"/>
            <a:ext cx="1379220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11 Rectángulo"/>
          <p:cNvSpPr/>
          <p:nvPr/>
        </p:nvSpPr>
        <p:spPr>
          <a:xfrm>
            <a:off x="4054510" y="5006336"/>
            <a:ext cx="1379220" cy="172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12 Rectángulo"/>
          <p:cNvSpPr/>
          <p:nvPr/>
        </p:nvSpPr>
        <p:spPr>
          <a:xfrm>
            <a:off x="6297264" y="2836973"/>
            <a:ext cx="205438" cy="86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4789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EAE3882B-843F-4973-B65B-9403199525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B31EDF-C41E-44A5-9BF1-C30473D15E60}"/>
</file>

<file path=customXml/itemProps3.xml><?xml version="1.0" encoding="utf-8"?>
<ds:datastoreItem xmlns:ds="http://schemas.openxmlformats.org/officeDocument/2006/customXml" ds:itemID="{DE08E39E-A706-47B4-A90E-E651A4FCA4F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154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Andrea Pastori Rojas</dc:creator>
  <cp:keywords>Pagos en linea</cp:keywords>
  <cp:lastModifiedBy>RICHARD DEAN SARMIENTO POLO</cp:lastModifiedBy>
  <cp:revision>28</cp:revision>
  <dcterms:created xsi:type="dcterms:W3CDTF">2017-01-26T20:10:20Z</dcterms:created>
  <dcterms:modified xsi:type="dcterms:W3CDTF">2022-10-31T20:14:35Z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