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Lst>
  <p:notesMasterIdLst>
    <p:notesMasterId r:id="rId22"/>
  </p:notesMasterIdLst>
  <p:sldIdLst>
    <p:sldId id="256" r:id="rId5"/>
    <p:sldId id="265" r:id="rId6"/>
    <p:sldId id="272" r:id="rId7"/>
    <p:sldId id="269" r:id="rId8"/>
    <p:sldId id="271" r:id="rId9"/>
    <p:sldId id="270" r:id="rId10"/>
    <p:sldId id="273" r:id="rId11"/>
    <p:sldId id="274" r:id="rId12"/>
    <p:sldId id="275" r:id="rId13"/>
    <p:sldId id="276" r:id="rId14"/>
    <p:sldId id="283" r:id="rId15"/>
    <p:sldId id="285" r:id="rId16"/>
    <p:sldId id="282" r:id="rId17"/>
    <p:sldId id="287" r:id="rId18"/>
    <p:sldId id="288" r:id="rId19"/>
    <p:sldId id="286" r:id="rId20"/>
    <p:sldId id="278"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3" roundtripDataSignature="AMtx7mifS06BVwugQ9PqqWd7ffOG6o75Pw=="/>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4F9F2"/>
    <a:srgbClr val="9696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20" d="100"/>
          <a:sy n="120" d="100"/>
        </p:scale>
        <p:origin x="198"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customschemas.google.com/relationships/presentationmetadata" Target="metadata"/><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sa Angelica Barrios Perez" userId="S::rosa.barrios@unisimon.edu.co::61e37d19-e541-46a5-b81f-95b5523b9267" providerId="AD" clId="Web-{6CC66CA7-D670-47A1-9467-29D3E442326F}"/>
    <pc:docChg chg="mod">
      <pc:chgData name="Rosa Angelica Barrios Perez" userId="S::rosa.barrios@unisimon.edu.co::61e37d19-e541-46a5-b81f-95b5523b9267" providerId="AD" clId="Web-{6CC66CA7-D670-47A1-9467-29D3E442326F}" dt="2024-02-14T20:09:06.884" v="0" actId="33475"/>
      <pc:docMkLst>
        <pc:docMk/>
      </pc:docMkLst>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eea54d67df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6" name="Google Shape;156;geea54d67df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eea54d67df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6" name="Google Shape;156;geea54d67df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7644213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eea54d67df_1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5" name="Google Shape;175;geea54d67df_1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eea54d67df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6" name="Google Shape;156;geea54d67df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7424576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ed872d6ec6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1" name="Google Shape;181;ged872d6ec6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Diapositiva de título" type="title">
  <p:cSld name="TITLE">
    <p:spTree>
      <p:nvGrpSpPr>
        <p:cNvPr id="1" name="Shape 11"/>
        <p:cNvGrpSpPr/>
        <p:nvPr/>
      </p:nvGrpSpPr>
      <p:grpSpPr>
        <a:xfrm>
          <a:off x="0" y="0"/>
          <a:ext cx="0" cy="0"/>
          <a:chOff x="0" y="0"/>
          <a:chExt cx="0" cy="0"/>
        </a:xfrm>
      </p:grpSpPr>
      <p:sp>
        <p:nvSpPr>
          <p:cNvPr id="12" name="Google Shape;12;p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ítulo y objetos" type="obj">
  <p:cSld name="OBJECT">
    <p:spTree>
      <p:nvGrpSpPr>
        <p:cNvPr id="1" name="Shape 17"/>
        <p:cNvGrpSpPr/>
        <p:nvPr/>
      </p:nvGrpSpPr>
      <p:grpSpPr>
        <a:xfrm>
          <a:off x="0" y="0"/>
          <a:ext cx="0" cy="0"/>
          <a:chOff x="0" y="0"/>
          <a:chExt cx="0" cy="0"/>
        </a:xfrm>
      </p:grpSpPr>
      <p:sp>
        <p:nvSpPr>
          <p:cNvPr id="18" name="Google Shape;18;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Encabezado de sección" type="secHead">
  <p:cSld name="SECTION_HEADER">
    <p:spTree>
      <p:nvGrpSpPr>
        <p:cNvPr id="1" name="Shape 23"/>
        <p:cNvGrpSpPr/>
        <p:nvPr/>
      </p:nvGrpSpPr>
      <p:grpSpPr>
        <a:xfrm>
          <a:off x="0" y="0"/>
          <a:ext cx="0" cy="0"/>
          <a:chOff x="0" y="0"/>
          <a:chExt cx="0" cy="0"/>
        </a:xfrm>
      </p:grpSpPr>
      <p:sp>
        <p:nvSpPr>
          <p:cNvPr id="24" name="Google Shape;24;p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Dos objetos" type="twoObj">
  <p:cSld name="TWO_OBJECTS">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Comparación" type="twoTxTwoObj">
  <p:cSld name="TWO_OBJECTS_WITH_TEXT">
    <p:spTree>
      <p:nvGrpSpPr>
        <p:cNvPr id="1" name="Shape 36"/>
        <p:cNvGrpSpPr/>
        <p:nvPr/>
      </p:nvGrpSpPr>
      <p:grpSpPr>
        <a:xfrm>
          <a:off x="0" y="0"/>
          <a:ext cx="0" cy="0"/>
          <a:chOff x="0" y="0"/>
          <a:chExt cx="0" cy="0"/>
        </a:xfrm>
      </p:grpSpPr>
      <p:sp>
        <p:nvSpPr>
          <p:cNvPr id="37" name="Google Shape;37;p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Solo el título" type="titleOnly">
  <p:cSld name="TITLE_ONLY">
    <p:spTree>
      <p:nvGrpSpPr>
        <p:cNvPr id="1" name="Shape 45"/>
        <p:cNvGrpSpPr/>
        <p:nvPr/>
      </p:nvGrpSpPr>
      <p:grpSpPr>
        <a:xfrm>
          <a:off x="0" y="0"/>
          <a:ext cx="0" cy="0"/>
          <a:chOff x="0" y="0"/>
          <a:chExt cx="0" cy="0"/>
        </a:xfrm>
      </p:grpSpPr>
      <p:sp>
        <p:nvSpPr>
          <p:cNvPr id="46" name="Google Shape;46;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En blanco" type="blank">
  <p:cSld name="BLANK">
    <p:spTree>
      <p:nvGrpSpPr>
        <p:cNvPr id="1" name="Shape 50"/>
        <p:cNvGrpSpPr/>
        <p:nvPr/>
      </p:nvGrpSpPr>
      <p:grpSpPr>
        <a:xfrm>
          <a:off x="0" y="0"/>
          <a:ext cx="0" cy="0"/>
          <a:chOff x="0" y="0"/>
          <a:chExt cx="0" cy="0"/>
        </a:xfrm>
      </p:grpSpPr>
      <p:sp>
        <p:nvSpPr>
          <p:cNvPr id="51" name="Google Shape;5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ido con título" type="objTx">
  <p:cSld name="OBJECT_WITH_CAPTION_TEXT">
    <p:spTree>
      <p:nvGrpSpPr>
        <p:cNvPr id="1" name="Shape 54"/>
        <p:cNvGrpSpPr/>
        <p:nvPr/>
      </p:nvGrpSpPr>
      <p:grpSpPr>
        <a:xfrm>
          <a:off x="0" y="0"/>
          <a:ext cx="0" cy="0"/>
          <a:chOff x="0" y="0"/>
          <a:chExt cx="0" cy="0"/>
        </a:xfrm>
      </p:grpSpPr>
      <p:sp>
        <p:nvSpPr>
          <p:cNvPr id="55" name="Google Shape;55;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Imagen con título" type="picTx">
  <p:cSld name="PICTURE_WITH_CAPTION_TEXT">
    <p:spTree>
      <p:nvGrpSpPr>
        <p:cNvPr id="1" name="Shape 61"/>
        <p:cNvGrpSpPr/>
        <p:nvPr/>
      </p:nvGrpSpPr>
      <p:grpSpPr>
        <a:xfrm>
          <a:off x="0" y="0"/>
          <a:ext cx="0" cy="0"/>
          <a:chOff x="0" y="0"/>
          <a:chExt cx="0" cy="0"/>
        </a:xfrm>
      </p:grpSpPr>
      <p:sp>
        <p:nvSpPr>
          <p:cNvPr id="62" name="Google Shape;62;p1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a:spLocks noGrp="1"/>
          </p:cNvSpPr>
          <p:nvPr>
            <p:ph type="pic" idx="2"/>
          </p:nvPr>
        </p:nvSpPr>
        <p:spPr>
          <a:xfrm>
            <a:off x="5183188" y="987425"/>
            <a:ext cx="6172200" cy="4873625"/>
          </a:xfrm>
          <a:prstGeom prst="rect">
            <a:avLst/>
          </a:prstGeom>
          <a:noFill/>
          <a:ln>
            <a:noFill/>
          </a:ln>
        </p:spPr>
      </p:sp>
      <p:sp>
        <p:nvSpPr>
          <p:cNvPr id="64" name="Google Shape;64;p1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Título y texto vertical" type="vertTx">
  <p:cSld name="VERTICAL_TEXT">
    <p:spTree>
      <p:nvGrpSpPr>
        <p:cNvPr id="1" name="Shape 68"/>
        <p:cNvGrpSpPr/>
        <p:nvPr/>
      </p:nvGrpSpPr>
      <p:grpSpPr>
        <a:xfrm>
          <a:off x="0" y="0"/>
          <a:ext cx="0" cy="0"/>
          <a:chOff x="0" y="0"/>
          <a:chExt cx="0" cy="0"/>
        </a:xfrm>
      </p:grpSpPr>
      <p:sp>
        <p:nvSpPr>
          <p:cNvPr id="69" name="Google Shape;69;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ítulo vertical y texto" type="vertTitleAndTx">
  <p:cSld name="VERTICAL_TITLE_AND_VERTICAL_TEXT">
    <p:spTree>
      <p:nvGrpSpPr>
        <p:cNvPr id="1" name="Shape 74"/>
        <p:cNvGrpSpPr/>
        <p:nvPr/>
      </p:nvGrpSpPr>
      <p:grpSpPr>
        <a:xfrm>
          <a:off x="0" y="0"/>
          <a:ext cx="0" cy="0"/>
          <a:chOff x="0" y="0"/>
          <a:chExt cx="0" cy="0"/>
        </a:xfrm>
      </p:grpSpPr>
      <p:sp>
        <p:nvSpPr>
          <p:cNvPr id="75" name="Google Shape;75;p1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hyperlink" Target="http://www.unisimon.edu.co/"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jpe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mailto:trabajodesdecasa@unisimonbolivar.edu.co"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83"/>
        <p:cNvGrpSpPr/>
        <p:nvPr/>
      </p:nvGrpSpPr>
      <p:grpSpPr>
        <a:xfrm>
          <a:off x="0" y="0"/>
          <a:ext cx="0" cy="0"/>
          <a:chOff x="0" y="0"/>
          <a:chExt cx="0" cy="0"/>
        </a:xfrm>
      </p:grpSpPr>
      <p:pic>
        <p:nvPicPr>
          <p:cNvPr id="84" name="Google Shape;84;p1"/>
          <p:cNvPicPr preferRelativeResize="0"/>
          <p:nvPr/>
        </p:nvPicPr>
        <p:blipFill rotWithShape="1">
          <a:blip r:embed="rId3">
            <a:alphaModFix/>
          </a:blip>
          <a:srcRect/>
          <a:stretch/>
        </p:blipFill>
        <p:spPr>
          <a:xfrm>
            <a:off x="0" y="0"/>
            <a:ext cx="12192000" cy="5531438"/>
          </a:xfrm>
          <a:prstGeom prst="rect">
            <a:avLst/>
          </a:prstGeom>
          <a:noFill/>
          <a:ln>
            <a:noFill/>
          </a:ln>
        </p:spPr>
      </p:pic>
      <p:sp>
        <p:nvSpPr>
          <p:cNvPr id="85" name="Google Shape;85;p1"/>
          <p:cNvSpPr/>
          <p:nvPr/>
        </p:nvSpPr>
        <p:spPr>
          <a:xfrm>
            <a:off x="312999" y="1874778"/>
            <a:ext cx="7472717" cy="2640683"/>
          </a:xfrm>
          <a:prstGeom prst="rect">
            <a:avLst/>
          </a:prstGeom>
          <a:noFill/>
          <a:ln>
            <a:noFill/>
          </a:ln>
        </p:spPr>
        <p:txBody>
          <a:bodyPr spcFirstLastPara="1" wrap="square" lIns="91425" tIns="45700" rIns="91425" bIns="45700" anchor="t" anchorCtr="0">
            <a:spAutoFit/>
          </a:bodyPr>
          <a:lstStyle/>
          <a:p>
            <a:pPr marL="0" marR="0" lvl="0" indent="0" algn="ctr" rtl="0">
              <a:lnSpc>
                <a:spcPct val="115000"/>
              </a:lnSpc>
              <a:spcBef>
                <a:spcPts val="0"/>
              </a:spcBef>
              <a:spcAft>
                <a:spcPts val="0"/>
              </a:spcAft>
              <a:buClr>
                <a:schemeClr val="dk1"/>
              </a:buClr>
              <a:buSzPts val="1100"/>
              <a:buFont typeface="Arial"/>
              <a:buNone/>
            </a:pPr>
            <a:r>
              <a:rPr lang="es-ES" sz="4800" b="1" i="0" u="none" strike="noStrike" cap="none" dirty="0">
                <a:solidFill>
                  <a:schemeClr val="lt1"/>
                </a:solidFill>
                <a:latin typeface="Arial"/>
                <a:ea typeface="Arial"/>
                <a:cs typeface="Arial"/>
                <a:sym typeface="Arial"/>
              </a:rPr>
              <a:t>GESTIÓN DE INGRESO DE ESTUDIANTES</a:t>
            </a:r>
            <a:endParaRPr sz="4800" b="1" i="0" u="none" strike="noStrike" cap="none" dirty="0">
              <a:solidFill>
                <a:schemeClr val="lt1"/>
              </a:solidFill>
              <a:latin typeface="Arial"/>
              <a:ea typeface="Arial"/>
              <a:cs typeface="Arial"/>
              <a:sym typeface="Arial"/>
            </a:endParaRPr>
          </a:p>
          <a:p>
            <a:pPr marL="0" marR="0" lvl="0" indent="0" algn="ctr" rtl="0">
              <a:lnSpc>
                <a:spcPct val="115000"/>
              </a:lnSpc>
              <a:spcBef>
                <a:spcPts val="0"/>
              </a:spcBef>
              <a:spcAft>
                <a:spcPts val="0"/>
              </a:spcAft>
              <a:buClr>
                <a:schemeClr val="dk1"/>
              </a:buClr>
              <a:buSzPts val="1100"/>
              <a:buFont typeface="Arial"/>
              <a:buNone/>
            </a:pPr>
            <a:r>
              <a:rPr lang="es-CO" sz="4800" b="1" i="0" u="none" strike="noStrike" cap="none" dirty="0">
                <a:solidFill>
                  <a:schemeClr val="lt1"/>
                </a:solidFill>
                <a:latin typeface="Arial"/>
                <a:ea typeface="Arial"/>
                <a:cs typeface="Arial"/>
                <a:sym typeface="Arial"/>
              </a:rPr>
              <a:t>INSTRUCTIVO</a:t>
            </a:r>
            <a:r>
              <a:rPr lang="es-CO" sz="2800" b="0" i="0" u="none" strike="noStrike" cap="none" dirty="0">
                <a:solidFill>
                  <a:schemeClr val="lt1"/>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p:txBody>
      </p:sp>
      <p:pic>
        <p:nvPicPr>
          <p:cNvPr id="86" name="Google Shape;86;p1"/>
          <p:cNvPicPr preferRelativeResize="0"/>
          <p:nvPr/>
        </p:nvPicPr>
        <p:blipFill rotWithShape="1">
          <a:blip r:embed="rId4">
            <a:alphaModFix/>
          </a:blip>
          <a:srcRect/>
          <a:stretch/>
        </p:blipFill>
        <p:spPr>
          <a:xfrm>
            <a:off x="3836578" y="237622"/>
            <a:ext cx="4292601" cy="800100"/>
          </a:xfrm>
          <a:prstGeom prst="rect">
            <a:avLst/>
          </a:prstGeom>
          <a:noFill/>
          <a:ln>
            <a:noFill/>
          </a:ln>
        </p:spPr>
      </p:pic>
      <p:pic>
        <p:nvPicPr>
          <p:cNvPr id="87" name="Google Shape;87;p1"/>
          <p:cNvPicPr preferRelativeResize="0"/>
          <p:nvPr/>
        </p:nvPicPr>
        <p:blipFill rotWithShape="1">
          <a:blip r:embed="rId5">
            <a:alphaModFix/>
          </a:blip>
          <a:srcRect/>
          <a:stretch/>
        </p:blipFill>
        <p:spPr>
          <a:xfrm>
            <a:off x="6350" y="5081700"/>
            <a:ext cx="12179299" cy="1651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4" name="CuadroTexto 3">
            <a:extLst>
              <a:ext uri="{FF2B5EF4-FFF2-40B4-BE49-F238E27FC236}">
                <a16:creationId xmlns:a16="http://schemas.microsoft.com/office/drawing/2014/main" id="{7565692D-914E-41B4-9B87-9EF8944B6DB3}"/>
              </a:ext>
            </a:extLst>
          </p:cNvPr>
          <p:cNvSpPr txBox="1"/>
          <p:nvPr/>
        </p:nvSpPr>
        <p:spPr>
          <a:xfrm>
            <a:off x="763480" y="1157359"/>
            <a:ext cx="9889724" cy="830997"/>
          </a:xfrm>
          <a:prstGeom prst="rect">
            <a:avLst/>
          </a:prstGeom>
          <a:noFill/>
        </p:spPr>
        <p:txBody>
          <a:bodyPr wrap="square" rtlCol="0">
            <a:spAutoFit/>
          </a:bodyPr>
          <a:lstStyle/>
          <a:p>
            <a:pPr algn="ctr"/>
            <a:r>
              <a:rPr lang="es-CO" sz="1600" dirty="0">
                <a:latin typeface="Calibri" pitchFamily="34" charset="0"/>
              </a:rPr>
              <a:t>Ingrese desde su navegador al sitio web de la Universidad: </a:t>
            </a:r>
            <a:r>
              <a:rPr lang="es-CO" sz="1600" dirty="0">
                <a:latin typeface="Calibri" pitchFamily="34" charset="0"/>
                <a:hlinkClick r:id="rId3"/>
              </a:rPr>
              <a:t>http://www.unisimon.edu.co/</a:t>
            </a:r>
            <a:r>
              <a:rPr lang="es-CO" sz="1600" dirty="0">
                <a:latin typeface="Calibri" pitchFamily="34" charset="0"/>
              </a:rPr>
              <a:t> y seleccione en el menú principal la opción correspondiente al nivel académico al que desee aspirar </a:t>
            </a:r>
            <a:r>
              <a:rPr lang="es-CO" sz="1600" b="1" dirty="0">
                <a:latin typeface="Calibri" pitchFamily="34" charset="0"/>
              </a:rPr>
              <a:t>«Admisiones pregrados» </a:t>
            </a:r>
            <a:r>
              <a:rPr lang="es-CO" sz="1600" dirty="0">
                <a:latin typeface="Calibri" pitchFamily="34" charset="0"/>
              </a:rPr>
              <a:t>o </a:t>
            </a:r>
            <a:r>
              <a:rPr lang="es-CO" sz="1600" b="1" dirty="0">
                <a:latin typeface="Calibri" pitchFamily="34" charset="0"/>
              </a:rPr>
              <a:t>«Admisiones posgrados» </a:t>
            </a:r>
            <a:endParaRPr lang="es-CO" sz="1600" b="1" dirty="0"/>
          </a:p>
        </p:txBody>
      </p:sp>
      <p:grpSp>
        <p:nvGrpSpPr>
          <p:cNvPr id="11" name="Grupo 10">
            <a:extLst>
              <a:ext uri="{FF2B5EF4-FFF2-40B4-BE49-F238E27FC236}">
                <a16:creationId xmlns:a16="http://schemas.microsoft.com/office/drawing/2014/main" id="{CF27AA3F-7D9B-40FA-8858-7F835D049206}"/>
              </a:ext>
            </a:extLst>
          </p:cNvPr>
          <p:cNvGrpSpPr/>
          <p:nvPr/>
        </p:nvGrpSpPr>
        <p:grpSpPr>
          <a:xfrm>
            <a:off x="1558031" y="2127348"/>
            <a:ext cx="8300622" cy="4033742"/>
            <a:chOff x="1558031" y="2127348"/>
            <a:chExt cx="8300622" cy="4033742"/>
          </a:xfrm>
        </p:grpSpPr>
        <p:pic>
          <p:nvPicPr>
            <p:cNvPr id="2" name="Imagen 1">
              <a:extLst>
                <a:ext uri="{FF2B5EF4-FFF2-40B4-BE49-F238E27FC236}">
                  <a16:creationId xmlns:a16="http://schemas.microsoft.com/office/drawing/2014/main" id="{BF252F53-41C5-41C1-B1A0-5FF41D53770C}"/>
                </a:ext>
              </a:extLst>
            </p:cNvPr>
            <p:cNvPicPr>
              <a:picLocks noChangeAspect="1"/>
            </p:cNvPicPr>
            <p:nvPr/>
          </p:nvPicPr>
          <p:blipFill>
            <a:blip r:embed="rId4"/>
            <a:stretch>
              <a:fillRect/>
            </a:stretch>
          </p:blipFill>
          <p:spPr>
            <a:xfrm>
              <a:off x="1558031" y="2127348"/>
              <a:ext cx="8300622" cy="4033742"/>
            </a:xfrm>
            <a:prstGeom prst="rect">
              <a:avLst/>
            </a:prstGeom>
          </p:spPr>
        </p:pic>
        <p:sp>
          <p:nvSpPr>
            <p:cNvPr id="7" name="Google Shape;119;p17">
              <a:extLst>
                <a:ext uri="{FF2B5EF4-FFF2-40B4-BE49-F238E27FC236}">
                  <a16:creationId xmlns:a16="http://schemas.microsoft.com/office/drawing/2014/main" id="{8801963C-627A-4532-81BA-B736B3735329}"/>
                </a:ext>
              </a:extLst>
            </p:cNvPr>
            <p:cNvSpPr/>
            <p:nvPr/>
          </p:nvSpPr>
          <p:spPr>
            <a:xfrm>
              <a:off x="2494624" y="3503662"/>
              <a:ext cx="1500327" cy="180572"/>
            </a:xfrm>
            <a:prstGeom prst="roundRect">
              <a:avLst>
                <a:gd name="adj" fmla="val 16667"/>
              </a:avLst>
            </a:prstGeom>
            <a:noFill/>
            <a:ln w="5715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dirty="0">
                <a:solidFill>
                  <a:schemeClr val="dk1"/>
                </a:solidFill>
                <a:latin typeface="Arial"/>
                <a:ea typeface="Arial"/>
                <a:cs typeface="Arial"/>
                <a:sym typeface="Arial"/>
              </a:endParaRPr>
            </a:p>
          </p:txBody>
        </p:sp>
        <p:sp>
          <p:nvSpPr>
            <p:cNvPr id="8" name="Google Shape;119;p17">
              <a:extLst>
                <a:ext uri="{FF2B5EF4-FFF2-40B4-BE49-F238E27FC236}">
                  <a16:creationId xmlns:a16="http://schemas.microsoft.com/office/drawing/2014/main" id="{CC6867E1-3A87-4384-9DDF-F6E779E35116}"/>
                </a:ext>
              </a:extLst>
            </p:cNvPr>
            <p:cNvSpPr/>
            <p:nvPr/>
          </p:nvSpPr>
          <p:spPr>
            <a:xfrm>
              <a:off x="2494624" y="3684234"/>
              <a:ext cx="1500327" cy="180572"/>
            </a:xfrm>
            <a:prstGeom prst="roundRect">
              <a:avLst>
                <a:gd name="adj" fmla="val 16667"/>
              </a:avLst>
            </a:prstGeom>
            <a:noFill/>
            <a:ln w="5715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dirty="0">
                <a:solidFill>
                  <a:schemeClr val="dk1"/>
                </a:solidFill>
                <a:latin typeface="Arial"/>
                <a:ea typeface="Arial"/>
                <a:cs typeface="Arial"/>
                <a:sym typeface="Arial"/>
              </a:endParaRPr>
            </a:p>
          </p:txBody>
        </p:sp>
        <p:sp>
          <p:nvSpPr>
            <p:cNvPr id="9" name="Google Shape;120;p17">
              <a:extLst>
                <a:ext uri="{FF2B5EF4-FFF2-40B4-BE49-F238E27FC236}">
                  <a16:creationId xmlns:a16="http://schemas.microsoft.com/office/drawing/2014/main" id="{231A0E37-863D-4619-8C17-70F3413A2B7E}"/>
                </a:ext>
              </a:extLst>
            </p:cNvPr>
            <p:cNvSpPr/>
            <p:nvPr/>
          </p:nvSpPr>
          <p:spPr>
            <a:xfrm>
              <a:off x="1630749" y="2724153"/>
              <a:ext cx="863875" cy="532263"/>
            </a:xfrm>
            <a:prstGeom prst="rightArrow">
              <a:avLst>
                <a:gd name="adj1" fmla="val 50000"/>
                <a:gd name="adj2" fmla="val 50000"/>
              </a:avLst>
            </a:prstGeom>
            <a:solidFill>
              <a:schemeClr val="accent6"/>
            </a:solid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 name="Google Shape;120;p17">
              <a:extLst>
                <a:ext uri="{FF2B5EF4-FFF2-40B4-BE49-F238E27FC236}">
                  <a16:creationId xmlns:a16="http://schemas.microsoft.com/office/drawing/2014/main" id="{CBBA9A24-2E6B-41A5-876E-397FBBCED05A}"/>
                </a:ext>
              </a:extLst>
            </p:cNvPr>
            <p:cNvSpPr/>
            <p:nvPr/>
          </p:nvSpPr>
          <p:spPr>
            <a:xfrm>
              <a:off x="1630749" y="3402132"/>
              <a:ext cx="863875" cy="532263"/>
            </a:xfrm>
            <a:prstGeom prst="rightArrow">
              <a:avLst>
                <a:gd name="adj1" fmla="val 50000"/>
                <a:gd name="adj2" fmla="val 50000"/>
              </a:avLst>
            </a:prstGeom>
            <a:solidFill>
              <a:schemeClr val="accent6"/>
            </a:solid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4" name="CuadroTexto 13">
            <a:extLst>
              <a:ext uri="{FF2B5EF4-FFF2-40B4-BE49-F238E27FC236}">
                <a16:creationId xmlns:a16="http://schemas.microsoft.com/office/drawing/2014/main" id="{B8E5B68D-27B3-42AC-AB3F-F68FFCBC02F7}"/>
              </a:ext>
            </a:extLst>
          </p:cNvPr>
          <p:cNvSpPr txBox="1"/>
          <p:nvPr/>
        </p:nvSpPr>
        <p:spPr>
          <a:xfrm>
            <a:off x="1741750" y="1270509"/>
            <a:ext cx="8483600" cy="584775"/>
          </a:xfrm>
          <a:prstGeom prst="rect">
            <a:avLst/>
          </a:prstGeom>
          <a:noFill/>
        </p:spPr>
        <p:txBody>
          <a:bodyPr wrap="square" rtlCol="0">
            <a:spAutoFit/>
          </a:bodyPr>
          <a:lstStyle/>
          <a:p>
            <a:pPr algn="ctr"/>
            <a:r>
              <a:rPr lang="es-CO" sz="1600" dirty="0">
                <a:latin typeface="Calibri" pitchFamily="34" charset="0"/>
              </a:rPr>
              <a:t>Luego deberá seleccionar el botón </a:t>
            </a:r>
            <a:r>
              <a:rPr lang="es-CO" sz="1600" b="1" dirty="0">
                <a:latin typeface="Calibri" pitchFamily="34" charset="0"/>
              </a:rPr>
              <a:t>«Inscríbete Ahora»</a:t>
            </a:r>
          </a:p>
          <a:p>
            <a:pPr algn="ctr"/>
            <a:endParaRPr lang="es-CO" sz="1600" dirty="0"/>
          </a:p>
        </p:txBody>
      </p:sp>
      <p:grpSp>
        <p:nvGrpSpPr>
          <p:cNvPr id="21" name="Grupo 20">
            <a:extLst>
              <a:ext uri="{FF2B5EF4-FFF2-40B4-BE49-F238E27FC236}">
                <a16:creationId xmlns:a16="http://schemas.microsoft.com/office/drawing/2014/main" id="{D62D6894-AA94-4528-949A-CBF5FF263C19}"/>
              </a:ext>
            </a:extLst>
          </p:cNvPr>
          <p:cNvGrpSpPr/>
          <p:nvPr/>
        </p:nvGrpSpPr>
        <p:grpSpPr>
          <a:xfrm>
            <a:off x="429987" y="2142070"/>
            <a:ext cx="5228947" cy="2573860"/>
            <a:chOff x="376721" y="1822851"/>
            <a:chExt cx="5228947" cy="2573860"/>
          </a:xfrm>
        </p:grpSpPr>
        <p:pic>
          <p:nvPicPr>
            <p:cNvPr id="12" name="Imagen 11">
              <a:extLst>
                <a:ext uri="{FF2B5EF4-FFF2-40B4-BE49-F238E27FC236}">
                  <a16:creationId xmlns:a16="http://schemas.microsoft.com/office/drawing/2014/main" id="{01ADB4C5-DFDC-4171-8824-3E375C8B8852}"/>
                </a:ext>
              </a:extLst>
            </p:cNvPr>
            <p:cNvPicPr>
              <a:picLocks noChangeAspect="1"/>
            </p:cNvPicPr>
            <p:nvPr/>
          </p:nvPicPr>
          <p:blipFill>
            <a:blip r:embed="rId3"/>
            <a:stretch>
              <a:fillRect/>
            </a:stretch>
          </p:blipFill>
          <p:spPr>
            <a:xfrm>
              <a:off x="376721" y="1822851"/>
              <a:ext cx="5228947" cy="2573860"/>
            </a:xfrm>
            <a:prstGeom prst="rect">
              <a:avLst/>
            </a:prstGeom>
          </p:spPr>
        </p:pic>
        <p:sp>
          <p:nvSpPr>
            <p:cNvPr id="15" name="14 Rectángulo redondeado">
              <a:extLst>
                <a:ext uri="{FF2B5EF4-FFF2-40B4-BE49-F238E27FC236}">
                  <a16:creationId xmlns:a16="http://schemas.microsoft.com/office/drawing/2014/main" id="{B6E69F27-BFBF-4A0F-BE65-0993EDB61F46}"/>
                </a:ext>
              </a:extLst>
            </p:cNvPr>
            <p:cNvSpPr/>
            <p:nvPr/>
          </p:nvSpPr>
          <p:spPr>
            <a:xfrm>
              <a:off x="4181383" y="3322761"/>
              <a:ext cx="1332188" cy="559190"/>
            </a:xfrm>
            <a:prstGeom prst="roundRect">
              <a:avLst/>
            </a:prstGeom>
            <a:noFill/>
            <a:ln w="57150">
              <a:solidFill>
                <a:schemeClr val="accent2"/>
              </a:solidFill>
            </a:ln>
            <a:effectLst>
              <a:outerShdw blurRad="50800" dist="381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s-CO" dirty="0"/>
            </a:p>
          </p:txBody>
        </p:sp>
        <p:cxnSp>
          <p:nvCxnSpPr>
            <p:cNvPr id="18" name="8 Conector recto de flecha">
              <a:extLst>
                <a:ext uri="{FF2B5EF4-FFF2-40B4-BE49-F238E27FC236}">
                  <a16:creationId xmlns:a16="http://schemas.microsoft.com/office/drawing/2014/main" id="{1DDA7D79-7B8E-49C4-A2C0-8767548D5F67}"/>
                </a:ext>
              </a:extLst>
            </p:cNvPr>
            <p:cNvCxnSpPr/>
            <p:nvPr/>
          </p:nvCxnSpPr>
          <p:spPr>
            <a:xfrm>
              <a:off x="2396969" y="3616119"/>
              <a:ext cx="2067339" cy="0"/>
            </a:xfrm>
            <a:prstGeom prst="straightConnector1">
              <a:avLst/>
            </a:prstGeom>
            <a:ln>
              <a:solidFill>
                <a:schemeClr val="accent2"/>
              </a:solidFill>
              <a:headEnd type="none"/>
              <a:tailEnd type="arrow"/>
            </a:ln>
            <a:effectLst>
              <a:outerShdw blurRad="50800" dist="38100" dir="5400000" algn="t" rotWithShape="0">
                <a:prstClr val="black">
                  <a:alpha val="40000"/>
                </a:prstClr>
              </a:outerShdw>
            </a:effectLst>
          </p:spPr>
          <p:style>
            <a:lnRef idx="3">
              <a:schemeClr val="accent3"/>
            </a:lnRef>
            <a:fillRef idx="0">
              <a:schemeClr val="accent3"/>
            </a:fillRef>
            <a:effectRef idx="2">
              <a:schemeClr val="accent3"/>
            </a:effectRef>
            <a:fontRef idx="minor">
              <a:schemeClr val="tx1"/>
            </a:fontRef>
          </p:style>
        </p:cxnSp>
      </p:grpSp>
      <p:grpSp>
        <p:nvGrpSpPr>
          <p:cNvPr id="6" name="Grupo 5">
            <a:extLst>
              <a:ext uri="{FF2B5EF4-FFF2-40B4-BE49-F238E27FC236}">
                <a16:creationId xmlns:a16="http://schemas.microsoft.com/office/drawing/2014/main" id="{BEC3446C-E345-4C9A-ADD4-DCE3774C0F7F}"/>
              </a:ext>
            </a:extLst>
          </p:cNvPr>
          <p:cNvGrpSpPr/>
          <p:nvPr/>
        </p:nvGrpSpPr>
        <p:grpSpPr>
          <a:xfrm>
            <a:off x="5983550" y="3527707"/>
            <a:ext cx="5840607" cy="2661081"/>
            <a:chOff x="5983550" y="3527707"/>
            <a:chExt cx="5840607" cy="2661081"/>
          </a:xfrm>
        </p:grpSpPr>
        <p:pic>
          <p:nvPicPr>
            <p:cNvPr id="5" name="Imagen 4">
              <a:extLst>
                <a:ext uri="{FF2B5EF4-FFF2-40B4-BE49-F238E27FC236}">
                  <a16:creationId xmlns:a16="http://schemas.microsoft.com/office/drawing/2014/main" id="{EE291429-B73C-40FC-9D92-FA66723B2EFD}"/>
                </a:ext>
              </a:extLst>
            </p:cNvPr>
            <p:cNvPicPr>
              <a:picLocks noChangeAspect="1"/>
            </p:cNvPicPr>
            <p:nvPr/>
          </p:nvPicPr>
          <p:blipFill rotWithShape="1">
            <a:blip r:embed="rId4"/>
            <a:srcRect r="2707" b="24840"/>
            <a:stretch/>
          </p:blipFill>
          <p:spPr>
            <a:xfrm>
              <a:off x="5983550" y="3527707"/>
              <a:ext cx="5611847" cy="2661081"/>
            </a:xfrm>
            <a:prstGeom prst="rect">
              <a:avLst/>
            </a:prstGeom>
          </p:spPr>
        </p:pic>
        <p:sp>
          <p:nvSpPr>
            <p:cNvPr id="19" name="14 Rectángulo redondeado">
              <a:extLst>
                <a:ext uri="{FF2B5EF4-FFF2-40B4-BE49-F238E27FC236}">
                  <a16:creationId xmlns:a16="http://schemas.microsoft.com/office/drawing/2014/main" id="{72D77ACA-3E04-42FB-86CD-288497876C55}"/>
                </a:ext>
              </a:extLst>
            </p:cNvPr>
            <p:cNvSpPr/>
            <p:nvPr/>
          </p:nvSpPr>
          <p:spPr>
            <a:xfrm>
              <a:off x="10491969" y="5111313"/>
              <a:ext cx="1332188" cy="559190"/>
            </a:xfrm>
            <a:prstGeom prst="roundRect">
              <a:avLst/>
            </a:prstGeom>
            <a:noFill/>
            <a:ln w="57150">
              <a:solidFill>
                <a:schemeClr val="accent2"/>
              </a:solidFill>
            </a:ln>
            <a:effectLst>
              <a:outerShdw blurRad="50800" dist="381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s-CO" dirty="0"/>
            </a:p>
          </p:txBody>
        </p:sp>
        <p:cxnSp>
          <p:nvCxnSpPr>
            <p:cNvPr id="20" name="8 Conector recto de flecha">
              <a:extLst>
                <a:ext uri="{FF2B5EF4-FFF2-40B4-BE49-F238E27FC236}">
                  <a16:creationId xmlns:a16="http://schemas.microsoft.com/office/drawing/2014/main" id="{1BF9FA46-D72F-468F-8E14-91D2E118A080}"/>
                </a:ext>
              </a:extLst>
            </p:cNvPr>
            <p:cNvCxnSpPr/>
            <p:nvPr/>
          </p:nvCxnSpPr>
          <p:spPr>
            <a:xfrm>
              <a:off x="8867353" y="5440182"/>
              <a:ext cx="2067339" cy="0"/>
            </a:xfrm>
            <a:prstGeom prst="straightConnector1">
              <a:avLst/>
            </a:prstGeom>
            <a:ln>
              <a:solidFill>
                <a:schemeClr val="accent2"/>
              </a:solidFill>
              <a:headEnd type="none"/>
              <a:tailEnd type="arrow"/>
            </a:ln>
            <a:effectLst>
              <a:outerShdw blurRad="50800" dist="38100" dir="5400000" algn="t" rotWithShape="0">
                <a:prstClr val="black">
                  <a:alpha val="40000"/>
                </a:prstClr>
              </a:outerShdw>
            </a:effectLst>
          </p:spPr>
          <p:style>
            <a:lnRef idx="3">
              <a:schemeClr val="accent3"/>
            </a:lnRef>
            <a:fillRef idx="0">
              <a:schemeClr val="accent3"/>
            </a:fillRef>
            <a:effectRef idx="2">
              <a:schemeClr val="accent3"/>
            </a:effectRef>
            <a:fontRef idx="minor">
              <a:schemeClr val="tx1"/>
            </a:fontRef>
          </p:style>
        </p:cxnSp>
      </p:grpSp>
    </p:spTree>
    <p:extLst>
      <p:ext uri="{BB962C8B-B14F-4D97-AF65-F5344CB8AC3E}">
        <p14:creationId xmlns:p14="http://schemas.microsoft.com/office/powerpoint/2010/main" val="2835113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pic>
        <p:nvPicPr>
          <p:cNvPr id="4" name="Imagen 3">
            <a:extLst>
              <a:ext uri="{FF2B5EF4-FFF2-40B4-BE49-F238E27FC236}">
                <a16:creationId xmlns:a16="http://schemas.microsoft.com/office/drawing/2014/main" id="{0E243E1D-C0A3-4CE9-83A5-A7D4A131830B}"/>
              </a:ext>
            </a:extLst>
          </p:cNvPr>
          <p:cNvPicPr>
            <a:picLocks noChangeAspect="1"/>
          </p:cNvPicPr>
          <p:nvPr/>
        </p:nvPicPr>
        <p:blipFill>
          <a:blip r:embed="rId3"/>
          <a:stretch>
            <a:fillRect/>
          </a:stretch>
        </p:blipFill>
        <p:spPr>
          <a:xfrm>
            <a:off x="1216241" y="1860517"/>
            <a:ext cx="9144000" cy="4377804"/>
          </a:xfrm>
          <a:prstGeom prst="rect">
            <a:avLst/>
          </a:prstGeom>
        </p:spPr>
      </p:pic>
      <p:sp>
        <p:nvSpPr>
          <p:cNvPr id="5" name="CuadroTexto 4">
            <a:extLst>
              <a:ext uri="{FF2B5EF4-FFF2-40B4-BE49-F238E27FC236}">
                <a16:creationId xmlns:a16="http://schemas.microsoft.com/office/drawing/2014/main" id="{11ADE331-B949-427C-AA9B-AF74D738CA53}"/>
              </a:ext>
            </a:extLst>
          </p:cNvPr>
          <p:cNvSpPr txBox="1"/>
          <p:nvPr/>
        </p:nvSpPr>
        <p:spPr>
          <a:xfrm>
            <a:off x="1546441" y="1148480"/>
            <a:ext cx="8483600" cy="338554"/>
          </a:xfrm>
          <a:prstGeom prst="rect">
            <a:avLst/>
          </a:prstGeom>
          <a:noFill/>
        </p:spPr>
        <p:txBody>
          <a:bodyPr wrap="square" rtlCol="0">
            <a:spAutoFit/>
          </a:bodyPr>
          <a:lstStyle/>
          <a:p>
            <a:pPr algn="ctr"/>
            <a:r>
              <a:rPr lang="es-CO" sz="1600" dirty="0">
                <a:latin typeface="Calibri" pitchFamily="34" charset="0"/>
              </a:rPr>
              <a:t>Seleccionar la sede </a:t>
            </a:r>
            <a:r>
              <a:rPr lang="es-CO" sz="1600" b="1" dirty="0">
                <a:latin typeface="Calibri" pitchFamily="34" charset="0"/>
              </a:rPr>
              <a:t>«Barranquilla»</a:t>
            </a:r>
            <a:endParaRPr lang="es-CO" sz="1600" b="1" dirty="0"/>
          </a:p>
        </p:txBody>
      </p:sp>
      <p:sp>
        <p:nvSpPr>
          <p:cNvPr id="6" name="14 Rectángulo redondeado">
            <a:extLst>
              <a:ext uri="{FF2B5EF4-FFF2-40B4-BE49-F238E27FC236}">
                <a16:creationId xmlns:a16="http://schemas.microsoft.com/office/drawing/2014/main" id="{41819389-A5CA-44D3-BA17-93B6A80AA00E}"/>
              </a:ext>
            </a:extLst>
          </p:cNvPr>
          <p:cNvSpPr/>
          <p:nvPr/>
        </p:nvSpPr>
        <p:spPr>
          <a:xfrm>
            <a:off x="3716888" y="3652154"/>
            <a:ext cx="1772214" cy="559190"/>
          </a:xfrm>
          <a:prstGeom prst="roundRect">
            <a:avLst/>
          </a:prstGeom>
          <a:noFill/>
          <a:ln w="57150">
            <a:solidFill>
              <a:schemeClr val="accent2"/>
            </a:solidFill>
          </a:ln>
          <a:effectLst>
            <a:outerShdw blurRad="50800" dist="381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s-CO" dirty="0"/>
          </a:p>
        </p:txBody>
      </p:sp>
      <p:grpSp>
        <p:nvGrpSpPr>
          <p:cNvPr id="7" name="6 Grupo">
            <a:extLst>
              <a:ext uri="{FF2B5EF4-FFF2-40B4-BE49-F238E27FC236}">
                <a16:creationId xmlns:a16="http://schemas.microsoft.com/office/drawing/2014/main" id="{3D192E4E-5FC9-4D50-9436-5B936AD9CC77}"/>
              </a:ext>
            </a:extLst>
          </p:cNvPr>
          <p:cNvGrpSpPr/>
          <p:nvPr/>
        </p:nvGrpSpPr>
        <p:grpSpPr>
          <a:xfrm>
            <a:off x="5528858" y="1487034"/>
            <a:ext cx="418409" cy="2470862"/>
            <a:chOff x="5729176" y="1766332"/>
            <a:chExt cx="1191284" cy="1140874"/>
          </a:xfrm>
        </p:grpSpPr>
        <p:cxnSp>
          <p:nvCxnSpPr>
            <p:cNvPr id="8" name="7 Conector recto de flecha">
              <a:extLst>
                <a:ext uri="{FF2B5EF4-FFF2-40B4-BE49-F238E27FC236}">
                  <a16:creationId xmlns:a16="http://schemas.microsoft.com/office/drawing/2014/main" id="{72A91A3C-6D5A-462E-8B65-AD1AA988F616}"/>
                </a:ext>
              </a:extLst>
            </p:cNvPr>
            <p:cNvCxnSpPr/>
            <p:nvPr/>
          </p:nvCxnSpPr>
          <p:spPr>
            <a:xfrm>
              <a:off x="6917811" y="1766332"/>
              <a:ext cx="0" cy="1140874"/>
            </a:xfrm>
            <a:prstGeom prst="straightConnector1">
              <a:avLst/>
            </a:prstGeom>
            <a:ln>
              <a:solidFill>
                <a:schemeClr val="accent2"/>
              </a:solidFill>
              <a:tailEnd type="none"/>
            </a:ln>
            <a:effectLst>
              <a:outerShdw blurRad="50800" dist="38100" dir="2700000" algn="tl" rotWithShape="0">
                <a:prstClr val="black">
                  <a:alpha val="40000"/>
                </a:prstClr>
              </a:outerShdw>
            </a:effectLst>
          </p:spPr>
          <p:style>
            <a:lnRef idx="3">
              <a:schemeClr val="accent3"/>
            </a:lnRef>
            <a:fillRef idx="0">
              <a:schemeClr val="accent3"/>
            </a:fillRef>
            <a:effectRef idx="2">
              <a:schemeClr val="accent3"/>
            </a:effectRef>
            <a:fontRef idx="minor">
              <a:schemeClr val="tx1"/>
            </a:fontRef>
          </p:style>
        </p:cxnSp>
        <p:cxnSp>
          <p:nvCxnSpPr>
            <p:cNvPr id="9" name="8 Conector recto de flecha">
              <a:extLst>
                <a:ext uri="{FF2B5EF4-FFF2-40B4-BE49-F238E27FC236}">
                  <a16:creationId xmlns:a16="http://schemas.microsoft.com/office/drawing/2014/main" id="{826A85B4-7A73-4532-BFFF-751D0700E10F}"/>
                </a:ext>
              </a:extLst>
            </p:cNvPr>
            <p:cNvCxnSpPr/>
            <p:nvPr/>
          </p:nvCxnSpPr>
          <p:spPr>
            <a:xfrm flipH="1">
              <a:off x="5729176" y="2901696"/>
              <a:ext cx="1191284" cy="0"/>
            </a:xfrm>
            <a:prstGeom prst="straightConnector1">
              <a:avLst/>
            </a:prstGeom>
            <a:ln>
              <a:solidFill>
                <a:schemeClr val="accent2"/>
              </a:solidFill>
              <a:headEnd type="none"/>
              <a:tailEnd type="arrow"/>
            </a:ln>
            <a:effectLst>
              <a:outerShdw blurRad="50800" dist="38100" dir="5400000" algn="t" rotWithShape="0">
                <a:prstClr val="black">
                  <a:alpha val="40000"/>
                </a:prstClr>
              </a:outerShdw>
            </a:effectLst>
          </p:spPr>
          <p:style>
            <a:lnRef idx="3">
              <a:schemeClr val="accent3"/>
            </a:lnRef>
            <a:fillRef idx="0">
              <a:schemeClr val="accent3"/>
            </a:fillRef>
            <a:effectRef idx="2">
              <a:schemeClr val="accent3"/>
            </a:effectRef>
            <a:fontRef idx="minor">
              <a:schemeClr val="tx1"/>
            </a:fontRef>
          </p:style>
        </p:cxn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4" name="CuadroTexto 3">
            <a:extLst>
              <a:ext uri="{FF2B5EF4-FFF2-40B4-BE49-F238E27FC236}">
                <a16:creationId xmlns:a16="http://schemas.microsoft.com/office/drawing/2014/main" id="{7565692D-914E-41B4-9B87-9EF8944B6DB3}"/>
              </a:ext>
            </a:extLst>
          </p:cNvPr>
          <p:cNvSpPr txBox="1"/>
          <p:nvPr/>
        </p:nvSpPr>
        <p:spPr>
          <a:xfrm>
            <a:off x="763480" y="1366704"/>
            <a:ext cx="9889724" cy="584775"/>
          </a:xfrm>
          <a:prstGeom prst="rect">
            <a:avLst/>
          </a:prstGeom>
          <a:noFill/>
        </p:spPr>
        <p:txBody>
          <a:bodyPr wrap="square" rtlCol="0">
            <a:spAutoFit/>
          </a:bodyPr>
          <a:lstStyle/>
          <a:p>
            <a:pPr algn="ctr"/>
            <a:r>
              <a:rPr lang="es-MX" sz="1600" dirty="0">
                <a:latin typeface="Calibri" pitchFamily="34" charset="0"/>
              </a:rPr>
              <a:t>Para ingresar, digite su número de identificación y la fecha de expedición del documento de identificación. Luego seleccione el botón </a:t>
            </a:r>
            <a:r>
              <a:rPr lang="es-CO" sz="1600" b="1" dirty="0">
                <a:latin typeface="Calibri" pitchFamily="34" charset="0"/>
              </a:rPr>
              <a:t>«Continuar» </a:t>
            </a:r>
            <a:endParaRPr lang="es-CO" sz="1600" b="1" dirty="0"/>
          </a:p>
        </p:txBody>
      </p:sp>
      <p:grpSp>
        <p:nvGrpSpPr>
          <p:cNvPr id="19" name="Grupo 18">
            <a:extLst>
              <a:ext uri="{FF2B5EF4-FFF2-40B4-BE49-F238E27FC236}">
                <a16:creationId xmlns:a16="http://schemas.microsoft.com/office/drawing/2014/main" id="{4C6F661B-6D77-42BF-AC27-9187975DEF21}"/>
              </a:ext>
            </a:extLst>
          </p:cNvPr>
          <p:cNvGrpSpPr/>
          <p:nvPr/>
        </p:nvGrpSpPr>
        <p:grpSpPr>
          <a:xfrm>
            <a:off x="763480" y="2644240"/>
            <a:ext cx="9827579" cy="2651330"/>
            <a:chOff x="763480" y="2644240"/>
            <a:chExt cx="9827579" cy="2651330"/>
          </a:xfrm>
        </p:grpSpPr>
        <p:grpSp>
          <p:nvGrpSpPr>
            <p:cNvPr id="16" name="Grupo 15">
              <a:extLst>
                <a:ext uri="{FF2B5EF4-FFF2-40B4-BE49-F238E27FC236}">
                  <a16:creationId xmlns:a16="http://schemas.microsoft.com/office/drawing/2014/main" id="{678DF722-72DD-467C-B359-EBCB7680E071}"/>
                </a:ext>
              </a:extLst>
            </p:cNvPr>
            <p:cNvGrpSpPr/>
            <p:nvPr/>
          </p:nvGrpSpPr>
          <p:grpSpPr>
            <a:xfrm>
              <a:off x="1333361" y="2644240"/>
              <a:ext cx="9257698" cy="2651330"/>
              <a:chOff x="2638379" y="2608730"/>
              <a:chExt cx="9257698" cy="2651330"/>
            </a:xfrm>
          </p:grpSpPr>
          <p:pic>
            <p:nvPicPr>
              <p:cNvPr id="5" name="Imagen 4">
                <a:extLst>
                  <a:ext uri="{FF2B5EF4-FFF2-40B4-BE49-F238E27FC236}">
                    <a16:creationId xmlns:a16="http://schemas.microsoft.com/office/drawing/2014/main" id="{67D7347F-5655-4B92-9BAC-B769ACE54349}"/>
                  </a:ext>
                </a:extLst>
              </p:cNvPr>
              <p:cNvPicPr>
                <a:picLocks noChangeAspect="1"/>
              </p:cNvPicPr>
              <p:nvPr/>
            </p:nvPicPr>
            <p:blipFill>
              <a:blip r:embed="rId3"/>
              <a:stretch>
                <a:fillRect/>
              </a:stretch>
            </p:blipFill>
            <p:spPr>
              <a:xfrm>
                <a:off x="8107670" y="2608730"/>
                <a:ext cx="3788407" cy="2651330"/>
              </a:xfrm>
              <a:prstGeom prst="rect">
                <a:avLst/>
              </a:prstGeom>
            </p:spPr>
          </p:pic>
          <p:pic>
            <p:nvPicPr>
              <p:cNvPr id="12" name="Imagen 11">
                <a:extLst>
                  <a:ext uri="{FF2B5EF4-FFF2-40B4-BE49-F238E27FC236}">
                    <a16:creationId xmlns:a16="http://schemas.microsoft.com/office/drawing/2014/main" id="{30A1E6AE-33B6-4CD4-8CF2-61301F2805BC}"/>
                  </a:ext>
                </a:extLst>
              </p:cNvPr>
              <p:cNvPicPr>
                <a:picLocks noChangeAspect="1"/>
              </p:cNvPicPr>
              <p:nvPr/>
            </p:nvPicPr>
            <p:blipFill>
              <a:blip r:embed="rId4"/>
              <a:stretch>
                <a:fillRect/>
              </a:stretch>
            </p:blipFill>
            <p:spPr>
              <a:xfrm>
                <a:off x="2638379" y="2608730"/>
                <a:ext cx="3932708" cy="2651330"/>
              </a:xfrm>
              <a:prstGeom prst="rect">
                <a:avLst/>
              </a:prstGeom>
            </p:spPr>
          </p:pic>
          <p:grpSp>
            <p:nvGrpSpPr>
              <p:cNvPr id="11" name="Grupo 10">
                <a:extLst>
                  <a:ext uri="{FF2B5EF4-FFF2-40B4-BE49-F238E27FC236}">
                    <a16:creationId xmlns:a16="http://schemas.microsoft.com/office/drawing/2014/main" id="{CF27AA3F-7D9B-40FA-8858-7F835D049206}"/>
                  </a:ext>
                </a:extLst>
              </p:cNvPr>
              <p:cNvGrpSpPr/>
              <p:nvPr/>
            </p:nvGrpSpPr>
            <p:grpSpPr>
              <a:xfrm>
                <a:off x="3141255" y="4089619"/>
                <a:ext cx="2926956" cy="579471"/>
                <a:chOff x="2494624" y="3503662"/>
                <a:chExt cx="1500327" cy="262307"/>
              </a:xfrm>
            </p:grpSpPr>
            <p:sp>
              <p:nvSpPr>
                <p:cNvPr id="7" name="Google Shape;119;p17">
                  <a:extLst>
                    <a:ext uri="{FF2B5EF4-FFF2-40B4-BE49-F238E27FC236}">
                      <a16:creationId xmlns:a16="http://schemas.microsoft.com/office/drawing/2014/main" id="{8801963C-627A-4532-81BA-B736B3735329}"/>
                    </a:ext>
                  </a:extLst>
                </p:cNvPr>
                <p:cNvSpPr/>
                <p:nvPr/>
              </p:nvSpPr>
              <p:spPr>
                <a:xfrm>
                  <a:off x="2494624" y="3503662"/>
                  <a:ext cx="1500327" cy="125944"/>
                </a:xfrm>
                <a:prstGeom prst="roundRect">
                  <a:avLst>
                    <a:gd name="adj" fmla="val 16667"/>
                  </a:avLst>
                </a:prstGeom>
                <a:noFill/>
                <a:ln w="5715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dirty="0">
                    <a:solidFill>
                      <a:schemeClr val="dk1"/>
                    </a:solidFill>
                    <a:latin typeface="Arial"/>
                    <a:ea typeface="Arial"/>
                    <a:cs typeface="Arial"/>
                    <a:sym typeface="Arial"/>
                  </a:endParaRPr>
                </a:p>
              </p:txBody>
            </p:sp>
            <p:sp>
              <p:nvSpPr>
                <p:cNvPr id="8" name="Google Shape;119;p17">
                  <a:extLst>
                    <a:ext uri="{FF2B5EF4-FFF2-40B4-BE49-F238E27FC236}">
                      <a16:creationId xmlns:a16="http://schemas.microsoft.com/office/drawing/2014/main" id="{CC6867E1-3A87-4384-9DDF-F6E779E35116}"/>
                    </a:ext>
                  </a:extLst>
                </p:cNvPr>
                <p:cNvSpPr/>
                <p:nvPr/>
              </p:nvSpPr>
              <p:spPr>
                <a:xfrm>
                  <a:off x="2494624" y="3640025"/>
                  <a:ext cx="1500327" cy="125944"/>
                </a:xfrm>
                <a:prstGeom prst="roundRect">
                  <a:avLst>
                    <a:gd name="adj" fmla="val 16667"/>
                  </a:avLst>
                </a:prstGeom>
                <a:noFill/>
                <a:ln w="5715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dirty="0">
                    <a:solidFill>
                      <a:schemeClr val="dk1"/>
                    </a:solidFill>
                    <a:latin typeface="Arial"/>
                    <a:ea typeface="Arial"/>
                    <a:cs typeface="Arial"/>
                    <a:sym typeface="Arial"/>
                  </a:endParaRPr>
                </a:p>
              </p:txBody>
            </p:sp>
          </p:grpSp>
          <p:grpSp>
            <p:nvGrpSpPr>
              <p:cNvPr id="13" name="Grupo 12">
                <a:extLst>
                  <a:ext uri="{FF2B5EF4-FFF2-40B4-BE49-F238E27FC236}">
                    <a16:creationId xmlns:a16="http://schemas.microsoft.com/office/drawing/2014/main" id="{C9CE7CAC-7FF5-471E-9FF9-49E3E8486436}"/>
                  </a:ext>
                </a:extLst>
              </p:cNvPr>
              <p:cNvGrpSpPr/>
              <p:nvPr/>
            </p:nvGrpSpPr>
            <p:grpSpPr>
              <a:xfrm>
                <a:off x="8538394" y="4055607"/>
                <a:ext cx="2926958" cy="579471"/>
                <a:chOff x="2931481" y="3535163"/>
                <a:chExt cx="1500328" cy="262307"/>
              </a:xfrm>
            </p:grpSpPr>
            <p:sp>
              <p:nvSpPr>
                <p:cNvPr id="14" name="Google Shape;119;p17">
                  <a:extLst>
                    <a:ext uri="{FF2B5EF4-FFF2-40B4-BE49-F238E27FC236}">
                      <a16:creationId xmlns:a16="http://schemas.microsoft.com/office/drawing/2014/main" id="{CFA18135-BDE0-4887-B8CA-8B6E030BF9D8}"/>
                    </a:ext>
                  </a:extLst>
                </p:cNvPr>
                <p:cNvSpPr/>
                <p:nvPr/>
              </p:nvSpPr>
              <p:spPr>
                <a:xfrm>
                  <a:off x="2931482" y="3535163"/>
                  <a:ext cx="1500327" cy="125944"/>
                </a:xfrm>
                <a:prstGeom prst="roundRect">
                  <a:avLst>
                    <a:gd name="adj" fmla="val 16667"/>
                  </a:avLst>
                </a:prstGeom>
                <a:noFill/>
                <a:ln w="5715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dirty="0">
                    <a:solidFill>
                      <a:schemeClr val="dk1"/>
                    </a:solidFill>
                    <a:latin typeface="Arial"/>
                    <a:ea typeface="Arial"/>
                    <a:cs typeface="Arial"/>
                    <a:sym typeface="Arial"/>
                  </a:endParaRPr>
                </a:p>
              </p:txBody>
            </p:sp>
            <p:sp>
              <p:nvSpPr>
                <p:cNvPr id="15" name="Google Shape;119;p17">
                  <a:extLst>
                    <a:ext uri="{FF2B5EF4-FFF2-40B4-BE49-F238E27FC236}">
                      <a16:creationId xmlns:a16="http://schemas.microsoft.com/office/drawing/2014/main" id="{047CB7E0-AC71-4876-B6F7-FAA5EB2F5E2F}"/>
                    </a:ext>
                  </a:extLst>
                </p:cNvPr>
                <p:cNvSpPr/>
                <p:nvPr/>
              </p:nvSpPr>
              <p:spPr>
                <a:xfrm>
                  <a:off x="2931481" y="3671526"/>
                  <a:ext cx="1500327" cy="125944"/>
                </a:xfrm>
                <a:prstGeom prst="roundRect">
                  <a:avLst>
                    <a:gd name="adj" fmla="val 16667"/>
                  </a:avLst>
                </a:prstGeom>
                <a:noFill/>
                <a:ln w="5715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dirty="0">
                    <a:solidFill>
                      <a:schemeClr val="dk1"/>
                    </a:solidFill>
                    <a:latin typeface="Arial"/>
                    <a:ea typeface="Arial"/>
                    <a:cs typeface="Arial"/>
                    <a:sym typeface="Arial"/>
                  </a:endParaRPr>
                </a:p>
              </p:txBody>
            </p:sp>
          </p:grpSp>
        </p:grpSp>
        <p:sp>
          <p:nvSpPr>
            <p:cNvPr id="17" name="Flecha: a la derecha 16">
              <a:extLst>
                <a:ext uri="{FF2B5EF4-FFF2-40B4-BE49-F238E27FC236}">
                  <a16:creationId xmlns:a16="http://schemas.microsoft.com/office/drawing/2014/main" id="{B776FAE7-4245-4E29-8A3A-B9AEADEF440F}"/>
                </a:ext>
              </a:extLst>
            </p:cNvPr>
            <p:cNvSpPr/>
            <p:nvPr/>
          </p:nvSpPr>
          <p:spPr>
            <a:xfrm>
              <a:off x="763480" y="4230230"/>
              <a:ext cx="967666" cy="440358"/>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s-CO"/>
            </a:p>
          </p:txBody>
        </p:sp>
        <p:sp>
          <p:nvSpPr>
            <p:cNvPr id="18" name="Flecha: a la derecha 17">
              <a:extLst>
                <a:ext uri="{FF2B5EF4-FFF2-40B4-BE49-F238E27FC236}">
                  <a16:creationId xmlns:a16="http://schemas.microsoft.com/office/drawing/2014/main" id="{46DEA839-FFFA-4286-A2E6-FCF697DCCA45}"/>
                </a:ext>
              </a:extLst>
            </p:cNvPr>
            <p:cNvSpPr/>
            <p:nvPr/>
          </p:nvSpPr>
          <p:spPr>
            <a:xfrm>
              <a:off x="6215282" y="4162451"/>
              <a:ext cx="967666" cy="440358"/>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s-CO"/>
            </a:p>
          </p:txBody>
        </p:sp>
      </p:grpSp>
    </p:spTree>
    <p:extLst>
      <p:ext uri="{BB962C8B-B14F-4D97-AF65-F5344CB8AC3E}">
        <p14:creationId xmlns:p14="http://schemas.microsoft.com/office/powerpoint/2010/main" val="1947263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pic>
        <p:nvPicPr>
          <p:cNvPr id="3" name="Imagen 2">
            <a:extLst>
              <a:ext uri="{FF2B5EF4-FFF2-40B4-BE49-F238E27FC236}">
                <a16:creationId xmlns:a16="http://schemas.microsoft.com/office/drawing/2014/main" id="{DC6607AE-2417-444A-B28D-0349F66A0AB7}"/>
              </a:ext>
            </a:extLst>
          </p:cNvPr>
          <p:cNvPicPr>
            <a:picLocks noChangeAspect="1"/>
          </p:cNvPicPr>
          <p:nvPr/>
        </p:nvPicPr>
        <p:blipFill>
          <a:blip r:embed="rId3"/>
          <a:stretch>
            <a:fillRect/>
          </a:stretch>
        </p:blipFill>
        <p:spPr>
          <a:xfrm>
            <a:off x="3579689" y="2248363"/>
            <a:ext cx="5032621" cy="3951629"/>
          </a:xfrm>
          <a:prstGeom prst="rect">
            <a:avLst/>
          </a:prstGeom>
        </p:spPr>
      </p:pic>
      <p:sp>
        <p:nvSpPr>
          <p:cNvPr id="6" name="CuadroTexto 5">
            <a:extLst>
              <a:ext uri="{FF2B5EF4-FFF2-40B4-BE49-F238E27FC236}">
                <a16:creationId xmlns:a16="http://schemas.microsoft.com/office/drawing/2014/main" id="{0A0409BE-E8D8-401D-AD1A-0DCC1E86FC50}"/>
              </a:ext>
            </a:extLst>
          </p:cNvPr>
          <p:cNvSpPr txBox="1"/>
          <p:nvPr/>
        </p:nvSpPr>
        <p:spPr>
          <a:xfrm>
            <a:off x="763480" y="1366704"/>
            <a:ext cx="10591060" cy="338554"/>
          </a:xfrm>
          <a:prstGeom prst="rect">
            <a:avLst/>
          </a:prstGeom>
          <a:noFill/>
        </p:spPr>
        <p:txBody>
          <a:bodyPr wrap="square" rtlCol="0">
            <a:spAutoFit/>
          </a:bodyPr>
          <a:lstStyle/>
          <a:p>
            <a:pPr algn="ctr"/>
            <a:r>
              <a:rPr lang="es-MX" sz="1600" dirty="0">
                <a:latin typeface="Calibri" pitchFamily="34" charset="0"/>
              </a:rPr>
              <a:t>El sistema le solicitará que autorice el tratamiento de sus datos personales. Seleccione el botón </a:t>
            </a:r>
            <a:r>
              <a:rPr lang="es-CO" sz="1600" b="1" dirty="0">
                <a:latin typeface="Calibri" pitchFamily="34" charset="0"/>
              </a:rPr>
              <a:t>«Acepto» </a:t>
            </a:r>
            <a:endParaRPr lang="es-CO" sz="1600"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DF886B41-09DA-4B0C-A3D0-BED8FE9ABB9B}"/>
              </a:ext>
            </a:extLst>
          </p:cNvPr>
          <p:cNvSpPr txBox="1"/>
          <p:nvPr/>
        </p:nvSpPr>
        <p:spPr>
          <a:xfrm>
            <a:off x="658672" y="1130541"/>
            <a:ext cx="11006585" cy="338554"/>
          </a:xfrm>
          <a:prstGeom prst="rect">
            <a:avLst/>
          </a:prstGeom>
          <a:noFill/>
        </p:spPr>
        <p:txBody>
          <a:bodyPr wrap="square" rtlCol="0">
            <a:spAutoFit/>
          </a:bodyPr>
          <a:lstStyle/>
          <a:p>
            <a:pPr algn="ctr"/>
            <a:r>
              <a:rPr lang="es-CO" sz="1600" dirty="0">
                <a:latin typeface="Calibri" pitchFamily="34" charset="0"/>
              </a:rPr>
              <a:t>Seleccione el tipo de inscripción que desea realizar.</a:t>
            </a:r>
            <a:endParaRPr lang="es-CO" sz="1600" dirty="0"/>
          </a:p>
        </p:txBody>
      </p:sp>
      <p:grpSp>
        <p:nvGrpSpPr>
          <p:cNvPr id="10" name="Grupo 9">
            <a:extLst>
              <a:ext uri="{FF2B5EF4-FFF2-40B4-BE49-F238E27FC236}">
                <a16:creationId xmlns:a16="http://schemas.microsoft.com/office/drawing/2014/main" id="{B0AB0D14-7D1B-4E77-8386-80BEC5E4EDA8}"/>
              </a:ext>
            </a:extLst>
          </p:cNvPr>
          <p:cNvGrpSpPr/>
          <p:nvPr/>
        </p:nvGrpSpPr>
        <p:grpSpPr>
          <a:xfrm>
            <a:off x="658672" y="1637266"/>
            <a:ext cx="5555696" cy="3881334"/>
            <a:chOff x="632040" y="1931147"/>
            <a:chExt cx="5757281" cy="4195825"/>
          </a:xfrm>
        </p:grpSpPr>
        <p:pic>
          <p:nvPicPr>
            <p:cNvPr id="4" name="Imagen 3" descr="Interfaz de usuario gráfica, Texto, Aplicación&#10;&#10;Descripción generada automáticamente">
              <a:extLst>
                <a:ext uri="{FF2B5EF4-FFF2-40B4-BE49-F238E27FC236}">
                  <a16:creationId xmlns:a16="http://schemas.microsoft.com/office/drawing/2014/main" id="{7CC38D3E-6B72-4CB3-A99E-E39E6E43B45F}"/>
                </a:ext>
              </a:extLst>
            </p:cNvPr>
            <p:cNvPicPr>
              <a:picLocks noChangeAspect="1"/>
            </p:cNvPicPr>
            <p:nvPr/>
          </p:nvPicPr>
          <p:blipFill rotWithShape="1">
            <a:blip r:embed="rId2"/>
            <a:srcRect l="4533" t="14460" r="38820" b="5946"/>
            <a:stretch/>
          </p:blipFill>
          <p:spPr>
            <a:xfrm>
              <a:off x="632040" y="1931147"/>
              <a:ext cx="5315999" cy="4195825"/>
            </a:xfrm>
            <a:prstGeom prst="rect">
              <a:avLst/>
            </a:prstGeom>
          </p:spPr>
        </p:pic>
        <p:sp>
          <p:nvSpPr>
            <p:cNvPr id="6" name="14 Rectángulo redondeado">
              <a:extLst>
                <a:ext uri="{FF2B5EF4-FFF2-40B4-BE49-F238E27FC236}">
                  <a16:creationId xmlns:a16="http://schemas.microsoft.com/office/drawing/2014/main" id="{4330D95E-BC31-499C-9223-07621C249386}"/>
                </a:ext>
              </a:extLst>
            </p:cNvPr>
            <p:cNvSpPr/>
            <p:nvPr/>
          </p:nvSpPr>
          <p:spPr>
            <a:xfrm>
              <a:off x="912227" y="2928020"/>
              <a:ext cx="2058033" cy="2892516"/>
            </a:xfrm>
            <a:prstGeom prst="roundRect">
              <a:avLst>
                <a:gd name="adj" fmla="val 7008"/>
              </a:avLst>
            </a:prstGeom>
            <a:noFill/>
            <a:ln w="57150"/>
          </p:spPr>
          <p:style>
            <a:lnRef idx="2">
              <a:schemeClr val="accent6"/>
            </a:lnRef>
            <a:fillRef idx="1">
              <a:schemeClr val="lt1"/>
            </a:fillRef>
            <a:effectRef idx="0">
              <a:schemeClr val="accent6"/>
            </a:effectRef>
            <a:fontRef idx="minor">
              <a:schemeClr val="dk1"/>
            </a:fontRef>
          </p:style>
          <p:txBody>
            <a:bodyPr rtlCol="0" anchor="ctr"/>
            <a:lstStyle/>
            <a:p>
              <a:pPr algn="ctr"/>
              <a:endParaRPr lang="es-CO" dirty="0"/>
            </a:p>
          </p:txBody>
        </p:sp>
        <p:cxnSp>
          <p:nvCxnSpPr>
            <p:cNvPr id="9" name="8 Conector recto de flecha">
              <a:extLst>
                <a:ext uri="{FF2B5EF4-FFF2-40B4-BE49-F238E27FC236}">
                  <a16:creationId xmlns:a16="http://schemas.microsoft.com/office/drawing/2014/main" id="{9CD1B827-E20B-48A1-B583-A735896EAE5E}"/>
                </a:ext>
              </a:extLst>
            </p:cNvPr>
            <p:cNvCxnSpPr>
              <a:cxnSpLocks/>
            </p:cNvCxnSpPr>
            <p:nvPr/>
          </p:nvCxnSpPr>
          <p:spPr>
            <a:xfrm flipH="1">
              <a:off x="2974835" y="4502431"/>
              <a:ext cx="3414486" cy="29608"/>
            </a:xfrm>
            <a:prstGeom prst="straightConnector1">
              <a:avLst/>
            </a:prstGeom>
            <a:ln w="57150">
              <a:headEnd type="none"/>
              <a:tailEnd type="arrow"/>
            </a:ln>
          </p:spPr>
          <p:style>
            <a:lnRef idx="1">
              <a:schemeClr val="accent6"/>
            </a:lnRef>
            <a:fillRef idx="0">
              <a:schemeClr val="accent6"/>
            </a:fillRef>
            <a:effectRef idx="0">
              <a:schemeClr val="accent6"/>
            </a:effectRef>
            <a:fontRef idx="minor">
              <a:schemeClr val="tx1"/>
            </a:fontRef>
          </p:style>
        </p:cxnSp>
      </p:grpSp>
      <p:grpSp>
        <p:nvGrpSpPr>
          <p:cNvPr id="20" name="Grupo 19">
            <a:extLst>
              <a:ext uri="{FF2B5EF4-FFF2-40B4-BE49-F238E27FC236}">
                <a16:creationId xmlns:a16="http://schemas.microsoft.com/office/drawing/2014/main" id="{4DFAE267-13E9-4EE4-A764-C31B89ACB9CE}"/>
              </a:ext>
            </a:extLst>
          </p:cNvPr>
          <p:cNvGrpSpPr/>
          <p:nvPr/>
        </p:nvGrpSpPr>
        <p:grpSpPr>
          <a:xfrm>
            <a:off x="6407430" y="1584505"/>
            <a:ext cx="4174752" cy="3966214"/>
            <a:chOff x="6389675" y="1854322"/>
            <a:chExt cx="4618034" cy="4165883"/>
          </a:xfrm>
        </p:grpSpPr>
        <p:grpSp>
          <p:nvGrpSpPr>
            <p:cNvPr id="18" name="Grupo 17">
              <a:extLst>
                <a:ext uri="{FF2B5EF4-FFF2-40B4-BE49-F238E27FC236}">
                  <a16:creationId xmlns:a16="http://schemas.microsoft.com/office/drawing/2014/main" id="{497BD981-2E3A-4EBC-8350-C401E44077B7}"/>
                </a:ext>
              </a:extLst>
            </p:cNvPr>
            <p:cNvGrpSpPr/>
            <p:nvPr/>
          </p:nvGrpSpPr>
          <p:grpSpPr>
            <a:xfrm>
              <a:off x="6389675" y="1854322"/>
              <a:ext cx="4618034" cy="3947797"/>
              <a:chOff x="6389675" y="1854322"/>
              <a:chExt cx="4618034" cy="3947797"/>
            </a:xfrm>
          </p:grpSpPr>
          <p:pic>
            <p:nvPicPr>
              <p:cNvPr id="11" name="Imagen 10">
                <a:extLst>
                  <a:ext uri="{FF2B5EF4-FFF2-40B4-BE49-F238E27FC236}">
                    <a16:creationId xmlns:a16="http://schemas.microsoft.com/office/drawing/2014/main" id="{C0198E34-8FED-44DE-B92D-7AB1226F052E}"/>
                  </a:ext>
                </a:extLst>
              </p:cNvPr>
              <p:cNvPicPr>
                <a:picLocks noChangeAspect="1"/>
              </p:cNvPicPr>
              <p:nvPr/>
            </p:nvPicPr>
            <p:blipFill>
              <a:blip r:embed="rId3"/>
              <a:stretch>
                <a:fillRect/>
              </a:stretch>
            </p:blipFill>
            <p:spPr>
              <a:xfrm>
                <a:off x="7439500" y="1856568"/>
                <a:ext cx="1380552" cy="1265883"/>
              </a:xfrm>
              <a:prstGeom prst="rect">
                <a:avLst/>
              </a:prstGeom>
            </p:spPr>
          </p:pic>
          <p:pic>
            <p:nvPicPr>
              <p:cNvPr id="12" name="Imagen 11">
                <a:extLst>
                  <a:ext uri="{FF2B5EF4-FFF2-40B4-BE49-F238E27FC236}">
                    <a16:creationId xmlns:a16="http://schemas.microsoft.com/office/drawing/2014/main" id="{958907A2-A1E9-4E3E-9382-755F161DFED9}"/>
                  </a:ext>
                </a:extLst>
              </p:cNvPr>
              <p:cNvPicPr>
                <a:picLocks noChangeAspect="1"/>
              </p:cNvPicPr>
              <p:nvPr/>
            </p:nvPicPr>
            <p:blipFill>
              <a:blip r:embed="rId4"/>
              <a:stretch>
                <a:fillRect/>
              </a:stretch>
            </p:blipFill>
            <p:spPr>
              <a:xfrm>
                <a:off x="6444208" y="1909739"/>
                <a:ext cx="1189399" cy="1202327"/>
              </a:xfrm>
              <a:prstGeom prst="rect">
                <a:avLst/>
              </a:prstGeom>
            </p:spPr>
          </p:pic>
          <p:pic>
            <p:nvPicPr>
              <p:cNvPr id="13" name="Imagen 12">
                <a:extLst>
                  <a:ext uri="{FF2B5EF4-FFF2-40B4-BE49-F238E27FC236}">
                    <a16:creationId xmlns:a16="http://schemas.microsoft.com/office/drawing/2014/main" id="{96DDCB7C-C553-4B15-9363-2B4970332B31}"/>
                  </a:ext>
                </a:extLst>
              </p:cNvPr>
              <p:cNvPicPr>
                <a:picLocks noChangeAspect="1"/>
              </p:cNvPicPr>
              <p:nvPr/>
            </p:nvPicPr>
            <p:blipFill>
              <a:blip r:embed="rId5"/>
              <a:stretch>
                <a:fillRect/>
              </a:stretch>
            </p:blipFill>
            <p:spPr>
              <a:xfrm>
                <a:off x="8724078" y="1871782"/>
                <a:ext cx="1104184" cy="1261564"/>
              </a:xfrm>
              <a:prstGeom prst="rect">
                <a:avLst/>
              </a:prstGeom>
            </p:spPr>
          </p:pic>
          <p:pic>
            <p:nvPicPr>
              <p:cNvPr id="14" name="Imagen 13">
                <a:extLst>
                  <a:ext uri="{FF2B5EF4-FFF2-40B4-BE49-F238E27FC236}">
                    <a16:creationId xmlns:a16="http://schemas.microsoft.com/office/drawing/2014/main" id="{84171ED8-C8F4-4A6E-9211-236CB633B34E}"/>
                  </a:ext>
                </a:extLst>
              </p:cNvPr>
              <p:cNvPicPr>
                <a:picLocks noChangeAspect="1"/>
              </p:cNvPicPr>
              <p:nvPr/>
            </p:nvPicPr>
            <p:blipFill>
              <a:blip r:embed="rId6"/>
              <a:stretch>
                <a:fillRect/>
              </a:stretch>
            </p:blipFill>
            <p:spPr>
              <a:xfrm>
                <a:off x="6389675" y="3102747"/>
                <a:ext cx="1243932" cy="1305292"/>
              </a:xfrm>
              <a:prstGeom prst="rect">
                <a:avLst/>
              </a:prstGeom>
            </p:spPr>
          </p:pic>
          <p:pic>
            <p:nvPicPr>
              <p:cNvPr id="15" name="Imagen 14">
                <a:extLst>
                  <a:ext uri="{FF2B5EF4-FFF2-40B4-BE49-F238E27FC236}">
                    <a16:creationId xmlns:a16="http://schemas.microsoft.com/office/drawing/2014/main" id="{3AD50D4D-DC72-4E12-BFEF-86C763AA6F28}"/>
                  </a:ext>
                </a:extLst>
              </p:cNvPr>
              <p:cNvPicPr>
                <a:picLocks noChangeAspect="1"/>
              </p:cNvPicPr>
              <p:nvPr/>
            </p:nvPicPr>
            <p:blipFill>
              <a:blip r:embed="rId7"/>
              <a:stretch>
                <a:fillRect/>
              </a:stretch>
            </p:blipFill>
            <p:spPr>
              <a:xfrm>
                <a:off x="7572694" y="3133345"/>
                <a:ext cx="1247358" cy="1265883"/>
              </a:xfrm>
              <a:prstGeom prst="rect">
                <a:avLst/>
              </a:prstGeom>
            </p:spPr>
          </p:pic>
          <p:pic>
            <p:nvPicPr>
              <p:cNvPr id="16" name="Imagen 15">
                <a:extLst>
                  <a:ext uri="{FF2B5EF4-FFF2-40B4-BE49-F238E27FC236}">
                    <a16:creationId xmlns:a16="http://schemas.microsoft.com/office/drawing/2014/main" id="{3500A815-6206-4F7B-8612-E3D0512D0B17}"/>
                  </a:ext>
                </a:extLst>
              </p:cNvPr>
              <p:cNvPicPr>
                <a:picLocks noChangeAspect="1"/>
              </p:cNvPicPr>
              <p:nvPr/>
            </p:nvPicPr>
            <p:blipFill rotWithShape="1">
              <a:blip r:embed="rId8"/>
              <a:srcRect l="4267" t="2756" r="5380" b="3189"/>
              <a:stretch/>
            </p:blipFill>
            <p:spPr>
              <a:xfrm>
                <a:off x="9760351" y="1854322"/>
                <a:ext cx="1247358" cy="1268129"/>
              </a:xfrm>
              <a:prstGeom prst="rect">
                <a:avLst/>
              </a:prstGeom>
            </p:spPr>
          </p:pic>
          <p:pic>
            <p:nvPicPr>
              <p:cNvPr id="17" name="Imagen 16">
                <a:extLst>
                  <a:ext uri="{FF2B5EF4-FFF2-40B4-BE49-F238E27FC236}">
                    <a16:creationId xmlns:a16="http://schemas.microsoft.com/office/drawing/2014/main" id="{DD20F5D9-5319-4457-B381-688BCC38F8E6}"/>
                  </a:ext>
                </a:extLst>
              </p:cNvPr>
              <p:cNvPicPr>
                <a:picLocks noChangeAspect="1"/>
              </p:cNvPicPr>
              <p:nvPr/>
            </p:nvPicPr>
            <p:blipFill>
              <a:blip r:embed="rId9"/>
              <a:stretch>
                <a:fillRect/>
              </a:stretch>
            </p:blipFill>
            <p:spPr>
              <a:xfrm>
                <a:off x="6490739" y="4596118"/>
                <a:ext cx="1041803" cy="1206001"/>
              </a:xfrm>
              <a:prstGeom prst="rect">
                <a:avLst/>
              </a:prstGeom>
            </p:spPr>
          </p:pic>
        </p:grpSp>
        <p:sp>
          <p:nvSpPr>
            <p:cNvPr id="19" name="CuadroTexto 18">
              <a:extLst>
                <a:ext uri="{FF2B5EF4-FFF2-40B4-BE49-F238E27FC236}">
                  <a16:creationId xmlns:a16="http://schemas.microsoft.com/office/drawing/2014/main" id="{845EAAB7-69C7-45DA-89AA-7648BBF85EF2}"/>
                </a:ext>
              </a:extLst>
            </p:cNvPr>
            <p:cNvSpPr txBox="1"/>
            <p:nvPr/>
          </p:nvSpPr>
          <p:spPr>
            <a:xfrm>
              <a:off x="6444208" y="5743206"/>
              <a:ext cx="3497261" cy="276999"/>
            </a:xfrm>
            <a:prstGeom prst="rect">
              <a:avLst/>
            </a:prstGeom>
            <a:noFill/>
          </p:spPr>
          <p:txBody>
            <a:bodyPr wrap="square" rtlCol="0">
              <a:spAutoFit/>
            </a:bodyPr>
            <a:lstStyle/>
            <a:p>
              <a:r>
                <a:rPr lang="es-CO" sz="1200" dirty="0">
                  <a:latin typeface="Calibri" pitchFamily="34" charset="0"/>
                </a:rPr>
                <a:t>** Solo para programas de posgrados.</a:t>
              </a:r>
              <a:endParaRPr lang="es-CO" sz="1200" dirty="0"/>
            </a:p>
          </p:txBody>
        </p:sp>
      </p:grpSp>
      <p:sp>
        <p:nvSpPr>
          <p:cNvPr id="23" name="CuadroTexto 22">
            <a:extLst>
              <a:ext uri="{FF2B5EF4-FFF2-40B4-BE49-F238E27FC236}">
                <a16:creationId xmlns:a16="http://schemas.microsoft.com/office/drawing/2014/main" id="{DEB2CB42-DD05-41CC-9C22-E2F20525503F}"/>
              </a:ext>
            </a:extLst>
          </p:cNvPr>
          <p:cNvSpPr txBox="1"/>
          <p:nvPr/>
        </p:nvSpPr>
        <p:spPr>
          <a:xfrm>
            <a:off x="383241" y="5632296"/>
            <a:ext cx="11282016" cy="738664"/>
          </a:xfrm>
          <a:prstGeom prst="rect">
            <a:avLst/>
          </a:prstGeom>
          <a:noFill/>
        </p:spPr>
        <p:txBody>
          <a:bodyPr wrap="square">
            <a:spAutoFit/>
          </a:bodyPr>
          <a:lstStyle/>
          <a:p>
            <a:pPr algn="just"/>
            <a:r>
              <a:rPr lang="es-CO" sz="1400" dirty="0">
                <a:latin typeface="Calibri" pitchFamily="34" charset="0"/>
              </a:rPr>
              <a:t>Cada tipo de admisión cuenta con validaciones por parte del sistema, en los reingresos y las transferencias y la rutas de formación y homologación, el sistema verificará los requisitos descritos en el reglamento académico, como por ejemplo promedio del último nivel de avance cursado, promedio ponderado acumulado y tiempo máximo transcurrido desde su última matrícula activa.</a:t>
            </a:r>
            <a:endParaRPr lang="es-CO" sz="1400" dirty="0"/>
          </a:p>
        </p:txBody>
      </p:sp>
    </p:spTree>
    <p:extLst>
      <p:ext uri="{BB962C8B-B14F-4D97-AF65-F5344CB8AC3E}">
        <p14:creationId xmlns:p14="http://schemas.microsoft.com/office/powerpoint/2010/main" val="13573168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uadroTexto 21">
            <a:extLst>
              <a:ext uri="{FF2B5EF4-FFF2-40B4-BE49-F238E27FC236}">
                <a16:creationId xmlns:a16="http://schemas.microsoft.com/office/drawing/2014/main" id="{5F821809-3FF1-4FB6-85BC-C36C30AE7320}"/>
              </a:ext>
            </a:extLst>
          </p:cNvPr>
          <p:cNvSpPr txBox="1"/>
          <p:nvPr/>
        </p:nvSpPr>
        <p:spPr>
          <a:xfrm>
            <a:off x="1854200" y="1033071"/>
            <a:ext cx="8483600" cy="338554"/>
          </a:xfrm>
          <a:prstGeom prst="rect">
            <a:avLst/>
          </a:prstGeom>
          <a:noFill/>
        </p:spPr>
        <p:txBody>
          <a:bodyPr wrap="square" rtlCol="0">
            <a:spAutoFit/>
          </a:bodyPr>
          <a:lstStyle/>
          <a:p>
            <a:pPr algn="ctr"/>
            <a:r>
              <a:rPr lang="es-CO" sz="1600" dirty="0">
                <a:latin typeface="Calibri" pitchFamily="34" charset="0"/>
              </a:rPr>
              <a:t>Posteriormente, seleccione el programa de su preferencia.</a:t>
            </a:r>
            <a:endParaRPr lang="es-CO" sz="1600" dirty="0"/>
          </a:p>
        </p:txBody>
      </p:sp>
      <p:pic>
        <p:nvPicPr>
          <p:cNvPr id="25" name="Imagen 24" descr="Interfaz de usuario gráfica, Texto, Aplicación&#10;&#10;Descripción generada automáticamente">
            <a:extLst>
              <a:ext uri="{FF2B5EF4-FFF2-40B4-BE49-F238E27FC236}">
                <a16:creationId xmlns:a16="http://schemas.microsoft.com/office/drawing/2014/main" id="{36C8E4B1-C2DF-4623-99A5-E4D784D1381A}"/>
              </a:ext>
            </a:extLst>
          </p:cNvPr>
          <p:cNvPicPr>
            <a:picLocks noChangeAspect="1"/>
          </p:cNvPicPr>
          <p:nvPr/>
        </p:nvPicPr>
        <p:blipFill rotWithShape="1">
          <a:blip r:embed="rId2"/>
          <a:srcRect l="8216" t="43996" r="74133" b="10000"/>
          <a:stretch/>
        </p:blipFill>
        <p:spPr>
          <a:xfrm>
            <a:off x="2199861" y="3295835"/>
            <a:ext cx="1656522" cy="2425148"/>
          </a:xfrm>
          <a:prstGeom prst="rect">
            <a:avLst/>
          </a:prstGeom>
        </p:spPr>
      </p:pic>
      <p:grpSp>
        <p:nvGrpSpPr>
          <p:cNvPr id="8" name="Grupo 7">
            <a:extLst>
              <a:ext uri="{FF2B5EF4-FFF2-40B4-BE49-F238E27FC236}">
                <a16:creationId xmlns:a16="http://schemas.microsoft.com/office/drawing/2014/main" id="{A86D65E7-E37A-4007-BB46-F6105A9C9AC1}"/>
              </a:ext>
            </a:extLst>
          </p:cNvPr>
          <p:cNvGrpSpPr/>
          <p:nvPr/>
        </p:nvGrpSpPr>
        <p:grpSpPr>
          <a:xfrm>
            <a:off x="393700" y="1663855"/>
            <a:ext cx="7800390" cy="4319695"/>
            <a:chOff x="1854199" y="1846555"/>
            <a:chExt cx="8483601" cy="4492101"/>
          </a:xfrm>
        </p:grpSpPr>
        <p:grpSp>
          <p:nvGrpSpPr>
            <p:cNvPr id="2" name="Grupo 1">
              <a:extLst>
                <a:ext uri="{FF2B5EF4-FFF2-40B4-BE49-F238E27FC236}">
                  <a16:creationId xmlns:a16="http://schemas.microsoft.com/office/drawing/2014/main" id="{E56B926B-132B-4FAB-BF01-37279DE1E34A}"/>
                </a:ext>
              </a:extLst>
            </p:cNvPr>
            <p:cNvGrpSpPr/>
            <p:nvPr/>
          </p:nvGrpSpPr>
          <p:grpSpPr>
            <a:xfrm>
              <a:off x="1854199" y="1846555"/>
              <a:ext cx="8483601" cy="4492101"/>
              <a:chOff x="1854199" y="1846555"/>
              <a:chExt cx="8483601" cy="4492101"/>
            </a:xfrm>
          </p:grpSpPr>
          <p:pic>
            <p:nvPicPr>
              <p:cNvPr id="21" name="Imagen 20" descr="Interfaz de usuario gráfica&#10;&#10;Descripción generada automáticamente">
                <a:extLst>
                  <a:ext uri="{FF2B5EF4-FFF2-40B4-BE49-F238E27FC236}">
                    <a16:creationId xmlns:a16="http://schemas.microsoft.com/office/drawing/2014/main" id="{CE38E186-2906-45EB-B1C7-4B2B617D0B92}"/>
                  </a:ext>
                </a:extLst>
              </p:cNvPr>
              <p:cNvPicPr/>
              <p:nvPr/>
            </p:nvPicPr>
            <p:blipFill rotWithShape="1">
              <a:blip r:embed="rId3"/>
              <a:srcRect l="4560" t="12638" r="3629" b="3270"/>
              <a:stretch/>
            </p:blipFill>
            <p:spPr>
              <a:xfrm>
                <a:off x="1854199" y="1846555"/>
                <a:ext cx="8483601" cy="4492101"/>
              </a:xfrm>
              <a:prstGeom prst="rect">
                <a:avLst/>
              </a:prstGeom>
            </p:spPr>
          </p:pic>
          <p:sp>
            <p:nvSpPr>
              <p:cNvPr id="24" name="14 Rectángulo redondeado">
                <a:extLst>
                  <a:ext uri="{FF2B5EF4-FFF2-40B4-BE49-F238E27FC236}">
                    <a16:creationId xmlns:a16="http://schemas.microsoft.com/office/drawing/2014/main" id="{7F0B3643-ECC8-4536-89DD-0911EC1383B0}"/>
                  </a:ext>
                </a:extLst>
              </p:cNvPr>
              <p:cNvSpPr/>
              <p:nvPr/>
            </p:nvSpPr>
            <p:spPr>
              <a:xfrm>
                <a:off x="4482811" y="3146839"/>
                <a:ext cx="5204527" cy="2829248"/>
              </a:xfrm>
              <a:prstGeom prst="roundRect">
                <a:avLst>
                  <a:gd name="adj" fmla="val 10578"/>
                </a:avLst>
              </a:prstGeom>
              <a:noFill/>
              <a:ln w="57150">
                <a:solidFill>
                  <a:schemeClr val="accent6"/>
                </a:solidFill>
              </a:ln>
              <a:effectLst>
                <a:outerShdw blurRad="50800" dist="381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s-CO" dirty="0"/>
              </a:p>
            </p:txBody>
          </p:sp>
          <p:cxnSp>
            <p:nvCxnSpPr>
              <p:cNvPr id="28" name="8 Conector recto de flecha">
                <a:extLst>
                  <a:ext uri="{FF2B5EF4-FFF2-40B4-BE49-F238E27FC236}">
                    <a16:creationId xmlns:a16="http://schemas.microsoft.com/office/drawing/2014/main" id="{63D2AA11-116F-43D3-8B23-2E68776D45BE}"/>
                  </a:ext>
                </a:extLst>
              </p:cNvPr>
              <p:cNvCxnSpPr/>
              <p:nvPr/>
            </p:nvCxnSpPr>
            <p:spPr>
              <a:xfrm>
                <a:off x="3757736" y="4648219"/>
                <a:ext cx="725075" cy="0"/>
              </a:xfrm>
              <a:prstGeom prst="straightConnector1">
                <a:avLst/>
              </a:prstGeom>
              <a:ln w="57150">
                <a:solidFill>
                  <a:schemeClr val="accent6"/>
                </a:solidFill>
                <a:headEnd type="none"/>
                <a:tailEnd type="arrow"/>
              </a:ln>
              <a:effectLst>
                <a:outerShdw blurRad="50800" dist="38100" dir="5400000" algn="t" rotWithShape="0">
                  <a:prstClr val="black">
                    <a:alpha val="40000"/>
                  </a:prstClr>
                </a:outerShdw>
              </a:effectLst>
            </p:spPr>
            <p:style>
              <a:lnRef idx="3">
                <a:schemeClr val="accent3"/>
              </a:lnRef>
              <a:fillRef idx="0">
                <a:schemeClr val="accent3"/>
              </a:fillRef>
              <a:effectRef idx="2">
                <a:schemeClr val="accent3"/>
              </a:effectRef>
              <a:fontRef idx="minor">
                <a:schemeClr val="tx1"/>
              </a:fontRef>
            </p:style>
          </p:cxnSp>
        </p:grpSp>
        <p:pic>
          <p:nvPicPr>
            <p:cNvPr id="7" name="Imagen 6">
              <a:extLst>
                <a:ext uri="{FF2B5EF4-FFF2-40B4-BE49-F238E27FC236}">
                  <a16:creationId xmlns:a16="http://schemas.microsoft.com/office/drawing/2014/main" id="{272667EE-FEDD-408E-9BB9-61EDC1C89914}"/>
                </a:ext>
              </a:extLst>
            </p:cNvPr>
            <p:cNvPicPr>
              <a:picLocks noChangeAspect="1"/>
            </p:cNvPicPr>
            <p:nvPr/>
          </p:nvPicPr>
          <p:blipFill>
            <a:blip r:embed="rId4"/>
            <a:stretch>
              <a:fillRect/>
            </a:stretch>
          </p:blipFill>
          <p:spPr>
            <a:xfrm>
              <a:off x="2382077" y="3169364"/>
              <a:ext cx="1375659" cy="2678090"/>
            </a:xfrm>
            <a:prstGeom prst="rect">
              <a:avLst/>
            </a:prstGeom>
          </p:spPr>
        </p:pic>
      </p:grpSp>
      <p:sp>
        <p:nvSpPr>
          <p:cNvPr id="29" name="CuadroTexto 28">
            <a:extLst>
              <a:ext uri="{FF2B5EF4-FFF2-40B4-BE49-F238E27FC236}">
                <a16:creationId xmlns:a16="http://schemas.microsoft.com/office/drawing/2014/main" id="{1726E334-F6E6-4C8A-8C47-CF948F633061}"/>
              </a:ext>
            </a:extLst>
          </p:cNvPr>
          <p:cNvSpPr txBox="1"/>
          <p:nvPr/>
        </p:nvSpPr>
        <p:spPr>
          <a:xfrm>
            <a:off x="8262695" y="1685341"/>
            <a:ext cx="3637741" cy="3754874"/>
          </a:xfrm>
          <a:prstGeom prst="rect">
            <a:avLst/>
          </a:prstGeom>
          <a:noFill/>
        </p:spPr>
        <p:txBody>
          <a:bodyPr wrap="square" rtlCol="0">
            <a:spAutoFit/>
          </a:bodyPr>
          <a:lstStyle/>
          <a:p>
            <a:pPr algn="just"/>
            <a:r>
              <a:rPr lang="es-CO" dirty="0">
                <a:latin typeface="Calibri" pitchFamily="34" charset="0"/>
              </a:rPr>
              <a:t>En caso de que no aparezcan programas disponibles o el sistema le informe que no cumple con algún requisito, dependiendo del tipo de admisión y programa al que aspire, proceda de la siguiente forma:</a:t>
            </a:r>
          </a:p>
          <a:p>
            <a:pPr algn="just"/>
            <a:endParaRPr lang="es-CO" dirty="0">
              <a:latin typeface="Calibri" pitchFamily="34" charset="0"/>
            </a:endParaRPr>
          </a:p>
          <a:p>
            <a:pPr algn="just"/>
            <a:r>
              <a:rPr lang="es-CO" dirty="0">
                <a:latin typeface="Calibri" pitchFamily="34" charset="0"/>
              </a:rPr>
              <a:t>Pregrado</a:t>
            </a:r>
          </a:p>
          <a:p>
            <a:pPr algn="just"/>
            <a:endParaRPr lang="es-CO" dirty="0">
              <a:latin typeface="Calibri" pitchFamily="34" charset="0"/>
            </a:endParaRPr>
          </a:p>
          <a:p>
            <a:pPr algn="just"/>
            <a:r>
              <a:rPr lang="es-CO" dirty="0">
                <a:latin typeface="Calibri" pitchFamily="34" charset="0"/>
              </a:rPr>
              <a:t> - Primer ingreso, transferencia externa y ruta de formación en niveles académicos. - Oficina de Admisiones.</a:t>
            </a:r>
          </a:p>
          <a:p>
            <a:pPr algn="just"/>
            <a:endParaRPr lang="es-CO" dirty="0">
              <a:latin typeface="Calibri" pitchFamily="34" charset="0"/>
            </a:endParaRPr>
          </a:p>
          <a:p>
            <a:pPr algn="just"/>
            <a:r>
              <a:rPr lang="es-CO" dirty="0">
                <a:latin typeface="Calibri" pitchFamily="34" charset="0"/>
              </a:rPr>
              <a:t>- Reingresos y transferencia interna. - Oficina de Matrículas.</a:t>
            </a:r>
          </a:p>
          <a:p>
            <a:pPr marL="285750" indent="-285750" algn="just">
              <a:buFontTx/>
              <a:buChar char="-"/>
            </a:pPr>
            <a:endParaRPr lang="es-CO" dirty="0">
              <a:latin typeface="Calibri" pitchFamily="34" charset="0"/>
            </a:endParaRPr>
          </a:p>
          <a:p>
            <a:pPr algn="just"/>
            <a:endParaRPr lang="es-CO" dirty="0">
              <a:latin typeface="Calibri" pitchFamily="34" charset="0"/>
            </a:endParaRPr>
          </a:p>
          <a:p>
            <a:pPr algn="just"/>
            <a:r>
              <a:rPr lang="es-CO" dirty="0">
                <a:latin typeface="Calibri" pitchFamily="34" charset="0"/>
              </a:rPr>
              <a:t>Posgrados - Oficina de Posgrados.</a:t>
            </a:r>
          </a:p>
        </p:txBody>
      </p:sp>
    </p:spTree>
    <p:extLst>
      <p:ext uri="{BB962C8B-B14F-4D97-AF65-F5344CB8AC3E}">
        <p14:creationId xmlns:p14="http://schemas.microsoft.com/office/powerpoint/2010/main" val="36208960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A1979CC7-AD19-4F75-833F-BD937CD6122F}"/>
              </a:ext>
            </a:extLst>
          </p:cNvPr>
          <p:cNvSpPr txBox="1"/>
          <p:nvPr/>
        </p:nvSpPr>
        <p:spPr>
          <a:xfrm>
            <a:off x="612558" y="1095215"/>
            <a:ext cx="10724225" cy="1169551"/>
          </a:xfrm>
          <a:prstGeom prst="rect">
            <a:avLst/>
          </a:prstGeom>
          <a:noFill/>
        </p:spPr>
        <p:txBody>
          <a:bodyPr wrap="square" rtlCol="0">
            <a:spAutoFit/>
          </a:bodyPr>
          <a:lstStyle/>
          <a:p>
            <a:pPr algn="just"/>
            <a:r>
              <a:rPr lang="es-MX" dirty="0">
                <a:latin typeface="Calibri" pitchFamily="34" charset="0"/>
              </a:rPr>
              <a:t>Luego se mostrará el formulario de Hoja de vida, en el cual deberá completar todos los campos solicitados que estén habilitados para edición. </a:t>
            </a:r>
          </a:p>
          <a:p>
            <a:pPr algn="just"/>
            <a:endParaRPr lang="es-MX" dirty="0">
              <a:latin typeface="Calibri" pitchFamily="34" charset="0"/>
            </a:endParaRPr>
          </a:p>
          <a:p>
            <a:pPr algn="just"/>
            <a:r>
              <a:rPr lang="es-MX" dirty="0">
                <a:latin typeface="Calibri" pitchFamily="34" charset="0"/>
              </a:rPr>
              <a:t>En caso de que posea una inscripción o matrícula anterior, el formulario no le permitirá modificar los datos básicos como nombre, número de documento, fecha de nacimiento, etc. En caso de que requiera modificar alguno de estos datos, por favor comuníquese con la Oficina de Matrículas, para realizar la actualización correspondiente. </a:t>
            </a:r>
            <a:endParaRPr lang="es-CO" dirty="0"/>
          </a:p>
        </p:txBody>
      </p:sp>
      <p:grpSp>
        <p:nvGrpSpPr>
          <p:cNvPr id="7" name="Grupo 6">
            <a:extLst>
              <a:ext uri="{FF2B5EF4-FFF2-40B4-BE49-F238E27FC236}">
                <a16:creationId xmlns:a16="http://schemas.microsoft.com/office/drawing/2014/main" id="{23294FBF-7780-4FCC-974A-CB1C744E2D31}"/>
              </a:ext>
            </a:extLst>
          </p:cNvPr>
          <p:cNvGrpSpPr/>
          <p:nvPr/>
        </p:nvGrpSpPr>
        <p:grpSpPr>
          <a:xfrm>
            <a:off x="1494663" y="2403253"/>
            <a:ext cx="8776801" cy="3997547"/>
            <a:chOff x="1293694" y="1908871"/>
            <a:chExt cx="9051235" cy="4333461"/>
          </a:xfrm>
        </p:grpSpPr>
        <p:pic>
          <p:nvPicPr>
            <p:cNvPr id="4" name="Imagen 3" descr="Interfaz de usuario gráfica, Texto, Aplicación, Correo electrónico&#10;&#10;Descripción generada automáticamente">
              <a:extLst>
                <a:ext uri="{FF2B5EF4-FFF2-40B4-BE49-F238E27FC236}">
                  <a16:creationId xmlns:a16="http://schemas.microsoft.com/office/drawing/2014/main" id="{12BC0714-D284-4A73-86E5-6400F65B37BE}"/>
                </a:ext>
              </a:extLst>
            </p:cNvPr>
            <p:cNvPicPr/>
            <p:nvPr/>
          </p:nvPicPr>
          <p:blipFill rotWithShape="1">
            <a:blip r:embed="rId2"/>
            <a:srcRect l="1003" t="10806" r="1146" b="2007"/>
            <a:stretch/>
          </p:blipFill>
          <p:spPr>
            <a:xfrm>
              <a:off x="1293694" y="1908871"/>
              <a:ext cx="9051235" cy="4333461"/>
            </a:xfrm>
            <a:prstGeom prst="rect">
              <a:avLst/>
            </a:prstGeom>
          </p:spPr>
        </p:pic>
        <p:sp>
          <p:nvSpPr>
            <p:cNvPr id="6" name="14 Rectángulo redondeado">
              <a:extLst>
                <a:ext uri="{FF2B5EF4-FFF2-40B4-BE49-F238E27FC236}">
                  <a16:creationId xmlns:a16="http://schemas.microsoft.com/office/drawing/2014/main" id="{3B962834-D7A7-40DF-AA67-7ED213C50222}"/>
                </a:ext>
              </a:extLst>
            </p:cNvPr>
            <p:cNvSpPr/>
            <p:nvPr/>
          </p:nvSpPr>
          <p:spPr>
            <a:xfrm>
              <a:off x="1293694" y="2748560"/>
              <a:ext cx="8918714" cy="3340491"/>
            </a:xfrm>
            <a:prstGeom prst="roundRect">
              <a:avLst>
                <a:gd name="adj" fmla="val 6749"/>
              </a:avLst>
            </a:prstGeom>
            <a:noFill/>
            <a:ln w="57150">
              <a:solidFill>
                <a:schemeClr val="accent6"/>
              </a:solidFill>
            </a:ln>
            <a:effectLst>
              <a:outerShdw blurRad="50800" dist="381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s-CO" dirty="0"/>
            </a:p>
          </p:txBody>
        </p:sp>
      </p:grpSp>
    </p:spTree>
    <p:extLst>
      <p:ext uri="{BB962C8B-B14F-4D97-AF65-F5344CB8AC3E}">
        <p14:creationId xmlns:p14="http://schemas.microsoft.com/office/powerpoint/2010/main" val="42573283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Grupo 27">
            <a:extLst>
              <a:ext uri="{FF2B5EF4-FFF2-40B4-BE49-F238E27FC236}">
                <a16:creationId xmlns:a16="http://schemas.microsoft.com/office/drawing/2014/main" id="{B20C1D8A-FD9B-4D78-98E2-DD43FD829AB4}"/>
              </a:ext>
            </a:extLst>
          </p:cNvPr>
          <p:cNvGrpSpPr/>
          <p:nvPr/>
        </p:nvGrpSpPr>
        <p:grpSpPr>
          <a:xfrm>
            <a:off x="1152939" y="2401294"/>
            <a:ext cx="10522676" cy="4004997"/>
            <a:chOff x="1152939" y="2401294"/>
            <a:chExt cx="10522676" cy="4004997"/>
          </a:xfrm>
        </p:grpSpPr>
        <p:grpSp>
          <p:nvGrpSpPr>
            <p:cNvPr id="23" name="Grupo 22">
              <a:extLst>
                <a:ext uri="{FF2B5EF4-FFF2-40B4-BE49-F238E27FC236}">
                  <a16:creationId xmlns:a16="http://schemas.microsoft.com/office/drawing/2014/main" id="{DF54EB6B-DEC9-4CE4-8E37-3FB4FF060261}"/>
                </a:ext>
              </a:extLst>
            </p:cNvPr>
            <p:cNvGrpSpPr/>
            <p:nvPr/>
          </p:nvGrpSpPr>
          <p:grpSpPr>
            <a:xfrm>
              <a:off x="1152939" y="2401294"/>
              <a:ext cx="10522676" cy="4004997"/>
              <a:chOff x="516384" y="2136594"/>
              <a:chExt cx="11159231" cy="4269697"/>
            </a:xfrm>
          </p:grpSpPr>
          <p:grpSp>
            <p:nvGrpSpPr>
              <p:cNvPr id="22" name="Grupo 21">
                <a:extLst>
                  <a:ext uri="{FF2B5EF4-FFF2-40B4-BE49-F238E27FC236}">
                    <a16:creationId xmlns:a16="http://schemas.microsoft.com/office/drawing/2014/main" id="{4AB0487C-FC8E-4ADD-A57D-22B8E93ECA0F}"/>
                  </a:ext>
                </a:extLst>
              </p:cNvPr>
              <p:cNvGrpSpPr/>
              <p:nvPr/>
            </p:nvGrpSpPr>
            <p:grpSpPr>
              <a:xfrm>
                <a:off x="8124547" y="2365691"/>
                <a:ext cx="3551068" cy="4040600"/>
                <a:chOff x="8124547" y="2365691"/>
                <a:chExt cx="3551068" cy="4040600"/>
              </a:xfrm>
            </p:grpSpPr>
            <p:grpSp>
              <p:nvGrpSpPr>
                <p:cNvPr id="20" name="Grupo 19">
                  <a:extLst>
                    <a:ext uri="{FF2B5EF4-FFF2-40B4-BE49-F238E27FC236}">
                      <a16:creationId xmlns:a16="http://schemas.microsoft.com/office/drawing/2014/main" id="{E04034A8-3E76-4EB0-A6C4-1C50A4E4CE15}"/>
                    </a:ext>
                  </a:extLst>
                </p:cNvPr>
                <p:cNvGrpSpPr/>
                <p:nvPr/>
              </p:nvGrpSpPr>
              <p:grpSpPr>
                <a:xfrm>
                  <a:off x="8124547" y="2365691"/>
                  <a:ext cx="3551068" cy="4040600"/>
                  <a:chOff x="8124547" y="2365691"/>
                  <a:chExt cx="3551068" cy="4040600"/>
                </a:xfrm>
              </p:grpSpPr>
              <p:grpSp>
                <p:nvGrpSpPr>
                  <p:cNvPr id="17" name="Grupo 16">
                    <a:extLst>
                      <a:ext uri="{FF2B5EF4-FFF2-40B4-BE49-F238E27FC236}">
                        <a16:creationId xmlns:a16="http://schemas.microsoft.com/office/drawing/2014/main" id="{AC1579D9-DF20-4A74-A875-5799F40DA5A8}"/>
                      </a:ext>
                    </a:extLst>
                  </p:cNvPr>
                  <p:cNvGrpSpPr/>
                  <p:nvPr/>
                </p:nvGrpSpPr>
                <p:grpSpPr>
                  <a:xfrm>
                    <a:off x="8124547" y="2365691"/>
                    <a:ext cx="3551068" cy="1624906"/>
                    <a:chOff x="8124547" y="2365691"/>
                    <a:chExt cx="3551068" cy="1624906"/>
                  </a:xfrm>
                </p:grpSpPr>
                <p:grpSp>
                  <p:nvGrpSpPr>
                    <p:cNvPr id="15" name="Grupo 14">
                      <a:extLst>
                        <a:ext uri="{FF2B5EF4-FFF2-40B4-BE49-F238E27FC236}">
                          <a16:creationId xmlns:a16="http://schemas.microsoft.com/office/drawing/2014/main" id="{0357630F-0973-4E55-B290-27C7B0D889BD}"/>
                        </a:ext>
                      </a:extLst>
                    </p:cNvPr>
                    <p:cNvGrpSpPr/>
                    <p:nvPr/>
                  </p:nvGrpSpPr>
                  <p:grpSpPr>
                    <a:xfrm>
                      <a:off x="8124547" y="2365691"/>
                      <a:ext cx="3551068" cy="1624906"/>
                      <a:chOff x="8124547" y="2365691"/>
                      <a:chExt cx="3551068" cy="1624906"/>
                    </a:xfrm>
                  </p:grpSpPr>
                  <p:pic>
                    <p:nvPicPr>
                      <p:cNvPr id="12" name="Imagen 11">
                        <a:extLst>
                          <a:ext uri="{FF2B5EF4-FFF2-40B4-BE49-F238E27FC236}">
                            <a16:creationId xmlns:a16="http://schemas.microsoft.com/office/drawing/2014/main" id="{0095DF29-FE2C-45B2-92D5-E35B96BC5249}"/>
                          </a:ext>
                        </a:extLst>
                      </p:cNvPr>
                      <p:cNvPicPr>
                        <a:picLocks noChangeAspect="1"/>
                      </p:cNvPicPr>
                      <p:nvPr/>
                    </p:nvPicPr>
                    <p:blipFill rotWithShape="1">
                      <a:blip r:embed="rId2"/>
                      <a:srcRect l="2696" r="6180"/>
                      <a:stretch/>
                    </p:blipFill>
                    <p:spPr>
                      <a:xfrm>
                        <a:off x="8124547" y="2365691"/>
                        <a:ext cx="3551068" cy="1624906"/>
                      </a:xfrm>
                      <a:prstGeom prst="rect">
                        <a:avLst/>
                      </a:prstGeom>
                    </p:spPr>
                  </p:pic>
                  <p:sp>
                    <p:nvSpPr>
                      <p:cNvPr id="14" name="Rectángulo 13">
                        <a:extLst>
                          <a:ext uri="{FF2B5EF4-FFF2-40B4-BE49-F238E27FC236}">
                            <a16:creationId xmlns:a16="http://schemas.microsoft.com/office/drawing/2014/main" id="{124E6134-896E-4D2E-AC67-AD54997B8E1A}"/>
                          </a:ext>
                        </a:extLst>
                      </p:cNvPr>
                      <p:cNvSpPr/>
                      <p:nvPr/>
                    </p:nvSpPr>
                    <p:spPr>
                      <a:xfrm>
                        <a:off x="10759215" y="2734194"/>
                        <a:ext cx="499963" cy="45719"/>
                      </a:xfrm>
                      <a:prstGeom prst="rect">
                        <a:avLst/>
                      </a:prstGeom>
                      <a:solidFill>
                        <a:srgbClr val="F4F9F2"/>
                      </a:solidFill>
                      <a:ln>
                        <a:solidFill>
                          <a:srgbClr val="F4F9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sp>
                  <p:nvSpPr>
                    <p:cNvPr id="16" name="Rectángulo 15">
                      <a:extLst>
                        <a:ext uri="{FF2B5EF4-FFF2-40B4-BE49-F238E27FC236}">
                          <a16:creationId xmlns:a16="http://schemas.microsoft.com/office/drawing/2014/main" id="{8D2C43EF-E2C6-4A2E-8433-142E7F8B09AD}"/>
                        </a:ext>
                      </a:extLst>
                    </p:cNvPr>
                    <p:cNvSpPr/>
                    <p:nvPr/>
                  </p:nvSpPr>
                  <p:spPr>
                    <a:xfrm>
                      <a:off x="10622783" y="2816729"/>
                      <a:ext cx="854110" cy="45719"/>
                    </a:xfrm>
                    <a:prstGeom prst="rect">
                      <a:avLst/>
                    </a:prstGeom>
                    <a:solidFill>
                      <a:srgbClr val="F4F9F2"/>
                    </a:solidFill>
                    <a:ln>
                      <a:solidFill>
                        <a:srgbClr val="F4F9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pic>
                <p:nvPicPr>
                  <p:cNvPr id="19" name="Imagen 18">
                    <a:extLst>
                      <a:ext uri="{FF2B5EF4-FFF2-40B4-BE49-F238E27FC236}">
                        <a16:creationId xmlns:a16="http://schemas.microsoft.com/office/drawing/2014/main" id="{3C71EA4B-0327-4B37-AE3B-33EC9A9905FC}"/>
                      </a:ext>
                    </a:extLst>
                  </p:cNvPr>
                  <p:cNvPicPr>
                    <a:picLocks noChangeAspect="1"/>
                  </p:cNvPicPr>
                  <p:nvPr/>
                </p:nvPicPr>
                <p:blipFill>
                  <a:blip r:embed="rId3"/>
                  <a:stretch>
                    <a:fillRect/>
                  </a:stretch>
                </p:blipFill>
                <p:spPr>
                  <a:xfrm>
                    <a:off x="9025676" y="4027413"/>
                    <a:ext cx="2233502" cy="2378878"/>
                  </a:xfrm>
                  <a:prstGeom prst="rect">
                    <a:avLst/>
                  </a:prstGeom>
                </p:spPr>
              </p:pic>
            </p:grpSp>
            <p:sp>
              <p:nvSpPr>
                <p:cNvPr id="21" name="Rectángulo 20">
                  <a:extLst>
                    <a:ext uri="{FF2B5EF4-FFF2-40B4-BE49-F238E27FC236}">
                      <a16:creationId xmlns:a16="http://schemas.microsoft.com/office/drawing/2014/main" id="{218F0FF2-9B6B-4804-B7BE-5C87F2884A7D}"/>
                    </a:ext>
                  </a:extLst>
                </p:cNvPr>
                <p:cNvSpPr/>
                <p:nvPr/>
              </p:nvSpPr>
              <p:spPr>
                <a:xfrm>
                  <a:off x="9197840" y="5128665"/>
                  <a:ext cx="854110" cy="4571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grpSp>
            <p:nvGrpSpPr>
              <p:cNvPr id="10" name="Grupo 9">
                <a:extLst>
                  <a:ext uri="{FF2B5EF4-FFF2-40B4-BE49-F238E27FC236}">
                    <a16:creationId xmlns:a16="http://schemas.microsoft.com/office/drawing/2014/main" id="{B479406D-184D-4A5D-9983-1361F355A0A9}"/>
                  </a:ext>
                </a:extLst>
              </p:cNvPr>
              <p:cNvGrpSpPr/>
              <p:nvPr/>
            </p:nvGrpSpPr>
            <p:grpSpPr>
              <a:xfrm>
                <a:off x="516384" y="2136594"/>
                <a:ext cx="7395099" cy="4139920"/>
                <a:chOff x="516384" y="2136594"/>
                <a:chExt cx="7395099" cy="4139920"/>
              </a:xfrm>
            </p:grpSpPr>
            <p:pic>
              <p:nvPicPr>
                <p:cNvPr id="4" name="Picture 2">
                  <a:extLst>
                    <a:ext uri="{FF2B5EF4-FFF2-40B4-BE49-F238E27FC236}">
                      <a16:creationId xmlns:a16="http://schemas.microsoft.com/office/drawing/2014/main" id="{EAAFF448-3DA7-4645-9AEA-A69CD7EB0F7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132" t="12094" r="5324" b="4935"/>
                <a:stretch/>
              </p:blipFill>
              <p:spPr bwMode="auto">
                <a:xfrm>
                  <a:off x="516384" y="2136594"/>
                  <a:ext cx="7395099" cy="4139920"/>
                </a:xfrm>
                <a:prstGeom prst="rect">
                  <a:avLst/>
                </a:prstGeom>
                <a:solidFill>
                  <a:srgbClr val="FFFFFF">
                    <a:shade val="85000"/>
                  </a:srgbClr>
                </a:solidFill>
                <a:ln w="88900" cap="sq">
                  <a:solidFill>
                    <a:srgbClr val="FFFFFF"/>
                  </a:solidFill>
                  <a:miter lim="800000"/>
                </a:ln>
                <a:effectLst/>
              </p:spPr>
            </p:pic>
            <p:pic>
              <p:nvPicPr>
                <p:cNvPr id="9" name="Imagen 8">
                  <a:extLst>
                    <a:ext uri="{FF2B5EF4-FFF2-40B4-BE49-F238E27FC236}">
                      <a16:creationId xmlns:a16="http://schemas.microsoft.com/office/drawing/2014/main" id="{3AB346DE-0EB8-448E-93D6-AEFA2B689169}"/>
                    </a:ext>
                  </a:extLst>
                </p:cNvPr>
                <p:cNvPicPr>
                  <a:picLocks noChangeAspect="1"/>
                </p:cNvPicPr>
                <p:nvPr/>
              </p:nvPicPr>
              <p:blipFill>
                <a:blip r:embed="rId5"/>
                <a:stretch>
                  <a:fillRect/>
                </a:stretch>
              </p:blipFill>
              <p:spPr>
                <a:xfrm>
                  <a:off x="4755008" y="2779913"/>
                  <a:ext cx="1139763" cy="398231"/>
                </a:xfrm>
                <a:prstGeom prst="rect">
                  <a:avLst/>
                </a:prstGeom>
              </p:spPr>
            </p:pic>
          </p:grpSp>
        </p:grpSp>
        <p:cxnSp>
          <p:nvCxnSpPr>
            <p:cNvPr id="25" name="Conector recto de flecha 24">
              <a:extLst>
                <a:ext uri="{FF2B5EF4-FFF2-40B4-BE49-F238E27FC236}">
                  <a16:creationId xmlns:a16="http://schemas.microsoft.com/office/drawing/2014/main" id="{15D3799C-0615-4AEC-8232-180DCFC740DB}"/>
                </a:ext>
              </a:extLst>
            </p:cNvPr>
            <p:cNvCxnSpPr/>
            <p:nvPr/>
          </p:nvCxnSpPr>
          <p:spPr>
            <a:xfrm>
              <a:off x="5907819" y="3108709"/>
              <a:ext cx="2321781" cy="241680"/>
            </a:xfrm>
            <a:prstGeom prst="straightConnector1">
              <a:avLst/>
            </a:prstGeom>
            <a:ln w="76200">
              <a:tailEnd type="triangle"/>
            </a:ln>
          </p:spPr>
          <p:style>
            <a:lnRef idx="1">
              <a:schemeClr val="accent6"/>
            </a:lnRef>
            <a:fillRef idx="0">
              <a:schemeClr val="accent6"/>
            </a:fillRef>
            <a:effectRef idx="0">
              <a:schemeClr val="accent6"/>
            </a:effectRef>
            <a:fontRef idx="minor">
              <a:schemeClr val="tx1"/>
            </a:fontRef>
          </p:style>
        </p:cxnSp>
        <p:cxnSp>
          <p:nvCxnSpPr>
            <p:cNvPr id="26" name="Conector recto de flecha 25">
              <a:extLst>
                <a:ext uri="{FF2B5EF4-FFF2-40B4-BE49-F238E27FC236}">
                  <a16:creationId xmlns:a16="http://schemas.microsoft.com/office/drawing/2014/main" id="{E62DC746-62FF-4CC9-A46D-932F7B658AC9}"/>
                </a:ext>
              </a:extLst>
            </p:cNvPr>
            <p:cNvCxnSpPr>
              <a:cxnSpLocks/>
            </p:cNvCxnSpPr>
            <p:nvPr/>
          </p:nvCxnSpPr>
          <p:spPr>
            <a:xfrm>
              <a:off x="5804419" y="3297479"/>
              <a:ext cx="3294364" cy="1584622"/>
            </a:xfrm>
            <a:prstGeom prst="straightConnector1">
              <a:avLst/>
            </a:prstGeom>
            <a:ln w="76200">
              <a:tailEnd type="triangle"/>
            </a:ln>
          </p:spPr>
          <p:style>
            <a:lnRef idx="1">
              <a:schemeClr val="accent6"/>
            </a:lnRef>
            <a:fillRef idx="0">
              <a:schemeClr val="accent6"/>
            </a:fillRef>
            <a:effectRef idx="0">
              <a:schemeClr val="accent6"/>
            </a:effectRef>
            <a:fontRef idx="minor">
              <a:schemeClr val="tx1"/>
            </a:fontRef>
          </p:style>
        </p:cxnSp>
      </p:grpSp>
      <p:sp>
        <p:nvSpPr>
          <p:cNvPr id="5" name="CuadroTexto 4">
            <a:extLst>
              <a:ext uri="{FF2B5EF4-FFF2-40B4-BE49-F238E27FC236}">
                <a16:creationId xmlns:a16="http://schemas.microsoft.com/office/drawing/2014/main" id="{86E758DC-DE84-4717-A255-67E27A76243C}"/>
              </a:ext>
            </a:extLst>
          </p:cNvPr>
          <p:cNvSpPr txBox="1"/>
          <p:nvPr/>
        </p:nvSpPr>
        <p:spPr>
          <a:xfrm>
            <a:off x="516384" y="1129638"/>
            <a:ext cx="11159231" cy="1077218"/>
          </a:xfrm>
          <a:prstGeom prst="rect">
            <a:avLst/>
          </a:prstGeom>
          <a:noFill/>
        </p:spPr>
        <p:txBody>
          <a:bodyPr wrap="square" rtlCol="0">
            <a:spAutoFit/>
          </a:bodyPr>
          <a:lstStyle/>
          <a:p>
            <a:pPr algn="just"/>
            <a:r>
              <a:rPr lang="es-CO" sz="1600" dirty="0">
                <a:latin typeface="Calibri" panose="020F0502020204030204" pitchFamily="34" charset="0"/>
                <a:cs typeface="Calibri" panose="020F0502020204030204" pitchFamily="34" charset="0"/>
              </a:rPr>
              <a:t>A continuación, se visualizarán además del volante de pago de inscripción (el pago se verá reflejado en la Universidad dependiendo de la entidad por la cual realice el pago), los documentos de inscripción solicitados, una vez que cargue estos documentos, seleccione el botón «</a:t>
            </a:r>
            <a:r>
              <a:rPr lang="es-CO" sz="1600" b="1" dirty="0">
                <a:latin typeface="Calibri" panose="020F0502020204030204" pitchFamily="34" charset="0"/>
                <a:cs typeface="Calibri" panose="020F0502020204030204" pitchFamily="34" charset="0"/>
              </a:rPr>
              <a:t>Enviar Archivos</a:t>
            </a:r>
            <a:r>
              <a:rPr lang="es-CO" sz="1600" dirty="0">
                <a:latin typeface="Calibri" panose="020F0502020204030204" pitchFamily="34" charset="0"/>
                <a:cs typeface="Calibri" panose="020F0502020204030204" pitchFamily="34" charset="0"/>
              </a:rPr>
              <a:t>».  Para cancelar los volantes de pago, podrá hacerlo descargando el volante de pago o realizando el pago en línea. </a:t>
            </a:r>
          </a:p>
        </p:txBody>
      </p:sp>
      <p:sp>
        <p:nvSpPr>
          <p:cNvPr id="13" name="Rectángulo 12">
            <a:extLst>
              <a:ext uri="{FF2B5EF4-FFF2-40B4-BE49-F238E27FC236}">
                <a16:creationId xmlns:a16="http://schemas.microsoft.com/office/drawing/2014/main" id="{2F3F60ED-A87F-4687-9F29-C05F699322C1}"/>
              </a:ext>
            </a:extLst>
          </p:cNvPr>
          <p:cNvSpPr/>
          <p:nvPr/>
        </p:nvSpPr>
        <p:spPr>
          <a:xfrm>
            <a:off x="8671728" y="2839589"/>
            <a:ext cx="854110" cy="45719"/>
          </a:xfrm>
          <a:prstGeom prst="rect">
            <a:avLst/>
          </a:prstGeom>
          <a:solidFill>
            <a:srgbClr val="F4F9F2"/>
          </a:solidFill>
          <a:ln>
            <a:solidFill>
              <a:srgbClr val="F4F9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5097378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56D3645A-0E52-4BBB-BB0E-0262A9781DFD}"/>
              </a:ext>
            </a:extLst>
          </p:cNvPr>
          <p:cNvPicPr>
            <a:picLocks noChangeAspect="1"/>
          </p:cNvPicPr>
          <p:nvPr/>
        </p:nvPicPr>
        <p:blipFill>
          <a:blip r:embed="rId2"/>
          <a:stretch>
            <a:fillRect/>
          </a:stretch>
        </p:blipFill>
        <p:spPr>
          <a:xfrm>
            <a:off x="1050178" y="2236827"/>
            <a:ext cx="9257145" cy="3535186"/>
          </a:xfrm>
          <a:prstGeom prst="rect">
            <a:avLst/>
          </a:prstGeom>
        </p:spPr>
      </p:pic>
      <p:sp>
        <p:nvSpPr>
          <p:cNvPr id="3" name="CuadroTexto 2"/>
          <p:cNvSpPr txBox="1"/>
          <p:nvPr/>
        </p:nvSpPr>
        <p:spPr>
          <a:xfrm>
            <a:off x="630315" y="1252907"/>
            <a:ext cx="10626568" cy="830997"/>
          </a:xfrm>
          <a:prstGeom prst="rect">
            <a:avLst/>
          </a:prstGeom>
          <a:noFill/>
        </p:spPr>
        <p:txBody>
          <a:bodyPr wrap="square" rtlCol="0">
            <a:spAutoFit/>
          </a:bodyPr>
          <a:lstStyle/>
          <a:p>
            <a:pPr algn="just"/>
            <a:r>
              <a:rPr lang="es-CO" sz="1600" dirty="0">
                <a:latin typeface="Calibri" panose="020F0502020204030204" pitchFamily="34" charset="0"/>
                <a:cs typeface="Calibri" panose="020F0502020204030204" pitchFamily="34" charset="0"/>
              </a:rPr>
              <a:t>Una vez las áreas correspondientes realicen la aprobación de documentos y requisitos de inscripción, usted deberá adjuntar los documentos o cumplir con los requisitos de selección solicitados. En los casos en lo que existan requisitos que sean evaluaciones como las pruebas ILE, TICS, CAQ y/o KOLB, siga el enlace para realizarla(s).</a:t>
            </a:r>
          </a:p>
        </p:txBody>
      </p:sp>
      <p:sp>
        <p:nvSpPr>
          <p:cNvPr id="13" name="12 Rectángulo redondeado"/>
          <p:cNvSpPr/>
          <p:nvPr/>
        </p:nvSpPr>
        <p:spPr>
          <a:xfrm>
            <a:off x="948440" y="4004420"/>
            <a:ext cx="8905773" cy="1662817"/>
          </a:xfrm>
          <a:prstGeom prst="roundRect">
            <a:avLst>
              <a:gd name="adj" fmla="val 4018"/>
            </a:avLst>
          </a:prstGeom>
          <a:noFill/>
          <a:ln w="57150">
            <a:solidFill>
              <a:schemeClr val="accent6"/>
            </a:solidFill>
          </a:ln>
          <a:effectLst>
            <a:outerShdw blurRad="50800" dist="381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s-CO" dirty="0"/>
          </a:p>
        </p:txBody>
      </p:sp>
      <p:sp>
        <p:nvSpPr>
          <p:cNvPr id="4" name="AutoShape 2" descr="data:image/png;base64,iVBORw0KGgoAAAANSUhEUgAABVYAAAKlCAYAAAAgmLcrAAAgAElEQVR4XuzdCZxU5Z3/+293082+KNgiItiCggtIEDCh1TGoacAENK4R1IAkV02ukMxEM3+Xf66YeydmJgHvxDgJQqJoFDUGjAqJQaM2UUEF3FhEdsJiK8jeLP1//U7VqT516tTWXdVdXfWpefXQdJ3znOd5P0+1M19+5zlFP/nJT+rECwEEEEAAAQQQQAABBBBAAAEEEEAAAQQQQCBlgSKC1ZStOBABBBBAAAEEEEAAAQQQQAABBBBAAAEEEHAECFZZCAgggAACCCCAAAIIIIAAAggggAACCCCAQJoCBKtpgnE4AggggAACCCCAAAIIIIAAAggggAACCCBAsMoaQAABBBBAAAEEEEAAAQQQQAABBBBAAAEE0hQgWE0TjMMRQAABBBBAAAEEEEAAAQQQQAABBBBAAAGCVdYAAggggAACCCCAAAIIIIAAAggggAACCCCQpgDBappgHI4AAggggAACmRfYuHGjOnfurE6dOmW+cVpEAAEEEEAAAQQQQAABBLIgQLCaBVSaRAABBFqiwNtvv61zzjmnJXadPrdwgQ8++EBLlizRtddeq9atW7fw0dB9BBBAAAEEEEAAAQQQKBQBgtVCmWnGiQACCCQRIFhliTSXwMcff6yTTjqJULW5JoDrIoAAAggggAACCCCAQIMECFYbxMZJCCCAQP4JpBus2q3bCxcu1NatWx2M/v37a+TIkZFw7Mknn9Q111zjvHfw4EH94x//0LJly3TgwAEdc8wxqqys1JlnnimrVnz//fcDQc866yyVl5c71wl6Wfs7duxw3j/11FM1ePDgqMMWLFignTt3Rvrhvml9Oe6449S3b9/Adt02vW/26tXLad+tqIzX7+OPP14XXnhhTLuvvPKKM167rp27adMmVVVVRR3nPca+37ZtW0w7rqm9YeN477339PnnnzumAwYM0Fe+8pXIOUFtWP/sGHccNk9dunSJ6cs777yj1atXa8SIEU6fU7Fz3datW6c2bdro7LPPjrLwjs/as+MXLVqkFStWRNbQ8OHDI9dz27vsssuiQlfzs5d58kIAAQQQQAABBBBAAAEEmkuAYLW55LkuAgggkGMC6QSrFpT+/ve/16hRo5xKQzc4tSDQDf5+9rOf6Y477nBGaQHgF1984YRsFuhZKPviiy8659u+mrt27XKO+/DDD50/zzjjDOdP9z0LTi3g87/s2tbWH//4R7Vt21bf/e53I4fY9WbNmuUEuW4/7E3r6xNPPOEcd+ONNwbOghsae69pQaOFtO7t6u6Y3L66DVmg6A0i3Z9bgGmhofXZzn311Vd1ySWXRIXB3mPsewuL/W3Z+faykHL9+vW6/PLLnX1JbbzPPvusevfuHQkzg9qwcZiJd56szxMmTIja3/Q3v/mN9u/fr29+85tOn5PZWQhq1zczC6zd/px22mmRsNc7Pnd+zj///IiB9e21116L9MXm4fHHH3dC+7Fjx0bmyvzs5Q2Rc+zjRHcQQAABBBBAAAEEEECgAAQIVgtgkhkiAgggkIpAOsGqBV5WaeitnrRrWODlhl3eYNUbqLl9sTbs5YZ27vn+wCzetbztWF8snLWQ0Q0iLaSzsG/p0qVRwar93MJdqxi1CtSgEDTeNefOneuEhlYpmW645w9WLVi0YNSCWveBTf5g1Q1i/fNn51o4bMGwd09SC40feuihSDAZ5G5teefGvh80aJDj4Fb8uiGpBdvePiSy89q4/bV+vvzyy5FQ1Nsfqyb2XtM9xw2srZrXnQcLgq3C2a0wTtc+lfXPMQgggAACCCCAAAIIIIBAugIEq+mKcTwCCCCQpwLpBKtugGeVhH369AncH9NfsWq3rA8ZMsQ5NijMbGyware4W0DphoMW9FkA+swzz0QFq1aJaYGkhXZr1qyJuQXe+hEvWLW9QO02dKueTDfc8werdh23etetxkw1WHVDY/9WAtamN7AMClbtXHtQlFvda/N0xRVXRMZlbdgxFopaBbI3WE1kN336dN18880J90n19seO91fJ2rXdStbJkydH5sGqYK0a1g2S07XP048sw0IAAQQQQAABBBBAAIFmFiBYbeYJ4PLJBRatWazte2qSHxg+4vw+w9S1w7Fxj6/Z85leW/NWyu2Vd+iq4X2Gpnw8ByLQUgXSCVZtjO7+mLafplUUWsjq3R/TG6y6oemqVaucPVmD9gN1j7E/vbd4u7eD+11PPvlkp2LWDUEtfHvhhRec8M0Nfi2c8/bDjrXtBtxA0g0K/U+ijxesen/u3s7v79cFF1wQeIt6ULBq47Sfn3POOU41pj9YNVvv67rrrotsJeB3co/zho7Wnr8Nc/Pum+r6eINR2+Zh9OjRzt61brCazM4/30GfA+/4Eh3vvuf3tnm17SQIVlvqbxn6jQACCCCAAAIIIIBAfgkQrObXfOblaP60bL4s3EwlXG1TWqazTzxDJ3TuHtfin7u2atnmD3XgUG1SL/e6l509MumxHIBASxdIN1j1jtdCVqvktIdTuVWL8YIzC8es8tOqJr37byYKVoO2HXCv7w3fLCi1W+vtZ+7Dobz9sGpOu/3ebnG3l4W8F198ccxDkBJVrJqTBbrphnvxglXvbf1/+tOfIkFmvNv44zm5Hrb3qgXFbmjrBqPu7f3e7RLsHNfHbHr27OkEt7bNgFW0+m/dT2SXqWDV1se0adOcKmP/PFjga6GwzW28YLmlfw7pPwIIIIAAAggggAACCLQcAYLVljNXBdtTC1bt9d6uLUkNBnTuoXNPHpQ0WH1z3dKU27OLEqwmpeeAPBBIJ1i1UNGtHvQOPV5FooVuU6ZMibpNPCi8DAorU91j1cJOCxVtOwA7x7YBsCpQN/Bzq1jtYUzuy0JNC3j9D7GKd03vbfaZClbdoHT79u1O5a8bhCYKVt2Q1PuwLndMFi674am/DQu0q6urIw/g8gar7jYHFqy6Dxpzzy8vL3f2bk1k52694O6D6vbHwlD3AVve/gTtyWrnWEBvfbHtEfzz4D70zAJ5NzzOg48eQ0AAAQQQQAABBBBAAIEWKkCw2kInrpC6bcFq57YdtG3PZ1q959PAoZ/UpqO6tO7ovJdKsLpg5WvaeGC3jmnVWp8fPhjTprVn77vtphqs2jYDtUeiK2Hd6lnve2UlZXG3K/Ae16F1B3Vs0yHSv9rDtarZ+1nk713bH6uyVmUx/d99YI/2HNwT9fOGHJvq9YLG7V480ViD+mltdWjTQR1bd0i4pYN3cNbO+poNOng4ZG9bQZzctVfcj4l/XM45cSyDjrXrWD97dAlVRieqkI7XCTt/Xc0GndN7UMofZ6u29r+27NzqrBH7ijeGVC+QTrDq7oNpt6a7+6Va2GdPcA+qWLVA0l7ePUHtZxaO2a3d7quxwar1wbYD2Llzp2wbAHu5waq7b6j3eva+e9u7d9/XoGDVfWK9O75MBqtuP6zfFl5auJkoWLXj7f0uXbrEmFob7kPFgtqwQNOC0qCHjNl2ANambQNgHu755uqGrd715LVzQ1s3RLXjzGjDhg2B/THjP/7xjwpaQ65B0DxYeG6V0cOGDQvcciHV9c5xCCCAAAIIIIAAAggggEBjBQhWGyvI+VkXcEO7v695S58e2B0YhFpA+rU+56YULrlB2YptH2vX/j2BlaunduimNiVlGtTzjLQCvlXbPtai9e9GQtuvnHhmJDiz997Z/KEzBuvracf3DbSz4/6y5k1nnBbsXjd4bCQ8tQCx+pO3tPjTdbroxAEacOLpUcGr26C73YEdZ69kx5qtG1qf1/00Dek1yGnXrrdkw1K9vnWVhnY7WZWnDAu8njs2a8Pmomf7rs51dx7c7QTe8YJp66e3etgqjg8cqY30ZXTvwUmDR7v2kytflc3ZqV17aePOrc6cXt7nyzrrxDMCjb2OdkCisXkN7Fh3bdj3m/bWOPNkY/56v/MThrn+jsz/cKEzj5POHp1yMPv2+qX6x+YPImvD/ccEc7Z/CHDnuqF7AqcTrNq1rLLwpZdecoK4Nm3axNxW77013KpF7TZ3u/W+e/fu2rVrl3M7/mWXXRZVxRovWLXANuhloZy9vFsFWMVm7969I4Gj2w9vJae3raAHQQXt6+rfQzbeHqvWtt3G7n/F2wrAPc7Cy5kzZzpBYyrBqmvqWgaZBgWrbuWu++CooK0S3EpY9/wXX3wxUgWbyM41sX1crT8WnLshrZ3n74+7hmxN2Mu/NUNQsGr9t0B3wIABBKtZ/y8wF0AAAQQQQAABBBBAAIFEAgSrrI8WI2Ch0gvr34nb37svmJjWWPyhnvfkVLYUiHcxt5/Whj9QtPcs+EtWAWtVuu7WBxb6jTxjRORyFvRNe2uOko3Xxjdj2QvOecmOddu0Y/2BpBv0fnfYVYHVsW7HgsZtfbAA+6unnRd3boL66YaOQYbehiwk/9mi2U4A/e1hV0XesvNT2WvX9Ukl3Jz66kynfe+xdv2Fq153AlILV28cPDYwePYP3uvtn99ki9hdG/7Q+f3NH+rZNW84p1/T74K4wX2i9tMNVt22LPyyl1VB+h8C5b+eVT1a4GZBrLdCNNm4eT++gGtqQbVtg9DcLws+bVuDdObYXUMWKPNCAAEEEEAAAQQQQAABBFqKAMFqS5kp+qlCC1bdakiben+IZiFfsrA0nWDVruGGmf6Q0n14WLIqyESBcqLlG9RPt61koaN7rlWRXjt4TOQy9nP/NgpBfQgKS+P1Nd6xbrgbNE/x2vJWntoxU4ZdnVIga8fGC1a97/k9Uv310dBgNdX2OQ4BBBBAAAEEEEAAAQQQQACBfBIgWM2n2czzsRRasHpSl+7asfczpxrSXt4qxGwEq7bf56MfvORcy63KdCsrUwn+goLVhvTTgsrH35nr3NqerJLUtol48J0/OX226lYzs31PU91rNBPBqjfQTFZh635Ef/fWU7qwz7n688rXnNv6bauGZMG1e26iYNX7GUkWvAf9uiBYzfNfogwPAQQQQAABBBBAAAEEEEAgowIEqxnlpLFsChRisDrgxDP0x+XznT1H7Vbzbw0c5TyYqSGBZSpzY4GfBZq2z6rdvm/mFu56tyKI1068+UkW8HkrVi1gfGfbKucSqd5W/8Q78wIfapbK7fDNEaxagG2B6veHj9OiNYv1t83vOXObbKsFgtVUVjDHIIAAAggggAACCCCAAAIIINB0AgSrTWfNlVIQsP08P6nZoJ0H9jgPefKGaw0NVq0C0h74ZE9y9waEub7HqlVf2hPjrSrzD8tfjDwkyUwyvceqOzXefTrvGD7eqRy1ysqTu/ZKOnv+ilX3Fvl0gtVbB18WqUBN9PApf2csrDQn98FV9r6FlRZeJnplOlhNpfLUtlywl+0BaxXB9uAte6USBNtxqVSs+rdzSDp54QMKrWLVHhZ14MAB50FRvBBAAAEEEEAAAQRyVGDvCr342KvaqIEa+90v6/gc7Wbju7VNb/xmrpafPVbfPTd/R9l4J1pAILcECFaTzEddXV1uzVge98ZCpvc2f6TdB/dEHgZ0w+Axkb0nLbh7cf27cQXuumBCzHsWtj2xfL4TStprVO8vObeKn9C5uyxYfWvdsshDorwn2y3dw04+O+WntXvPdftpbYw9uyqqT/bepp3bYn7u7/jcZQvUs8vxTrBqL+vrw8tedL63/TOtgjVovN52vOckO9Y9z8LQ+xc95vzV+m9Pm79x2JUprbqgcVsfzDrRy99Ptx0LRr3zH9SG9ddC1dOO7xt52+b81+/Mdf6ebNz3vTrLOe6ms0cl7We8Y71mydqxNT79raccW/dlxlYlbGFoKta2NuzBZraW3fXhtuW+V9n91IQPDIs3H4UUrNoDnx566CFdfPHFGjx4cEprnIMQQAABBBBAAIG8F9i7QvMff032aNKTLhinkf3aBQx5n1bMf0yvOQedr3Ej+yvoqERW2978reYtH6Ax30kelKZzbPrzs01v/Hae3hs4Rt9p9jAzl/qSvmRLPWPfyvl67FXp/OtGqn/7ljqK7Pe7qKgo+xdpoVcgWPVNXKIglZA186vcgqbV29fo/W2rtfHAHp3UpoN6dTlBJ3burt7HnhT1FPp3NixLGKzeef63ozpobb/w0cs6ePig07b7OqvzCRo7sEpbd23Tm+uX6v1d/4wZmB1zbu9B6t45/X8pdPt5TKsyTRp6ZdQY5i5f4OwDOrjX2Qkxg44zpzkrX4uc5x+vv0Eb38PLQ2FssmO9576yulrVW1c7P7LwLllf3XPdcbu+7s9tLOefMlTHdjg2cMz+flpQ+cS785w587cVNEabQ5tP92Xz/sDip521dMPQ+KHwZxbAvjvPOe2mgaOSzvVPX/td4LGu15BuvVV1+lcTzqsZra7ZoGu+9I3Icd55TaUf5mlr1j83bjtB6y7VT+4777xTMCHjG2+8IQtXv/a1r6XKw3EIIIAAAggggED+C+xdqfl/eE2bbKQ9z9d1I/vFhqapHJNEavtbM0LB6qRzVZ7oWOdaa1XxrZHql5XQa7venBEKVicNS9iT/J/7Ah3hvlXz9bgFq1lbY0GwoXX3+QXXaeRp/n+WCK/JoNP869T7WXSO7xk8jpSOS3xd9x8eogPWUJX15/8yXqMC/xHGHUSi48KV2kHj9VdvR6rX3YNP0gXjRjV7IE6wGp4Pf2iaLERN9n6B/k5Kedh7Du7V2xuWqXrbKg3perIqup7kVAx2aB3/v5YWSs3fEL9i9X+dFx2s2jVatyrTH96dp00HdjvXWVKzzrlFvE/nEzTwxNOditX3v9gS0++zOoUqVrt3Sj9Ytes+sPip0K+1Nh11VnmomvLjmo2qObhb139pTMJx2vkvfPiyju9wrIafMlSlJaWR/v199SLHzF7+8XoHcejIIb23+cOI17gzLnKC6lRen+39XA+9G6r4vG3oVQn76m3vjU/e1sIt76lv+266oM9QZ+sFqx59c8uHuuXL3wq8tL+fEy3g7HS81n+2UY99+DfnnJG94oe7W7/YppnLX3SOcatWF32y2JnnRGO269q2E3M/edO5xthTznXO91p7O+ydUzvW9rm1APejrWuc9WNr66unVcY939oy1z9/tFC9O5+gfzl1eKR5b9u27kad+dWE7cx598/6eO+nqjz+NPU7vo/jvK5mo7MubL19/fQROrb9MalMdcwxjQlWN23apDZt2qhbt24Jr/3pp59qzZo1zjEdO3ZU3759VVZWFvecRO3u3r1bu3btijm3vLw8sE1rK9HLPc9tN9F43Lbcc2pra7V9+3YFXdve+/jjj2Xt2qtPnz4JnfxGtlWBWTX05fatc+fOge3Y9WxLBP+rZ8+eMT9riI01Yl7e67vXDLqG3zKRra0la8tetvbMyl1P8daHd1Bun+IZJFvT7jX8855srVkfbOz+sfmd/BMQzyLTa6aha43zEEAAAQTyQGDfSi14/DXppJO0caNV8VXJn5fsX7XAqfA76aSN2qjzNa6qn9qmOfTti2do3rKBGjNpWOJgdd9+7W/XNu32U+/Odr01Y56Wnz1Gk4YSrKbulj9Huus5aK1nbZTb3tKM55Y7VeFVp/k+PeHPoBWEx7w86zTU741RbYQ+V9LAb0zSsHCUkepxCl93U1BlakBFtxOwbn1Dv5m3XCclC1YTHRcTlnpG7QlW9618UbP/vjHqWtve/I3m2njHfFdfTnyjbNam0homWJXkDUnjfe/OAoFq49ejBUxPvrdAfTp31/CKoerQJrV/enx3w/KEweq/n3djTOfsWv/z7jyn8rFP15M095O31KVVa+08fFATBo7U4vXL4lasDu3dsGDVOmGB3/LNH2nNrq3Otex1TtfeGtLr7KShlwWUO/bWOOf0P76PTi3vEzUue3/1Z+t1/ZBvxp0Mq15csS0UXrmvSqsaTTFwswC3dUlrffmUc1KacHOu/mRx3GO/MSC4KjBRP60PX4QrjeP1fc+BvXp74zJ9aPvyhp37duimYb0GJgySg/qbyMc7J95BHte+q07u1jOlAP659/4SOdU7r96f2wHWZjz3IC87p1ObDurR+fiYtZLS5HkOevfdd/WlL30p3dOcoPRPf/qTc973v/99tW7dOqaNgwcP6rnnntP69et1/PHHOyHs1q1bneNGjBihM844I+acZO2++eabev311wP727t3b33jG9+I6st//dd/JRzbNddc44Rd3naDxuPtl3uOBWJPPvmk3L+7F/rwww+1cGFoX93u3bs7Aea2bdsU1L8gIwuOd+7cqaFDh+qCCy5Ie27shFdffVWLFy923MePHx/TxtNPP+3MS9DLf92G2Fi7Zn/eeefp3HPPdS7jXvOyyy5zgmbvy28ZZGtB4ty5cx0bs7SXu56uvfZaJ2RNtD7c67l9SmRg69n6GRQCz54925lPv1OytWbX/9d//VcncPauG2vPXkHz5J1Ld11ma800aKFxEgIIIIBAfghYuPKH16Xzz9Mxr72uz8+/zhf87NfKBY/r9WPP03mfva7XdZ6u8wWrFuQ8/lr0P2gP+PpN4aBnu956+Dm959HqadfoucG57jFfv0knb3hYzy23gtnQtUPtSed9yxvyxrZTfw3JCYnC7bkBk3vJ7Ysf1nOfuf0OtzPwG7rJE6wmHkOcqY5c8zp1Xvq4XncJevqNQtc02wv0asjKub5CNm5fPGNwTUJXHqBv3DRM5eH3I9K+MYSO9TuFz40MIV5fgkNmx265d/z+9iLKvnlO4brOqT3D8+zrd4yhHRteixEA99z6/sXOo/cY//mKmofY+XFNkl834S+DbW/p4T+HPgHuGo863nlfoTmO21Dwuo2YRD6XqR4nyXPd4wPCVW+lqhuq/va50DgSBqvhUDXucc77SrJ/crz9h/dpxYuz9aou0PhR6W9Jkqlf2gUfrLpBaVCgmihkJWBt+BJ87O1ntenAHl1xaqXTyNrPNmr73s+cn1X1OluDThro/NxuCX9q2fMad87lzt+tsm/Pwfpb+v09CKouffXjf+ijmg0adWqlXlxdrYsqhmrplhVqU1KqC08b7mwH4La5Y+/nToVrp9bt1aF1B+fW8EQVtA0X4EwEclNg6dKlGjQotK9vOq+XXnpJFvBYOPfVr35Vp59+etTpVmVnwZW9LOx0qy/t5xb6vffee7r++utjqjiTtfvWW2+purpaP/jBD6Ku98knn+jvf/+7E6peeeWVkQrGX/7yl6qsrNSwYcMSDs9t184PGo/1a9WqVc6Yr776ap144onavHmz5syZE/m7XeCjjz7S/PnznTa8rnashYIWCF566aWRvjz++ONOUDh27FinTfdl8/Lyyy9ryJAhOv/889OZGufYWbNmOZWc5jxp0qSYqtVnnnnGOe6KK66ItG1zY6HwokWLdNpppzl70dqrITZ2nt/errlhwwZnjqxP3qplv2WQrZ1vWzmMGzcucq712cJ7CzpvvfXWGKegcboHxXvPKlKtTZsXf5v23owZMzRgwABt3LhREybE7vNt7Qf1372u/z13zQTNk3cu3fnI1ppJe5FxAgIIIIBA/gjsW6W/PlktnXetzt71hJ7/vFLXXnJafcVo+P0uo69V5+VPqFrR7+9f/Vc98bpUec0litzhvG2xZr3wvnqed60uOTVUnbd9ySw9/95ZunTC0FB4FG7XMjLvcfZWTJvusQMu1YQhoegpdMwmnTV6goZapV6kn+G/e2bIuXZkXNu1eNbzej+mreRjiJl0zxgi/dB+rfrrE6re5Bmrwte0BjzXtRA0qi+BJm57drKnzQBj18DmMq573L74Rxe+rm++Y+bRM5cNuW6oPWukZ/0aCpjvGKuAdRLUt6D1GfuzePPjrNzU1kvQbwTPfLpv+9e683Oby+Wdoz93/vY8n1N3bt1DQuMO+6n+85zwONuNYPtizVrWWdd+rX77j5gw1aoz99n2HK+HtgsJv6zydpR/g9qAStTAANaC1Xe7JA5Gw20poDI2VLXavFsCFHSw6g9VvX9P9F7+/FezeUby2zef0s4joSpOe53SvqvOOK5CB48c0uZd23TpWaH/B/6jLSucP4/pcIxWb1+rjk7g2V59y0/RZ3s+d957Z9N7urj/BU6FaIey9urQpkOkXfvZo+//VZecdLY+3L5GJ3XurlPLK5yfXX/WJVFVhq99/Ibe2P6xzujUPXL95tFp+qsu3fie475l7+e64syLdWyHht1G3vQ9b7orvrn2HX269zPH6MZzxkbtm9t0vcj+lRoSrFq4+Otf/1pVVVXasmWLczv8t74VvfXDsmXLnGDwpptuign17HwL/s466yynotF9pdKuhXwW/E2ZMiUGxyoarfpv+PDhkSB12rRpUX+PJ+q2a4GZ9WP06NFRh9pDr0499VQnqLzqqqsiwepTTz0V+bud4B530UUXxVzKvcYtt9zihIsWqC1YsMCpVAzaTsE9Psgw0cqwkHnevHmOvYWHtvWC19nO/eMf/+g08c1vxlbBu3PnjrMhNta2396uacGoVfD26tUrytjCRq+l/+9B7bkGdqxVqlp1r98x0TgTvecaugbutaxa2rZ4sED64Ycf1pgxY3TKKafETEdQ/7399Y413ufBjvf3I1trJvu/abgCAggggEBOC+xdpb8+tUiqvFqXdPpAv3txp4ZfdYlOc28y3LZYv3tRGv3tM7Xzr3O0SMN19SWnhfdh3adV9rNjRuvb4cAzNNbwzz3Hbl/yO73w/pka/e1wsBq+7uaz/OdK+1b/VXOqFelHzLlB1wi312XUt0NBq+flnP+52+/tWvy7F/RB5LqpjyFmHt0xnOg1keQ1PdVJsELX9B/n/tztS5z2Qh6bdWbU2OIYR8YZ7m3KffGNLp5nTHsWmnt9k1xXnjVghzrr6wOdaOvPsQq9/HMeMuhSv35CR3nmUs73O33tRB8TCuX96yv+/LjHJrpuittJBLi5Y3X6s+tsjdYLeuH9+nmImu8E54esTgx9XixYdSmW1f0AACAASURBVD/PHs96054afvXFzj+C7F/9kp784mxdquf1wvv1D6qyfyQY1j30dwta3bDV+TO8d2tRULDqXUIJglHnFv+dgzVWc53b+t1X1O39BKsxv25y4gfxQlT7ufu1d+9e7d+/X4cOHYr8LCc638I7Yftu2le71m11bLtjnT/ttenzzVr/2Rad1aOf3tn0gTbv36V+nbpr5Reh24XdV0X7rlq7t0YdSkrVuaydc5x9v+fIIY0fONI57NDhQ3p+5avO+x1K26r2yCFV9hmqBSv+rg6l7ZxrlBaXOtdeuul9vf/ZJp3YtrNO7Hic87Oex9RXiyXituts3rlZtYcPq6Jbb5W2qt8PtSVMk5m/svE9HVfWVl/u/SV1btupJXS7Sfu4auvHemv7x876OLfXoMh6bdJONNHFrArTqhPTea1evdoJGC2Us6o+q9AcOXKkunTpEmnmL3/5i1NVeOGFF6bcdCrtWkXl8uXLZbd+B70sdN2zZ0/kAVVPPPGEBg4cGLjtgPd8t12rDn3ttdecsbkVle4Y3fdsGwPbX9MCZbvl3/27hWl2rvv3ZAN/5ZVXnEPiGVk1poV/qfTfey0zsJcFzF5T7zHJrm3XtcDQqm4bYmPX8tu717TK3LffftupxHWrdP2W/r9be88//3zEq3371LaTSTTORO+tW7dO9rAz/7o2FwvfLWT3OvvnOqj/7jFB7y1ZssSpuvVWM9vx/p8nm7eGrplka5X3EUAAAQTyXODABr31t/ekgRdp2En79dHzi6SvXKrTw8+h/XzF806Yemn/ttrw1t/0ngboomG91CYhy4GYY5121pyi4ZeeLqesI+q60a0d2PiW/rZcGnDRMPVq87nTp0/6WB8SFISE2+vo6bvbRefaX7j9TrE9xY4hZshxx+C/Rrxr+n4ep71oj/pepDYu/zhSHH+4LzuOSzbf8dpL8bqffaTn//GJTvHNW2jMHcPrJf5c1K+r7tpq60SeNRZnjcZ6pjoGn713PSf7NZFgvYfGIB3nfAZDn4VQH3d4fpakjzuOS/J5CRtGjpPc65affZGG9mzjBKgHN72ll5bt0IlfvlyjB3SLBKuRgNXdOsSC1fBmzNEPtwpDJA1Go7cTiN1PNclWABupWE225DL+frJQ1YLUzz//XGeeeaZThWX/D2XQnoEZ7xgNIoAAAggggAACCCCAAAIIIIAAAggg0MwCdjfVymX/0M+mz9GO4kMadMIxKi0trQ9Y963Sgj+8Jv2LBauhYof0gtXwHqnHjtV3z40uLfff4p/o4VUSwWqTLpWgW/ztZ0ePHo1Upe7YscO5LTHotsgm7SwXQwABBBBAAAEEEEAAAQQQQAABBBBAoBkF/mf2M1r8yos67rjjIsFq8f7V+ottqnzBOI3s1y56mwBvXxNUrMYdUvihV1FbAngehGXn2Z6t/6K/a/bfj0ny8KvswhXUHqvJQlULV+1hFPaE4h/+8IfZlad1BBBAAAEEEEAAAQQQQAABBBBAAAEEWoDAL37xC61Zs8Z5bkZxcbGK9q92HnZXdMF1GumpWI2pWo0XrAaFp65DovciVuGKV12Q+OFXWbYt2GDVu5eqBarulz3wxEJVe5AKLwQQQAABBBBAAAEEEEAAAQQQQAABBApdwJ5vYQ+ltYfEWrBafOBjvTRnkXS+BauhitWoh1u5YHErVuPtnSqFtgIYGK5EjXNcQyphszCJBResulWr3lv/7fsjR4444eo///lP5+m+bdok3n47C3NBkwgggAACCCCAAAIIIIAAAggggAACCOScgD3cfdKkSTrhhBOcYLXkwBq99PQ/VHT+t5yKVW+oGlW1miAADdo71f2ZdxsA/56rUm5Uq9okFUyw6n9glbuvqrda1cJVC1b/8Ic/5NwCpkMIIIAAAggggAACCCCAAAIIIIAAAgg0l8C1116rHj16hILVg59oYThYrQoHq4FVq8kqS317p8Z7GJUbuEbGfnbsQ6+aw6WgglVvuOoNVN2K1cOHD2vr1q168sknm2MuuCYCCCCAAAIIIIAAAggggAACCCCAAAI5KXDNNdeoe/fuatWqlUpKSkJbAni+4m4HkJOjyUynCi5Y9e6t6t7+b3/alwWrVrH69NNPZ0aXVhBAAAEEEEAAAQQQQAABBBBAAAEEEMgDgSuvvNLZCsANVi1cdQNWN1QttHC1YINVt2LVG6q6FavPPPNMHix3hoAAAggggAACCCCAAAIIIIAAAggggEBmBK644opIxao3XHWrVr3hql0xaq/VzHQh51opiGDVv7+qf19Vt1r10KFDzlYAzz77bM5NFB1CAAEEEEAAAQQQQAABBBBAAAEEEECguQQuv/zySMVqsqpVgtXmmqUsXDdesOpWq9qfFqq6WwHMnTs3C72gSQQQQAABBBBAAAEEEEAAAQQQQAABBFqmwNixY51gtbS0NLIdgAWs/n1W3VCVitWWOc9RvfaGqvaGVavaz7wPrPIGq1axSrCaBxPPEBBAAAEEEEAAAQQQQAABBBBAAAEEMiZgwao9vMoNVuNtB0CwmjHy5m/IX63qhqpusOpuA2DVqu5WAPPmzWv+jtMDBBBAAAEEEEAAAQQQQAABBBBAAAEEckRgzJgxMcGqW7FqD7GyClWrXiVYzZEJy0Q3kgWrFqi6X26w+txzz2Xi0rSBAAIIIIAAAggggAACCCCAAAIIIIBAXgh84xvfiASr3u0ALFQNeoAVWwHkwbSnG6z+85//1J///Oc8GDlDQAABBBBAAAEEEEAAAQQQQAABBBBAIDMCX//616P2WLVqVXc7AILVzBjnXCupBqtWrepWrBKs5tw00iEEEEAAAQQQQAABBBBAAAEEEEAAgWYUsGDV3WPVv88qwWozTkw2Lx0vWLW9Vd0vd39VgtVszgRtI4AAAggggAACCCCAAAIIIIAAAgi0VIFLL700UrFKsBqaxaKf/OQndS11QlPpdyrBqgWqbrhqWwE8//zzqTTNMQgggAACCCCAAAIIIIAAAggggAACCBSEAMFq7DQTrB454mwBQLBaEL8DGCQCCCCAAAIIIIAAAggggAACCCCAQAMECFYJVmUVrEePHo1sA2DbAbjBam1trbZu3UrFagM+XJyCAAIIIIAAAggggAACCCCAAAIIIJC/AgSrBKsEq/n7+Y6MrGbeZFXdK939wnSNLc/sgBO3vVzThkzUbI3XzCVTNDCzl6Y1BBBAAAEEEEAAAQQQQAABBBBAoNkECFYJVpskWF3+wBBNfETSDTO15LaAeG3pNA2ZNFvjZyzRlEHN9nlo5IXDIWK8MTay9cac3lzBamjeCVUbM3eciwACCCCAAAIIIIAAAggggAACuSlAsEqw2rTBqhQcnhKs5uZviMb0avtcTR69UCOyUCXbmG5xLgIIIIAAAggggAACCCCAAAIIIJAJAYJVgtUmD1YVdFs4wWomPs+51cb2GtWUd1XX3OoVvUEAAQQQQAABBBBAAAEEEEAAAQQyIkCwSrDahMHqeM2cIU2cNFuV9yzQ9DGeyC0gWHVuI//4bi14YGx0OOdUQk5VhW/bgNDt7tWRGfVew30vaKuB2Nvk3X1BPYtjeEA/YtZO7FYA9WOo0KPOXqPuy3d7fHhM9b1XrJEk/xjl61fkendJ946equpwiH2ib4/VyHET16pqkqdXAVsxJLtmvG0Gos+rjNnfNWWbjPyqoxEEEEAAAQQQQAABBBBAAAEEEEAgswIEqwSrTRusLpkiOftu+oK2RgarMXt5hoNKuQGuG1zG7H9ao7m3VWmq3OA0aJ/U8DGLku0VGi9YrVTlogrdFHl4k6+9oGpdf/8lhcbodQtfzxOuRvay9VUF+8PPyHHeYDbcD28gnco1g4JV/3lBwXYoWE1ik9nfd7SGAAIIIIAAAggggAACCCCAAAIIZEyAYJVgtcmD1YFBIWdjgtU4FazRYWuccNQfYDr9WBtTXamUtiqIE6w+ErCvrKe9Ea8GV+ZG9T8gaHWWrq9fsUFoaIHHC1b9FbwNuWZMsBrYV3+A7QbFiW1a7oPMMvY7moYQQAABBBBAAAEEEEAAAQQQQCBHBQhWCVabPlj13NIeCfYaEazGfeK9v82Aa4TOrdDMSDVpnE9qo4LVgEpXTxjsBKtB4aunK3HH6OtuTOVu+P3gYDW2X97jznvDbBQbMvuu6W878dYA9e3F66viBOU5+juUbiGAAAIIIIAAAggggAACCCCAQIEKEKwSrDZLsCr5bmNvRLBaf/t78Ke4virTX1EarqLsO1NLbhsYdXK8NoP2aK0/MdEeqwn2ie0R2jPWu7+q/wFfcUPIoGA1YF/aVINVbwVsKPBNtv1BvGrYgPOCqmvT2EO3QH9HM2wEEEAAAQQQQAABBBBAAAEEEMhRAYJVgtVmClbrb2N39vTs9aiGTJotb3CZ6sOrUg0dbaqj2gyqjAyHf6Fl4dnPNKUqygYGq4PqF2G8B0VtdvZXTR5yxjMLDFaDQk3/FgUpXLMhoa3d4p/q/Obo7066hQACCCCAAAIIIIAAAggggAACBS5AsEqw2nzBqveBTPdUaOq9KQarvsrHVG+Td6bas4dq6FZ37zYAsfuARpZHEwWr3uXofeDT9Rvi3JafYhVoquFnSlsBJPFPaysAKlYL/D9BDB8BBBBAAAEEEEAAAQQQQACBlitAsEqw2qzBqrufpnsbfEzFakDFpHubvn9/Vu/T7G1ag/dPDVWVrr1npka8NFFTo7YBiK04dZdH0FPtY5dOQypWZ0qTJmr2DbHbEUTtNRreLqBixhJ5H+jkr9ZNq2L1EU9FbngwSSt6I2F4ffVsox5eRbDacv/rQc8RQAABBBBAAAEEEEAAAQQQKHABglWC1eYNVj0PsrKpiNrDNFwZ6Q1MvbfK1x8brjRd5LlVPvDJ9KHJ9u6f6t8zNfRedODovaY/vI1ePg0JVpcoVI1aHT12xVbPxmx5EOCTXrAqafjdWvBAeP/XePvcesPtuHMS/ZArv2NQMM1WAAX+Xx+GjwACCCCAAAIIIIAAAggggEALFyBYJVht9mBVboi4yBes2txE7XkaDgLvku4dPVXB1Zv1Exo3BA2HrtXeUDFymhvS+tuR5t5WpalBfYwc2rBg1alA9Y/T2gyoYvXvwRoYDKf68Co7buJaVU2aHRlB0MO5kl0z8a3/bi1ykupY7+cwpW0XWvhvXrqPAAIIIIAAAggggAACCCCAAAItXoBglWC1SYLVFv9JybMBxK0WzbNxMhwEEEAAAQQQQAABBBBAAAEEEEAgWwIEqwSrBKvZ+nTlcLsEqzk8OXQNAQQQQAABBBBAAAEEEEAAAQRahADBKsEqwWqL+KhmtpMEq5n1pDUEEEAAAQQQQAABBBBAAAEEECg8AYJVglWC1cL73Ice4BWwF2sBUjBkBBBAAAEEEEAAAQQQQAABBBBAoEECBKsEqwSrDfrocBICCCCAAAIIIIAAAggggAACCCCAQCELEKwGBKt3XjegLp8XRV14dHWqk31fV1eno3XS0aN1OnK0ToeP2NdR56v2cJ2279yvF9/anM8kjA0BBBBAAAEEEEAAAQQQQAABBBBAAIG0BEaf31fHd22v0tISlZYUq1WrYrUqKVZJcZGK3a+iIqmoSM7/FKXVfIs8uOjfL1Z+B6s2LRaohv5wwtVQsCodqZMOHw1/HZEOHZG27ZEWfJTXJC1yodJpBBBAAAEEEEAAAQQQQAABBBBAAIHmExg1pKOOP6ZEZSVFatWqSK3sz2KFg1WpuMi+3GC1rpHBaqZS2Uy1E+xe9O9fK6BgNRywxgSrR0LhqhOs7pYWfEiw2nwfU66MAAIIIIAAAggggAACCCCAAAIIIJBrAqOHdtbxx7RSaUmRSi1YLQ6FqyXFClWsRgWrTuFqA1+WyzX4ZN81M9VOnGD1JyMLM1g9YhWr4a9DVrV6RKo9Im3dLT3/AcFqA1c+pyGAAAIIIIAAAggggAACCCCAAAII5KHApcM66gQLVlsVOeGqU7Fa4las1qlYh50w1fmyaLRRmWajTvboWzvZy/mKup97bPZaz6VFFK5WDW20GtoSwP5X3dHQvqt1R6Q623N132HtWrs3l3pOXxBAAAEEEEAAAQQQQAABBBBAAAEEEGhWgbIze6uoYztLUlUUKlOVSkJJanFJqYrbD5PqDtcnqo1LVpt1rMkuXmrVuk6APPj4gglWI5utmo6z2ap301WFNl/df1h1G3Yl8+N9BBBAAAEEEEAAAQQQQAABBBBAAAEECkag6MxTpE6hYFUlJaFNVe17CxiLy1TWoVJ1smDVSMKlq3ms42xYUHxOeQEFq+Eg1QlWw0GqG7A6G6/WqW7/YR1d/0UeTztDQwABBBBAAAEEEEAAAQQQQAABBBBAID2B4jMrwsGqc/9/VLBaUlKm0vYWrB4qmGDViY8JVsOVqwSr6X2aOBoBBBBAAAEEEEAAAQQQQAABBBBAoGAECFZjp5pglYrVgvkFwEARQAABBBBAAAEEEEAAAQQQQAABBBomQLBKsBp+ahVbATTsI8RZCCCAAAIIIIAAAggggAACCCCAAAKFKECwSrBKsFqIn3zGjAACCCCAAAIIIIAAAggggAACCCDQKAGCVYJVgtVGfYQ4GQEEEEAAAQQQQAABBBBAAAEEEECgEAUIVglWCVYL8ZPPmBFAAAEEEEAAAQQQQAABBBBAAAEEGiVAsEqwSrDaqI8QJyOAAAIIIIAAAggggAACCCCAAAIIFKIAwSrBKsFqIX7yGTMCCCCAAAIIIIAAAggggAACCCCAQKMECFYJVglWG/UR4mQEEEAAAQQQQAABBBBAAAEEEEAAgUIUIFglWE0pWN30jxWF+PlgzAgggAACCCCAAAIIIIAAAggggAACCAQK9LykUurUTiopkUqKpeKi0J/2R0mZSttXqk6HnL87/6vI+SavX0XF55TX5fUI3cG5o6wLf2N/HK0LBa1Hw98frVPd/sM6uv6LgiBhkAgggAACCCCAAAIIIIAAAggggAACCKQiQMVqrBLBKsFqKp8djkEAAQQQQAABBBBAAAEEEEAAAQQQKGABglWC1ZS2AqBitYB/SzB0BBBAAAEEEEAAAQQQQAABBBBAAIEYAYLVgGD1jjvuyOutAOrCt/7bn+7X0aNHZV9Hjhxxvg4fPqxDhw45Xzt27NCCBQv4+CCAAAIIIIAAAggggAACCCCAAAIIIIBAWKCqqkrl5eUqLS1Vq1atnK+SkpLIV1FRkYqLi52j7Xv7yvdXEcEqwWq+L3LGhwACCCCAAAIIIIAAAggggAACCCDQOAGC1Vg/glUqVhv3qeJsBBBAAAEEEEAAAQQQQAABBBBAAIG8FyBYJVh1tgNgK4C8/6wzQAQQQAABBBBAAAEEEEAAAQQQQACBDAoQrBKsEqxm8ANFUwgggAACCCCAAAIIIIAAAggggAAChSFAsEqwSrBaGJ91RokAAggggAACCCCAAAIIIIAAAgggkEEBglWCVYLVDH6gaAoBBBBAAAEEEEAAAQQQQAABBBBAoDAECFYJVglWC+OzzigRQAABBBBAAAEEEEAAAQQQQAABBDIoQLBKsEqwmsEPFE0hgAACCCCAAAIIIIAAAggggAACCBSGAMEqwSrBamF81hklAggggAACCCCAAAIIIIAAAggggEAGBQhWCVYJVjP4gaIpBBBAAAEEEEAAAQQQQAABBBBAAIHCECBYJVglWC2MzzqjRAABBBBAAAEEEEAAAQQQQAABBBDIoADBKsEqwWoGP1A0hQACCCCAAAIIIIAAAggggAACCCCQfYEvvvii0Rfp1KlTo9ogWCVYJVht1EeIkxFAAAEEEEAAAQQQQAABBBBAAAEEmlogp4LVvZu0fMNutes5UL1qP9Saz4tU1K2fhvfrpuLiYoemqKjI+crca782vfOO1u+vb7Fr/0r1b7dJ77yzXp4fy/l5VzuuRiuqV6hGbdV78GD1bGs/WqHqFTWRRtr2GqzBJ9kbDXsV3XHHHXUNO7VlnFVXFxqe/el+HT16VPZ15MgR5+vw4cM6dOiQ87Vjxw4tWLCgZQyOXiKAAAIIIIAAAggggAACCCCAAAII5L1Abgar/VS+c4329/6y+ncrcYLUbAWr+ze+o3c27JcThHarCYepXXRc253asV+hn7dbHw5Nu+qUXvv0yQY3bnWDVTdolbr27y+tsNDVvneD2PSXEcEqwWr6q4YzEEAAAQQQQAABBBBAAAEEEEAAAQSaTCAXgtW+fU9Xn8FDdOLh+orVfiWf6P0tB3VMt3ba9VlRuDJ0vza/u1QbDrTVcV32a8dOD1O3/uqvFVrxafhnbXtr8OCeSq9m1K1edYNVf3DaVf0r+6ur3OPc971/P136yCpgPdWsDZhNglWC1QYsG05BAAEEEEAAAQQQQAABBBBAAAEEEGgqgdwIVvuq/bF9dGbPWq0KbwXgBqtd+/VT8erV2t9rsL7U7TO9u3SDDnTrr8p+zj35qllZHQ5Tu+rEbjXa/Gm4yjTt2/DrtwRo2+sMle/40BOOuhWp8YJVbz8aE+zWzzrBKsFqU/0O4DoIIIAAAggggAACCCCAAAIIIIAAAg0QyIVg9ey+faW4wepwlX/+hlbt663+x+3Qyo0H1PWU3tr3SXj/02691Xvveq3fXx+sBt2CXx/ASvIEs0bmbgegyJ6p/orUJMHqvvD+quEq2X3hsLcx+6wSrBKsNuDjzCkIIIAAAggggAACCCCAAAIIIIAAAk0lkAvBat++iSpWh6t/8Wq9seozh6SoqKv6D+6o9c6Dpdqqd/9ybV9h3ycOVuN5Ru2xGqly9VavRu+xGrgVgBusyipae2t/+GFYBKsJVjEPr2qqjzjXQQABBBBAAAEEEEAAAQQQQAABBBDIhkCyYHXevHkaM2ZMwkt36tSpUV1LtMdq137D1b/bQW1ZtlT2zCgLK8/p1c5TZeq5dJmk2vQeGhVVyRppysLbDuHwtr79+kpYf0UrWwGkvQAIVtMm4wQEEEAAAQQQQAABBBBAAAEEEEAAgRwSSBSsWqjqvhKFq40NVquqqlReXq7S0lK1atXK+SopKYl8FRUVqbi42OmKfW9f+f5iKwC2Asj3Nc74EEAAAQQQQAABBBBAAAEEEEAAgRYtEC9Y9YaqycJVgtXMLwGCVYLVzK8qWkQAAQQQQAABBBBAAAEEEEAAAQQQyJhAULAaFKomClcJVjM2HZGGCFYJVjO/qmgRAQQQQAABBBBAAAEEEEAAAQQQQCBjAsn2WE3lQgSrqSildwzBKsFqeiuGoxFAAAEEEEAAAQQQQAABBBBAAAEEmlSAYLVJuVO+GMEqwWrKi4UDEUAAAQQQQAABBBBAAAEEEEAAAQSaXoBgtenNU7kiwSrBairrhGMQQAABBBBAAAEEEEAAAQQQQAABBJpJgGC1meCTXJZglWA1N1cmvUIAAQQQQAABBBBAAAEEEEAAAQQQcAQIVnNzIRCsEqzm5sqkVwgggAACCCCAAAIIIIAAAggggAACBKs5vAYIVglWc3h50jUEEEAAAQQQQAABBBBAAAEEEEAAAbdidenSpWljDBo0yDmnU6dOaZ/rPaGqqkrl5eUqLS1Vq1atnK+SkpLIV1FRkYqLi51T7Hv7yvcXwSrBar6vccaHAAIIIIAAAggggAACCCCAAAIItGgBgtXcnD6CVYLV3FyZ9AoBBBBAAAEEEEAAAQQQQAABBBBAwBEgWM3NhUCwSrCamyuTXiGAAAIIIIAAAggggAACCCCAAAIIEKzm8BogWCVYzeHlSdcQQAABBBBAAAEEEEAAAQQQQAABBKhYzc01QLBKsJqbK5NeIYAAAggggAACCCCAAAIIIIAAAgg4AgSrubkQCFYJVnNzZdIrBBBAAAEEEEAAAQQQQAABBBBAAAGC1RxeAwSrBKvS0mkaMml2+sv0hplacttA1cybrKp7q6Xhd2vBA2PVNf2Wmu8Md+xZ7XuN5t5WpamLpMp7Fmj6mBYlFDM3zTnfyx8YoomPSAqvvcCFc2SL5v7oSk19VRr4vVl6aEI/lTXfCuPKCCCAAAIIIIAAAggggAACCDRagIrVRhNmpQGCVYJVglULlQlWU/4Fk+vB6pZnJ2vMTxer8keP6efXVBCqpjyzHIgAAggggAACCCCAAAIIIJCrAgSruTkzBKsEq3FXZnMGaE32caFitcmom+RCq2bqqutmqMedT2v65T2a5JJcBAEEEEAAAQQQQAABBBBAAIFsCxCsZlu4Ye0TrBKsEqxSsdqw3x6chQACCCCAAAIIIIAAAggggAACTSJAsNokzGlfhGCVYLXRwWqkstW776VbCWo/m9RR82f8Wg/PW6i1O6Wy8n46b+T1umnCSPXrGOfy2xdr9n/P1NxFi51z1KVCQ4eP1fiJY1V5cryT4q//mjdn65e/fVQLl9aotl1XDbzwet3y/fEauiW8v2zQVgBHarT42Yf11BMvauG63ZI6quLcSo294Qcaf246+6TG32PV3TN0/IwlmnLaWp/TQI249hb9YNxQdS3xjW3fFlU//aBmz6vWYqdvZeo6aITGXnW9rr+4nzr6j7fTA0xHjLkpdh62z9Xk0VNV7ZiM0hfzpmnqQ3/S8u1Xa+aSKTrR3VM3g/O9e9V8PfzbR/XimytVs8/WSPDYXa/AvWp3r9T8WQ/r0fmva+X2WqldV/U7d5SuHne9xg7yz9dyTRsyUbM13hlT/zXz9eBDD2vuy2u1O2x5/XfSnee0f/9yAgIIIIAAAggggAACCCCAAAIpCRCspsTU5AcRrBKsZjdYHTNe45fP1ux1AZfpMkL3PXK/Rvru2K5ZdL9uvm2O1gb2rKNG3PuY7h+d6m3etVr+wDhNfCSgtXaVuvsHFZr604A9Vmuqdf//NVlzgvotqeKGmXrstoEp7t+ZQrD6i5nSAxMDncouuFtP/3yserhh6b7lmnZD8LFGVjHmfj10uSkrggAAIABJREFUz4ioh4hteWmqJv94brCpOTwxXWNd0kiwOkV3952rqRG7UAiZMFhNe75rtXLWzZrwq+WqDZrvk8dr5iNTNLBd6M14wWrtmjn60YT7Vb0vqJEy9Zv0kGbd7J2v+mB1+gxp2qTZATZlqrznaU0fk+paa/Lf31wQAQQQQAABBBBAAAEEEECgQAQIVnNzoglWCVazG6xa6+0GauLP79OkIT1UViLVblmu2f95sx58tTb2oVHr5mjilfdruco0cNJ03XfDUPWwUK12ixY/MlW3P7RYu1WhibMe060Dkj/rvXbR/brwtjmqjenDYs24Z7JmLg3Hed6K1SNrNWfSVbr/PQsp79Z93xulfl3LpCO1qln5oh68Z6rmritT5b3PafroVCpXkwerZe3KVFs+SnffO0Vjz+joXGtL9TRN/qEFzGW6+lev6PZzQ+NdOWuMxv1qS6hvt41Vvy4K9+1P+tlt92vhzujj5TGt/N5DumPcQPUok2prVupPP79Z97+0Wxpwu56acbUqLLx1g1XnahUa++O7ddOY0Dn2SlihnOZ8R+ZHFbr6p/frlosrnGrb2o3VevCOH2n2qlqVXTldr/y40gmxA4PVfdW6f+Rkzdnnn6/dWvn8NN37n3O1cp9/vtxgtUxl7Wp14sUey9otqp4+WZOfXCu1u1q/ful2DU2+1HLzNzy9QgABBBBAAAEEEEAAAQQQyAsBgtXcnEaCVYLVrAerI376su6v8t2+HwnDeujWR+Zp4hnWjd1aeG+Vbp9Xqx7X/VpP/3BoTEXo2icn6qqfL3eCwHmzrlbiWsItmjNhjBOQJu6DogLe3S9PVdWP5kpV92vBT0coZuMBN6jscasee3ai+gXddh+lmjxYlSp19zxP1ahzfq2q/2O4Jj8t9fjeY5o3oZ/Fmpp7W5WmLhqqu+f9ur7KNHy92lenavgP56ps0kwtunmg08bin1+oW56MY3pkpWZePk4PbumhWx+fp4mnRQerA3/0lGZeUxE9mkRbASiZtXe+6+en8s55sQ+b2jlft198lxZqpO5/+T6N6BgcrK595Cpd9cBaZw7n/dJT2euaRMJ1b0jqBquhuY85r7Za9w+frDnyuOTm73B6hQACCCCAAAIIIIAAAgggUAACBKu5OckEqwSrWQ5W60Mx/4UW/2KIbnlc6vejp/SYhXeRMGugbn92pq4+KaBruxfqrq/ervkWRL4wXWPLE3ywauZrctVdqvYEc/6jV84Yo3EPbfEEq26YWabxMxZpyqCg9rdo7s1jNHVJqqFbCsHqldO1KFyV6b1ibHVofdha+cPHdM+V/WTFtHFfEdN+uv3px3T1ybFHLn9ouCbOqFXlvQtCFbiRitVg48QVq2nM97o5Gnfl/VqpqzV90e2qjBlHjeb/sEp3vVqmibMW6dYBQcHqWs254Srd/6GvSjdqmCs1c4yFx945rQ9Wr35gkW4f7r94/Zw5+98GroPc/KVOrxBAAAEEEEAAAQQQQAABBPJPgGA1N+eUYJVgNbvB6hm366lHrlZ0zWPokjEBXSRoC+3lafWWsS831JSSBl7vPajhE2aqtt1EzXz11sD27Fb04bfN8QSrbgiX2gc2OJTzn5s8WB165zz9+vLY+tugELP2vQc1bsLM8J6gZep62nm6aGSlKocM1cC+PdTRmxFGQtJEpr7+JjknYbCazny7DzgLenBYHP6YrQAiwXHioN0N8esfeuUGq8GVv/WVwSmss9SWCkchgAACCCCAAAIIIIAAAggg0GABgtUG02X1RIJVgtXsBqsJQrOYgC6loC2NSsJU2os5xnOLeAofvUiVZ8JjkwergU+5j7efqW2asK5aT/1qmh51nmLvfXXUwCun6O7bxqrC9qbdOEcTL7c9a5soWE1jvmND7eTgMcFqisFx7N6s7jzHC2TTWGfJu80RCCCAAAIIIIAAAggggAACCDRKgGC1UXxZO5lglWC12YLVLc/eojE/XSzdMFNLbhsoe8hS6NbwDFWsbpmrW8ZM1eJE7cUNVutvP2/8py/zwWqkT0dqtbtms9a+u1gLq+frxVeWq2afVObuD5ti8Bg1xsZUrCYIVmPmO5Xg24ef+YpVgtXGr29aQAABBBBAAAEEEEAAAQQQyLYAwWq2hRvWPsEqwWp2g9V24zXz5SkaGPOAJ89eoe7enpneYzWF28QjVbORQDB+CNqwj5idlcVg1d+pLXM1eczU+n1lW7sPYYp/q/zyB4Zr4iO1GvkfL+u+izt69lgNDrgTbgWQzny7QXrcc1y3+r1sYytPG7vHKsFqw9c1ZyKAAAIIIIAAAggggAACCDSVAMFqU0mndx2CVYLV7AarKtPVD7wS+3CgSFWk90FVSZ5gL2ntkxN11c+XSwNu17xZVyt2V1LvcOrbC3q6vY6s1MxrxunBdaEnwy94YKy6Stry9ESN+Y/QNZ6acbUq/KGw+7T6dt6nzCf64GUwWHXd4u1lGgmT3YdI7dbCO7+q2xdIgQY7F+quMbdr/j5PwNiYitW05rv+oVKBa2TVTF113YNa6wleY4NVz3wNv1vzfjlWPXzzZVsOXHjbHNVGzRdbAaT3nwqORgABBBBAAAEEEEAAAQQQaE4BgtXm1I9/bYJVgtUsB6uS2g3UxJ/fp0lDeqisRKrdWK0H7/iRZq+qVdmV0/XKjysVed5SpOKyTAMnTdd9NwxVD9srtHaLFj8yVbc/tFi7VaGJsx7TrQNiHiMfOxY3nFOFxt5zn6Zc2k8drQ9blmvOA5M17aXwDqXeW9gjYaNUMeZu3fe9UerXtUw6UqualS/qwXumau46qeJ7j+mpCf1S+GRnMFhVfRjp+Iw7Wz3CT6uqrVmrhTNv111Pro0OnuMaLNaMeyZr5lLfPDQqWE1vvne/dJeqfjxftb41svvDuZoWdvYGwkHBqvYt1rRrb9HsLf752q2Vz0/Tvf85Vyv3lany3uc0fbRF5/YiWE1h4XIIAggggAACCCCAAAIIIIBAjggQrObIRPi6QbBKsJrdYPWMSlXuq1a1VYX6XmWnTdRDM27VQAtOPa+aRffr5tvmhJ967z+ro0bc+5juH524VtV71pYXbte4exb6HvJkR5Sp8oarVfvIbC327Q1au/RBTbhtplbuC+bpePF9euynI2OqI4OPzmSwKtUunaZxk2bH8bFgs1J3PzFdYz1EW+ZN1pX3Vqs2qIMnj9fMR6bUz0NjgtW057tWyx8Yp4mPrA2kK7vgbj398/oq1MBg1XL3NXP0own3qzpwvsrUb9JDmnXzwPoAn2A1N/+LRK8QQAABBBBAAAEEEEAAAQQCBQhWc3NhEKwSrGY3WLXA8j8GavGMX+vheQu1dqfU8eShqhwzUT8YN1RdY/ZeDXdn+2LNmfmUnnopdI66VGjo8LEaP3GsKk/umPanafeq+Xr4tw9r7strtVtl6jpohK6/+Qca3+t1TR49VdVBD13avlxzn5itOfNf18rtFkl2VMW5lRp7zU0aW1nhVL6m9spssOpcM+wzd8lirVwXqrotK++n80Zer5smjFS/AKKQwaN68c2VzgOu4s5DY4LVBs53zZuz9ctH5qr6zfD8nHaeRt14k266OFRh7L7iBavO+7tXav5jj2rOvIVabvPVrqv6nTtKV4+7XmMHuZWqkZY0bchEzRZ7rKa2hjkKAQQQQAABBBBAAAEEEECgOQUIVptTP/61CVYJVrOzMhvwxPfsdIRWm0SA+W4SZi6CAAIIIIAAAggggAACCCBQmAIEq7k57wSrBKvZWZkEbdlxzdVWme9cnRn6hQACCCCAAAIIIIAAAgggkAcCBKu5OYkEqwSr2VmZBG3Zcc3VVpnvXJ0Z+oUAAggggAACCCCAAAIIIJAHAgSruTmJBKsEq9lZmQRt2XHN1VaZ71ydGfqFAAIIIIAAAggggAACCCCQBwIEq7k5iQSrBKvZWZkEbdlxzdVWme9cnRn6hQACCCCAAAIIIIAAAgggkAcCBKu5OYkEqwSrubky6RUCCCCAAAIIIIAAAggggAACCCCAgCNAsJqbC4FglWA1N1cmvUIAAQQQQAABBBBAAAEEEEAAAQQQIFjN4TVAsEqwmsPLk64hgAACCCCAAAIIIIAAAggggAACCFCxmptrgGCVYDU3Vya9QgABBBBAAAEEEEAAAQQQQAABBBBwBAhWc3MhEKwSrObmyqRXCCCAAAIIIIAAAggggAACCCCAAAIEqzm8BghWCVZzeHnSNQQQQAABBBBAAAEEEEAAAQQQQAABKlZzcw0QrBKs5ubKpFcIIIAAAggggAACCCCAAAIIIIAAAo4AwWpuLgSCVYLV3FyZ9AoBBBBAAAEEEEAAAQQQQAABBBBAgGA1h9cAwSrBag4vT7qGAAIIIIAAAggggAACCCCAAAIIIEDFam6uAYJVgtXcXJn0CgEEEEAAAQQQQAABBBBAAAEEEEDAESBYzc2FQLBKsJqbK5NeIYAAAggggAACCCCAAAIIIIAAAggQrObwGiBYJVjN4eVJ1xBAAAEEEEAAAQQQQAABBBBAAAEEqFjNzTVAsEqwKqlGc2+r0tRFAYv0hplactvAlFZvzbzJqlp3U8rHp9RoCzkod8cemtuFFy/Q9DFdW4hmtrq5XNOGTNTsNNZ0tnrSuHZD49CMJZoyqHEt5e7ZNsaHVfHCdI0tz91e0jMEEEAAAQQQQAABBBBAoKkECFabSjq96xCsEqxq+QNDNPGR8Zq5ZIqiItTtczV59FTpntRCuaYIF62vD5+cWn/S+yg07uiEY186TUMmKeLbtGNoeLDaFPMZq56hQM1Zu2t1k2dNN61749ZT4rMLLVjN0JrI5pTQNgIIIIAAAggggAACCCCQZQGC1SwDN7B5glWC1VCwqqDK1PRCueYJ4hq48jN8WjrBaoYvnaS59OawafvWlFerUc32ruqaF9WPhRasNuU64VoIIIAAAggggAACCCCAQG4KEKzm5rwQrBKsygkF762IrVj1r1mn8nJ29E+H360FD4yV3WTuDRdDVbDRh1ZGKl9jtx5I7T05IbBbsZr4Gu6xMzXipYmRbQ7Gu7dPh6txq6O6GFC1676fxtijmow6r1J3vzBdFU/UjyFkNkJ3fzw10sdEFtZ2ZAxBv1N846q8JzR+ZyuAXo8mnD9/c975dL+fqYmReU3Uz/o+Jppr3xzJ1lKFHo3cAh6uVLynQlPvddedZ45i5sTznrdiNdlcu8fOkCa669uzroOYvWvPNV47MXRrfsw/VDjtL9QIu61doSrwlNedXdw3zvEzZkqTQlsBjHg1vc9ZonmJXltB24Mk+Hz4DMfPWKCKmbHbi3jXbuj3jk8isr2Bt0rV8/2WgN9BCn2ubMuAlNqcMUILJ6VeiZ+b/+mmVwgggAACCCCAAAIIIFBoAgSruTnjBKsEq+GVGd5/0l2n/n0oA7cFiN6z0g3fFpz8sKruVSTscJoMh0MWrITCIH8INlUVSd5zQysLVu/RvQmvEQm4HqkPXUJ9WKu7X7hJa0f799oMB0lOuBcKiiOvNMYeuB9tgq0A3CAoEjglcnLDa79tpKOxe4i67VdO+YE07Ze+bR0S7zkaE6zeW10f6oZNInP2sS9gDwf18m8z4TkvcI7kD9QmanYk5PTM0V3Svb5tKpxA0+1HJFgdoYUx+6r65toNXiNrPvx+3+D9hUOm9evbP4fxg9U0153Na8Dac0PdKyZU6plZST5nqc5LzNqKrfBNWJXtMwzaXiTGbXuNupZ7PmlR2zfECVajKo5j56kmaZve9ZSb/1GmVwgggAACCCCAAAIIIIBAkADBam6uC4JVgtXglRmpkgsHk06lXbjqzhNueEOkqGD1pRG+gLL+9mUnWI3aeiAUkFjFX6L3YoLVBNdIXDkYCrj8D/9x+h/TphtupTb2BgWrUddM5BS/L6FJDLpFPLwVwDALVt8KVU3GmT//QogJVuP08/oNcdysRzHbTNTPdeAcBQSr3nmKzJETrPrmxNbszIrQuvMFqwnn2ltRGraJvz1GuCoyjkVG110kWPWvvdA877dgdWX8z1l68xJnbfmrguNV8voMA/0CnN01W18H7/5DSPJgNSpIj1q8vn8kilS0FsIWCrn5f2jQKwQQQAABBBBAAAEEEGi8AMFq4w2z0QLBKsFqwnUVCUiuXRtwC3P41HClX3TFavQtvu5FIhWrgXu6BgVx0d1ztwJwKlYbGaz6NjUIXSgoOAq8lTx47LkdrP7Sdwt69BgaGqw6T6aP2YIg9ICxRAGlEwXHBK+xFaspB6veAeRwsJryukslWJ0V/3OWdF58W3WE+MLBpnvLvadyPe4/PAT0M2ibjqj2y93w01+57obIiYNVf/VrqO1U2oz9B5Vs/IeVNhFAAAEEEEAAAQQQQACBTAsQrGZaNDPtEawSrGrakMmq8FUyussrOliNrdr0LsPEFav1RyaqYmzOitW4H6nASrvoo9N5eJV3n9jYsKppK1YT/RpJrWI1tJemu7+oN+CK7AEapzqZitUUfoknqPIMrlh124yuDE4+LwHr2fcPF2kHq3H+8cS5UtC4on6WIFj1bJfhhMfuK6U2CVZTWHUcggACCCCAAAIIIIAAAjkoQLCag5MiiWCVYFXThgzR2siDpaKiUucW/am212S4YlVRx0XfWpt8j1U5D8hKtO9mov1XG7THqjfciQQv8fe6dB7yNCZqh9XAfS79t903Klj17pma4T1W3b1tE+2x6r9NPhLNOQ/WuklWhRs/AA4/pMi7H6l//9U4++mmGqzO9u99avvgZnyP1eh/NEi6FUCyPVY9e5uGqjetEjTNdRcJIKMftOTu6Rp/j1X7nF2vte5n97aBoSlNNC/uHqvhMFW+fWQjFcnpbAXgnXdf+6GtGrzjch+WlWQrgPDDv6J/D4VXbEptEqzm5v8pQq8QQAABBBBAAAEEEEAgmQDBajKh5nmfYJVgNeY27qil6A1SYp7CHv2Eem+4GHsrsPeJ4omeFJ/KU+Q9t5n7bmeuf1J9+k9n954b83FMY+wx50Zukw+FRhVPDJE9gMsC3FBgWaHxmq3Zi0Jn1vcj6Mns0ebxrxV+54aZmqmJoev1elRD3Kfeh9/2PqXd31ZqFatLNKVH7JPuE40h4RwF7bF6w3jNfsS9gd6zjmLmxH9b+VrdtGSKBgZu5RDvFvSQQkpbGLhr74bxGm/9izzRPnrexs+YKU16OFQVHg4GvTfwJ1x31hnfOCvvmakRL02s35M46jMQ+1C44GsFrC1faBr1Gbb3wmF2tf/BdpHQ1htOJ28/elz22bhHuq9KUxfZGOyhY2EzZ9uA0Pf22ZkYsIWB/+Fv4U9SQJu+YDVe9Wvz/PeYqyKAAAIIIIAAAggggAACcQUIVnNzcRCsEqzm5soskF4lvL26QAziD7OlPGyopfSz4BcUAAgggAACCCCAAAIIIIBAixUgWM3NqSNYJVjNzZVZIL0iWE000S0lsGwp/SyQDxXDRAABBBBAAAEEEEAAAQTyUIBgNTcnlWCVYDU3V2aB9IpglWC1QJY6w0QAAQQQQAABBBBAAAEEEGiEAMFqI/CyeCrBKsFqFpcXTSOAAAIIIIAAAggggAACCCCAAAIINFaAYLWxgtk5n2CVYDU7K4tWEUAAAQQQQAABBBBAAAEEEEAAAQQyIkCwmhHGjDdCsEqwmvFFRYMIIIAAAggggAACCCCAAAIIIIAAApkTIFjNnGUmWyJYJVjN5HqiLQQQQAABBBBAAAEEEEAAAQQQQACBDAsQrGYYNEPNEawSrGZoKdEMAggggAACCCCAAAIIIIAAAggggEA2BAhWs6Ha+DYJVglWG7+KaAEBBBBAAAEEEEAAAQQQQAABBBBAIGsCBKtZo21UwwSrBKuNWkCcjAACCCCAAAIIIIAAAggggAACCCCQXQGC1ez6NrR1glWC1YauHc5DAAEEEEAAAQQQQAABBBBAAAEEEGgCAYLVJkBuwCUIVglWG7BsOAUBBBBAAAEEEEAAAQQQQAABBBBAoKkECFabSjq96xCsEqymt2I4GgEEEEAAAQQQQAABBBBAAAEEEECgSQUIVpuUO+WLEawSrKa8WDgQAQQQQAABBBBAAAEEEEAAAQQQQCA9ATcUTe+s4KOXLl2adjODBg1yzunUqVPa53pPqKqqUnl5uUpLS9WqVSvnq6SkJPJVVFSk4uJi5xT73r7y/UWwSrCa72uc8SGAAAIIIIAAAggggAACCCCAAALNJkCw2mz0Wb8wwSrBatYXGRdAAAEEEEAAAQQQQAABBBBAAAEEClWAYDV/Z55glWA1f1c3I0MAAQQQQAABBBBAAAEEEEAAAQSaWYBgtZknIIuXJ1glWM3i8qJpBBBAAAEEEEAAAQQQQAABBBBAoLAFCFbzd/4JVglW83d1MzIEEEAAAQQQQAABBBBAAAEEEECgmQUIVpt5ArJ4eYJVgtUsLi+aRgABBBBAAAEEEEAAAQQQQAABBApbgGA1f+efYJVgNX9XNyNDAAEEEEAAAQQQQAABBBBAAAEEmlkgWbB644036ve//31KvVy6dGlKx3kPGjRokPPXTp06pX2u94SqqiqVl5ertLRUrVq1cr5KSkoiX0VFRSouLnZOse/tK99fBKsEq/m+xhkfAggggAACCCCAAAIIIIAAAggg0GwCiYJVC1XdVyrhKsFqs01j4IUJVglWc2tF0psWJVB74ID279unbZs3a//evdr0ySfat2ePDh86pHWrVqn24MHIeLp07aoevXs7f+90zDHO98f16KEuxx6rNu3atahx01kEEEAAAQQQQAABBBBAAAEEUhWIF6x6Q9VUw1WC1VTVm+Y4glWC1aZZaVylxQrU1dVp965d2rpxo7asW6dPVqzQ+lWr9NmOHTpy+HBGxlXWurV6nHyyBgwdqnMuuEDHnXBCQdwykBE8GkEAAQQQQAABBBBAAAEEEMhpgaBgNShUTSVcJVjNrakmWCVYza0VSW+aVcBC1C8+/1xrPvxQH737rtZ88IF2bN2asQA11cG179hRF1x6qc4fNUpW6coLAQQQQAABBBBAAAEEEEAAgZYqkGyP1XTGRbCajlb2jyVYJVjN/irjCjkrYEHqzpoarVy2TG/87W9at3Jl1O37zd1x2/T6rGHD9M0JE1R+4onN3R2ujwACCCCAAAIIIIAAAggggEDaAgSraZO1mBMIVglWW8xipaOZEbAw9dOtW7XoL39xwtRdn32WmYaz2EpJq1a66LLLNPpb35JtG8ALAQQQQAABBBBAAAEEEEAAgZYiQLDaUmYq/X4SrBKspr9qOKNFCtiDpN56+WX99ZlntOOf/2yRY+h71lma8G//pmO6dWuR/afTCCCAAAIIIIAAAggggAAChSdAsJq/c06wSrCav6ubkTkC+/bs0V+eflqvPPdcTt3m39DpOb5nT33n3/9dPXr3bmgTnIcAAggggAACCCCAAAIIIIBAkwkQrDYZdZNfiGCVYLXJFx0XbFqBQ7W1Tqg679FHm/whVNka6bHHHaeb77lHPSsqsnUJ2kUAAQQQQAABBBBAAAEEEEAgIwIEqxlhzMlGCFYJVnNyYdKpzAts+uQT/e4Xv9CWdesy33gztEi42gzoXBIBBBBAAAEEEEAAAQQQQCBtAYLVtMlazAkEqwSrLWax0tHGC+z89FP9z30/1fqPVze+sRxo4bgTumvCv/6bTujdS63btsuBHtEFBBBAAAEEEEAAAQQQQAABBKIFCFbzd0UQrBKs5u/qZmRRAlvWb9Cvpt6nz7duySuZ0pJitS0rUedjj9WQERfpKyNHq0PnLnk1RgaDAAIIIIAAAggggAACCCDQcgUIVlvu3CXrOcEqwWqyNcL7eSCw9I039N9T/1+V1B1RSXFRHowoegitS4vVprTE+WGbdu30tWvHadglVSopCf2MFwIIIIAAAggggAACCCCAAALNJUCw2lzy2b8uwSrBavZXGVdoVoFFf31Jv/n5L1VcdDQSPjZrh7Jw8aIiqX3rVlGh8bCLv6av3zhRpa1bZ+GKNIkAAggggAACCCCAAAIIIIBAagIEq6k5tcSjCFYJVlviuqXPKQq4oeqRI0fUvnWJivOwWtWlsC0B2rWOrlAdPupSjRp/o1qVlqYoxmEIIIAAAggggAACCCCAAAIIZFaAYDWznrnUGsEqwWourUf6kkGB95e8rf+68x7VHjqsslahfUjz+VVcVBQYHleO/rpGXf9ttgXI58lnbAgggAACCCCAAAIIIIBADgsQrObw5DSyawSrBKuNXEKcnosCWzdu1E++P0W7d+9xume3ybcqyb+9Vf32QeMsLi7WNyZM0perRuXiVNEnBBBAAAEEEEAAAQQQQACBPBcgWM3fCSZYJVjN39VdoCPbv2ev/vf3/m9t3rjZEbCHVVngaPuQ5vvLqnKtOtf/6nTMsbrxx3eqR8Up+U7A+BBAAAEEEEAAAQQQQAABBHJMgGA1xyYkg90hWCVYzeByoqnmFqirq9OjD/y3/jL3z6oLd6Z1aXHePrTK7x0vWLXjzhg6TNfc9gOVtW7T3NPE9RFAAAEEEEAAAQQQQAABBApIgGA1fyebYJVgNX9XdwGObMWyZfrZ7Xeq9tChyOgLZRsAG7A9vMoeYhX0si0Brp38rxrwleEFuDIYMgIIIIAAAggggAACCCCAQHMJEKw2l3z2r0uwSrCa/VXGFZpE4PChQ7pvyg+1+qNVkes5D3RqUyL7sxBeyULkk/qeqhv//S6179ipEDgYIwIIIIAAAggggAACCCCAQA4IEKzmwCRkqQsEqwSrWVpaNNvUAov//qr+/6n/n44cPRq5tD2wqp3tr9rUnWmG66USIlvV6jdv/p7OuXBEM/SQSyKAAAIIIIAAAggggAACCBSiAMFq/s46wSrBav6u7gIa2dEjR5xq1ZUfrIgatT3IyfYdLYSXEyKXJX9IV5+zBuj6H/1Yrdv25651AAAgAElEQVS2KwQWxogAAggggAACCCCAAAIIINDMAm6wunTp0rR7MmjQoKhzGtNGp06Nu3uzqqpK5eXlKi0tVatWrZyvkpKSyFdRUZGsoMle9r195fuLYJVgNd/XeEGM76Nly/UfP/qxDh8+EjXeRA9zyjeYNqUlsgd1JXu1ad9eN931E/Xs0zfZobyPAAIIIIAAAggggAACCCCAQKMFCFYbTZizDRCsEqzm7OKkY6kL/GrqT7Xo5VdjTki252jqV8jtI51tAFqXqLg4tX8Nu+Sa6zTiiqtye1D0DgEEEEAAAQQQQAABBBBAIC8ECFbzYhoDB0GwSrCav6u7QEZWs2277vzuLdq9e09ssNqmlVqlGDa2ZK5Uq1XdMVacfqZuuON/qU07tgNoyfNO3xFAAAEEEEAAAQQQQACBliBAsNoSZqlhfSRYJVht2MrhrJwR+NvceZr1wK9UVxfdJdvKxCpWS/I8WLXx2TjT2bqlfcdOuume/0cn9D45Z+aRjiCAAAIIIIAAAggggAACCOSnAMFqfs6rjYpglWA1f1d3AYws3kOrnA93GsGqhbJH6+qcL/d7Cyztf2zfabvVPhdf1q92rUsaFB5f9b3bNPhfvpqLw6JPCCCAAAIIIIAAAggggAACeSRAsJpHk+kbCsEqwWr+ru4CGNn2LVt053dv1b59+2NGa6FjhzbxKzmPHK1T7eGjOnTkaEy1q78xi1VblRQ7D4fKlQpY61O71q3UqqRhoe+Xq0ZpzMTvFMRTCgvgo8AQEUAAAQQQQAABBBBAAIGcFSBYzdmpaXTHCFYJVhu9iGig+QRefu7Penjaf6vOvw+A5DzIqYPvFnmrSLUw1b4CTklpIBas2p6mDQ00U7pIkoOsgLZdWcNDVWuefVYzMRO0gQACCCCAAAIIIIAAAgggkEyAYDWZUMt9n2CVYLXlrl56rl/de58WvfJaoIQ3WLVA9eChUKCaqZcFrFbBWlpSnKkmU2qnW5c2shrV2tojKR0f76DOXbtp0j33qtsJJzSqHU5GAAEEEEAAAQQQQAABBBBAIJEAwWr+rg+CVYLV/F3deT6ygwcO6M7v3Kx/bv5ncLBaVKS2rUt0+PBRHcxgoOq/mFWPWrjaulWxUyWbrdcJ3drq4i/31On9j9f+A4f019fW66PVNQ2+XHFxsSbe+b/VZ8DABrfBiQgggAACCCCAAAIIIIAAAggkEyBYTSbUct8nWCVYbbmrt8B7nmh/1eaicUNW2ybAKlob+9Crju1KdcYpnXXO6ceqvGt7te7QLvRULklHj9apevFmLXp7S+BWCKkY8ACrVJQ4BgEEEEAAAQQQQAABBBBAoDECBKuN0cvtcwlWCVZze4XSu//D3r3A2VnXd+L/nrkmQxKBcKmxWqJIrK0sbcELca1m2QYvJb0AXoi0BnQRXIK2RFuB9k9iF3H/CqwC20KoEKxFu5rYCtmlwarBKmzFaK3xFuolKhCIDOQy1309Z+bMnHPmzMw5J2dmfufkffrKCyTP8/t9n/fznVP45Pf8nkkF/u2rX41r1r03BgYP7ZH46YizVaid7bk4elF3dHa2xd7evth/cDAGB4cj22Jguk92fkdbLp+HZmFr9n9tbZH/69gnFzGvqz2OPao7nn1cTyx91oJYcmxPfsVt9uno7oqunvkTpsrC1W33/yAe/NpPpyuj4u//5qrfizPPe3Nd5zqJAAECBAgQIECAAAECBAhUIyBYrUapOY8RrApWm7NzVR3/uHlL3HbDR+p+CdVkhFkAuuSYnjj9RcfGySceGfPnjYSbk3169w3EvgMD+aD1ez/qjQP90we9nR1t8cyj58fiI7vz4/eUvWSrMFeurS0fqLZ3dkw6//4DA3HX3++Mn/zsqZq74iX/eWX8zlsvqvk8JxAgQIAAAQIECBAgQIAAgWoFBKvVSjXfcYJVwWrzda2K8wJ3/I8Pxz2f+kzDNLIXUb3i146LV/768dHdNXWY2rBJJxkoC1Q753XnV6pW8/nev++NT939nRgYrO3lXMt+7TfiTe/64+jqnlfNNI4hQIAAAQIECBAgQIAAAQI1CwhWayZrmhMEq4LVpmlWhZYKXPNH6+LrX/3aIbO0t+di5UueGa/89V/IP6I/V59cLpdfmdrR3R1tHbUFu1mg+pn//b3Y+f3HaypfsFoTl4MJECBAgAABAgQIECBAoA4BwWodaE1yimBVsNokrarMcoG/eOcfxb9+7RuHBPPcJQviD1733Dhi3uSP2h/SBFOcnAWpWYDa3tmZD1SzVaqH8vn295+IT93znZpeZHX8s58Tb/2z9XHEokWHMrVzCRAgQIAAAQIECBAgQIDApAKC1dZtDsGqYLV1u7uFr2ygvz/+9ML/Ej/+4Y/rvsqXveiY+L1XPif/UqkZ/eSyF1floq29LdraR4LU7O8bPfGTvX3x8S3/Fo/vPVD15Rz7rGfF2/58Qyx4xpFVn+NAAgQIECBAgAABAgQIECBQi4BgtRat5jpWsCpYba6OVW1eoO/AgfiTC94WP/3Jz+oSOenZC+OCVSdGe1t9qWoWlOba2yIXo+fnIh+a5j/ZI/0dHfm/5gPUWfoMDQ3HZ7d9P76x87GqZxSsVk3lQAIECBAgQIAAAQIECBCoU0CwWidcE5wmWBWsNkGbKrFcYGhwMN771oviBw//oGacoxd1xWVveEH01PH4f/a4flfP/Pyj+yl+vvqNn8XWf3q46tIEq1VTOZAAAQIECBAgQIAAAQIE6hQQrNYJ1wSnCVYFq03QpkqsJFDPHqttuVysfvXSOPnE2h99z/ZD7T7iiMjVucp1Nu7i7p89FR/f/K3o6x+sajrBalVMDiJAgAABAgQIECBAgACBQxAQrB4CXuKnClYFq4m3qPImE6gnWH3O8UfEJeecVPMWANlK1e4FPeOP+yd6W57a1x8f+9Q3q95nVbCa6I1UFgECBAgQIECAAAECBFpIQLDaQjez7FIEq4LV1u3uFr+yWoPV7CVVb/jPJ8RvvODommU658+LznndNZ832yf0DwzF5q3fje8+/ERVUwtWq2JyEAECBAgQIECAAAECBAgcgoBg9RDwEj9VsCpYTbxFlTeZwI0b/iK2b/unqoGOXNAV73pT7XurZi+l6l54RGQvrGqGz+e+9MP453/ZXVWpxz/7OfHWP1sfRyxaVNXxDiJAgAABAgQIECBAgAABArUKCFZrFWue4wWrgtXm6VaVlgj07v15XHnRJfHoI49WJZOtVH3jb51Q1bHFB2UrVbMVq83y+db3Ho9P3/Odacvt7O6ON132x/GC3zh12mMdQIAAAQIECBAgQIAAAQIE6hUQrNYrl/55glXBavpdqsJJBf5l+/1x3Z+vj8HBoSmVssWm561cGqecdFRtmrmIrp6e6OjqrO28OTz6Z4/ti49v/rfYf2Bgyipe+bu/H7/1hvOaZiXuHJKamgABAgQIECBAgAABAgQOQUCwegh4iZ8qWBWsJt6iyptKYGhwMP7bH62Lb+74xpRQ87ra451vfEEsfkaN+6TmctHdMz/amyhY3be/P/7m0/8Wjz6+f1KTZ/7SCfGHf3JFLDp6sQYjQIAAAQIECBAgQIAAAQIzKiBYnVHeOR1csCpYndMGNPmhC3zty1+JD17xZzEwxarV44+eF+984y9HR3uN+6Q2YbCard79zL3fi2999/FJcX//okvi1BVnHDq+EQgQIECAAAECBAgQIECAwDQCgtXWbRHBqmC1dbv7MLmyA/v3x3vfelH8dPdPJ73iX3nuM+Itr3te7SJNGKxmFznVC6yOeeaSuODKP48jjzm2dg9nECBAgAABAgQIECBAgACBGgUEqzWCNdHhglXBahO1q1InE7jjhg/HPZ/+zKRA/+m0X4hXv2xJ7YBNGqx+/VuPxT/84/cqXu9LV746zlrzVnur1t4NziBAgAABAgQIECBAgACBOgQEq3WgNckpglXBapO0qjKnEvj6g/83/vufXBkDg4MVDzv3jF+KF7+wjv1EmzRY/eHu3vjbLd+asD1CW1tb/MF7roiTTvk1DUWAAAECBAgQIECAAAECBGZFQLA6K8xzMolgVbA6J41n0sYK/Pzxx+NPLvwv8fO9T04YuL0tF2/7nefH835xQe2TNmmw+tjj++NvNv9bPL2vv+Sajz7++HjrVevjyGNtA1B7MziDAAECBAgQIECAAAECBOoREKzWo9Yc5whWBavN0amqnFJgeHg4rv6va+Pb39w54bjOjra49Nxl8cxj5teu2KTBahaofuzT/xZ7nthfcs2//BunxRsv+6Po7O6u3cIZBAgQIECAAAECBAgQIECgDgHBah1oTXKKYFWw2iStqszpBDZ9+CNx9//aErlcxLFHzossUN1/cCD2HRiMP3rTL8dRi7qmG2Li7zdpsHqwbzD+/t7vRX//YH4v1d6n+yJbxfqbq34vzjzvzbU7OIMAAQIECBAgQIAAAQIECNQpIFitE64JThOsClaboE2VWI3AF7dujZ3/+LFYcerxMa+rfeyUvb190dnZFkfM66hmmNJjmjRYzS5iaHg42rKUefTzxN4DcfDIF8Wy3/z92h2cQYAAAQIECBAgQIAAAQIE6hQQrNYJ1wSnCVYFq03QpkqcVmB4OH70uduibe938itWG/Zp4mC1ksFwrj3mP/eV0f2LpzWMyEAECBAgQIAAAQIECBAgQGAqAcFq6/aHYFWw2rrdfRhd2b6HvxI/37ElYmiwsVfdYsFqhtPWtSB6fuV3o33RsxprZTQCBAgQIECAAAECBAgQIFBBQLDaum0hWBWstm53Hy5XNjwce774l9G35+HGX3ELBqsZUteSX4v5z1/ZeC8jEiBAgAABAgQIECBAgACBMgHBauu2hGBVsNq63X2YXNnggSfj8S/+VQw89Vjjr7hFg9XOxc+Pnl+112rjG8aIBAgQIECAAAECBAgQIFAuIFht3Z4QrApWW7e7D5MrE6zWfqMFq7WbOYMAAQIECBAgQIAAAQIE6hMQrNbn1gxnCVYFq83Qp2qcRmDPF7KtAHY13qlFV6x2/+KLY97zVjTey4gECBAgQIAAAQIECBAgQKBMQLDaui0hWBWstm53H0ZX1vuv98RT3/mnxl9xCwarufaumL/sNdF57Asa72VEAgQIECBAgAABAgQIECAgWI1cLpf/1eofwapgtdV7/LC4vv0/+lr8/Kt/F8OD/Y293hYMVtvmPSN6fvWcaD/imMZaGY0AAQIECBAgQIAAAQIECFQQsGK1ddtCsCpYbd3uPoyubKD3kdiz/ZYYOtDb2KtuwWC146gT4oiT39BYJ6MRIECAAAECBAgQIECAAIFJBASrrdsaglXBaut29+F0ZcPD8dgXbo7+x3/Q2KtuwWDV/qqNbRGjESBAgAABAgQIECBAgMDUAoLV1u0QwapgtXW7+zC7sid3bImnv/+lxl51iwWr9ldtbHsYjQABAgQIECBAgAABAgSmFxCsTm/UrEcIVgWrzdq76i4T2PfwA/Hkjs0xPDTYOJsWC1btr9q41jASAQIECBAgQIAAAQIECFQnIFitzqkZjxKsClabsW/VXEGg/8mfxuPZPqsHn26cT4sFq/ZXbVxrGIkAAQIECBAgQIAAAQIEqhMQrFbn1IxHCVYFq83Yt2quIDA82B97vvA/o3/vjxvn02LBqv1VG9caRiJAgAABAgQIECBAgACB6gQEq9U5NeNRglXBajP2rZonEdj7f++K/T/8auN8WihYtb9q49rCSAQIECBAgAABAgQIECBQvYBgtXqrZjtSsCpYbbaeVe8UAk9/7/548hv/EDE81BinFgpW7a/amJYwCgECBAgQIECAAAECBAjUJiBYrc2rmY4WrApWm6lf1TqNQP8TP4zH778thvr3N8aqhYJV+6s2piWMQoAAAQIECBAgQIAAAQK1CQhWa/NqpqMFq4LVZupXtU4jkN9n9Yt/FVnA2pBPqwSrubbofvZLY97SVzSExSAECBAgQIAAAQIECBAgQKBaAcFqtVLNd5xgVbDafF2r4ikF+n/+k9j74N/EQO+jo8flImK4PrWmDlZHrzvXFp3HLIueX/7tiFxbfQ7OIkCAAAECBAgQIECAAAECdQoIVuuEa4LTBKuC1SZoUyXWLDA8HANPPRYxPBiPb//LGDxY59YATRysdhy1NLqf/eLIdS2M9iOOqZnQCQQIECBAgAABAgQIECBAoBECgtVGKKY5hmBVsJpmZ6qqYQKP3H31YRmsdi5+fvT86u83zNFABAgQIECAAAECBAgQIECgHgHBaj1qzXGOYFWw2hydqsq6BQSrddM5kQABAgQIECBAgAABAgQIHLKAYPWQCZMdQLAqWE22ORXWGIFH/881MfD0z+sbrIm3Auh61qkx/8Qz6rtuZxEgQIAAAQIECBAgQIAAgQYJCFYbBJngMIJVwWqCbamkRgo89o//Pfp799Q3ZBMHq92/+OKY97wV9V23swgQIECAAAECBAgQIECAQIMEBKsNgkxwGMGqYDXBtlRSIwX2fvmvY/9PdtY9ZOf8edE5r7vu8+fkxLaOmP+8FdG15NfnZHqTEiBAgAABAgQIECBAgACBgoBgtXV7QbAqWG3d7nZleYGnvnVPPLXz8zE8PFyXSDMGq7nOnuj5ld+Njmc8u65rdhIBAgQIECBAgAABAgQIEGiUgGC1UZLpjSNYFaym15UqaqjAQO9PYs8/3RRDA/11jdvR1RldR/TUde5cndS+6Fmx4JTzInJtc1WCeQkQIECAAAECBAgQIECAQF5AsNq6jSBYFay2bne7sjGBJ7bfHAce/fe6RNo62mPewgV1nTsnJ2X7wj77JTFv6SvnZHqTEiBAgAABAgQIECBAgACBYgHBauv2g2BVsNq63e3KxgQO/Oj/xt5/+V8xPDRUs0quLRfdCxZEW3tzrP5sm/eM6PnVc6L9iGNqvlYnECBAgAABAgQIECBAgACBRgsIVhstms54glXBajrdqJIZFdjzueujb+9Pa58jWwHaMz/auzprP3e2z8i1RfezXxrzlr5itmc2HwECBAgQIECAAAECBAgQqCggWG3dxhCsClZbt7tdWYlA/94fxuPbb4mh/r6aZZpln9X2RUviiF89J3Kd82u+RicQIECAAAECBAgQIECAAIGZEBCszoRqGmMKVgWraXSiKmZFYN/3vxBPfuOemrcEyLW1xbyFR0T211Q/bfOOjJ5f+Z1oX/ALqZaoLgIECBAgQIAAAQIECBA4DAUEq6170wWrgtXW7W5XVlHg6W/dE73f/kLN4WrX/HnRMa87SdW2rgUx/6RXR8fi5yVZn6IIECBAgAABAgQIECBA4PAVEKy27r0XrApWW7e7XdmkAvsf/lI8+Y27Y2igv2qltvb26M5WreZyVZ8zGwe29RwTPcteE9k2AD4ECBAgQIAAAQIECBAgQCA1AcFqanekcfUIVgWrjesmIzWVwODTj8QTX7ot+p/aW3XdXT3zoqM7nVWrnce+IOYve03k2ruqvgYHEiBAgAABAgQIECBAgACB2RQQrM6m9uzOJVgVrM5ux5ktLYHhodj9938ebUMDMTw8PG1t+b1WFxwRufa53Wt1aHAohnt+IY5+6Zppa3YAAQIECBAgQIAAAQIECBCYSwHB6lzqz+zcglXB6sx2mNGTF9h553uis2M4eno6YnhwaNp62zs7o3tBz7THzdQBfQf740DvvjjqRStjwUmvnKlpjEuAAAECBAgQIECAAAECBBoiIFhtCGOSgwhWBatJNqaiZk8gC1b79u+Pjs72OOronhgeHJx28s7586Jzll9kla2offrJ/XHgqX3R09MZC18oWJ32RjmAAAECBAgQIECAAAECBOZcQLA657dgxgoQrApWZ6y5DNwcAoVgNV9tLuKooxdER9vw1FsD5HLR1TM/Oro6Z+UiBwcG44lHn4z+g/2xaFF3ZO/PEqzOCr1JCBAgQIAAAQIECBAgQOAQBQSrhwiY8OmCVcFqwu2ptNkQKAlWRyfsWTAvjjiic8rVq7m2XHQd0RPtHR0zWuaB/X3x+M/2xvDQcD5UbW/P5ecTrM4ou8EJECBAgAABAgQIECBAoEECgtUGQSY4jGBVsJpgWyppNgUqBavZ/O3tbXHUMQsiBgcmLWcmw9UsSO3d+3Tsfbw32ttysXBhd3R0jL80S7A6m11iLgIECBAgQIAAAQIECBCoV0CwWq9c+ucJVgWr6XepCmdUYLJgtTDpkYuPiM62mHRrgFy2LUC2crWzcStXB/pHHv3f//SBaGvL5VeqFoeqWW2C1RltC4MTIECAAAECBAgQIECAQIMEBKsNgkxwGMGqYDXBtlTSbApMF6xmtcyf3xULFnVPujVAFq52zu+Oju7uQyp9eDjiwNMH4vFHfh6Dg0P5x/7LV6oWJhCsHhK1kwkQIECAAAECBAgQIEBglgQEq7MEPQfTCFYFq3PQdqacS4EsvHz6wED0DwxFV2db/Ojvroi+/furKmnRkfOju6s9hoeGKh6frVrNXmqVaxt/ZL+agYeHh+Pggf74+WO9cfBAX/6Uzs62fKiarVit9FnwK6+JeNbLYmBwKOZ1tcf87vZqpnIMAQIECBAgQIAAAQIECBCYVQHB6qxyz+pkglXB6qw2nMnmViALVfc8eTAO9o0HowM/2RG9//J3MTxwsOriOjvbY8Gi+dGRf5HUcLZPwPi5uYi2jo786tWpAtahwaEY6B+I/U8fjH29+/MrVAufefM6YsGCrsnr6Tk22l60OgY6FuaPyaromd8RRy7orPoaHEiAAAECBAgQIECAAAECBGZDQLA6G8pzM4dgVbA6N51n1jkR2PtUfzy9v+xlVMPD0f/Iznjqwb+pKVydiQvIVqf29HRGFqxO+ln4izH0vNdGHHF8ySFtuVw8Y0Fn9MyzcnUm7o0xCRAgQIAAAQIECBAgQKA+AcFqfW7NcJZgVbDaDH2qxgYI7D84GHt7+2OoeHXp2LjDMbDn4Xj6a5+Kwd5HGjBb7UNkq2AXLuya9NH/bMTho06M4aVnRsw/uuIEnR1tcfSirtGVtLXX4AwCBAgQIECAAAECBAgQINBoAcFqo0XTGU+wKlhNpxtVMmMCWZb62N6D0TdQeW/UkYmHY/DnP82HqwNP/GDGaikfuKpVqll1x74ohk84I6Jr5PH/yT7ZitWjFk6xjcCsXZmJCBAgQIAAAQIECBAgQIBAhGC1dbtAsCpYbd3udmVjAhW3AJjEZ/Dpx2Lf1z8T/T/bOaOCuVzkH/nvmd8ZuUleUFUoYPiZL47h5/xmRMf8aWuyJcC0RA4gQIAAAQIECBAgQIAAgVkUEKzOIvYsTyVYFazOcsuZbrYFpt4CoHI1QweejH3/enf0/eirDS83l8vFvHntVQWq2eTDz/7NGH7WyyLaq1+FakuAht82AxIgQIAAAQIECBAgQIBAnQKC1TrhmuA0wapgtQnaVImHItC7byB69/VHxa1Vpxh4uG9f7N/5j3Hg+9sPZfqxc9vb22L+/I6pX0xVNtPwc18dw8f/WkTbFC+zqlBde3sujl7YFV2dbQ2p3SAECBAgQIAAAQIECBAgQKBeAcFqvXLpnydYFaym36UqrFsgC1P7+ofiid6+GBwarnmc4YGDceC7X4j9O++t+dzshGz/1O7ukTA1Czur/rR3xfDzXhvDx/xKRK72cLS7sy2OXOglVlV7O5AAAQIECBAgQIAAAQIEZkxAsDpjtHM+sGBVsDrnTaiAxgkMDQ9Hf/9wDAwOx+DgcGT/O/tkL63qn/LFVZPXMDw0EAf//YHYt2PztIVmj/l3drZFZ2d7/nH/7H/X/MlC1WW/H8NHnhhRx/nZKd2d7dHelsufnu25moW6HR256Gxvq2fImi/BCQQIECBAgAABAgQIECBAoCAgWG3dXhCsClZbt7sPgyvLwtMsMM0HqUPDkz7unwWsB/uGxoLWmmmGh2L4kW/EwLc+E4N9B0pO7+hoy69Mzf56yJ+eY2Poea+NWPScuofqaM/lg9XJPmNBa3sWAufywasPAQIECBAgQIAAAQIECBCYKQHB6kzJzv24glXB6tx3oQqqFshC1P6B8dWoteybmm0J0D84VPVcEw4cHo7c3u9GbuffRQz21T/OJGcOP+OEGH7eayLmH1P32FlG2tXRHlm4Wu0nOydb3Zqdk730qqYtC6qdxHEECBAgQIAAAQIECBAgcNgKCFZb99YLVgWrrdvdTX5l2SrTgYFsRerIatShOvZILSbIzj/QP1jzS6wmMD75g2j73j9E7Hu0YcLDRy+L4eeeGdH9jEMaMwtI53VNvlq1msHz2wdkQevoKtzOjupD2mrGdwwBAgQIECBAgAABAgQIHF4CgtXWvd+CVcFq63Z3k11ZFp5mIerAwNCUj/UfymUd7B/MbxtwyJ+nfzYSrvb+6JCHGj7+lBj+pf8U0XnEIY2VxZ/5/V3bG7AlQVklWdCahbZZyJqtarV7wCHdKicTIECAAAECBAgQIEDgsBIQrLbu7RasClZbt7sTv7Is4OzvH4qB0dWotTzWX++lZeFtFq42ZK79j0du1z2Re+K79ZYTw886PYaf/R8j2rvrHqNwYhZ+ZqtVZ2N96dj2AR1t+bA1C119CBAgQIAAAQIECBAgQIBAJQHBauv2hWBVsNq63Z3YlRVeIJU93p/9fUPCzTqu8UDfYH5FbEM+fb2Re/jeyD369ZqHy1apDi95SURbR83nVjqhKx9yNn61ajXFFYLWrs62yH75ECBAgAABAgQIECBAgACBgoBgtXV7QbAqWG3d7k7kyrIANQszs5dHzVWYWkyRrZTtG2jQqtVs4IH9kfvBP0XuJ1+pWnz4xN+O4eNOjsgd2n6ohQnbcrno7mqL7K9z/RlZOStgnev7YH4CBAgQIECAAAECBAikIiBYTeVONL4OwapgtfFdZcQxgWxl6r79DdrXtIGuDV21mqHoejQAACAASURBVNU12Be5H38pcj/8p6mrbO+K4eeviuGjXxCN3Kg0W6marVhN5ZPFu11dbTG/uzHBcSrXpQ4CBAgQIECAAAECBAgQqF1AsFq7WbOcIVgVrDZLrzZdndnK0H37B6JRT903EqB/cCi/grahn+HByP30XyL3/bsrD9u1KIaff1YMH/nchk6bLVKd19ke2UrRlD5ZNe3tuVjQ05itDlK6NrUQIECAAAECBAgQIECAQPUCgtXqrZrtSMGqYLXZerZp6n1078HoHxjK7/s5E2+qPxSIbIfVbNXqUMNT3+HIPfqNyH3vH/KrWMc+C38xhp57ZsSCJYdSdsVzO9rbojuxfU0z377+kb1sF8zviEVHdDb8ug1IgAABAgQIECBAgAABAs0hIFhtjvtUT5WCVcFqPX3jnGkEevcNRO++/rE9VVN7VD0rv29gKB/8zsQn99TuyH3j9ny4OnzUiRHZnqpdCxs+VbZatbuzPdoTWq2ahaoHi14Q1tGei+OOmtfInQ8a7mhAAgQIECBAgAABAgQIEJg5AcHqzNnO9ciCVcHqXPdgS86frVYtf9Q+tZWV2f6vB/uGIvvrTHza+p+K2LMzho8/JYYb9JKq8jqz0DILVlP5ZJbZfc9WqhY+Wfi7YH5nLDrClgCp3Cd1ECBAgAABAgQIECBAYDYFBKuzqT27cwlWBauz23GHwWxDQxE/e+JAxcfssyCwq7M9UtkNNAsBs/1WG/0ZHh6Of9/zg/jOz74bL33ei2PhvJlZrdrV0R6ZaQqfbFuFg/2Vg+psq4JjjuxOoUw1ECBAgAABAgQIECBAgMAsCwhWZxl8FqcTrApWZ7HdDo+p9u0fjL1P941tA1B+1dlj69kqy2wl41x/sjDwQP/gpLXWU1/vgd745IOfivff/cF46uDT8eu/dEpcfuY742XPe0l0tDVudWnmOK+rcePVc62Fc7IVqllIPdnq3yz8Pf7oeYcyhXMJECBAgAABAgQIECBAoEkFBKtNeuOqKFuwKlitok0cUovAk0/3x1P7BmKqB+yzN9hnqxjbEkhXD/YPxsDgoW8HkK1SfeiHO+LPNm+If/n3hyaQvfHF58R//U9vj+csfnYtnBWPzTLpzs40Xgo2MDiU3692qh0Vsvv9zMWC1UO+8QYgQIAAAQIECBAgQIBAEwoIVpvwplVZsmBVsFplqzisWoFqgtVsrCxU7epsm/MXL2WrLbNw9VC2Wn386Sfi5s/dEjfe95dTMj3zGb8QV/z2u+O1LzozOtrr33M0v+q3a+63VMhe/pX9mi6WFqxW+9PjOAIECBAgQIAAAQIECLSegGC19e5p4YoEq4LV1u3uObqyaoPVrLxU3mp/oOgt9rWy7e/fF2/76Dvivm99oepTP3ze/x+/9+ur6n5xVldHW3R2tFU930wcmK1SzULVaj6C1WqUHEOAAAECBAgQIECAAIHWFBCstuZ9zec67373u6dbbNXUV589npx9sr8Wfg0NDUX2a3BwMP9rYGAg+vv7878effTR2Lp1a1Nfs+LnVqCWYLUQrmZBYUf73AWF2VYAfQO1rVrNQuHO9rb4wRM/iFU3vCl+/MRPqoZ/22/+QVxz9p/n56x1G4JspW9319xuo5C9pCrbAqDaj2C1WinHESBAgAABAgQIECBAoPUEBKutd08LVyRYFay2bnfP0ZXVGqzmw9Vsz9A5XoVZy6rV/B6xHW2R/bV/cCCu+tRfxM2fu60q8Xmd3fHJiz8ay5//kvzx/YOjj9NX+Uc8mVMWRM/FJyuxr449aQWrc3G3zEmAAAECBAgQIECAAIE0BASradyHmahCsCpYnYm+OqzHrCdYLYDNZWiYBZzZm+2n+2SrVLMXR2VhcOGzv29//OEtb47P7fznGB4u/p3S0TrahuIvfv/P4g//49tKfmNoKFsxOxTZfq9TfXK5XMzLXvrVNvkc09Vf7+9ni9+zvWinq7HS+ILVetWdR4AAAQIECBAgQIAAgeYXEKw2/z2c7AoEq4LV1u3uObqyQwlWs5I72rOXWs3+i5mySDNbtZqFnJU+2aP/U21Z8Beb3xGf/MrUL6/Kxv3IH/59vOz5v1VxjizYzQLeyT7ZdgndnbO/WnVoOHvBV7aFSJXLassuQLA6Rz+MpiVAgAABAgQIECBAgEACAoLVBG7CDJUgWBWszlBrHb7DHmqwmsnN1Vvvs5cxZStHyz/Fj/5PdmerDVavfePH44xf/b1JG2SyrQHm6kVf2QrVLPDNwtV6P4LVeuWcR4AAAQIECBAgQIAAgeYXEKw2/z2c7AoEq4LV1u3uObqyRgSrhXC1K3vsPUsUZ/GTBavZi5myHDGbub2KFbT7+56Od3/8TfHFnXdPW+nlr/tgvPFl75jyuHyYOTC+QjQzyLZJyFbzzuYnqyN7/P8QMtV8uYLV2bxr5iJAgAABAgQIECBAgEBaAoLVtO5HI6sRrApWG9lPxoqIRgWr+UAul8s/+j4Xe4rWcjMbHazWMvdMHZuFy1m4e6ihqmB1pu6QcQkQIECAAAECBAgQINAcAoLV5rhP9VQpWBWs1tM3zplCoJHB6li42jX7K1druck/3/94vOOvXxf/+qMHpz3tDS+7JNa97kPTHjeXBzQyVBWszuWdNDcBAgQIECBAgAABAgTmXkCwOvf3YKYqEKwKVmeqtw7bcRsdrGaQc7XnarU3cc9TP4u33nJGPPzozmlPOfvFb4s/XfXhaY+bqwMa9fh/cf22Apiru2leAgQIECBAgAABAgQIzL2AYHXu78FMVSBYFazOVG8dtuPORLCaYWZ7jHZ1tCXp+ljvT/LB6r8/9p1p63vdr62OP/u9v4z2to5pj52LAw70DUYWrjbyI1htpKaxCBAgQIAAAQIECBAg0FwCgtXmul+1VCtYFazW0i+OrUJgpoLV/H6riW4J8O2f7IiLNp4Ze/c9Nq3Qy5e9Ot7/ho/F/K4jpj12tg9o9BYAhfoFq7N9J81HgAABAgQIECBAgACBdAQEq+nci0ZXIlgVrDa6pw778WYqWM1gsxWr2crV1D6tEqzOxGrV7F4JVlPrWPUQIECAAAECBAgQIEBg9gQEq7NnPdszCVYFq7Pdcy0/30wGq9leq/O62pMz/Mr3tsXFf/3aGBoanLa2E45dFn914b2xeMHx0x47mwcMDQ3Hgf6hGB5u7DYAgtXZvIvmIkCAAAECBAgQIECAQHoCgtX07kmjKhKsClYb1UvGGRWYyWA11e0AvvSd/x2X/PXrquqBVIPV/DYAWbBa1VXUdpAVq7V5OZoAAQIECBAgQIAAAQKtJCBYbaW7WXotglXBaut29xxd2UwGq7lcRHdne2QrV1P63PuN/xXr/uYNVZV0/DN+Mf7nBf87nrP4xKqOn62D+gaGon9gaEamE6zOCKtBCRAgQIAAAQIECBAg0BQCgtWmuE11FSlYFazW1ThOmlxgRoPVbJ/VzvboaE8rWP2bL304PvD376qqLY7sOSZuXnNPnPTMk6s6frYOOtg/FNmq1Zn4CFZnQtWYBAgQIECAAAECBAgQaA4BwWpz3Kd6qhSsClbr6RvnTCEgWJ26PZ7RszgfrC575n9Iqo8Eq0ndDsUQIECAAAECBAgQIECgZQQEqy1zKydciGBVsNq63T1HV3Y4Bqt/sfkd8cmv/GXV4h/5w7+Plz3/t6o+fjYOFKzOhrI5CBAgQIAAAQIECBAgcPgJFILVRlz5Qw89VPMwp5xySv6cRYsW1Xxu8QkrV66M4447Ljo7O6OjoyP/q729fexXLpeLtra2/CnZ32e/Wv0jWBWstnqPz/r1CVanJ58qWB0cGo5sv9Phoca9Rir7Mu/qbJtyb1rB6vT3zREECBAgQIAAAQIECBAgULuAYLV2s2Y5Q7AqWG2WXm2aOvcdHIy9vf0xPNy4YLBw8dmf9aS2x2rfwMG48hN/GP/nG39X9T36k7P+R5zzkv8y4fhM7EDfYAw1MFQds8vlYl5nW2T7nVb6zGSwmu2Je/zR86r2cSABAgQIECBAgAABAgQItI6AYLV17mX5lQhWBaut291zeGWPPHFwRt4wn2Kwur/v6Xj3x98UX9x5d9Xil7/ug/HGl71jwvEDg9lq1cGYgUw6prObyWC1Z15HHLWws2ofBxIgQIAAAQIECBAgQIBA6wgIVlvnXgpWh4djaGgo/2twcDD/a2BgIPr7+/O/Hn300di6dWvr3nFXNisCWUj3xJN9kT3W3sjPdOFgI+eqdqx9fU/F5R97fXzpO/+n2lPi4jP+PC581Z9WDlb7B6OxaiPTTGc3U8FqtgXBsUd2V23jQAIECBAgQIAAAQIECBBoLQHBamvdz+KrsWJVsNq63T3HV5YFdXt7+yJbhdmoz3ThYKPmqWWcPU/9LN56yxnx8KM7qz7t7Be/Lf501YdbOljN9uju7myPoxZ2xeje3VX7OJAAAQIECBAgQIAAAQIEWkdAsNo697L8SgSrgtXW7e5EriwLWPv6hmK4Aeswc5GLzo7sLXvpvFlvaHgofr7v8RgaGqxavLtzfiyYN/FthNneqv0DmVTjwuhCUdPZZQH4wOBQ1dcw1YFtuVxkj/8LVBvCaRACBAgQIECAAAECBAg0tYBgtalv35TFC1YFq63b3a6MAAECBAgQIECAAAECBAgQIDDHAoLVOb4BMzi9YFWwOoPtZWgCBAgQIECAAAECBAgQIECAwOEtIFht3fsvWBWstm53uzICBAgQIECAAAECBAgQIECAwBwLCFbn+AbM4PSCVcHqDLaXoQkQIECAAAECBAgQIECAAAECh7eAYLV1779gVbDaut3tysYE9mxZGyuv3h7Lr9oa15+1uERmxw2nxprYGA9eevKE48sJV9/yYFx2ysg/LYxZibl4nrHjzi+dY+S8HXHdqWtiUyyPKz97faw6rny0PbH50pWx/v7VsfHBy6JQYX7Me1fE1htWRenVuOkECBAgQIAAAQIECBAgQCAtAcFqWvejkdUIVgWrjewnYyUqMB6CTgwwy4PV/P++vULQ+dB1ceqFm8bC2UnDzUrHXb09IkrD0TzV6LExWbA69vtREgoLVhNtNGURIECAAAECBAgQIECAwAQBwWrrNoVgVbDaut3tysYECkHklSeuj/XfvbJkpWdxsDoSwMYkq0fHg9Bs5eqbfzDZqtGRVai7RlfHjsy9NFbHpog14ytes+KyuW+N1RG374oVFVasFmrbGGtiTVHdglXNTYAAAQIECBAgQIAAAQLNIiBYbZY7VXudglXBau1d44ymExgPIpfGHUWhZyHcLGwFMBKsLi157L70YkdC06giWM2OybYNKMy98YxtsebhC4q2HMjGujWW3rIitl24rUKwOj7XZUs2x9rXjB8jWG26FlQwAQIECBAgQIAAAQIEDlsBwWrr3nrBqmC1dbvblY0JFAeRUbYqdeKK1UMMVvOP78dYODs29xURV79mV1xQ2Cs1O27j0tia/+cVgtWScUb2Wt12xsgesYJVzU2AAAECBAgQIECAAAECzSIgWG2WO1V7nYJVwWrtXeOMphMoDSJHXwgVI1sC/Ljo5VU1r1jN751a/indn3V87pfHFy9dGbtGtwPIbwNwwta4/qVfLFmNOjJaaZCa/ydFL6zKh8NeXtV0fahgAgQIECBAgAABAgQIHI4CgtXWveuCVcFq63a3KxsTmLDC85Hs0fr1EVdtjQseXhkN3Qogv9J019g+rRMC0fx2ADGyDUC2r2qUPuafL3q0vomx7Uho+/J/FqxqbwIECBAgQIAAAQIECBBoDgHBanPcp3qqFKwKVuvpG+c0mUClR+cLL6pafvr22H7ixvzep418eVX5HqvZ6tjF+cB0V1xwS8SabBuAsX9WuhVA5Uf9R1fanrgxtp5wqxWrTdaDyiVAgAABAgQIECBAgMDhKiBYbd07L1gVrLZud7uyMYEpg8r7I+L8kWA1++T3XL299HH+/G/kV6JuiuVXTbfPadFLp4peXpUPUUcf8V9/f4yNM7I6tThYnbgNQOFCClsVfOiqXfFOWwHocAIECBAgQIAAAQIECBBoAgHBahPcpDpLFKwKVutsHac1k8CkL3sqPHJfFKxm1zUSYE58EH/1LQ/GZaeMXPnkL5AaCVY3nT6yh2v5fqgTVsWWB6tlWwmUOI/W+wtvWR5/d1ul/V0jimtspnukVgIECBAgQIAAAQIECBBoTQHBamve1+yqBKuC1dbtbldGgAABAgQIECBAgAABAgQIEJhjAcHqHN+AGZxesCpYncH2MjQBAgQIECBAgAABAgQIECBA4PAWqBSs/sEf/MGkKB/96Ecn/b2HHnqoZsxTThl59HTRokU1n1t8wsqVK+O4446Lzs7O6OjoyP9qb28f+5XL5aKtrS1/Svb32a9W/whWBaut3uOujwABAgQIECBAgAABAgQIECAwZwKTrVitFK5OFapmFyBYnbPbWHFiwapgNa2OVA0BAgQIECBAgAABAgQIECBAoIUEptoKoDhcnS5UFaym1xSCVcFqel2pIgIECBAgQIAAAQIECBAgQIBAiwhMt8dqFq5WE6oKVtNrCMGqYDW9rlQRAQIECBAgQIAAAQIECBAgQKBFBKYLVmu5TFsB1KI188cKVgWrM99lZiBAgAABAgQIECBAgAABAgQIHKYCgtXWvfGCVcFq63a3KyNAgAABAgQIECBAgAABAgQIzLGAYHWOb8AMTi9YFazOYHsZmgABAgQIECBAgAABAgQIECBweAsIVlv3/gtWBaut292ujAABAgQIECBAgAABAgQIECAwxwKC1Tm+ATM4vWBVsDqD7WVoAgQIECBAgAABAgQIECBAgMDhLSBYbd37L1gVrLZud7syAgQIECBAgAABAgQIECBAgMAcCwhW5/gGzOD0glXB6gy2l6EJECBAgAABAgQIECBAgAABAgQOVaAQzj700EM1D3XKKafkz1m0aFHN5xafsHLlyjjuuOOis7MzOjo68r/a29vHfuVyuWhra8ufkv199qvVP4JVwWqr97jrI0CAAAECBAgQIECAAAECBAg0tYBgNc3bJ1gVrKbZmaoiQIAAAQIECBAgQIAAAQIECBDICwhW02wEwapgNc3OVBUBAgQIECBAgAABAgQIECBAgIBgNeEeEKwKVsfac8cNp8aa26fu1oUnnBbLz1oT7zzvtFjcnnBnK612gcGdsfF3z4sbd2ennhvX378ulnfVPsxkZxT6a/lVW+P6sxaPHbZny9pYefX2iNOvjK03rIrx32nc3EYiQIAAAQIECBAgQIAAAQLNLGDFapp3T7AqWK0pWB07+IRVce0NV8aKJWk2tqpqF+j78rXxykvuir7RU1e87764duXC2gea5AzBasMoDUSAAAECBAgQIECAAAECh5mAYDXNGy5YFaxODFbP3xgPXnryxI7t643dX70jrrh8Y+zYF9G18trY+r4V0bjoLc0fksOjqr7Yfs3psfaTEUtPWBq7Ht4VccaGuO+aMxt2fycLVg8PX1dJgAABAgQIECBAgAABAgTqFxCs1m83k2cKVgWr1Qero0f2fX59nP6uzRGxPDZsvT7O9Oz2TP6Mzs7Ye++JdWdcEdt6zo2bbjkhbnrTtbEjlseVn70+Vh3XmBIEq41xNAoBAgQIECBAgAABAgQIHH4CgtU077lgVbBac7Aaj2yOta9ZH9ujK9bcdn9c/KJsiD2x+dKVsf7+kTDu1b2b47r/dmN8+qE9ce4tD8Zlp4xOM9gbO++9NW796N3xxW/vib7oisUnvTxe/YbV8ebXnjzpvq29374nbv2rW2PzfbuiNzvnFefGOy+5OM5cePdILcX7cxbqy/+zV8eTW66L9Td/OnY8cm5sfPCyKKzF3fP1zXHH7XfF9q/ujF17s/oWxtKXLI9Vr784zn3FkijZXrR8zK03xk1/tTm2Pdwb0bM4lp/9zrjswjNjaU/E7s9fF++/5q7Y/kjE4lN+Jy7+k8ti1fMm2ax0z47YfOemuOvzD8TObKysivw+tqvj4rOXx5KeCl8chXPu+WLsfCR7cH9hLH3Vq+Ocsy+Ic19SX8q9+5Nr4qxrdkTX62+Kz13+3Lg7fy8jTn7Plth49hT7PQzuiQfu/FBs3LI9HsjXn9WyKi546wVx5kmja5kfui5OvXDThAsp7LU6tsdqYaX0NzfGWeffGLtjRWy499o488gKBg9dF6dfuCn6llwcd35qTSwr7PdbT3/NgGeaX/eqIkCAAAECBAgQIECAAIFmFRCspnnnBKuC1dqD1d2b4+1nrY8HYlms++Sdce4JpcHqZVctjc1Xb4pdoyOvLgSr+3bFXVecF9d+vrCLZ+kPRddJa+LmWy6Ok8vCxN1b1sbZV28f2/tz/KylsfqqVbHr6usmCVYviytP3Bzrbx+rZCxYnXzMkdGXnr8x7rz05PFwtRCsnro6Ll6yPW7cUhhzvJquV1wZ1//HbbH2feW1Lo8rt1wfq8rzyd2bY+0b1sf2fZN8OZywOjbeflmpx5TndMXJl94WN5+/rDQUnva7Z3fc9Zaz4tqvL4mLb98Sa14Y0bt1XbzqvdsiXrguPnH7ubG00hi7t8X6S9fF5ocr/WZXLL/qk3H9WUsiag1WY2dsPGvkJVpnXnNfbDhj4mYTO244Pdbc3hdLLroztly4bKSAevprRjynBXcAAQIECBAgQIAAAQIECBCoSUCwWhPXrB0sWBWsjjVb4VHtmGyP1dEjx1YYlrw5vrBidTSYPGtdXHnh78TJSworNbM9PF8Zaz/ZF3HCqrjy6ovj1csWR1d7RO83N8d1G94fm7/dF12v2BCf+eCZ42+G//bGOOdNN8auWBqrrtoQF5+5LBZnQ+7dGZtvuCLWFwLOSitWRyLSWPWeK+OCs06OsVLGHns/OdZ8YENceOqSfB3Rtyd23XdrrHvvXbGr/DH4sVW62ZhdcfKF18eGNaflx+z98nWx5pJCkNwVyy+/LTacvSwW7nsgrnvL22PTwxFLLrkztrxlNADM19Ub97znVXHFvaNjnX/ayOrUwb7Y88NtcesfXxF3PRxRWNU5otob2977qli3tXT+7Jzd22+My6/YFDv3nRzrPrUxzn12Dd8hhRWixas/C0axJC7+2JZYc1LZeIO74q4Lz4lrvx7R9YqL4+Y/Xj1yr/v2xM4t74+LrtkWvXFyrPvkxtHgPWLal1cV9d2uvz0vzvnAzoiV18Z95fv4Du6I6161JjbtKw726+mvGfKsgd6hBAgQIECAAAECBAgQIECgGgHBajVKs3+MYFWwWn2wmg8e74gr3pcFeBFLzt8Ynxxb1VkUrL5oXXzilnNjaeHx7GyG722Kc15/3UhgWWn15r7tce2Za+OufV1x7kc+F+tekqWnffHAB14Zb//bvjj58k/ExteXrZssCvdikmC10nm9914Rr3rPPZM85j5+HWMrbbP6i4LVrrOvj8+9Z3nRqtBCQBcRZddemKukvnxGui2ueNW6uOdF62LLbedG+WLWCY/H5+/Sjrju1DWxKVbHTV++LE4r9o2IXR87L8754M5YfvXWuP411W8JsPOWs+K8m3eXhb/j11SyKnS0W/q+fG288pK7om/J6rjp45fFaWWrjCuNWUuwGj+8K9b8brbP65lx7X0bYkXxotXCNgDFdnX118x4zv7XuBkJECBAgAABAgQIECBAoNUFBKtp3mHBqmB1YrBaRa92nXJx3HbDmlg2FqiNB5KlqyxHBiusQBzZw/O0io+q77ztrDjvI7uj6/yNcf+l2U6oheCreGViaXFjAWTFYLWGly/t643evt7Y/eVPx/vftzF27IuoHKxWXsFZCA0nrEwtPAZfXN9kvoN90dt7MHp3b49Pf/Dq2PhQX5SuHt4Vd51/Tlz7zSVx7gdujsuyfWDLwtUqbl3pIX0PxLVnvD3uqrDSdSwU7lkdG++7LE4emytbHXp6rP1kxLLLPxF3lgfe2QxfvzFOf8vG6HvFhtg6ugK5pmA1CtsTRJx7w/2x7vTxPWoL2wAU7/9aX3/NgGfNN8AJBAgQIECAAAECBAgQIEBgegHB6vRGc3GEYFWwWkOwujCWvvC0WH7eBXHBGctiYUmoN8lKz/zo40FcpdB1rIAHr4tTL9oUY6s7x1aJVl6hmT+vEOBVDFZXl7ysquQHrHdn3HPnHbH58w/E1/Iv0Zr4qRysnhvX378ulpe9i2rSN95PFazmX7R0R9yRvfjp6ztjT6W9Vsu2Zdjz2bXx21cV9nAdednW8le9PFacelq84NkjWyvU8hkLTyutnO3bHteevjbuiuJVxNnoU93ryWevLViNGAvNz74+7i+sEB7bBqA4NK+zv7IrabBnLfaOJUCAAAECBAgQIECAAAEC1QoIVquVmt3jBKuC1YnB6jR7rFZu0anCtiqDuPIQsihY3fjgZZGtYZ3wKRxTS7Ba/MKinsWx7EWnxWkvekEsfeGyeMHSY+JrHzgnrr1/shWrlcPamoPVwd2x+fKzY33+RV5dsfik/xCnnfqieMGJ/yGWnbg0jvnm++Oca7aXrVgdufo9D90Vt3741vj0Q2WBcM/iWH7+hrjqLafF4qoC1sI+r9N/6ZSuNB5fTVoSPk8zTK3Baozt81oUZhe2AThjQ9x3zZkxskNAnf01Wm/jPKd3dAQBAgQIECBAgAABAgQIEKhHQLBaj9rMnyNYFazOQrBa54rCwj6kJS/JKvuhqDlYHQ8Tl55/U2y85LTqVt5OE/LWGqz2bl0Xr3rvtogTVsdNt1wWpx1Zel2V91gtu/Zs64Ddu2LHVx+I7V/YHHfftyt6s9d1XXJnfKLkRVmTfJGM7WNazRdN8UrdKoPMsmFrDlaLXvBV2He3sA3AivfdF9euLGy8Wmd/lV/2oXpWw+gYAgQIECBAgAABAgQIECBQh4BgtQ60WThFsCpYnYVgtd49VnfGxrPOixt3T/Jm+myTgfuvjdMvvWt8+4Dsd2hLpgAAIABJREFUaqYKQcceb6/8SH/E7th80Vmx/sGZXLE6HgSW7x9auBm7P/X2OOt9D1RcsTrZ90Lfg9fF2Rdtit1LLo47t6yJZdN8gRT2JY2V18Z971sxuvqz7KSxPVgjxsPMKoLMwsrSorFrD1bH729+xey7uuPGV62JTfsmvtCqvj1Wpwaq1XMWvq9NQYAAAQIECBAgQIAAAQKHqYBgNc0bL1gVrM5KsDr+lvflceWW62PVkrIfiH3b49oz18Zd+0r38yy8Xb7r7Ovjc4V9NgunZo/Tv/OsWH9/VB+s7rkn1q68IrZH5Rdb9T10XZx34abYFTMZrO6Je961Mq74fETFPWf37Yjrzl8Tmx6O0mC1sFVC8Z6jxYwP3xXnnX1t7KwmWB3cGRt/Nwuty/dPnfhFVVglGkWP3xfvzfqJW86NpSVbD/TGtveujHVb+0qur55gNQrBbqyOmz6yKNa/5cbYXen6x1bf1tBfjfRM8/tdVQQIECBAgAABAgQIECDQIgKC1TRvpGBVsDo7wWr0xQMfPDve/rHdESesiiuvvjhevWzkZUu939wc1214f2z+dl90vWJDfGb0LfL5wh65J9aefUVs39cVJ194fWxYc1osyV4ctXdnbL7hili/JYtAawhWo7AKNmLp66+P69cuHxlv3+7Y8dlbY/01m/Ohavap/PKqxuyxuvO2s+K8j2QW58b1N1wWy7MiBvti99c/HbduuDY2Z6Fq9ine73Zsa4SlseqqDXHxGcticc/IYX0/3BGbPnRR3Pj5vijdD3WSL57CitKec+Ome9fFaWUv4yo565sb46zzb4zdxWF0Fsy+/ry48eGIpWddGRsuXRXLsu0M+nbHAxuviLW37Ii+nnPj+nvWxfLRGnfcfHqsuaUvlrzpprhz7fgWDFNve9AXD3zglfH2v41YesIxsevhx6KwLUDpldXRX430TPP7XVUECBAgQIAAAQIECBAg0CICgtU0b6RgVbA61pmFFYUlYV7VfVvFvpv7dsVdV5wX1+Zf2DTx03XSmrj5lovj5NEgrnBE8SrS0rO6YvkrTovtn99e/YrVCW+CLx1x4Rkb4t0n3hhX3Lw7uk46M1YsXxHvvGRFLG7wHqvjgXEFiCNXxIbLXxA3vvfG2N2zLM585fJYsfbiWLE4YveWtXH21dujsmDk92zdePtlEwwnhJD5sLIvus7fGPdfWvG1YOOnjK1ujTj5PVti49mjy42LXwI24TKWxupb7ozLThlPbPd8dm2svGr72JGF1brT7idbCIGzM6cKguvor8Z4Vv1D4kACBAgQIECAAAECBAgQIFCXgGC1LrYZP0mwKlgda7IZD1azmQZ7Y+e9d8Qdn9gc2/Jvte+KxSe9PF79htXx5teePPnb7B95IDZ9+Ka443M7Ys++iIUnrIg3X/7uWNN9R5x64aaagtWsjD0PbooP3XzHaA0LY+lLlseq898Zq1+yOGLfjth4ydq48esHY/FrNsTHrp6BYDVfxAOx6friazotlp+1Jt553mmxuL0vdtxyUay9eUccPO7M2HDHhnywmn16v31P3LFpc2x/8Gux85GRiHXhCcXnTvO9sfeeWHfGFbEtlsTFt2+JNS+c/numsCVDvHBdfOL2c2Np4ZTenXHPbbfGHfd8caSWI5fGaaevijXvWB2nHVc2bt/O2PTeK+LW0ZdsVR2sFgW7Sy66M7ZcOMXusXX01yF7Ts/nCAIECBAgQIAAAQIECBAgcEgCgtVD4puxkwWrgtUZa67ZGHhsteObbooH33XabExpDgIECBAgQIAAAQIECBAgQIDArAoIVmeVu+rJBKuC1aqbZfYPzF6C9KpYt7X4jfRFVRTt83nmNffFhjMWzn6JZiRAgAABAgQIECBAgAABAgQIzLCAYHWGgescXrAqWK2zdWbntOzt8yvfc0/09Zwcaz6wIS48dUn+hVd9P3wgbvn/1sbGh/ry+24WvyRpdiozCwECBAgQIECAAAECBAgQIEBgdgQEq7PjXOssglXBaq09M7vHD+6OzZefHesneeFVxMSXJM1ugWYjQIAAAQIECBAgQIAAAQIECMysgGB1Zn3rHV2wKlitt3dm77z8C4lujVs/end88dvZC68iuo5bFi8/89xY/YZVcXL5S5JmrzIzESBAgAABAgQIECBAgAABAgRmXECwOuPEdU0gWBWs1tU4TiJAgAABAgQIECBAgAABAgQIEJgdAcHq7DjXOotgVbBaa884ngABAgQIECBAgAABAgQIECBAYBYFBKuziF3DVIJVwWoN7eJQAgQIECBAgAABAgQIECBAgACB2RYQrM62eHXzCVYFq9V1iqMIECBAgAABAgQIECBAgAABAgTmRECwOifs004qWBWsTtskDiBAgAABAgQIECBAgAABAgQIEJg7AcHq3NlPNbNgVbCaZmeqigABAgQIECBAgAABAgQIECBAIC8gWE2zEQSrgtU0O1NVBAgQIECAAAECBAgQIECAAAECgtWEe0CwKlhNuD2VRoAAAQIECBAgQIAAAQIECBAgYMVqmj0gWBWsptmZqiJAgAABAgQIECBAgAABAgQIEMgLCFbTbATBqmA1zc5UFQECBAgQIECAAAECBAgQIECAgGA14R4QrApWE25PpREgQIAAAQIECBAgQIAAAQIECFixmmYPCFYFq2l2pqoIECBAgAABAgQIECBAgAABAgTyAoLVNBtBsCpYjYg9sfnSlbH+/gpNev7GePDSk6vq3j1b1sbKhy+o+viqBm2Sgw7na0/rFu2I605dE3HLg3HZKaOVPbI51r5mfcRVW+P6sxanVe5hWs2OG06NW0+Yi/sx8l237Yy5mDvhm53/GdkWKz57faw6LuE6lUaAAAECBAgQIEDgMBYQrKZ58wWrgtXIQo41t6+OjQ9eFiURao2B1GyEi3MXyEz9Azwb157mV0hqVZUHqyNB2q41RUFrXSVn494aSwVPdemVnzR3P8cpBqtz1Fv57/ddcUH2vT9NsOr7rSFtbxACBAgQIECAAAEChyQgWD0kvhk7WbAqWB0JVqPSytTaQojD+T++D+drn7Fvp7oGnhis7nlkcSy2Cq8uzZk6SbA6U7J1jmvFap1wTiNAgAABAgQIECAwewKC1dmzrmUmwapgNfKh4NVLJ65YLe+kh66LUy/cVPpPT78ytt6wKrIHrIvDxZFVsKWHLh97FHvi1gPV/V7kQ+DCI8RTz1E4dmOsuHfN2DYHqwuPiI+uxt1eUmKFVbuF36/h2svZRlxWxJXfXT9Wx/j1ltUZV8bWKyKufs36mLK24npOvzI2nrEt1oxuw1C4DxtjzdhK5Gfl73HZiGOPy4+umLtlRWy7cGTekfp+nH+sPn/Hi+5zVLAovp6K1z/Z3BPuw/K4cmxVaKUtKsruUVktq2/ZGHHh6FYAUV2/jjhlVY+MXWw11i9RvKqwtv7Nj1y8NUEx0DR9FYVVhbdErCn87BXfixLsylt6TLiGovtcuOaKm31MqK3IvkIQV/IHNNP0yOTB6sRrGK9/uuur8P/6yvpr+VUj3wf5rQCec8eU32fl3y/lP7OTf79F1PYzUrpidcSm2u+t8ntS/L1R/LNU+jOe3xbjpV+csGI1Tt8e2wtbwkzy3V7ek5P2di3/JuJYAgQIECBAgAABAgSmFRCsTks0JwcIVgWro403stJvLDYt31u14rYAo+eMHlsI9LaecGusvDqKArLxoCH7j/AVny/bemB07KXT/F62Z2YhkLkqrp5yjsKxa24vChfyYc+uuPKzF8Su16yJTSXXOBraZMHmaFA89hNZw7VX2o92JLjePh6ujYZOhUBiJMAp1FlqOlJDWW3l9RTCo+L7UDxfNsIje2LxcUX7ixY/BpwPDdfEprEgpdALhdBmdP4TR1Y1TxirJHSc+D02+dwrYls2b9F9KA3590T5atOSlcEV7kshDFv9gStj1+Xl+6pW6Ncip8J9GgvQxvol23dyPPxa+vEa+rfwBw7lPw8ZUxV9VThm+5hR6b0o1q60pcfINRV+Fsvv88jP05rvVtfzJcdOE6xO1yOTBavl9RT3Q1TYsqT0+sp7b+LP0tg9vuydEdd9qGzf3fHjR77Div6wqagXXv7Pxaajc5b9TE93/aWVTgxWp/re2lX+B1T5n8sY+Rme9Gdp4r0fC0jHtgJYH+N9Vvm7Pf/9VvZ9Myf/5mJSAgQIECBAgAABAoehgGA1zZsuWBWsVu7MsRVno4FfVH65SfEqtZJg9d4VZQHl+CPa+WC1ZOuB8X0wp/q9CcHqFHOMBavF84yFQSPBaskLjgoB2IQxCwHYxBe7VLr2SYPVknFLH1cv3YqhwsuXymubLtTKwrRK11EIUMfueGmYO+4xcQuIiVsdTLWysFJLlQX3kc1d4T6UBL6lodXYqIUAuOLjy6N++WC1intW7JTv+ShauV0ceJUFq1X37+T9MxJQTV1jpWMm27qj4j8vmWNib+Xva7U9n/lsXDrycz3ditXiPxAoeile8R8mVHp51aT1xGgIXL5lyZSPsFf6WRrt7RdnwepXJrysaczwFdvKemG8pyvXOPlcxS8FrLy6s0KwWvF766qIDZO9eKvC/BX+8GTiS90m32N10u832wak+W9zqiJAgAABAgQIEGh5AcFqmrdYsCpYnbIzx/7j+g278m9WL32YfPTUiitWKx6ZX7U5MTwdL2Hy/V5HjilZsXqIwWrZpgYjE1R6zLritgGVr32ugtXi4HNi8FO+ArU87Ju4L2n5m9PHx39W/mVQ6+8vf8x4YlA9esdGV0JXeoy8csA91g2FcL98FV7hvk8brFbRrw0JVqfp38mCqCr6quZgtWz7jZHKJgvQR7fvqDZYLf6mmDJYnb5HptxjdcLj+9m2FItHX7JX6euquBeLf3+6YPVDU36fRfkfRJStCK9UyUhwWvhDh1p+RsZfjDbhO7DMurDqdrp7W1rfNMFrNX9YM7rVyGR/IJDmv+KoigABAgQIECBAgEDrCAhW07yXglXBalx36tpJ33ZeGqxOXF1X3NZTr1idKnxKY8XqpD+iVazQmurlVZMFnYXVYzO+YrVS/VOuZJxqxerII8elq30rr7LNe04599QrVvN7nZaFfiWW0warVfRrQ4LVqfq39hWrJX1Y1crQ0Qh70pfQFUacrRWr0/dI5WB13DFbcT56VWP9NtUfyFT+2Z0uWJ24YnVs1qK9nEf+2fjPRH4bkoorwid3LoS05avkx6+ximD19hWx7fzRFaaFqcZWWY9sqzHpitTRkNiK1TT/RUxVBAgQIECAAAECBKoREKxWozT7xwhWBatx3amnxvi+fcVNWLSf4+iK1fxLT84q7NVZGlxMv8fqyGPWE/ZKHF2hNiN7rE6xFUClPVbzL7UZu75Riyn2wiwEFdMGq8V7bFbaY3Wszjr2WC2srCteUVcc/Eyov3xFXS0rVifu5Ti2r2mlFzRNOffEvW6L99QceYlU0V69hZWMJVsBlO6jOraf7RR7rJbcs3qD1dsnvjSoYv/WucfqWABWa7BaXNeE7S1qDVZLbSfusbo+smvOh6Al+25O3yNTBavrR/fyHQ/mR+aZsDfzVNt35E+u8LM0+rO3fIo9VjP7/Fwle8+OjJV9T06+v3NhG4mJ8075M1K2R/GkK1bzwWqR+VhvZXvBTrdfcTUrVovv93R7rE79hxaz/68yZiRAgAABAgQIECDQ+gKC1TTvsWBVsDoeilTq0WneBl+8Z2BxuFj+Ru3St4/X9lb18rdxF/ZmnDhH4W32I8HvlI/U5veMLX1UfKo321d6y/dk117OOLLKcmmsjk2xaXS/yQlvGJ8QAJc/xl4U5GUTlLx1fXWsPn9TbBodo+IekCXHZ48oj+zXuP7+bNzy1W7T7LFa9qj2+AvJJnkke6q5P7s0bi25D6VjlNzjrBeviLg6O76wPUDZ2+cLb33ftebBuCyyPVNLN3yYcM/qCFZXHVdb/2a3a9I3p5fVP+HYGoLVsZecFe1pWrq1RQ3B6oQey1dWtP9sWQ+efmVsPGNbrCl5XHy8h8t7JHsBWKU9VscC2qIfovGflYnuFbfuKP4BLN9u4fyNsTHWjMz9nDum6I/yPYEjomhLiqm/34qC5tFapv4ZqXaP1etj5MVZxdusFP28TNhaYpqtCIr3YB39+6XZ90hhO4mi7/6JL40rDVanfolYmv/yoyoCBAgQIECAAAECzSYgWE3zjglWBatpdmYLVTXVC3kadZlT7lnZqEmMQ4AAAQIECBAgQIAAAQIECMyJgGB1TtinnVSwKlidtkkccGgCjQ9Wy1aUFm2lML435aHV7GwCBAgQIECAAAECBAgQIEAgHQHBajr3orgSwapgNc3ObKGqGh+sTnzUeMptDFrI0qUQIECAAAECBAgQIECAAIHDUUCwmuZdF6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Hx+yhlAAAWcElEQVQ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gZJg9VA4Fi1adCinx8qVK+O4446Lzs7O6OjoyP9qb28f+5XL5aKtrS0/R/b32a9W/whWBaut3uOujwABAgQIECBAgAABAgQIECDQ1AKFFauHchGC1UPRq3yuYFWw2viuMiIBAgQIECBAgAABAgQIECBAgEDDBASrDaNs6ECCVcFqQxvKYAQIECBAgAABAgQIECBAgAABAo0VEKw21rNRowlWBauN6iXjECBAgAABAgQIECBAgAABAgQIzICAYHUGUBswpGBVsNqANjIEAQIECBAgQIAAgf/X3t2sNtX8ARyf9EVEUUGhNyEoXkXXunLXy+jKlV6ILt2I296EIOJNWBRERLFvfyb9j8wzPWkyfUnGM59CqM/Tk+acT37J4st0QoAAAQIECBC4LgFh9bpkL/d7hVVh9XIT5N4ECBAgQIAAAQIECBAgQIAAAQLXKiCsXivvhX+5sCqsXnh43JEAAQIECBAgQIAAAQIECBAgQOD6BYTV6ze+yCMIq8LqRebGfQgQIECAAAECBAgQIECAAAECBJYkIKwuCbryYYRVYbVyZBxOgAABAgQIECBAgAABAgQIECCwTAFhdZnaiz+WsCqsLj4tjiRAgAABAgQIECBAgAABAgQIEFi6gLC6dPKFHlBYFVYXGhQHESBAgAABAgQIECBAgAABAgQIrEZAWF2N+7xHFVaF1Xkz4ucECBAgQIAAAQIECBAgQIAAAQIrFBBWV4h/zkMLq8Jqm5PprAgQIECAAAECBAgQIECAAAECBKYCwmqbgyCsCqttTqazIkCAAAECBAgQIECAAAECBAgQEFYbngFhVVhteDydGgECBAgQIECAAAECBAgQIECAgBWrbc6AsCqstjmZzooAAQIECBAgQIAAAQIECBAgQGAqIKy2OQjCqrDa5mQ6KwIECBAgQIAAAQIECBAgQIAAAWG14RkQVoXVhsfTqREgQIAAAQIECBAgQIAAAQIECFix2uYMCKvCapuT6awIECBAgAABAgQIECBAgAABAgSmAsJqm4MgrAqrbU6msyJAgAABAgQIECBAgAABAgQIEBBWG54BYVVYbXg8nRoBAgQIECBAgAABAgQIECBAgIAVq23OgLAqrLY5mc6KAAECBAgQIECAAAECBAgQIEBgKiCstjkIwqqw2uZkOisCBAgQIECAAAECBAgQIECAAAFhteEZEFaF1YbH06kRIECAAAECBAgQIECAAAECBAhYsdrmDAirwmqbk+msCBAgQIAAAQIECBAgQIAAAQIEpgLCapuDIKwKq21OprMiQIAAAQIECBAgQIAAAQIECBAQVhueAWFVWG14PJ0aAQIECBAgQIAAAQIECBAgQICAFattzoCwKqy2OZnOigABAgQIECBAgAABAgQIECBAYCogrLY5CMKqsNrmZDorAgQIECBAgAABAgQIECBAgAABYbXhGRBWhdWGx9OpESBAgAABAgQIECBAgAABAgQIWLHa5gwIq8Jqm5PprAgQIECAAAECBAgQIECAAAECBKYCwmqbgyCsCqttTqazIkCAAAECBAgQIECAAAECBAgQEFYbngFhVVhteDydGgECBAgQIECAAAECBAgQIECAgBWrbc6AsCqstjmZzooAAQIECBAgQIAAAQIECBAgQGAqIKy2OQjCqrDa5mQ6KwIECBAgQIAAAQIECBAgQIAAAWG14RkQVoXVhsfTqREgQIAAAQIECBAgQIAAAQIECFix2uYMCKvCapuT6awIECBAgAABAgQIECBAgAABAgSmAsJqm4MgrAqrbU6msyJAgAABAgQIECBAgAABAgQIEJgZVnd2dmbqvHnz5szP7t69eynN7e3tsLW1FTY3N8PGxsb0tr6+/vc2mUzC2tra9DHiv+Nt7F/CqrA69hl3fQQIECBAgAABAgQIECBAgACBf1pg1orVobg6FFXjxQurVz8CwqqwevVT5TcSIECAAAECBAgQIECAAAECBAhcmcB5WwHkcXVWVBVWr+yp+M8vElaF1euZLL+VAAECBAgQIECAAAECBAgQIEDgSgTm7bEa4+p5UVVYvZKn4cwvEVaF1euZLL+VAAECBAgQIECAAAECBAgQIEDgSgTmhdVFHsRWAIso1R0jrAqrdRPjaAIECBAgQIAAAQIECBAgQIAAgaUKCKtL5V74wYRVYXXhYXEgAQIECBAgQIAAAQIECBAgQIDA8gWE1eWbL/KIwqqwusicOIYAAQIECBAgQIAAAQIECBAgQGBFAsLqiuDnPKywKqy2OZnOigABAgQIECBAgAABAgQIECBAYCogrLY5CMKqsNrmZDorAgQIECBAgAABAgQIECBAgAABYbXhGRBWhdWGx9OpESBAgAABAgQIECBAgAABAgQIWLHa5gwIq8Jqm5PprAgQIECAAAECBAgQIECAAAECBJoR2N7eDltbW2FzczNsbGxMb+vr639vk8kkrK2tTc83/jvexv4lrAqrY59x10eAAAECBAgQIECAAAECBAgQIHBJAWH1LKCwKqxe8mXl7gQIECBAgAABAgQIECBAgAABAmMXEFaF1XBychKOj4+nt6Ojo+nt8PAwHBwcTG/7+/thb29v7K8F10eAAAECBAgQIECAAAECBAgQIEBgYQFhVVgVVhd+uTiQAAECBAgQIECAAAECBAgQIECAwKmAsCqsCqveDQgQIECAAAECBAgQIECAAAECBAhUCgirwqqwWvmicTgBAgQIECBAgAABAgQIECBAgAABYVVYFVa9DxAgQIAAAQIECBAgQIAAAQIECBCoFBBWhVVhtfJF43ACBAgQIECAAAECBAgQIECAAAECwqqwKqx6HyBAgAABAgQIECBAgAABAgQIECBQKSCsCqvCauWLxuEECBAgQIAAAQIECBAgQIAAAQIEhFVhVVj1PkCAAAECBAgQIECAAAECBAgQIECgUkBYFVaF1coXjcMJECBAgAABAgQIECBAgAABAgQICKvCqrDqfYAAAQIECBAgQIAAAQIECBAgQIBApYCwKqwKq5UvGocTIECAAAECBAgQIECAAAECBAgQEFaFVWHV+wABAgQIECBAgAABAgQIECBAgACBSgFhVVgVVitfNA4nQIAAAQIECBAgQIAAAQIECBAgIKwKq8Kq9wECBAgQIECAAAECBAgQIECAAAEClQLCqrAqrFa+aBxOgAABAgQIECBAgAABAgQIECBAQFgVVoVV7wMECBAgQIAAAQIECBAgQIAAAQIEKgWEVWH13LB6eHgYvnz5Evb29ipHy+EECBAgQIAAAQIECBAgQIAAAQIExisgrAqrM8NqjKoHBwfC6nhf/66MAAECBAgQIECAAAECBAgQIEDgggLCqrAqrF7wxeNuBAgQIECAAAECBAgQIECAAAEC/QoIq8KqsNrv69+VEyBAgAABAgQIECBAgAABAgQIXFBgVljd2NgIa2trYTKZTL/Hr/jveBv712R3d/dkzBd5cnJ6efF7fjs6OgrpFrcBsBXAmKfAtREgQIAAAQIECBAgQIAAAQIECFxGYCisxqi6vr4urF4GtuX75mE1nufx8fHfVasxrKaomsLq/v5+eP/+fbh582bLl+XcCBAgQIAAAQIECBAgQIAAAQIECCxF4NevX+Hp06dha2srxJia34TVpTwFq3mQFFbjo8d/l2E1xdX4wVUxrn79+jW8evUqPHnyZDUn7FEJECBAgAABAgQIECBAgAABAgQINCTw4cOH8OLFi/DgwYOwubn5N6zGqJrCatoOIJ62rQAaevIucyqLhtW0cvXHjx/h4cOH4eXLl5d5WPclQIAAAQIECBAgQIAAAQIECBAgMAqBGFU/f/4c7ty5c2a1ahlW096q9lgdxVN/ulI1fqU9VuOq1XQb2g7g27dv4fnz52FnZ2ckAi6DAAECBAgQIECAAAECBAgQIECAQL3A69evw9u3b8P9+/f/s1o13181rlZNK1aF1Xrjpu8xL6zmcTVuCfDnz5/w/fv38Pjx4/Ds2bPw6NGjcOvWraav0ckRIECAAAECBAgQIECAAAECBAgQuAqBnz9/hk+fPoV3796Fjx8/hnv37oUbN24MbgOQ77GabwFgxepVPBMN/I4yrKa9VuOq1RhVy1WraVuAOES/f/8OMbbGY+JX2qM132KggUt0CgQIECBAgAABAgQIECBAgAABAgSqBfIVpimMxtWnMaTGD3e/ffv2mQ+sSqtVh7YBsGK1+ilo+w7nhdUUV2NMLQNriq7xe9o6IG0nUO7d2raAsyNAgAABAgQIECBAgAABAgQIECBwKlCuJk1BNX5Pf9afPpgqfo8hNb/lP8u3ALBidaQTlsfVtOo032c1RdX8ewqrKb7mUTX9e6RcLosAAQIECBAgQIAAAQIECBAgQKADgTyq5itW83iax9Uyqva6v+o0UO/u7p5+stPIv+ZtB1CuXC2jar4FwNCq1ZHzuTwCBAgQIECAAAECBAgQIECAAIERCuR/up9Wnw6tWk1xNf35f+/bAHQfVsu9VvM9V/OwOrQNQB5qR/iackkECBAgQIAAAQIECBAgQIAAAQIjFsi3AyhXraawGr+XK1fzoNrzNgBdhtV40fmK0xRN820BUmAtf5b/+b+wOuJ3FpdGgAABAgQIECBAgAABAgQIEOhAYCiulqtWU1zNv+fhNY+yiazcw3WslN1sBZCCahlWUywtI2q+r+rQNgD57yuHI/9gq7EOjusiQIAAAQIECBAgQIAAAQIECBD4twSGgme+FUD5IVbxv8sVquWeqmVY7SWqxme+y7A6FFfLD7TKtwkoP7RqKKqKqf/WG4mzJUCAAAECBAgQIECAAAECBAj0KjArsJ63JUD8Wb6atTw2WQqrI56q8k/4y2iaB9byZ0NbAYyYyqURIECAAAECBAgQIECAAAECBAh0IDBr1WqKp/OCan7/Drj+XmJXK1bTVc+Lq4sEVStUe3qZuFYCBAgQIECAAAECBAgQIECAwLgF5sXVcoVqGVN7WqmaJqHLsBovflZcTT8rV6cOHT/ul5OrI0CAAAECBAgQIECAAAECBAgQ6EFg6EOs4nUP/bl/+n/p5/n3Hqzya+w+rM6KrOX/L1eoWrHa20vF9RIgQIAAAQIECBAgQIAAAQIExilQrjYtV68ORdRe//xfWM0E8kB63qrUWSFVYB3nG4qrIkCAAAECBAgQIECAAAECBAiMXWDWn++XK1iHwmr+/8buNOv6ul2xmoOctxrVStVeXxqumwABAgQIECBAgAABAgQIECDQn8BQVB2KqD3uqVpOg7D6f5GLrEi1WrW/NxdXTIAAAQIECBAgQIAAAQIECBAYi8C8ODr083n3GYvNItchrBZKi8bSRY9b5ElwDAECBAgQIECAAAECBAgQIECAAIFVCswLpvN+vspzX9VjC6tz5AXUVY2mxyVAgAABAgQIECBAgAABAgQIEFi1gKA6+xkQViunU2itBHM4AQIECBAgQIAAAQIECBAgQIBA8wICav1TJKzWm7kHAQIECBAgQIAAAQIECBAgQIAAAQKdCwirnQ+AyydAgAABAgQIECBAgAABAgQIECBAoF5AWK03cw8CBAgQIECAAAECBAgQIECAAAECBDoXEFY7HwCXT4AAAQIECBAgQIAAAQIECBAgQIBAvYCwWm/mHgQIECBAgAABAgQIECBAgAABAgQIdC4grHY+AC6fAAECBAgQIECAAAECBAgQIECAAIF6AWG13sw9CBAgQIAAAQIECBAgQIAAAQIECBDoXEBY7XwAXD4BAgQIECBAgAABAgQIECBAgAABAvUCwmq9mXsQIECAAAECBAgQIECAAAECBAgQINC5gLDa+QC4fAIECBAgQIAAAQIECBAgQIAAAQIE6gWE1Xoz9yBAgAABAgQIECBAgAABAgQIECBAoHMBYbXzAXD5BAgQIECAAAECBAgQIECAAAECBAjUCwir9WbuQYAAAQIECBAgQIAAAQIECBAgQIBA5wLCaucD4PIJECBAgAABAgQIECBAgAABAgQIEKgXEFbrzdyDAAECBAgQIECAAAECBAgQIECAAIHOBYTVzgfA5RMgQIAAAQIECBAgQIAAAQIECBAgUC8grNabuQcBAgQIECBAgAABAgQIECBAgAABAp0LCKudD4DLJ0CAAAECBAgQIECAAAECBAgQIECgXkBYrTdzDwIECBAgQIAAAQIECBAgQIAAAQIEOhcQVjsfAJdPgAABAgQIECBAgAABAgQIECBAgEC9wP8A22vsdN15c/IAAAAASUVORK5CYII="/>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dirty="0"/>
          </a:p>
        </p:txBody>
      </p:sp>
      <p:sp>
        <p:nvSpPr>
          <p:cNvPr id="5" name="AutoShape 4" descr="data:image/png;base64,iVBORw0KGgoAAAANSUhEUgAABVYAAAKlCAYAAAAgmLcrAAAgAElEQVR4Xuy9CZgV5Zmw/ZxeWGTfwQYBcVfAyKZsKi4sLhiN0SiaKIyTZa7EZCZf/vky+ufSmf+fzDczMbn+mZgE0Ym4LxEVESWoICiLC+CCrEKDssouS2//9VTVW6eqTtVZq7tPd9+VtE33eetd7vet6u77PPW8iV/96ld1wgEBCEAAAhCAAAQgAAEIQAACEIAABCAAAQhAAAJZE0ggVrNmRUEIQAACEIAABCAAAQhAAAIQgAAEIAABCEAAAhYBxCoLAQIQgAAEIAABCEAAAhCAAAQgAAEIQAACEIBAjgQQqzkCozgEIAABCEAAAhCAAAQgAAEIQAACEIAABCAAAcQqawACEIAABCAAAQhAAAIQgAAEIAABCEAAAhCAQI4EEKs5AqM4BCAAAQhAAAIQgAAEIAABCEAAAhCAAAQgAAHEKmsAAhCAAAQgAAEIQAACEIAABCAAAQhAAAIQgECOBBCrOQKjOAQgAAEIQAAC8ROorKyUTp06SceOHeOvnBohAAEIQAACEIAABCAAAQjUAwHEaj1ApUoIQAACTZHAe++9J8OGDWuKXafPTZzAxx9/LCtXrpSbb75ZWrdu3cRHQ/chAAEIQAACEIAABCAAgZZCALHaUmaacUIAAhDIQACxyhJpLAIbNmyQfv36IVUbawJoFwIQgAAEIAABCEAAAhDIiwBiNS9snAQBCECg+RHIVazqo9sLFy6UHTt2WDDOOussmTRpkivHnnrqKbnpppus144fPy7vvPOOrFq1So4dOyZdunSRMWPGyLnnnisarfjRRx+FAj3vvPOkZ8+eVjthh9a/e/du6/XTTz9dLrjgAl+x+fPny/79+91+mBe1Lz169JDTTjsttF5Tp/fFU045xarfRFRG9btXr15yySWXpNT75ptvWuPVdvXcbdu2ycSJE33lvGX03zt37kypxzDVF3Qca9askX379llMBw8eLBdddJF7Tlgd2j8tY8ah89S5c+eUvrz//vuyfv16mTBhgtXnbNgZbp9//rm0adNGhg4d6mPhHZ/Wp+WXLl0qa9euddfQ6NGj3fZMfdddd51Puio/PZQnBwQgAAEIQAACEIAABCAAgcYigFhtLPK0CwEIQKDICOQiVlWU/s///I9MnjzZijQ04lRFoBF/v/71r+UXv/iFNUoVgAcPHrQkmwo9lbLz5s2zzte8mgcOHLDKffLJJ9bnc845x/psXlNxqoIveGjbWtfzzz8vbdu2lbvuusstou09/PDDlsg1/dAXta9PPvmkVe673/1u6CwYaextU0WjSlrzuLoZk+mrqUiFoldEmu+rwFRpqH3WcxctWiRXXHGFTwZ7y+i/VRYH69Lz9VBJuWXLFvnmN79p5SXV8f7lL3+R/v37uzIzrA4dhzLxzpP2+Y477vDlN/3jH/8oR48eleuvv97qcyZ2KkG1fWWmwtr054wzznBlr3d8Zn7GjRvnMtC+LV682O2LzsPjjz9uSfupU6e6c6X89PBK5CK7nOgOBCAAAQhAAAIQgAAEINACCCBWW8AkM0QIQAAC2RDIRayq8NJIQ2/0pLahwsvILq9Y9Qo10xetQw8j7cz5QWEW1Za3Hu2LylmVjEZEqqRT2ffhhx/6xKp+X+WuRoxqBGqYBI1qc86cOZY01EjJXOVeUKyqWFQxqqLWbNgUFKtGxAbnT89VOaxi2JuTVKXxgw8+6IrJMO5al3du9N/nn3++xcFE/BpJqmLb24d07LxsTH+1n2+88YYrRb390Whib5vmHCOsNZrXzIOKYI1wNhHGubLPZv1TBgIQgAAEIAABCEAAAhCAQK4EEKu5EqM8BCAAgWZKIBexagSeRhIOGjQoND9mMGJVH1kfPny4VTZMZhYqVvURdxWURg6q6FMB+txzz/nEqkZiqpBUabdx48aUR+C1H1FiVXOB6mPoGj2Zq9wLilVtx0TvmmjMbMWqkcbBVAJap1dYholVPVc3ijLRvTpPN9xwgzsurUPLqBTVCGSvWE3H7re//a18//vfT5sn1dsfLR+MktW2TSTrT37yE3ceNApWo2GNSM6VfTO9ZBkWBCAAAQhAAAIQgAAEINDIBBCrjTwBNJ+ZwNKNK2TX4b2ZCzolxg0aKd3ad40sv/fwV7J44/Ks6+vZvpuMHjQi6/IUhEBTJZCLWNUxmvyYmk9TIwpVsnrzY3rFqpGm69ats3KyhuUDNWX0s/cRb/M4eJDrgAEDrIhZI0FVvr3yyiuWfDPiV+Wctx9aVtMNGCFpRGFwJ/ooser9vnmcP9iv8ePHhz6iHiZWdZz6/WHDhlnRmEGxqmy9xy233OKmEghyMuW80lHrC9ah3Lx5Uw0frxjVNA9TpkyxctcasZqJXXC+w64D7/jSlTevBXnrvGo6CcRqU73L0G8IQAACEIAABCAAAQg0LwKI1eY1n81yNC+selVUbmYjV9uUt5KhFedIn069I1l8eWCHrNr+iRyrOpGRl2n3uqGTMpalAASaOoFcxap3vCpZNZJTN6cyUYtR4kzlmEZ+atSkN/9mOrEalnbAtO+VbypK9dF6/Z7ZHMrbD43m1Mfv9RF3PVTyXn755SmbIKWLWFVOKnRzlXtRYtX7WP8LL7zgisyox/ijOBkemntVRbGRtkaMmsf7vekS9BzDR9n07dvXEreaZkAjWoOP7qdjF5dY1fXxwAMPWFHGwXlQ4atSWOc2Siw39euQ/kMAAhCAAAQgAAEIQAACTYcAYrXpzFWL7amKVT3WHPgiI4PBnU6WUQPOzyhWl33+Ydb1aaOI1YzoKdAMCOQiVlUqmuhB79CjIhJVut19992+x8TD5GWYrMw2x6rKTpWKmg5Az9E0ABoFaoSfiWLVzZjMoVJTBW9wE6uoNr2P2cclVo0o3bVrlxX5a0RoOrFqJKl3sy4zJpXLRp4G61ChvWTJEncDLq9YNWkOVKyajcbM+T179rRyt6ZjZ1IvmDyopj8qQ80GW97+hOVk1XNU0GtfND1CcB7Mpmcq5I08bgaXHkOAAAQgAAEIQAACEIAABJooAcRqE524ltRtFaud2raXnYe/kvWH94QOvV+bDtK5dQfrtWzE6vzPFkvlsUPSpay17Ks+nlKn1qevm3qzFauaZuBEjT8S1kTPel9rVdoqMl2Bt1z71u2lQ5v2bv9OVJ+QvUe+cr/u1q6rtCprldL/Q8cOy+Hjh33fz6dstu2Fjds0nm6sYf3Uutq3aS8dWrdPm9LBOzitZ8verXK82mavqSAGdDsl8jIJjss6J4JlWFltR/t5cmc7MjpdhHRUJ/T8z/dulWH9z8/6ctZo6+Dxxf4d1hrRj6gxZNtALmLV5MHUR9NNvlSVfbqDe1jEqgpJPbw5QfV7Ksf00W5zFCpWtQ+aDmD//v2iaQD0MGLV5A31tqevm8fevXlfw8Sq2bHejC9OsWr6of1WealyM51Y1fL6eufOnVOYah1mU7GwOlRoqigN22RM0wFonZoGQHmY85Wrka3e9eRlZ6StkahaThlt3bo1tD/K+Pnnn5ewNWQYhM2DynONjB45cmRoyoVs1zvlIAABCEAAAhCAAAQgAAEIFEoAsVooQc6vdwJG2r21cbnsOXYoVISqIL1y0Kis5JIRZWt3bpADRw+HRq6e3r67tCltJef3PScnwbdu5wZZuuUDV9peVHGuK870tfe3f2KNQft6Rq/TQtlpudc2LrPGqWL3lgumuvJUBeKSTctlxZ7P5bKKwTK44myfeDUVmnQHWk6PTGWVrZHWY3ufIcNPOd+qV9tbufVDeXvHOhnRfYCMOXVkaHtmbFqHzkXfdt2sdvcfP2QJ7ygxrf30Rg9rxPGxmhNuX6b0vyCjeNS2n/pskeicnd7tFKncv8Oa028OulDOqzgnlLGXoxZINzYvAy1r1ob+e9uRvdY86ZivPnNcWpkb7Mirnyy05nHG0ClZi9n3tnwo72z/2F0b5s0E5axvBJi5zjcncC5iVdvSyMIFCxZYIq5NmzYpj9V7Hw3XaFF9zF0fve/du7ccOHDAehz/uuuu80WxRolVFbZhh0o5PbypAjRis3///q5wNP3wRnJ66wrbCCosr2swh2xUjlWtWx9jDx5RqQBMOZWXs2bNskRjNmLVMDUsw5iGiVUTuWs2jgpLlWAiYc358+bNc6Ng07EzTDSPq/ZHxbmRtHpesD9mDema0COYmiFMrGr/VegOHjwYsVrvP4FpAAIQgAAEIAABCEAAAhBIRwCxyvpoMgRUKr2y5f3I/t4z/s6cxhKUet6Ts0kpENWY6afWERSK+pqKv0wRsBqla1IfqPSbdM4EtzkVfQ8sf1oyjVfHN3PVK9Z5mcqaOrVsUEga0XvXyBtDo2NNx8LGrX1QgX3pGWMj5yasn0Y6hjH0VqSS/NdLZ1sC+nsjb3Rf0vOzybVr+GQjN+9fNMuq31tW21+47m1LkKpc/e4FU0PFc3DwXt7B+c20iM3aCErnj7Z/In/Z+K51+k1njo8U9+nqz1WsmrpUfumhUZDBTaCC7WnUowo3FbHeCNFM4+b1aAKGqYpqTYPQ2IeKT01rkMscmzWkQpkDAhCAAAQgAAEIQAACEIBAUyGAWG0qM0U/paWJVRMNqVMflGgq+TLJ0lzEqrZhZGZQUprNwzJFQaYTyumWb1g/TV2ZpKM5V6NIb77gWrcZ/X4wjUJYH8JkaVRfo8oauRs2T1F1eSNPtczdI7+dlZDVslFi1ftakEe2t498xWq29VMOAhCAAAQgAAEIQAACEIAABCDQnAggVpvTbDbzsbQ0sdqvc2/ZfeQrKxpSD28UYn2IVc33+ejHC6y2TFSmiazMRvyFidV8+qmi8vH351iPtmeKJNU0Ef/9/gtWnzW6VZlp3tNsc43GIVa9QjNThK25RB9Z/oxcMmiUvPzZYuuxfk3VkElcm3PTiVXvNZJJvIfdLhCrzfwmyvAgAAEIQAACEIAABCAAAQhAIFYCiNVYcVJZfRJoiWJ1cMU58vzqV62co/qo+XeGTLY2ZspHWGYzNyr8VGhqnlV9fF+Zq9z1piKIqidqfjIJPm/EqgrG93eus5rI9rH6J99/MXRTs2weh28MsaoCW4Xq342+VZZuXCF/3b7GmttMqRYQq9msYMpAAAIQgAAEIAABCEAAAhCAAAQajgBiteFY01IWBDSf56a9W2X/scPWJk9euZavWNUISN3wSXdy9wrCYs+xqtGXumO8RmU+sXqeu0mSMok7x6qZGm+ezl+MnmZFjmpk5YBup2ScvWDEqnlEPhex+sMLrnMjUNNtPhXsjMpK5WQ2rtLXVVaqvEx3xC1Ws4k81ZQLemgOWI0I1o239MhGBGu5bCJWg+kcMk6eU6ClRazqZlHHjh2zNorigAAEIAABCEAAAhAoUgJH1sq8xxZJpQyRqXddKL2KtJuFd2unvPvHObJ66FS5a1TzHWXhnKgBAsVFALGaYT7q6uqKa8aacW9UMq3Z/qkcOn7Y3Qzo9guudXNPqribt+WDSAL/NP6OlNdUtj25+lVLSuoxuf83rEfF+3TqLSpWl3++yt0kynuyPtI9csDQrHdr955r+ql1TB060dcnfW3b/p0p3w92fM6q+dK3cy9LrOqhfX1o1Tzr35o/UyNYw8brrcd7Tqay5jyVof+29DHrS+2/7jb/3ZHfymrVhY1b+6Cs0x3Bfpp6VIx65z+sDu2vStUzep3mvqxz/vv351hfZxr3Py962Co3fejkjP2MKutllqkeXeO/Xf6MxdYcylijhFWGZsNa14ZubKZr2awPU5d5bUzv09NuGBY1Hy1JrOqGTw8++KBcfvnlcsEFF2S1xikEAQhAAAIQgAAEmj2BI2vl1ccXi25N2m/8rTLpzJNChvy1rH31MVlsFRont046S8JKpWO1c9mf5MXVg+Xav8ksSnMpm/v87JR3//SirBlyrfxNo8vMYupL7iSb6hlff/aqPLZIZNwtk+Ssdk11FPXf70QiUf+NNNEWEKuBiUsnUpGs8a9yFU3rd22Uj3aul8pjh6Vfm/ZySuc+UtGpt/Tv2s+3C/37W1elFau/HPc9Xwe17lc+fUOOVx+36jbHeZ36yNQhE2XHgZ2ybMuH8tGBL1MGpmVG9T9fenfK/Z1C088uZa1kxohv+cYwZ/V8Kw/oBacMTQszrJxyevqzxe55wfEGK9TxPbTalrGZynrPfXP9ElmyY731LZV3mfpqzjXjNnzN93Us404dIV3bdw0dc7CfKiqf/OBFa86CdYWNUedQ59McOu+/W/GstZZuHxEthb9SAfvBi9Zp04dMzjjX/7L4kdCyhtfw7v1l4tmXpp1XZbR+71a56RvXuOW885pNP5Snrtng3Jh6wtZdtlfu+++/32Ik47vvvisqV6+88sps8VAOAhCAAAQgAAEINH8CRz6TV59YLNt0pH3HyS2TzkyVptmUyUBq1/KZtlidMUp6pitrtbVZBn5nkpxZL9JrlyybaYvVGSPT9qT5z30LHeHX616Vx1Ws1tsaCwNrr7t942+RSWcE35Zw1mTYacF16r0WrfJ9w8eRVbn07Zo3HvyC1Y6y3nfxNJkc+iaMGUS6ck6kdth4g9HbbvS6KdxPxt86udGFOGLVmY+gNM0kUTO93kLvSVkP+/DxI/Le1lWyZOc6Gd5tgAzs1s+KGGzfOvqnpUqpV7dGR6z+77F+sapttC5rJU988KJsO3bIamfl3s+tR8QHdeojQyrOtiJWPzr4RUq/z+toR6z27pi7WNV2f7fiGfu21qaDnNfTjqbcsLdS9h4/JLd949q049TzX/nkDenVvquMPnWElJeWu/17a/1Si5kewfF6B1FVUyVrtn/i8rr1nMssUZ3N8dWRffLgB3bE549H3Ji2r9763t30niz8Yo2c1q67jB80wkq9oNGjy774RH5w4XdCmw72804VnB17yZavKuWxT/5qnTPplGi5u+PgTpm1ep5VxkStLt20wprndGPWdjXtxJxNy6w2pp46yjrfy9rbYe+calnNc6sC99MdG631o2vr0jPGRJ6vdSnXlz9dKP079ZGLTx/tVu+tW9fd5HMvTVvP0x+8LBuO7JExvc6QM3sNsjh/vrfSWhe63q4+e4J0bdclm6lOKVOIWN22bZu0adNGunfvnrbtPXv2yMaNG60yHTp0kNNOO01atWoVeU66eg8dOiQHDhxIObdnz56hdWpd6Q5znqk33XhMXeacEydOyK5duySsbX1tw4YNovXqMWjQoLScgow0VYGyyvcwfevUqVNoPdqepkQIHn379k35Xj5stBLl5W3ftBnWRpBlOra6lrQuPXTtKSuznqLWh3dQpk9RDDKtadNGcN4zrTXtg449OLYgp+AERLGIe83ku9Y4DwIQgAAEmgGBrz+T+Y8vFunXTyorNYpvogR9ydF1860Iv379KqVSxsmtE8+UtjkOfdeKmfLiqiFy7YyR6cXq10fl6Eltc64/++7skuUzX5TVQ6+VGSMQq9lzaz4lzXoOW+v1Nsqdy2XmS6utqPCJZwSuHuca1IDwlMOzTu1+V/rqsK8rkSHXzJCRjsrItpw47W4Li0wNiei2BOuOd+WPL66WfpnEarpyKbLUM2qPWP36s3ky+61KX1s7l/1R5uh4r71LLkz/oGy9TaVWjFgVEa8kjfq3mQWEauHrUQXTU2vmy6BOvWX0wBHSvk12bz1+sHV1WrH6j2O/m9I5besPH7xoRT4O6tZP5mxaLp3LWsv+6uNyx5BJsmLLqsiI1RH98xOr2gkVfqu3fyobD+yw2tJjWLf+MvyUoRmllwrK3Uf2Wuec1WuQnN5zkG9c+vr6r7bIbcOvj5wMjV5cu9OWV+YYo1GjWQo3FbitS1vLhacOy2rClfOSTSsiy14zODwqMF0/tQ8HnUjjqL4fPnZE3qtcJZ9oXl6H82ntu8vIU4akFclh/U3Hxzsn3kH2aNdNBnTvm5WAf2nNa+6p3nn1fl8LaJ1R3MN46Tkd27SXkzv1SlkrWU2ep9AHH3wg3/jGN3I9zRKlL7zwgnXe3/3d30nr1q1T6jh+/Li89NJLsmXLFunVq5clYXfs2GGVmzBhgpxzzjkp52Sqd9myZfL222+H9rd///5yzTXX+PryH//xH2nHdtNNN1myy1tv2Hi8/TLnqBB76qmnxHxtGvrkk09k4UI7r27v3r0tgblz504J618YIxXH+/fvlxEjRsj48eNznhs9YdGiRbJixQqL+7Rp01LqePbZZ615CTuC7ebDRutV9mPHjpVRo0ZZzZg2r7vuOks0e48gyzC2KhLnzJljsVGWepj1dPPNN1uSNd36MO2ZPqVjoOtZ+xkmgWfPnm3NZ5BTprWm7f/93/+9JZy960br0yNsnrxzadZlfa2ZvBYaJ0EAAhCAQPMgoHLlibdFxo2VLovfln3jbgmIn6Py2fzH5e2uY2XsV2/L2zJWbgmIVRU5jy/2v6E9+OrpjujZJcsfeknWeGj11Tb6brXa7XL1dBmw9SF5abUGzNpt2/WJjP2OV/Km1pNsQ8SSRE59RjCZJneteEhe+sr026lnyDUy3SNW048hYqrdNm+RTh8+Lm8bBH2DjOw2le14WWSzstoXm43pi2cMhond8mC5ZvpI6em87pIOjMEuG+TknOsOIaov4ZLZYrfaO/5gfS7lwDxn0a51al9nngP9TmGoZZ216AIw5yb7lzqP3jLB88U3D6nzY5hkbjftzWDncnnoZfsKMGvcV956Xew5jqwofN26TNzrMttyIuJpt1eIXPVGqhqp+qeX7HGkFauOVI0sZ70uGfInR+Uf/lrWzpsti2S8TJuce0qSuG7aLV6sGlEaJlTTSVYEa/5L8LH3/iLbjh2WG04fY1Wy+atK2XXkK+t7E08ZKuf3G2J9Xx8Jf2bVXLl12DetrzWy7/Dx5CP9wR6ERZcu2vCOfLp3q0w+fYzMW79ELhs4Qj78Yq20KS2XS84YbaUDMHXuPrLPinDt2LqdtG/d3no0PF0Ebf4EOBMCxUngww8/lPPPt/P65nIsWLBAVPConLv00kvl7LPP9p2uUXYqrvRQ2WmiL/X7Kv3WrFkjt912W0oUZ6Z6ly9fLkuWLJGf/vSnvvY2bdokb731liVVv/Wtb7kRjL/5zW9kzJgxMnLkyLTDM/Xq+WHj0X6tW7fOGvO3v/1tqaiokO3bt8vTTz/tfq0NfPrpp/Lqq69adXi5almVgioEr7rqKrcvjz/+uCUKp06datVpDp2XN954Q4YPHy7jxo3LZWqssg8//LAVyamcZ8yYkRK1+txzz1nlbrjhBrdunRuVwkuXLpUzzjjDykWrRz5s9Lwge21z69at1hxpn7xRy0GWYWz1fE3lcOutt7rnap9V3qvo/OEPf5jCKWycplDUaxqRqnXqvATr1NdmzpwpgwcPlsrKSrnjjtQ831p/WP9Nu8HXzJoJmyfvXJr5qK81k/Mi4wQIQAACEGg+BL5eJ68/tURk7M0y9MCTMnffGLn5ijOSEaPO652n3CydVj8pS8T/+tH1r8uTb4uMuekKcZ9w3rlCHn7lI+k79ma54nQ7Om/Xyodl7prz5Ko7RtjyyKlXHZm3nL6UUqcpO/gquWO4rZ7sMtvkvCl3yAiN1HP76XztmSGrbXdcu2TFw3Plo5S6Mo8hZdI9Y3D7IUdl3etPypJtnrGK06ZW4GlXJaivL6FMTH16sqfOEMaGgc5lJPfIvgRH57QbmO+UefTMZT7t2vVpJX2TayhkvlNYhayTsL6Frc/U70XNj7Vys1svYXcEz3yal4Nr3fq+zuXqTv7rLlif5zo1c2uK2ON2+Enyek5bTrMR7FohD6/qJDdfmUz/kSJTNTrza03P8badLsQ5NPJ2cjBBbUgkaqiAVbH6Qef0YtSpS0IiY+2o1cZNCdCixWpQqnq/Tvda8/mp2Tgj+dOyZ2R/jR3Fqcep7brJOT0GyvGaKtl+YKdcdZ79B/ynX6y1Pndp30XW79osHSzh2U5O63mqfHV4n/Xa+9vWyOVnjbciRNu3aift27R369XvPfrR63JFv6Hyya6N0q9Tbzm950Dre7edd4UvynDxhnfl3V0b5JyOvd32G4dOw7f6YeUai/sXR/bJDedeLl3b5/cYecP3vOFaXLb5fdlz5CuL0XeHTfXlzW24XtR/S/mIVZWLv//972XixInyxRdfWI/Df+c7/tQPq1atssTg9OnTU6Senq/i77zzzrMiGs2RTb0q+VT83X333SlwNKJRo/9Gjx7titQHHnjA93UUUVOvCjPtx5QpU3xFddOr008/3RKVN954oytWn3nmGfdrPcGUu+yyy1KaMm384Ac/sOSiCrX58+dbkYph6RRM+TCG6VaGSuYXX3zRYq/yUFMveDnruc8//7xVxfXXp0bBm7kz48yHjdYdZK9tqhjVCN5TTjnFx1hlo5dl8Ouw+gwDLauRqhrdG+SYbpzpXjMMDQPTlkZLa4oHFdIPPfSQXHvttXLqqaemTEdY/7399Y416nrQ8sF+1Neaqf87DS1AAAIQgEBREziyTl5/ZqnImG/LFR0/lkfm7ZfRN14hZ5iHDHeukEfmiUz53rmy//WnZamMlm9fcYaTh/VrWaff6zJFvucIT3uszvc9ZXetfERe+ehcmfI9R6w67W4/L3iuyNfrX5enl4jbj5Rzw9pw6us8+Xu2aPUc1vn7TL93yYpHXpGP3XazH0PKPJoxVHiZiIiX6emWwbLbDJYz3zd9iajP5rFdzvWNLYKxO06nt1n3JTC6KJ4p9ak09/LN0K541oAWtdbXx1Kh689iZR/BObcZdE6uH7uUZy7F+vf+QD3+MraUD66v6PkxZdO1m2U6iRBuZqxWfw4MlSnyirzyUXIefPOd5nybVYV9vahYNdezh2eSaV8Z/e3LrTdBjq5fIE8dHCpXyVx55aPkRlX6JsHI3vbXKlqNbLU+O7lbE2Fi1buE0ohR6xH//RfIVJljPdZvDsJVZE4AACAASURBVN/j/YjVlNtNUXwjSqLq983HkSNH5OjRo1JVVeV+ryg638Q7oXk39eOk1m2l60ldrc96bNu3XbZ89YWcd/KZ8v62j2X70QNyZsfe8tlB+3Fhcwxs1002H9kr7UvLpVOrk6xy+u/DNVUybcgkq1hVdZXM/WyR9Xr78rZyoqZKxgwaIfPXviXty0+y2igvKbfa/nDbR/LRV9ukom0nqejQw/pe3y7JaLF0uLWd7fu3y4nqahnYvb+UlyXzoTaFaVLmb1aukR6t2sqF/b8hndp2bArdbtA+rtuxQZbv2mCtj1GnnO+u1wbtRAM1plGYGp2Yy7F+/XpLMKqU06g+jdCcNGmSdO7c2a3mtddes6IKL7nkkqyrzqZejahcvXq16KPfYYdK18OHD7sbVD355JMyZMiQ0LQD3vNNvRodunjxYmtsJqLSjNG8pmkMNL+mCmV95N98rTJNzzVfZxr4m2++aRWJYqTRmCr/sum/ty1loIcKZi9Tb5lMbWu7Kgw16jYfNtpWkL1pUyNz33vvPSsS10TpBlkGv9b65s6d6/Jq1y67dDLpxpnutc8//1x0s7PgulYuKt9Vsns5B+c6rP+mTNhrK1eutKJuvdHMWj74/Uzzlu+aybRWeR0CEIAABJo5gWNbZflf14gMuUxG9jsqn85dKnLRVXK2sw/tvrVzLZl61VltZevyv8oaGSyXjTxF2qTFciylrFXPxlNl9FVnixXW4WvXX9uxyuXy19Uigy8bKae02Wf1adMg7UOagBCnvg6evpsuWm0fNP3Osj5JHUPKkCPHEGwjqs3A9yPq8/NI9iK7cQXHkeX4nb7s7pFpvqPqy7Ldrz6Vue9sklMD82aPuYOzXqLnIrmuessOXSfiWWMRazSVZ7ZjCLD3rudMt4k0690eg0gP6xq0rwW7j7s938vQx909MlwvDkO3nIhpt+fQy2RE3zaWQD2+bbksWLVbKi78pkwZ3N0Vq65gNalDVKw6yZj9m1s5IDKKUX86gdR8qhlSAVQSsZppycX+eiapqiJ13759cu6551pRWPoHZVjOwNg7RoUQgAAEIAABCEAAAhCAAAQgAAEIQAACEGhkAvo01Wer3pFf//Zp2V1SJef36SLl5eVJwfr1Opn/xGKRi1Ws2sEOuYlVJ0dq16ly1yh/aHnwEf90m1eJIFYbdKmEPeKv36utrXWjUnfv3m09lhj2WGSDdpbGIAABCEAAAhCAAAQgAAEIQAACEIAABCDQiAT+MPs5WfHmPOnRo4crVkuOrpfXNKny+Ftl0pkn+dMEePuaJmI1ckjOple+lACejbD0PM3ZerG8JbPf6pJh86v6BdeicqxmkqoqV3UzCt2h+Gc/+1n9kqd2CEAAAhCAAAQgAAEIQAACEIAABCAAAQg0AQL/+Z//KRs3brT2zSgpKZHE0fXWZneJ8bfIJE/EakrUapRYDZOnhkO611xWTsSrjE+/+VU9s22xYtWbS1WFqvnQDU9UqupGKhwQgAAEIAABCEAAAhCAAAQgAAEIQAACEGjpBHR/C92UVjeJVbFacmyDLHh6qcg4Fat2xKpvcysDLDJiNSp3qoidCmCIE4kaUS6fSNh6mMQWJ1ZN1Kr30X/9d01NjSVXv/zyS2t33zZt0qffroe5oEoIQAACEIAABCAAAQhAAAIQgAAEIAABCBQdAd3cfcaMGdKnTx9LrJYe2ygLnn1HEuO+Y0WseqWqL2o1jQANy51qvudNAxDMuSpSHNGqOkktRqwGN6wyeVW90aoqV1WsPvHEE0W3gOkQBCAAAQhAAAIQgAAEIAABCEAAAhCAAAQai8DNN98sJ598si1Wj2+ShY5YneiI1dCo1UyRpYHcqVGbURnh6o59aOqmV43BpUWJVa9c9QpVE7FaXV0tO3bskKeeeqox5oI2IQABCEAAAhCAAAQgAAEIQAACEIAABCBQlARuuukm6d27t5SVlUlpaamdEsDzEZkOoChHE0+nWpxY9eZWNY//62f9ULGqEavPPvtsPHSpBQIQgAAEIAABCEAAAhCAAAQgAAEIQAACzYDAt771LSsVgBGrKleNYDVStaXJ1RYrVk3EqleqmojV5557rhksd4YAAQhAAAIQgAAEIAABCEAAAhCAAAQgAIF4CNxwww1uxKpXrpqoVa9c1RZ9uVbj6ULR1dIixGowv2owr6qJVq2qqrJSAfzlL38puomiQxCAAAQgAAEIQAACEIAABCAAAQhAAAIQaCwC3/zmN92I1UxRq4jVxpqlemg3SqyaaFX9rFLVpAKYM2dOPfSCKiEAAQhAAAIQgAAEIAABCEAAAhCAAAQg0DQJTJ061RKr5eXlbjoAFazBPKtGqhKx2jTn2ddrr1TVFzRaVb/n3bDKK1Y1YhWx2gwmniFAAAIQgAAEIAABCEAAAhCAAAQgAAEIxEZAxapuXmXEalQ6AMRqbMgbv6JgtKqRqkasmjQAGq1qUgG8+OKLjd9xegABCEAAAhCAAAQgAAEIQAACEIAABCAAgSIhcO2116aIVROxqptYaYSqRq8iVotkwuLoRiaxqkLVfBix+tJLL8XRNHVAAAIQgAAEIAABCEAAAhCAAAQgAAEIQKBZELjmmmtcsepNB6BSNWwDK1IBNINpz1Wsfvnll/Lyyy83g5EzBAhAAAIQgAAEIAABCEAAAhCAAAQgAAEIxEPg6quv9uVY1WhVkw4AsRoP46KrJVuxqtGqJmIVsVp000iHIAABCEAAAhCAAAQgAAEIQAACEIAABBqRgIpVk2M1mGcVsdqIE1OfTUeJVc2taj5MflXEan3OBHVDAAIQgAAEIAABCEAAAhCAAAQgAAEINFUCV111lRuxili1ZzHxq1/9qq6pTmg2/c5GrKpQNXJVUwHMnTs3m6opAwEIQAACEIAABCAAAQhAAAIQgAAEIACBFkEAsZo6zYjVmhorBQBitUXcAxgkBCAAAQhAAAIQgAAEIAABCEAAAhCAQB4EEKuIVdEI1traWjcNgKYDMGL1xIkTsmPHDiJW87i4OAUCEIAABCAAAQhAAAIQgAAEIAABCECg+RJArCJWEasxX997X/yJTLxP5J5XfitTexZWeZx1FdYTzi6YwIcPyPAZs2XazJVy9/lZ1pb2nL0y58cT5f6lY2JZa1n2iGIQgAAEIAABCEAAAhCAAAQgAIGiJqBBgocOHZIuXbqIbiAVdhw/flyOHj0qnTp1kkQikfd4EKuI1QYRq6t/N1zu/HO6dTpNZq28W4bkvZSL58Q4ZWicdYUS2jVHfjLlfpF758tvr+3WyBAdUXjaLFn543hXgs1xicjoe2T+76ZKLiO11u6G3M9LgRmzWK33tdHIq4HmIQABCEAAAhCAAAQgAAEIQAACuRLQtJZbt26Vffv2SUVFhfTq1StFnH799ddWGT0GDhworVu3zrUZtzxiFbHagGI1KrJutTww/E6ZLc1HruZ9RTb0iS1CrJr1pXBzj+6MTazGOrf2mCSX6NdY26cyCEAAAhCAAAQgAAEIQAACEIBAcRLQ9JYqTvfv358iVzWSVV8rLS2VAQMGSJs2bQoaBGIVsVoEYlVEnGi+MUUROVnQNdW0Tm4JYtVEit57j2y+L/fo3KIUq7v2yt6e3XKKvG1aC5PeQgACEIAABCAAAQhAAAIQgAAE8icQJlcPHDgglZWVUl5eHotU1d4hVhGrxSFW0wg+9zFuZ67C5avJN+kU0ke+/0nkvin3y0Anqi9SkDltm3JmSWRq163PaWeJE3FbEcixmlrObsGMw58mwR9RGfW4d9Z9+91AedSKBjZHMio4WIcEIob9r4dEejrclniuoVzEuH/c2q/bZLPmDA2kAsg01ky3WbsdT/0S/Vh/2JgHPplMBSDW3A6UWSsnyEIv19vt9AXBvvryqaakAvBG0jqjcOpxxxSVPsD5vjurgchVux/aT4fpUlMy94jdTHx5HQIQgAAEIAABCEAAAhCAAAQgUIwEjFzVKNV27drJkSNHrAjVOCJVzXgRq4jV4hCrERGrSSnm5F8NFbBGqnpSCWh9szbLmKVL8hKr2bSbFIP+FAZBGRpaziPGkjIydRxhYjXrvm0YI2OWDpTpbu7aEE4RQttuIynhjDB0RWGY8Msh+jVlDKKS8SHZPHqJLPGI1WzGmv7m7chLn/gM31gslbXyuk8WyhJZ4shYW6yqSvYISq9g9ojRIEMTlW0xPDkst62/r9a4QjhHzYVXapuxjBktMuGfkpuopfSpGH/y0ScIQAACEIAABCAAAQhAAAIQgEBMBHSTqk2bNonmVS0rK5NBgwZJ+/btY6qdiNUwkIlf/epXdbERLsKK6urs4eln81FbWys1NTXuh1p9TfirO6nt2LFD5s6dW9BI0gudEOGnrUVEkqbItoioPiM0jQzMOmI1y3ajxhQlVv27wTsSLbiZUmAsKbIvp75J6g70QVZhMjSdvHYE4/aIDZ1ShWnIsskUhWnkZJZjTbcwo/gtCUaGRklhI02deTJi1R+Zm379uhuDecZ921YTUerfsC2lv1FRroH+B7kb+ZoSQZyD/C7ogudkCEAAAhCAAAQgAAEIQAACEIBAIxMgYrVxJgCxWlMj9SNW00xoyG7tkbueZ5KPpplAuWzFarbtRknEcLEa3JgrJDoxRCYH6yq0bymyOkS0pU8/YEd7Wo/H/zlE3GZxzUbvZp9ldGmUmE1p2xGevkf/IyRoZJ3+OmyxGox4DWtHO2OPZ7PJG5wiVpe46SAisQX7lUFKG3mfibHbpyzmiyIQgAAEIAABCEAAAhCAAAQgAIGmRoAcq403Y4jVehOrUfkdTa5Jv3z05+BMXRC+SFQrh6Y/+i/4GHW2YjWndjek5usMFasp5fITq4X2LRuxGhl16pV6zqPs3vyqwRytUZdwdFSrIyidVADZjjXyVhERnZnyKL2Ikxs1PEWAd90kc6x611ruYvXu80Pyq3rTC0S8ORApTANjTeZYDVwTQdnbePdZWoYABCAAAQhAAAIQgAAEIAABCNQLgTCpmkgkrLY03+rWrVultLQ0llyr5FhNnULEaoOLVSO2lvgeXc/qsXKNC3Q3JwpIpMCj5LmJ1RBRG1grUfXVv1jNv2+xidXzkzBSNsEKiT72ostNrGYea9RdOHVzrkBJz+P00RGezvpyxHh8YtXTl8BGVD5BnW10NmK1Xn4YUykEIAABCEAAAhCAAAQgAAEINC0CmtZSxem+ffukoqJCevXqJUaqmpFovlUto8fAgQOldevWeQ8SsYpYLarNq7x5SNPJLu+05fR4fEiEaTCyNdt2G0OsFtq3bMRqNqkApvYMv+eERYMGS2Z6TH12FhtNZb7jReSwtU6M2OxsxuzUnLSmrG/zqoGB6Oh8IlYjRhDcxK2gVADBfmqbgfQEmUFSAgIQgAAEIAABCEAAAhCAAAQg0KQI6H5BGpnapUsXKSkpCe27bmp19OhR6dSpU4p4zWWwiFXEalGJVd9mO0HJ5MxVymPOaTc5SuYBjYqUDG5yZURrcOOfYLuNIVYL7Vs2YtWUcTdd8spISzAOlEeH3ylGgPouoYi5CCvjrz+5WZm7sVS28x92x4s41xRNFcARqRkcETnbt3lVoWJ1vgycNVHu9+V+NT2Lzst6txUlHN7P8M2rEKu5/DCkLAQgAAEIQAACEIAABCAAAQhAIFcCiFXEanGI1XQ70S/1PA4ekTczRZp6Hq92o2BDZJv3cfFktGxIRGNIu40iVsOiLXPoW4pYjYhgtHkmc+IGRWR4ZGpU5GbqRRas3xaGD8nm0UtkiZNjNTSyNMtd7VPrD/TBqceVuG6eVW86Cns8C2WMLJEJMv93UyW2VADygAyfMTtl86qodZwaye3pZ+S6Rqzm+gOR8hCAAAQgAAEIQAACEIAABCAAgVwIIFYRq0UlVpeEbOAT3MQoGElqptBfbprMemWgPDTlfhk4c6XY0X4iJuLTnXaNRPwnkfuC5dzcrckFEmy3ccSq3Z9MTLLNJ+uvy5/P1J+jNGTjsZTcoCLiyVua6UYUVv/AJ4fLnTJLVv54iHt6prGmtBMiTVP7YuR5YFyBManQvG3rT2TigpjFqq5H009v54L5aYOpAEzZkH66a9yVxIjVTGuQ1yEAAQhAAAIQgAAEIAABCEAAAoUQQKym0mPzqnrYvKqQRZr3udk8lp535ZwIAQhAAAIQgAAEIAABCEAAAhCAAAQg0JIJIFYRqw0SsdooFxlitVGw0ygEIAABCEAAAhCAAAQgAAEIQAACEGgJBBCriFXEaku40hkjBCAAAQhAAAIQgAAEIAABCEAAAhCAQKwEEKuIVcRqrJcUlUEAAhCAAAQgAAEIQAACEIAABCAAAQi0BAKIVcRq8xWrLeEKZowQgAAEIAABCEAAAhCAAAQgAAEIQAACjUIAsRoiVn95y+C6RpmNBmq0zhldndSJ/ruurk5q60Rqa+ukprZOqmv0o9b6OFFdJ7v2H5V5y7c3UO9oBgIQgAAEIAABCEAAAhCAAAQgAAEIQAACxU9gyrjTpFe3dlJeXirlpSVSVlYiZaUlUlqSkBLzkUiIJBJi/S9R/GMqtIeJf7xcmrdYVUIqVO1Plly1xapITZ1Ida3zUSNSVSOy87DI/E+bNZJC1wznQwACEIAABCAAAQhAAAIQgAAEIAABCLQwApOHd5BeXUqlVWlCysoSUqafS8QRqyIlCf0wYrWuQLEal5WNq57wyU7845UtSKw6gjVFrNbYctUSq4dE5n+CWG1h9waGCwEIQAACEIAABCAAAQhAAAIQgAAEIJCGwJQRnaRXlzIpL01IuYrVEluulpaIHbHqE6tW4Gqeh3q5vE8OtBlXPRFi9VeTWqZYrdGIVeejSqNWa0RO1IjsOCQy92PEap4rn9MgAAEIQAACEIAABCAAAQhAAAIQgAAEmiGBq0Z2kD4qVssSlly1IlZLTcRqnZRItSVTrQ9VowU5zYJO9tDXeurP8yV6j+paf7UX0yJyolXtRKt2SgD9T12tnXe1rkakTnOufl0tBzYfKaae0xcIQAACEIAABCAAAQhAAAIQgAAEIAABCDQqgVbn9pdEh5PUpErCDlMVKbVNaklpuZS0GylSV500qoWZ1UYda6bGyzVa1xLIF/RqMWLVTbaqdKxkq96kq2InXz1aLXVbD2Tix+sQgAAEIAABCEAAAhCAAAQgAAEIQAACEGgxBBLnnirS0RarUlpqJ1XVf6tgLGklrdqPkTpRsapInNDVZkzHSlhQMqxnCxKrjki1xKojUo1gtRKv1knd0Wqp3XKwGU87Q4MABCAAAQhAAAIQgAAEIAABCEAAAhCAQG4ESs4d6IhV6/l/n1gtLW0l5e1UrFa1GLFq6WPEqhO5iljN7WqiNAQgAAEIQAACEIAABCAAAQhAAAIQgECLIYBYTZ1qxCoRqy3mBsBAIQABCEAAAhCAAAQgAAEIQAACEIAABPIjgFhFrDq7VpEKIL9LiLMgAAEIQAACEIAABCAAAQhAAAIQgAAEWiIBxCpiFbHaEq98xgwBCEAAAhCAAAQgAAEIQAACEIAABCBQEAHEKmIVsVrQJcTJEIAABCAAAQhAAAIQgAAEIAABCEAAAi2RAGIVsYpYbYlXPmOGAAQgAAEIQAACEIAABCAAAQhAAAIQKIgAYhWxilgt6BLiZAhAAAIQgAAEIAABCEAAAhCAAAQgAIGWSACxilhFrLbEK58xQwACEIAABCAAAQhAAAIQgAAEIAABCBREALGKWEWsFnQJcTIEIAABCEAAAhCAAAQgAAEIQAACEIBASySAWEWsZiVWt72ztiVeH4wZAhCAAAQgAAEIQAACEIAABCAAAQhAAAKhBPpeMUak40kipaUipSUiJQn7s34qbSXl7cZInVRZX1v/SVj/aNZHomRYz7pmPUIzODPKOucf+qm2zhattc6/a+uk7mi11G452CKQMEgIQAACEIAABCAAAQhAAAIQgAAEIAABCGRDgIjVVEqIVcRqNtcOZSAAAQhAAAIQgAAEIAABCEAAAhCAAARaMAHEKmI1q1QARKy24LsEQ4cABCAAAQhAAAIQgAAEIAABCEAAAhBIIYBYDRGrv/jFL5p1KoA659F//Ww+amtrRT9qamqsj+rqaqmqqrI+du/eLfPnz+fygQAEIAABCEAAAhCAAAQgAAEIQAACEIAABBwCEydOlJ49e0p5ebmUlZVZH6Wlpe5HIpGQkpISq7T+Wz+a+5FArCJWm/siZ3wQgAAEIAABCEAAAhCAAAQgAAEIQAAChRFArKbyQ6wSsVrYVcXZEIAABCAAAQhAAAIQgAAEIAABCEAAAs2eAGIVsWqlAyAVQLO/1hkgBCAAAQhAAAIQgAAEIAABCEAAAhCAQIwEEKuIVcRqjBcUVUEAAhCAAAQgAAEIQAACEIAABCAAAQi0DAKIVcQqYrVlXOuMEgIQgAAEIAABCEAAAhCAAAQgAAEIQCBGAohVxCpiNcYLiqogAAEIQAACEIAABCAAAQhAAAIQgAAEWgYBxCpiFbHaMq51RgkBCEAAAhCAAAQgAAEIQAACEIAABCAQIwHEKmIVsRrjBUVVEIAABCAAAQhAAAIQgAAEIAABCEAAAi2DAGIVsYpYbRnXOqOEAAQgAAEIQAACEIAABCAAAQhAAAIQiJEAYjVCrNbUVUuVHJWauhNSJ3UxIm/8qurqnPHUiS1V6+qkrrZWamtrpaZGP2qkprpGqqurpaqqWvbs+kreen1J43ecHkAAAhCAAAQgAAEIQAACEIAABCAAAQhAoEgIXHzFGOnes6uUl5dJWVmZlJaVSllZqZSUlEpJaYmUlCQkkUiI/s/6fyJRJD2Prxs6ttJEKymXtlKaKJPEP/yvv687VndA1u3YIYvWfSAnqqvia62YajK+2CNapdayrSK1Ita/a+uk7mi11G45WEw9py8QgAAEIAABCEAAAhCAAAQgAAEIQAACEGhUAiX9O0qibZlIScL5ELWn9r+NQzUytfk5VYt9m/JWMvb08+WM3r2lTaKTJH7yv35Q9+mXlbLgk+WNOjn13ngDitWDVdWy+fAJ+aqq2vK1HBCAAAQgAAEIQAACEIAABCAAAQhAAAIQaGgC6jy7lpfJwPatpGN5WUHNI1aT+C4/Z6Sc3aefJP7u5zPqZi6a13wjVc2YG0isHjhRLasPHJWTy1tJDVa1oAuWkyEAAQhAAAIQgAAEIAABCEAAAhCAAAQKI1BakpAvqk7IkE5tpVOr/OUqYjU5Dxq5eue4SZL40c+n1/1+4UuFzVBTOLuBxOqqfUekfaIMqdoU1gR9hAAEIAABCEAAAhCAAAQgAAEIQAACLYCAytXDddUytEu7vEeLWPWj+8GEaxCrcedYfWPXQakoa5X3IuVECEAAAhCAAAQgAAEIQAACEIAABCAAAQjETWB79Qm5tGfHvKtFrCJW7c2q9NBP9bB51V93HpR+5YjVvK9SToQABCAAAQhAAAIQgAAEIAABCEAAAhCInUBl1Qm5rBdiNS6wRKwiVuNaS9QDAQhAAAIQgAAEIAABCEAAAhCAAAQgUMQEEKvxTg5iFbEa74qiNghAAAIQgAAEIAABCEAAAhCAAAQgAIGiJIBYjXdaEKuI1XhXFLVBAAIQgAAEIAABCEAAAhCAAAQgAAEIFCUBxGq804JYRazGu6KoDQIQgAAEIAABCEAAAhCAAAQgAAEIQKAoCSBW450WxCpiNd4VRW0QgAAEIAABCEAAAhCAAAQgAAEIQAACRUkAsRrvtCBWEavxrihqgwAEIAABCEAAAhCAAAQgAAEIQAACEChKAojVeKclJrF6qfzwmrOle2jf9skHLz0hL8Xb7/xqq3NOq3P+oZ8Qq/mx5CwIQAACEIAABCAAAQhAAAIQgAAEIACBJkUAsRrvdMUqVtvvWSr/9s6Hnh6eL7dNGi0Dy4tEriJW41091AYBCEAAAhCAAAQgAAEIQAACEIAABCDQZAggVuOdqnoWqyIXXTRdruj+dXFErSJW41091AYBCEAAAhCAAAQgAAEIQAACEIAABCDQZAggVuOdqgYWq3bKAKn8VKTf2dK9apu8/uqL8o6kphI4Foh+vebSH8o32juDr9omHxzoId9os0nue+MNkVOvlf91bg/5snK39OnXV9oc/tT+/vnfkXv7dZE659F//byn8kF58EM1rONl+pWnSU3lWqnpdap0qKqS6mPbZcniNyXR9yJZtWBu3qT/uvOg9Ctvlff5nAgBCEAAAhCAAAQgAAEIQAACEIAABCAAgbgJIFbjJVrPYjWYCsAIVG9qAOd7Robq+Bwhuqfyv+W/PxSxparnHEukegSq+doVtZKUrR8/JI9usqFdeOEdclnXr+WDl5+UVxyx2qnmqHz+6WPy/Oci44fdKKeWnZCNa5+RN5cczJs0YjVvdJwIAQhAAAIQgAAEIAABCEAAAhCAAAQgUE8EEKvxgo1VrGbevMqWqP5crCaK1Zao9uH/niVWxYlCdUr4vueI1cOOiI1ENPAa+fuzu8mXHz8sj2+2I1bb7F4m/7VijUitiJw+Ub7XtUpWLnhVVm1pfLG67rkH5d5PUkfzjUu+Jb8YF0473uURc21rX5KbnxG5755r5IxYql4rs+9/U16OqKvJcvKNxxnjOZfIkzecFQs1KoFAoxDY87b8+vcfiWRz/4r9XtEoI45uNGR89v2+Isb7Y5GNme5AAAIQgAAEIAABCEAAAkVBALEa7zTEKlZTN68KdjazRM1WrFq5W4OpADzRqaZlLXd5N/uxfE0FUFd3TDZ7xGpN5UPyyJq6IhOre+SN3z8rf9gT8kd2LnIi41qx21l+Xjyidv/ix+T7u4ZFC8DYZYktHeXG78u0oHO02touV4e9lpFL8RRQpn+QiakiPcBSpcxfesYzj8UzenoSRsC6zj7qLw/+YKx0FpGmMff2vWb7pSHXatggPetbPGs7OPYmu0KCca2W+AAAIABJREFU90L9+o0u7pzmPS7r58M++WZsb17l3RNOhAAEIAABCEAAAhCAAASKlABiNd6JabZi1d40q7WIeFIIhESsFqNYTR+5FKcMjbOuLBZmQ4pVSSNds+hqsRTZv2ePdO4eEp0cO8tiGTH9yESgacrFPbJ/T3fpnG2gfcT6bppjD5nRwPgir/NMi4HXIQABCEAAAhCAAAQgAAEI5EgAsZojsAzFm6xYTU0F0EO+9ESsWq+3NptjORSakljddV5W0Uth6QK8j8Db0WyXyMiP3pQ/7LE52FGcJirWYaOPmp+73ory9B3dPf0w0VA3itxrynleD0as+vtWIfdZ52kqgItkuxWR62/KjS51onI/cF+Oejw2nTz1v+bjIOfJgzeK/OH3H0myDW0s0I4T9Wp1o/t5ct95W+ReJyLXjPU+edN9fLenRhK+ecg3qGTErPbnPam4sb8sf8Zu156nPcl0Bl7Wjhj2pTkwr3v7JR3kb39wq1S8lYxYTVkTnjQC6ddLYE24ayXsLpJaNrnuUl9Lrjv9VyqLFPaeJoN99q7vVNGWOu/edBrp0kPkvEZ882CvERNFKs61MvKSg/IHsyY8r+c6D6bf1njdNWavVxPR+bcyX77/Zkf/o+RWP7bIyB9MFHkmjmtOxB6b99qx1+ClljT1z6312H+Pd9LfV5yo2+Q8ee8VwfGZ60vHHtd9RPsdtmY994PgXPvuFSEpSXzXsh1VHD6+DGMIuVbS3je8Eavp+pzymn/9prvm4v0VhNogAAEIQAACEIAABCAAgYYmgFiNl3jRiNXuBW9eFSJWvRteySXyg6vOkq5NIBWA9UdtFmLVlizikRrqNfyPwNt/IHvEh/X6QeccT8Tq2WtD8h8G8nsaoeKKOkdG9LTzf3rFamrfjHyokL85Z7v8KZBLMFl+mGz//Zuy3c3D6G/Dv/yzTwXg5xCWt9RpR6WrPmIdTLkQGLsRXN5UAylRZ77Hcp02XeGS5GHnnA2Mc88e2d+9u/Wotzl8j3xHpAKw5Zp3TdjtKM/U1/zrZeTH/nVnjzEg6pzOpERVO3wqbvy+WPVEzq8KuCALRzyFrPmUPvjWr9hrzvNYvC327PQQV+8O9D9wbvBWmtMaccS8jtdOQ5HkbOU/TrlWkmvuwZ7vpb1uU/h52Gpb0akAbEnvTY1hjUkuEe8bACa/cSHX3MseWe+fo8DchqYu8V9/6e4VXnGsXL1j3xWSkzS/MdliNRhR697PLt6Tcm/03aMzXKv53wvDrpVM9w0nFcAPushfAvls3T47a9ef6za4Pj3XfYbrJt5fSagNAhCAAAQgAAEIQAACEKhvAojVeAkXgVjVAdm5V71PiR7bs1T+7R13NyuxIlDbO4Ov2iabj/eVgWZDK2vzKr9Y1ZLmHM2taqcE+FQ6XXmh9C/TPKub5KQzTpOiTQWQrVj1SaWk4DFyxYgVd+MjN4JN/2gPilWNbDORZzZr3/m+c1NfTxGrwb45MtASqxLYjCkQWZdd3tfsN6/ycwgXsj5hlc1YU9gn+ScjTY3UDraZmoYhLEetP0JRRIzQSidWA/0yQtYSq2nWiyUiQ8eUetNJWVeOGNYcmpYYjJzfpCzyCsDIR7wzpDxIG7EquW2Wltsa6S4vR+X3tTydiRRNXk+mfkusppmHVH7+/KTpcqxGjSH9nNjRrLlcc768xiFvILivh3AI3ldC5z6LHKuWWI3lPuJZ32FRyJaIDNwbQ3KiRl2r6caX/l4Ydq1kuG+YubDEakSfw8bjvddbTy7EuclgvL+0UBsEIAABCEAAAhCAAAQgUBgBxGph/IJnxyRW4+1U5trOl9smjZaBxz+V+954I3NxU0L9qh6WaNXPIlJbZ39d6/y7tk7qjlZL7ZaD2dcbKPnXnQelX7m9YVY+R6aI1WwFjUa35SZWg4/GO703Mi8b2eh9VD4vsWqLKL+k8D5q7CWafR7V3KSZiVj1i4n04jgYSRaUa7mJVTP+YFoHVyTlIFYNsXB5GehX4DHvqEfnU8Vqcl5CX/OtndR5ixSrVrUBgR6MloyIWPVGkrqi23Nu8NoMWyO+VAzmhMhH+j2PjmcSq4GUEaZqjYAOlaCezqYTq3bEuiPFAnIyveyO65pLv558zJ25qB+xmst9JBm57b5xIZ7I4AgR6buu3jzkpPaw3x70rqWMYvWTsJ8Seb4hk06smmaykN3prrl8fqZxDgQgAAEIQAACEIAABCBQPAQQq/HORdMQq+d/R+7td5JsNjlUra+7yJ7K/5b/Tga1ZibTlMRq4FFq7+DqT6ymRqz6oDaEWP1Of1n+RGBX68ioxYYVq2llSZisSCsT00eehclJ3/dyEKvZRax+SyreCO7aHs23oSJWfekPrMXo55YuYlUF5V96ah5bEwuffrO2bOS7ez1ERSwayZtJrKaJDE7HNn0qAB1nMrrVO/60srvQay6PiFXvfaVexGpOYwpLKZFBrHrmPyxyNiexGoy69d10c3tDxuT2/WYBEauaNiKX6ybzD15KQAACEIAABCAAAQhAAALFRACxGu9sNA2xKiIXXTRdruje2h19zlJVz2wiYjW5kUrYpk3Z52rMJ2I1LO9eusd6UwSCN2LVl+vTbA6TIceqJUQ+kmTuShNJF5brszCx6s0T6TKPyrFqoiajouxSckma8eYXeWbn+wzZPCebVAB55Vi1xeofnHy5tsO0NynyzoW5AFP6l0eO1WxSAaRGb/tzmQZzsJpIXzfy05dSI5AHNXAvDY1Y9UW4esSstSGTyVVsV+Tra8p6yOa6tSNNdTMq39xnnWPVFsh2ZHVHufqTg1LhpPZImS9TTtdKHtdcphyr/nvGR5LuvpKagzR5r8g7x2pOYzL3GE9uYhO5rdHJITlJvXOdkuvVpBPw3ityvRe64r0Qsern7vY5Q45VKx9vDtdNvL+SUBsEIAABCEAAAhCAAAQgUN8EEKvxEm4yYjWWYTcZseoRNWGPiWa9y3umVACe3aq1Tiu33nYfau/mTOnyRgY3r3JFk9v/DvK3N/aX5c9oNGr6nbBTchU6O9/bu457j3zFatjO5lpvQGT78i1WyNXnbJeXneiy6Cg7w0+FqtmJXes9XZb7cnJmyrEa2KXcMz/W4/nOZmMfOGwq3kpGZ9oSzcMp2/USSAOgNUSlAgjbRT1ZNmyHdZHkWsolFUBIHt3A4/ze8X7jkktk5EdviuZ6nXZW5nO9qyk8bYY/PUZKagbf9ZmaCqDiHJGXP3F2so9MIRBce6n8fPPgrku7PRWx/ghD/+ZQ9hjTz0n211zYteNN1RFyTYbsQO+7rxgpHXqvCIzPN/a47iMh91uPUP0g9N7ovVdkuFbHdbele7b3Qs868W7GZqe2yDLHqm6Il8I95I0a7wWQsrFe+D0klp/FVAIBCEAAAhCAAAQgAAEINBoBxGq86BGrRZhjNd4ppra4CKQ+lh5XzdTT7AhE5LFsduNkQBCAAAQgAAEIQAACEIAABCDQpAggVuOdLsQqYjXeFdVsagtEhqV5LL7ZDJmBxEcAsRofS2qCAAQgAAEIQAACEIAABCAAgdgIIFZjQ2lVhFhFrMa7oppTbYFH46Mfi29Og2YssRBArMaCkUogAAEIQAACEIAABCAAAQhAIF4CiNV4eSJWEavxrihqgwAEIAABCEAAAhCAAAQgAAEIQAACEChKAojVeKcFsYpYjXdFURsEIAABCEAAAhCAAAQgAAEIQAACEIBAURJArMY7LYhVxGq8K4raIAABCEAAAhCAAAQgAAEIQAACEIAABIqSAGI13mlBrCJW411R1AYBCEAAAhCAAAQgAAEIQAACEIAABCBQlAQQq/FOC2IVsRrviqI2CEAAAhCAAAQgAAEIQAACEIAABCAAgaIkgFiNd1oQq4jVeFcUtUEAAhCAAAQgAAEIQAACEIAABCAAAQgUJQHEarzT4orVeKstrtrq6ursDtWJ6L9r6+qkrrZWamtrpaZGP2qkprpGqqurpaqqWvbs+kreen1J3oP4686D0q+8Vd7ncyIEIAABCEAAAhCAAAQgAAEIQAACEIAABOImUKhYvfiKMdK9Z1cpLy+TsrIyKS0rlbKyUikpKZWS0hIpKUlIIpEQ/Z/1/0Qi7iEUXX2JH/18el2Pdv2KrmNxdciIVf1sPmypWuN+VFVVWWL1xIkTsmPHDpk7d27ezSNW80bHiRCAAAQgAAEIQAACEIAABCAAAQhAAAL1RKBQsXrVVVdJnz59pLy83PpQuWoJ1lKVqypWS2yx6vmop6EURbW7j1QKYrWmRhCrRbEe6QQEIAABCEAAAhCAAAQgAAEIQAACEIBAPRFArMYLFrHqRK0iVuNdWNQGAQhAAAIQgAAEIAABCEAAAhCAAAQgUFwEEKvxzgdiFbEa74qiNghAAAIQgAAEIAABCEAAAhCAAAQgAIGiJIBYjXdaEKuI1XhXFLVBAAIQgAAEIAABCEAAAhCAAAQgAAEIFCUBxGq804JYrQexunDnQamLd56oDQIQgAAEIAABCEAAAhCAAAQgAAEIQAACBRFIiMiEXh3zroPNq/zoEKv1IFb/uvOgXFbAIs17dXMiBCAAAQhAAAIQgAAEIAABCEAAAhCAAAQiCBTqrBCriFWpq6uT2tpaqXGkqn6Oe/MqxCr3MAhAAAIQgAAEIAABCEAAAhCAAAQgAIFiIoBYjXc2iFglYjXeFUVtEIAABCAAAQhAAAIQgAAEIAABCEAAAkVJALEa77QgVhGr8a4oaoMABCAAAQhAAAIQgAAEIAABCEAAAhAoSgKI1XinBbGKWI13RVEbBCAAAQhAAAIQgAAEIAABCEAAAhCAQFESQKzGOy2IVcRqvCuK2iAAAQhAAAIQgAAEIAABCEAAAhCAAASKkgBiNd5pQawiVuNdUdQGAQhAAAIQgAAEIAABCEAAAhCAAAQgUJQEEKvxTgtiFbEa74qiNghAAAIQgAAEIAABCEAAAhCAAAQgAIGiJIBYjXdaEKuI1XhXFLVBAAIQgAAEIAABCEAAAhCAAAQgAAEIFCUBxGq804JYRazGu6KoDQIQgAAEIAABCEAAAhCAAAQgAAEIQKAoCRQqVnsN6yWtu7SWkrISSZQmpKS0RBIlCetDSkQSiYRIQqyPhP2fejtKE6UyoNMAGdVnVL21kalixCpiNdMa4XUIQAACEIAABCAAAQhAAAIQgAAEIACBZkCgULFaMapC2nZpa4lVlaqWWC21xar10YBiVaejrq5O+rbv22hyFbGKWG0GtwWGAAEIQAACEIAABCAAAQhAAAIQgAAEIJCJQHMTqzrequoquemsmzINvV5eR6wiVutlYVEpBCAAAQhAAAIQgAAEIAABCEAAAhCAQHERaI5i9VjVMbnl7FsaBTRiFbHaKAuPRiEAAQhAAAIQgAAEIAABCEAAAhCAAAQalgBiNV7eiFXEarwritogAAEIQAACEIAABCAAAQhAAAIQgAAEipIAYjXeaUGsIlbjXVHUBgEIQAACEIAABCAAAQhAAAIQgAAEIFCUBBCr8U4LYhWxGu+KojYIQAACEIBAYxA4elAOyUnSoW1ZY7ROmxCAAAQgAAEIQAACEGgSBBCr8U4TYhWxGu+KojYIQAACEIBAQxHY87E8/fxS+dNnR2RvrdNoSZkMOfNM+dn1l8qQ7kjWhpoK2oEABCAAAQhAoHkSWP0/D8j3PkyO7bY775afDm6eY20po0KsxjvTiFXEarwritogAAEIQAAC9U6gWra/9bT8+IVdsllEOrRrJ2NP7SEny9eyetMuWXFEO9Barrvuarn34n713hsagAAEIAABCEAAAs2VAGK1+c1sY4vVC065XgbI5/L81vdjg3us6pjccvYtsdWXS0WIVcRqLuuFshCAAAQgAIFGJ7D9tVlyw7yDIh16yv/9NzfI5H6tfX068eVy+a/fL5VHD4mMnXyT/O7KPo3eZzoAAQhAAAIQgAAEmiIBxGpTnLX0fW5Qsdp5nFzTLSFrNy2W9dot/brjEXkpRqmq1SJW63md1tXVWS3oZ/NRW1srNY5U1c9VVVVSXV0tJ06ckB07dsjcuXPz7lWhizTvhj0nrv7dcLnzz2E1jZF7XvmtTO1pv7b3xZ/IxPuWiNw+S1b+eEgcTRdXHbvmyE+m3C9LRGTMvfPlt9d2i6F/q+WB4XeKzFwpd58fQ3UZqrDmaMEEmf+7qRLWe53rhwbENbb6Hw8tQAACDUTAc/+LbtH/M6H+erZX5vx4oty/NIZ78f6l8sv7l8u8tv3kkV/eIEPaaq8Pyuq5C2WxnC63X3WudNBvHf1YfvMvr8ujR7vKv99zu0zo7B2dfR+fHTHg+H5ehDXQsD9D6m9OqRkCeRLw3psK/v3TXMsNdS/Lc8wFn9ZSxlkwKCqAAATqgQBitR6gNnKVhTqrilEV0rZLWykpK5GSUvsjUZqQRInzkUiIJMT6SNj/SR6dT5fT96+3JWuMB2I1RphhVbUssZr841VkmsxaebcYXepKVBGZ5kjB5iRWU8eSZGHGG89Sq/8/iq2xfD7dkt2I1XhmjVog0OIIuPKiUOGQlJD530vjE6trn/7/5JZ3RG6782/kp4NNpOoueeH/fVzuk6Hy+j9emnwT6tOX5Zo/bhC56Gp56duneZZAmvv4hw/I8Bmz3Z+T8a8bT9sn65t/m2W652d1vu1l+lmRb72cB4G4Cfjf/I/r/hRVT3MRkpnGken1uGeR+iAAgZZEALHa/Ga7ULF6+aTLZUDfAVJenpBDhxfL+0dKJNHlIpncs6e0LimRkpISOXJ4jizYLZLwRqz2vEKu72iFQNjHiWQ6AE0P0K1mt7Rp20PKReTQwefl9V3Zs0esWqy+lrXzZsuiSj+4IdfeJRf2zh5msqRTn4yXWyedKSe1kIjV5C+rfqlquCTlqv0L6Nh3m3PEqv6S+ZAM9ETo5rOSUs+pf7HqbTPTH8tErMYzq9QCgWZHoFmK1S/lhX95Su47cpo8/v9cLWe5kxYhVmWDPPS/X5b/ajdUXvrlpVLhlk93H6/ve3z91J/pZ0WzW98MqIkSSI0WLyxCvKUIxZYyzia6rOk2BJo5AcRq85vgQsXqVVddLF/XbJftPUbLpC7lsmPbIel+2gA56cRnMn/nJkl0GStXd28rX2xaIB8YsfqVyFnde8gxV5ieLuNOHSydj6+Rl7avFyvvatluWaMpAywBK/L5htcl2yysiNUja2XeY4ukcuhUuWtUr+Sq3fGu/PHF1SLB72e1rlu4WB19T/ij44E/tF2xGmBqfskNSyng/gLsRPWkTIfbtv1L4Obbp4n8ebb1OL7+Ubtd/FEFbhu3/0bu2fBT61FR/2EksTcaN1nC9McXsTp+oRVxlEvf7LIhbaWwzOKP4jA2gXq8bMfcO0smLLhTNt9ppxdIjVgVGbN0icVQD+8fIV6xmna+srpuKAQBCDQbAlmL1fB7qx2dGiZBHpCB992d+hi99x4XTEMweppMk9kyW1MB3P1TkQd+497Pkryzuf9+LL/56evyaM9AZKo4YvXEWfL4LyfJWWWmVuf7u/rJI7+5wX2CQyRbsZqOjbbhvIE3c4IsnGGnnQk+LSKBnwfTZs4SmeGkk/FGrGb4uWF+LsySO91UPyk//9z2b5PNTuoF73rOP+K42VwVDKSxCZh1fvssmT/gITsdVci9Y+Dt02T2n+3f46b9YprM/nXwdzpzv4hK6xF8fYzc838Gyv0/n+1vz7kXaO3h7UigvBdgRNsRv4On/R0t5H6d/P1Y03VJRPqSkHG6gRMDZdrts2W2lRosPOCisZcD7UMAAk2DAGK1acxTLr0sVKxOnvgNWZ84JCVdhstlPdrJXkusVkjV/tfl3UMJSXhTAfjEahvZ7pGlKlMrapJi1fxb5AK54rRushexmu20JgXotMlnWZGlvsORq7lHriJWQ3NyphGr1h9cYj8CqccNd4yR5x7WPxOdX8bcP/rGyD1/niALbw/mLvX8gmnlzPL8Euj8kilOTldXDPr6M102T/FHmHplafKPSac/nj/cte+3bXWib791h4x59uFAXtXMfdtu8tJGSWl3YWYQq06/xJfT1WnfySVmj0vcfLdmnL4UDd5UAPctST6WGnhM1YjVe+U+X51Wd+v9kdZsr3PKQQACDU4gmxyrt88S994auE8n/xAPpAIIeXzdCAD73r49KQB89zxbO9pvsIknt7dHXma8/0aJ1eOy+olZctfy4yIVQ+W5uy+VCkuu5iFWPffNCYs0X3lYWh1z/3bYePptsdjgvLkZ8vPAsLLu94blKwPloSn3S+afG56fBU7dA72pfZx83PbPs3T9bvDVSIMQsAikrn/9XdLzhnsw/+rNm1Ny5bvC0bruBsqjJl+ycx36f58zr2sb94r8s+Z6Trbn/p45/GoZufJlWe578zr4u2NgLwKrr/5UHv57YTIzfvKJsZDfqfXJKjF7AiT7FilWrXGOlbfNmyc+DoEn0jzpv1iCEIAABPIlgFjNl1zxnleoWL38sgr5vLxt7GK12zHz+D9iNcfVs1Pe/eMcWR0ZlRr1ejB1QD8Zf+tkOaudaT5KrB6Rta8+Lm9vszezEjlZRky9WPqXezevqpS5c1/LcRzJ4oUu0rwb9vzC6nv331thlFgNRJn637kPeZc7IhIq6pdAN0rGnBf8A977x3RE1M4Dp90vd+u77u5GB/4cqqliNSoy1i99U/LNZvzDPhuxulAmBFIQWGzE3iQs9ZFNf53pc6z6y/rEasomV1lE1xay4DgXAhAoXgJZRqy6f/BH3vvCc6x683a7EAJvqiUjJJP3ayNWvdGTmftgWvhK5v37n+WXX/aTR/7PDTKkxIv/iKx9+nH53jtHbLn6M330/2P5zc9fl0f7DJPX/2GcZwPAqCg3uz7fUxvOfdttyeJq7vGp91jf/d1X1tTgOccnVmP4ueEVq2n7XbzLlp41YwKB3wG7SUju5eB9K0Q4ulHgAbEa/vucV6wmU2DZ17gkN9VzI+nT/e4Yvslr9L3QU9793TYicjSHiNVcxhn590AzXmYMDQIQKIDA9jfkx/+5St6uzb2OVr43tnM/nzMalkChzqq+IlYRq3mvA0ecSlCMpqswVbZ+/dk8mf2WeORqmFjdKe/+aY6sGXK13DGsh9TU1Mjhda/Ls0trZdjVY+WU8mo5cWKnvPvcQvl4//68R1ToIs274bjFasRjoJbY9EQQhPY34x/X3sgB54/YUx5NPr4fjHIafY+kilV/y+4vtm7EamOKVfNIaICOd1w+CWr/cRGdCmCCJ7VDGrGqj9SFHDz+WchVxbkQaKIEshSr1uhColuTKUf8YtV9EysoIN03vpJPK8QvVkUOvfVnufiFr2Ty9bfLv4zrGpgclatPyb9WjZI/3nquHF/8Z7ni+a9k7HW3y79f7C2b3ZtOYY/u2g2any9xitVcf26EvCHni1gNW7eFbhTURK8Ful0UBEIFpOmZeWMnG7HqG03qGz/+N2r8YtWNDNX2/knkvilOxKz7JFb2YtU7npQUWm4QgLezIW/omHKI1aJYo3QCAhAQkS/fkB//e25y1ZKq+oa27w1vaBYzgUKdVX3lWEWsFrBqbCnq2bWq33gJTQvgtGGX7yJT77pQkhlZg7I1Vawe+WyePPZWZ7l6+kjpUVtridWamh2y4tFX5dMzJ8j153SSQxsWycsrvpb9+zfnPaJCF2neDXvFakQupcjNq0IiVidOEpn/qjefpyeyIOKdfX/fw6OcTKTBGDf3qv3ufYWTJsD77rr3l+OmHrHqZdNwEauFrCbOhQAEmjSBrMSqP/Jfczyb/KPWkwuBN9j0a/vxeO/TA8nHe+0nCupXrMrxtfJf978qDx3tKPf+7Ha5zn7mP3lolIX+Ym+iLtoOkEfuuU6GtE4VHOI8Rh81z94nDcLLxClWUyNWc/65kS5itUkvZjrf9AmERKfqoAJpnez0GJ70ADFHrE7tae5XY2Ta7SKz/7zEfhLKDRjIXqz6n9Kyo1PDvuf9fvINqwCPC9/2j9vtp7nXpt5X0wlkdw+FjE9hNf2VxQggAIF6IJCDXEWq1gP/BqiyUGd1+aTLZUDfAVJenpBDhxfL+0dKJNHlIpncs6e0LimRkpISOXJ4jizYLZIwOVbdTak6JEd44nN5fqu9PZXmW0WsFjz5wUf7kxX686tG52TdueyPMmfVEEe4BsWqfv2YLJKx8p0rz5A2rlitkR0rH5XXPjlDLr7+VNm3aK6s+Lq/7N+8Mu8RFbpI827YOtG70UZYfjVnaw1vTjYrytH5RfKLZI5VI1aTojMpSr2bj0RFNXk3PfFHTAbesU/Jwef0xf1l2t44wBWrRhrHlGO1flIBhOfKM3/EB3OsBnOhpqQC8ORjDZbNnGNVLHEd/gBbYauNsyEAgSImkKNYddOsBEWHZwMrn1hNyb+dKgDcOj0pXgrLsWrzPvHpy3LXzA2yWlrLdZeMl+lXnisVRpwe/1JWv/aG/Oubu2SttJMfzbhFpp/t5glyJiyXiNWQn6XuEwfZiFX/zwNfTu0scqz6fm74nnTIFLGart9FvG7pWvMkEHk/8vzeGiY4Pb8LpkSF5pEKQMVq6oZyJt9xpr0D/L9JJSPag3lT/W88+YRrSCCDNS5XrDpvaLmCOeq+WuGmMbB/Tw9PeUAqgOZ5OTEqCDQIgSzkKlK1QWaiXhop1Fm5OVbLSqSk1P5IlCYkUeJ8eDevkoTo/+v7OFZ1TG45+5b6bia0/t1HKiXxo59Pr+vRrl+jdCC6UZMiwC7R7+JpMvlM3drK//3U86PEqqYBeFFWW3lV7cPOsWp/rqtTsdpbtj77hqztebbs/3hR3jwKXaR5N+w5MfPji3bhqMeyUjYg8XbKPLYUlgvVlyQ/ImLV125EZIDV3hi5x7vT8u2/kXs2/FTuX+onlLIrsvZv/MJkWgFv8bBcskHJHLopwNTscvOZ+kM2E41SAAAgAElEQVTYBB/H983R7dNkmu5+6+2Ld/Oqzwdar5s9cZMy246OeGiA5grrloyUcMfMLrBxXE/UAYEmSSCbzav0PuvZjNA7zrDIKuvOfO+TMmHBzZ578TSZNVPkTmfjw6AksOuc5u5O7X1jzs/V3K+y28zqxKY35F8fWSUvHLJradW6tZwqx2XtcefrDj3l//reVLnu1KBU1dezE6v+Nyud3voiwDKIVT0l8PNgzL2zZMKCO+3UL96NwDL83Mj0pEOyHeV4m2w2G9sYyESuNcnLuLl02r/hlPd3Ku/votNklrORm29Dq9DfN839IsdUACpWvUEImXL8a/HIa8cbzGDf51LuhdeaDawi8jp7Uwb4xhmIqPVuCOtbFEEOgc2ruO6byyXEOCDQMASOH5ET5e2klXmkP41cTZGqwXMbpse0kieBQp0VYtUPvojFqumoEalGmGba7MqcF4xYdcTq4Gtk+ogeUuuJWNWUAFVVunnVTvmgmYjVPK8vTms0AvoL90MyMLDhVaN1h4YhAAEINAUCtQdl87Jl8tQ7G2S1I1ilQ1e57qLRMnlUP+lArq+mMIv0EQIQgAAEIACBxiJQe1z2Vq6SV15cJTM3HZHjwXypIXI1RaqaMiXtZPKooTJjwlAZ2NWXg6mxRke7EQQKFasVoyqkbZe2UkLEqkW40cVq6qZTqTMf9Yh/ujysItmnAkiK1UOyocmnAuDe0SQIBHaKtiOHB/LIfpOYPDoJAQhAAAIQgAAEIAABCECgCRPYv1neXvCOzFy2S1ZX+8cRKU5rRdK95q2lQ+eeMuPKi+S6EQOlQyAdfhOm1my6jliNdyobXazKkbUy77FFIu6j/sEBpuZUtUVrPxl/62Q5y33CzynXdarcNUq3tErdvGrnsj/JnFV9ZezNV8rpbc3mVYflswXPyrKO3s2rRPbv/zhv0oUu0rwb5sQmRcCfhoGdmpvU5NFZCEAAAhCAAAQgAAEIQAACTYlA9UHZvGKpzHxtrczbH9LxkjIZO+RcmXH5SDmrjyclgBb98g35hydEfnr3pVLhfSLo+BHZvm65PD3vY3nqy2o5EVLtkFPPkhnXjpax/Ts2JVrNuq+FOisiVv3Lo/HFqirQz+bJ7LcqRYYaKZrsZKhEdWRspad8auRrqlitO7xWXn18kVQOuVruGNZDNFL18LrX5dmltTLs6rFySnm1nDixU959bqF8vD/sTpPdtVXoIs2uFUpBAAIQgAAEIAABCEAAAhCAAAQgAIHMBFb/zwPyvQ9Ty3Xr009+NHm0TDm7j7QqJLr06JeyevFSmbmwUt52ct57W7vtzrvlp4Mz95MS9U+gUGeFWC1CsWp3KWJTqn7jJfyR/2D5iAhWGS+3TjpTdNsre5OqnbJs5ouyxt286mQZMfVi6V+uOVZVrJ6QHTsqZe7c1/JezYUu0rwb5kQIQAACEIAABCAAAQhAAAIQgAAEIBAg4BWrrVp3lJsmjJJvjztTKtoWYlPDMFfLie2fySsLlsl/rT4oe2vtMojV4lmShTorxGrRitX6W2QqVPWwxar9Eb55lRGrO2Tu3Ll5d6jQRZp3w5wIAQhAAAIQgAAEIAABCEAAAhCAAASKWqzq5s13yuzQWSJNXn0v3kKdFWIVsYpYre+rlPohAAEIQAACEIAABCAAAQhAAAIQKBoCxZUKwBarMnOl3H2+H5HZi2RayGtFA7OJd6Q5itWq6iq56aybGmVmiiLHan2PnIjV+iZM/RCAAAQgAAEIQAACEIAABCAAAQgUK4Eoser219m86rZLhsmIbDea0g2xVr8nLyyI3rzK1O9PBRAtVrW8LVdF7nnltzK1Z7ESbbr9am5iVZ1f3/Z9ZVSfUY0yKYjVmhprE6uqKm+OVVIBNMpqpFEIQAACEIAABCAAAQhAAAIQgAAEYieQUax6WrRzsA6T60aeKwM7B3OwVsuhLR/LX998z5dDNVOHcxGr8uEDMnzGZkes7pU5P54o9y/1t+BGtO6aIz+Zcr8scV+eJrNW3i1D9OuU17xpBsLqDZ67WabPFLlzxmwx7a3+3XC58892Y2PunSUTFtwpm++0I29NtK23p8nIW5XJD8nAmRNk4Yz7Re6dL7+9tlsmbPXyeqFitdewXtK6S2spKSuRRGlCSkpLJFGSsD6kRCSRSIgkxPpI2P+pt6M0USoDOg1oNKmqA0OsIlbrbYFTMQQgAAEIQAACEIAABCAAAQhAAAKNTyAXsertbbc+/eRHl18g404R2fT++/Lowkp5+3ju48lXrA58UkWmR3j6Ilqny+Ypd8pmV1I6svS0WbLyx2Lncb1d/21pVkd8DnTE617Zu6ubdPNExFpi9PPpdnkjZVPOT0bSBtMW7N21V7r19MhSq47NMt0SvU5e2dH3yPzfTZXGUar2vBUqVq+66irp06ePlJeXWx9lZWXWR2lpqZSUlFgfKle9H7mvmKZzBmIVsdp0Vis9hQAEIAABCEAAAhBocgSWLVsmGzdubHL9psMNR2DQoEEyalTjPMLZcKOkJQg0LoF8xWpcvS5IrEpSjlr9sYTlQpnwyr0i/zxRFl4eFv0Zkm7AJzqdkVnRsZ5ttIz4dNtIpiOwROqCCR4xGpbSILgxl4mSTZ/+IC7O2dSDWM2GUvZlEKuI1exXCyUhAAEIQAACEIAABCCQI4HHHntMrr/++hzPonhLIvD888/Lrbfe2pKGzFgh0PAENB/qiqUy87W1Mm9/wzU/5NSzZMa1o2WsL29rBsnoSQVgR6yG9Tf5WL//EfwsRaYRqsGIVCNOsxKrdoSsnQrACNVgOgEVwCpnEasNt+oatiXEKmK1YVccrUEAAhCAAAQgAAEItCgCs2fPRqy2qBn//9m7H7A7yvpO+L+EAFrQqmAwRtC04lrLH4PRrsZazGKJBAS1vq+7xoAB/7T2QnSFbdfCe12h7rbCClotohD5t327bf2DEgwrjbYKVhuNEqq25TWKhoRHoq5i1QDhvWbmzDkzc+ac59+dMEk+ua5ckOfM3HPP577v54Fv7vnN9G82C1ZXrlw5/ROdQYDAzAR+tCU+f+sX4qovTsQdD86siXFnPeZx8+Oc335+nPHcRfGYZonW/MSpv7wqD1abO1bLi4/cgRqxduOy2LBkdcRVRf3T/Ffl+IVDu097pQKmFaxW7uPJ5S7aygu3auGsYDX9TOtGi4JVwWo3ZqJeECBAgAABAgQI7JMC119/fbz85S/fJ+/NTaUR+PjHPy5YTUOpFQLTFMheRPWV+PgnvhZXfeun8ZNpnl07fN4h8dLfOD7OOemElhdeNRseHTI265YWL4tqqbGaBaB/FLHmlItjUSU8Lc7P6qgWweqoGqt5sLpmUC+1X1N1slIA1XN6u17zF1TlwWr1pVTly7GmuIN2NvbTPFcpgGmCTXK4YFWwmnZGaY0AAQIECBAgQIBAReC6664TrJoRYwU+9rGPxapVqygRIPBICsywVED7o/6T3UizDmn1+MEj/sVXy4CyckzlBVD1MgDZMZXzyxdQ9U+tt12Etr0PszZ7Qe1tWXmAV2/p1XGt7EDN9tpWz1m1MlZed8NgV2ytXmt2raIG7MW3Z8Fwyw7ayZh20+eC1bSwglXBatoZpTUCBAgQIECAAAECjWD1jDPOYEJgpEC2Y1WwaoIQ6JDAJKUCJn/Uv0P3slu7kgXEV8eivIbqbr1Q0sYFq0k5Q7AqWE07o7RGgAABAgQIECBAoCJw7bXXxlSC1S+963Hx2/+tcuIZH4p/vuZVccQUNfPz43/Hjy543hTPmO5hX4pLH/fbEZ/+Ubz9udM9t9vH3/s3r41/d9PLRnrvbtssWD3zzDMrSC0vgSk/bXmhzO7QbXv8eHdcZ8pt7qH7nnJ/Jj1w7wycJr2t6gH57sSslud5cdy0TtybDq6UCrg74oVTftR/b7rHafS1sQ4HZQf2rjkgWJ3GmE/hUMGqYHUK08QhBAgQIECAAAECBGYmcM0118Tpp58+9uR/vOQJcXLcEj84f5BY5l/77++IW37wn2MqOWZbGzPr8f531sRHzoxn3nRafPPDvxOPxKarG2+8Mc4666yWYDUiKm/szg8YChh3Q4CXBWZrF8Ut7z09DuvKdJgkWM0Dnm+fHRvP7UrEtxvGZWgs9sQ1xkyA/SJY7coC6E4/6qUHmmULutPPcT0RrKYdJ8GqYDXtjNIaAQIECBAgQIAAgYrAhz/84UmC1X+Mdx+2POKWHfG2JVW6lq9vfHccdvI7+we9o3LOP156WCyP9bGjt500Cwt/7Q039Y49Na7cfG38zpPLU4u2+y394eC8iFGfDfenfo13xPodb+uFwNmx74ujPnh8vPEN5VWqn0dE414iBp9n7Z4fp8Xxb3hj3sfqfQ6EJuJvVv9avPHGwVdO/eA34tpXZtFodv3PxVEf/Fq8MTM4/cr4xtrfiRhhkt/HuuPjHfHOeGevvUFbEX3b//SdOPPYT8ZpQ5bvi6PKr9Xuq+nevjSyYPV1r3vdULAaF10YW9bUX0wzHKymX247JnbEYfM7E6kWN2jHavqBnm2LgtXZCjr/ERIQrKaFF6wKVtPOKK0RIECAAAECBAgQqAisXbt2kmB1Ij5y9rPijXFlfP3qV47eMbnx3XH48ohP3dcLL+/5SJx13CfjtDuuiVc+OQv/Do+Xxqfivrc/NyY+elY8a91pg/Zq5xbX++SKr8c1r8hCyOqfY8xn34l3H/7SiPX35QFwfo03HNfvT/3P/5gf+99OL++pd4+/VvQvC1UPX35HXNnrex6EZsf/QaX/b4jK580p1Wgvu4u8P+U59fbys5t+lT8/NT/3pvivvXtr9m9g+9SGT6/dK55aWDfva+g+Rwerq1evHg5Wr9oYr727fMN371HbSXasZo/wX/20tbHs1tVx8e1Fk/kbu5/da772MpuVsfaqiNXl7tSW8DIvCRBr852g5a7QtbG6/8KbpRfdEu95WXsIO/xSnWpferstr1oWG87pvUn8qOtjyTk3VBwqb0Iv+3bRorh4Te+Y5gt8sh2rL9oQS87ZEhfWaj4O3sC+7O8rL+vpXWn0PQy/NGhg2fJCoZp1dTfpJMeOe8HQ2JcPVa4RxRvZb6tNsabfljg7G+/SuOIX0fIypdrnjZcWRW/u5KUAXhtbzs1eUFSf37V556cCgQ4JCFbTDoZgVbCadkZpjQABAgQIECBAgEBF4Oqrr46Xvexlk5hsjMvmnxL/vXLUH35qIt76nPILE/GRc46Ju3+3+rUsTHxdHLPlzTHxn5fExv8xP06Jm2PiP0dcNv/9cdRXP5wHruWv7PP3L7ozPvzU/xnzXxpx88Rbo7ZBNjvwy5eN/iyKPkber+q/1/t40yl3xodfcXfl2OLzvK83nxp3XtUeHg/6v2TSY1sx7/lIvO7ZN8Wp+X03+1f4FX0bfth/uG/188f1re/6imi9RvXcUZPgk5/8ZIwKVs97di/wKksCTCFYXX1d5fHcfFdhGTQ22irDtDJAm0qwuua2QVDbC/0WVYPbyk0O7XzNj98SZ+c1OXt9qV27F7D2gto81L3rwqIkQRkw9ksj9MLKp9dD343nLowbzz05Npw0CHzzgPfWZfGXJ22IV6+Jeujae4t5WwhYu372bvasnTWL8pqikb8ZvRJc9j8v2x+Enov+ctyxZ8eWU1bHDZWSD4PrFG9Rb/+sNMxeHDTcRv9N8jE1v5jYETvmH1Yr/VCE9IVj0aeq3aAO8DtW3RDvHGvhRwKBbgkIVtOOh2BVsJp2RmmNAAECBAgQIECAQEXgqquumkKwWjnhno/G6sW/G+vyL/1hrLv3vFgSG+PyI1bUgtf+Gf9lXdz7tiWx8d1HxIpYF/e++u7K+fWhWPGBzfEn8Qdx7M2nxuYPvWJod+zEx1aP/Cx6fYib743zFmR9vClO3bQ2XlENb999RPz5os2x9uV35/3Nj+2Fw61t1+41Inr3Mr4f9XvK7/tPy6+tiCvyPhVeg+s3/1xvY/h69eP7ttlW3bzP5b1nx/15HNV6zV6gnJlu+b18jEb9+sQnPhHnnHNO5ePBDst8p2k1/HtyFk5uiGX9HZn1OpvVHaZ5g7WwtNFuGQbeuqwSXlbb7u1SrO5YLY/NGx9ub/gemzshy9C3cW7bo/7VWq9TCX17NVbLILWoEVsEsFnQelGsyQPWeu3Y0fdQb6d+Z0POrdbF29LzYLVn2G+lfz9FKBpDu4qzALoIVts/Gw5Wa8dNc2zLfg3tMu4Fvq0WvVIAebA68v72rrfF++G1fwgIVtOOs2BVsJp2RmmNAAECBAgQIECAQEUgC1ZPO+20GZhMxEdff1ysO+WOuDoLKp90asS67f2gstngxnc/KU6Nm2L7f7w7zl68LlZsujpesWD4shMfOzuOu3lF3NEarI7+LA9Wyz48+aOt18j6cMWi9v7WrrstO//38vD4D3r31O//25bEuD6Wd5Qf/66IOO3Pi3vJ2yzvu9LXPNht/rnuMny9+vHVvmWlE/rjctRfxJM+cFTPsv0aedtbfje2jwlWsx2rY4PVLMIsd0jevCiuThis5qHtdEoBTDlYHexo7L81flzIO1kN1WkEq7UwOX9EvgiLX/gPxc7VqQarg2B68Ih9WTagGI+2ZV0NjivB6shjW4LVfrOTBddlqN7eRi0MnYrfmtuiWhZhqAxE006wOoPv607pgoBgNe0oCFYFq2lnlNYIECBAgAABAgQIVAQ+9KEPjQ9Wv/yeWHBqxCe3vWXo0fyNly2I0+KTse2tR8VH33B8rHvp1+Lql7e/t35wbMR7FpwWcdO2eEu/lEClQ2OuF+M+i42Vdqv/XrY9Uenj3UN9yALG4z+1Ir72wVdEZP/+7d+NbW8d7OIc9L8IVstjR9xtvGfBFXHkVyrhcRasnrAuVuRfa/av2reWUgBD16ufX+1bdrdl/97/a2+OdU8rx6T9Gs1z2xZHFqy+/vWvr3zUFqiVj84vjaW3R/d3rLYFpdMNVqcb+vZ2rGaQ5WPs+S7V1p2sJfeo8LLY6bpldaU+bWWHbl6rtblLsza4jVIAI49tuX6/ZMKe27HatgNXsOpH2b4qIFhNO7KCVcFq2hmlNQIECBAgQIAAAQIVgQ9+8INx6qmnjjGZiI+9cXH8frwvNl358sHj+ds+Fq9fcnOcsvFD8fJs5+lX3hsLT9sc7yv/HMV5N790U3zojPnx5csXxsviE7H1vOfExMdfH4vffGx8Yuu5UWSrX473LnxZxCe3xrkn1M/LP+2fe2StzfpnUWkjhq5Rv2b1esWt559/6pT8HqPy7/nrs/L+3hxxfqX/vWPbg9Vm+8Wf/zRO6fkMX7/wi4FJxXfpFwd9K65XP79qm3+cn/v7cXNWvSA37Q1vc4yGxqx9Gtx0003xhje8ofLhiLCvVxIgolJDNQ/7ip2Rp8+vP7pfwFdLBzRrrPbqlDbqcPZrpjbqmg4/Dj5mR2Xv3Oi/3Kp8gdO4UgCT1VidpExBJVgtduJGrIwbInrh6HCd0EaZhfIFXzlcvYbrwPLiyHyKl2C11Fjt7+qcQo3V/NhFcf3IOqqpa6yO9uvviM7r3w5coloKoFZjtRzPlaHGqh95e5uAYDXtiAlWBatpZ5TWCBAgQIAAAQIECFQErrzyykmC1eLgL1/+lDj90irdBXHj98pgtPj697MA8vc/1T/ope/LQtUnDs6PG+N7vaKmzfYu+MT3BgFgFhw+5fTInqTPf536vtj0gTOi19KIz4pzotJOvT/V/o44dv2K3nW+Hx9/0+L4/Zt613/7jbHpaR+Ixb9/bH7PR2X32T92xHT6ynvjKS8r7+Cl8b5/fFPc/dzTY3NucvdQX9v8SpP8PmrXq/c/t6zYRpT9Hx6jLMCt9+tDcUZLSYbqXWXB6hvf+MbKl0YHlkUANtNgtQxay0fbl8bKVRE33FV5PL4f3kbECy6MtSdtiNUjd3xO8qh6ta08DL4o4o+zt8dngWTLbsza8RlH86320whWy2C0DI17um2P8Fcff6/NtjJYrnxxcGwZLFY+LF/ElX+pGnhPcuzQdSrjO+6z6jXykgeDkgVFr6bu1w+Sb+/dTxaovmhDLDnnhn55gLrd0rjwqmWx4ZysFuxrY8u52bjW12rbC8FGrGZfJrBHBQSrabkFq4LVtDNKawQIECBAgAABAgQqAh/4wAemFKxC238FsmD1TW960yMCkO/irO70fER64aIECBDYcwKC1bTWglXBatoZpTUCBAgQIECAAAECFYErrrgiVqxYwYTASIGbb755jwWr9VqaxY7TLf3H9Q0SAQIE9n0BwWraMRasClbTziitESBAgAABAgQIEKgI/Pmf/7lg1YwYK7Bu3br4vd/7vT2k1KuzWl6tV0NzD13cZQgQIPCICwhW0w6BYFWwmnZGaY0AAQIECBAgQIBAI1g95ZRTmBAYKZDtWN1zwaqBIECAwP4tIFhNO/6CVcFq2hmlNQIECBAgQIAAAQIVgfe///0hWDUlxglkweqb3/xmSAQIECCwBwQEq2mRBauC1bQzSmsECBAgQIAAAQIEKgLr16+Pu+66iwmBkQJPf/rTY/ny5YQIECBAYA8ICFbTIgtWBatpZ5TWCBAgQIAAAQIECBAgQIAAAQIEOikgWE07LIJVwWraGaU1AgQIECBAgAABAgQIECBAgACBTgoIVtMOi2BVsJp2RmmNAAECBAgQIECAAAECBAgQIECgkwKC1bTDIlgVrKadUVojQIAAAQIECBAgQIAAAQIECBDopIBgNe2wCFYFq2lnlNYIECBAgAABAgQIECBAgAABAgQ6KSBYTTssglXBatoZpTUCBAgQIECAAAECBAgQIECAAIFOCghW0w6LYFWwmnZGaY0AAQIECBAgQIAAAQIECBAgQKCTAoLVtMMiWBWspp1RWiNAgAABAgQIECBAgAABAgQIEOikgGA17bAIVgWraWeU1ggQIECAAAECBAjMVOAn98f9hxwah86daQPOI0CAAAECBMYJCFbTzg/BqmA17YzSGgECBAgQIECAAIGZCPzwH+KyP7sgvvyrl8cH/uMJwtWZGDqHAAECBAhMIiBYTTtFBKuC1bQzSmsECBAgQIAAAQIEpivQC1U/+tPixKced0Wsfc2vx0Ej2rn305fEJbfcO/IqR5x8fpz/kiOm24vZHT9xa1zyrvWR9Sq7/qq4Lq6LVXu0H5uvf3tc+7WIY8+6NM48Zna3s0fOzs22xvJLz4xjp3vBO6+Nt1+zuX9Wf8zLr89fHudfcFI0Z0FpVBwfceu7Lon1E20XPyKWX3B+nDR/uh1zPAECBLotIFhNOz6CVcFq2hmlNQIECBAgQIAAAQLTEWiEqjH36Fj1mivi9ceMilUj7p24N46YX0Rmeci6aXFriDadbsz22M3XXxvx2iwg3BzXvv3amNjD4W4WGH5l8TQD1TyEjDhzJsHmbMHKsdu+PC597fRi1Twc3VYJTvP7mMiD0CNuKcLlaAtW+2HsscU998Lw+UNB9L1F4Brt4WyCW9cEAQIEHjEBwWpaesGqYDXtjNIaAQIECBAgQIAAgabAPeviuq8eE68+5an1XagzCFXrTRcB2KbFj8AOVaM8S4Fi7LaeMoMw+OaF9SA9D0g3xeILlsfWd10bcfyxsXlb45g88P5KLDx5Itb3wtxi5/P8lmC5CMdjb9n5O8uRcDoBAvuXgGA17XgLVgWraWeU1ggQIECAAAECBAhUBe5ZFxf82Z/GF3YdFM//zavjj0/thauzDlUjoh+oNR/ZLoKxwYPiEXH8mf2dkXmgtn15nBnXFrsbo9jBOL9SYqD6OP1w6YHqY+LZtdbHwl6oV1yztyMy+9fGI+v5x5W+NCdLyr4V/Y7eI+29XZgTZd/Kfmd2vX8/a3FsumZQzuD8l0wMHKs7QKd5T9k91g2PiOX5tbIyAMvj3qHH8af3GH5/1/IpW+OSbAfuWRHXNsLXYkfvmRHXlIFpz2PBYF6UY5HviI3hr1vYBAgQ2BcEBKtpR1GwKlhNO6O0RoAAAQIECBAgQKAv8IP4u/evjD+6+/7eV4pw9aKl2+JDf3ZBlDVVp/L4fxvqyDIAd26OzcccO6jbWQtgy4CxrEU6+HNZp7P+qPm9sfnOiGOPGVTrrAVvzcfLK6UAlm+/JK79WiVk7QeMZdg5FKv2a34Wwe4s+1bWfT1+eSzftj7WV0PErN9l+NisSzrmkfkTNmWP2s/gnqqP1Zf9eubiOOKbmyJqZRN6ofiY8LmqVg2P8zIAWSC6+CuDeyvD7U0nFF8vSx9UauIOza0pXttCJ0CAwN4oIFhNO2qCVcFq2hmlNQIECBAgQIAAAQJVgV3b4tPvPzvWfG8Qrh40d2fs3NU7aAo1VdtBJykD0NxVWe64HNrlOtxOFpyuf1K1vMAg4Cz7Uu5oHd7dWN/B2nycfGxN2MR9i6j0uxEWVu9x6B6atVf7L5k6Ib7S8oj89O4pEyzC018sPiL+ZWuzPu7UHsMf7ICt7sDt7UaNSmjcKwFwwqVnRlR2oo7u8yNTI9c3DQIECOwpAcFqWmnBqmA17YzSGgECBAgQIECAAIGmwFC4OttQdXQZgPKt79XH7ash4lCgNvRm+soj8pHV7sweja88ml47fjgEHHosvfZiqPFhcNq+FcZDL3oqvtorX1CWAajXE20Gy2V5gtqOz/4YT/OesvNyw2/Fk+f/S2yaaFsu9R2xtSP6gXmjXEA1DO7vxj02NvfruFbHalyf1e31DYwAgX1bQLCadnwFq4LVtDNKawQIECBAgAABAgTaBJrh6ox3qo4JDNtqrraUAai+7KofGpZvpq88Ij/RUmtzuAxAVF5+NAjl8jIAzTqdI2vCZvc0HOjNqm9lqJrXkG0JIWtlAKr3UA1dB/3KXjKVlwGY5T31w95fZGUA7onFFzTr445ePmVoXq1/Wx49NC43L4wzF2+Ka3svqipq3fbuc9w4jB0jS5sAAes0qucAACAASURBVAJ7v4BgNe0YClYFq2lnlNYIECBAgAABAgQIjBIow9V7FsSq11wRrz/moBlatT+uXX9ZU7kzcn3cO0kZgOqb6Qe7NXsvbqo8Qt8M9oYeoW+8nX5z7fH73mP51Vqj1bsfUQZgVn3btjzOv+CIWN94fH/SMgDVFz81ygBM/57W12qolo/wPyMrA7CpUWs2Dz8nei/bqk+N4rz5lRC7+nlj5/BQ3dvezt1eKDy6DMAkYzTD2eo0AgQIdElAsJp2NASrgtW0M0prBAgQIECAAAECBMYJ7NoW/3r3YXH002YaqkYUuw/bArjei4/K689fXuxavOXeyHY5Lt92SVyyqVLTs1lLtPaIfPNN9tnLroq3ym/Og9rhwLIa2EUeBN5blxjzUqShsG/GfVscz5jYFP9ShsllndX+i6vGlQEYv2t2UNe0cluTvOipX5qhd8oRxx8b8bWI5ZcW9Vo3V4VGttUY1+o52X2esjUuKXejZp/1gtXBztbhMgDrW0sQRFRLSFjIBAgQ2BcFBKtpR1WwKlhNO6O0RoAAAQIECBAgQIAAAQIECBAg0EkBwWraYRGsClbTziitESBAgAABAgQIECBAgAABAgQIdFJAsJp2WASrgtW0M0prBAgQIECAAAECBAgQIECAAAECnRQQrKYdFsGqYDXtjNIaAQIECBAgQIAAAQIECBAgQIBAJwUEq2mHRbAqWE07o7RGgAABAgQIECBAgAABAgQIECDQSQHBatphEawKVtPOKK0RIECAAAECBAgQIECAAAECBAh0UkCwmnZYBKuC1bQzSmsECBAgQIAAAQIECBAgQIAAAQKdFBCsph0WwapgNe2M0hoBAgQIECBAgAABAgQIECBAgEAnBQSraYdFsCpYTTujtEaAAAECBAgQIEBgpgI/uT/uP+TQOHTuTBtwHgECBAgQIDBOQLCadn4IVgWraWeU1ggQIECAAAECBAjMROCH/xCX/dkF8eVfvTw+8B9PEK7OxNA5BAgQIEBgEgHBatopIlgVrKadUVojQIAAAQIECBAgMF2BXqj60Z8WJz71uCti7Wt+PQ5qbefeuPVdl8T6iREXmb88zr/gpDhiun3ozPGT3N/xZ8alrz027v30JXHJLfe297p3TP7hndfG26/ZPPLujj3r0jjzmM7cvI4QIECAwG4WEKymBRasClbTziitESBAgAABAgQIEJiOQCNUjblHx6rXXBGvP6Y9Vo2JW+OSd62P+R0PBPPgc9Pi6Ye84+6vF5Iee9b5sfDmS2L9giJkrf3qHXPEyefH+S85IjZf//a4dtveHjZPZ0I5lgABAgTGCQhW084PwapgNe2M0hoBAgQIECBAgACBpsA96+K6rx4Trz7lqfVdqNMNVSN6OzXnx5mXnhmNSLFD7sWu002Li3BzOr+Knajt99f/7IKFsX5MuJyHqV87Ns689IT4ytuvjYleyDqdfjiWAAECBPZNAcFq2nEVrApW084orREgQIAAAQIECBCoCtyzLi74sz+NL+w6KJ7/m1fHH5/aC1dnEKpG9B6Tb9upWb1m2+Pvlcfj84By+/I4M66Na792RCy/YFXENZfE1lPOjLjm2sgfnM+Pn18pO5AFlYMwtwgvqxftfd7bcVo+pJ89ar982/Bj++WO0vpkGXd/g8/Of9L6keFr1l7etzgzLl38lXj7NROx/ILz46T5piUBAgQIEIgQrKadBYJVwWraGaU1AgQIECBAgAABAn2BH8TfvX9l/NHd9/e+UoSrFy3dFh/6swuirKk66eP/ZXuN0LIG3QtOB7s1ByFosdMzegHjoIZpv75ov91mOJqFrlkouTmure383Byb7zw2ju3XJq3vUB2UATg2Nmf1YKP+KH5bH/N7yfuxKRa3BKGDeyhC4NG7YYu+xlmXxgmbmuFvKVbel6lKgAABAvubgGA17YgLVgWraWeU1ggQIECAAAECBAhUBXZti0+//+xY871BuHrQ3J2xc1fvoMlqqlbamrxu6SBUrL6QqXZeS3g51O7QMVm762NhLfAsrjV4LVQZVlZC1uM3twal/R2ljfqoY19IFdXQtz18zany3brRLwOQBaxeTmVJEiBAgEApIFhNOxcEq4LVtDNKawQIECBAgAABAgSaAkPh6vRD1bIMwNi6pf1QsVp/ddRu0pOiqH46XA+1LBXQfzFU1u7NC4sXUfXLDFRKA1Q/r4Syx36t7QVW7eHvlO6vrDE75qVY9TIAWcDa5Vq0lgoBAgQI7GkBwWpaccGqYDXtjNIaAQIECBAgQIAAgTaBZrg6jZ2qeXNjHpMvL9e6E7R2XstLpYbaLY7Zespgp2fW7vonZS+iipaXUo0vAzAUBLeGv1O7v0nD117om5U4yMsAZHVWG7tiTU4CBAgQ2L8FBKtpx1+wKlhNO6O0RoAAAQIECBAgQGCUQBmu3rMgVr3minj9MQdN2WqqZQA2V15S1X/ZVVnjdMplALbG8v5Oz0oZgMhqoK6PODkLWbP9rmW91lFlAKrHZrfaKx9Q62NBMPn9jQ9fi7qt9ZqwygBMeXo5kAABAvuNgGA17VALVgWraWeU1ggQIECAAAECBAiME9i1Lf717sPi6KdNPVSddKdm73qtNUorIeZweDm8g3Vo12v1Mf8sGs0DzPIGj4jlZy2OTdesj3vz60S/7mp/12j/2OKcI/qhbBWpZSdti+HYGqzVsHbUrlgzkwABAgT2ewHBatopIFgVrKadUVojQIAAAQIECBAgQIAAAQIECBDopIBgNe2wCFYFq2lnlNYIECBAgAABAgQIECBAgAABAgQ6KSBYTTssglXBatoZpTUCBAgQIECAAAECBAgQIECAAIFOCghW0w6LYFWwmnZGaY0AAQIECBAgQIAAAQIECBAgQKCTAoLVtMMiWBWspp1RWiNAgAABAgQIECBAgAABAgQIEOikgGA17bAIVgWraWeU1ggQIECAAAECBAgQIECAAAECBDopIFhNOyyCVcFq2hmlNQIECBAgQIAAAQIECBAgQIAAgU4KCFbTDotgVbCadkZpjQABAgQIECBAgAABAgQIECBAoJMCgtW0wyJYFaymnVFaI0CAAAECBAgQIECAAAECBAgQ6KSAYDXtsAhWBatpZ5TWCBAgQIAAAQIECBAgQIAAAQIEOikgWE07LIJVwWraGaU1AgQIECBAgAABAgQIECBAgACBTgoIVtMOi2BVsJp2RmmNAAECBAgQIECAAAECBAgQIECgkwKC1bTDIlgVrKadUVojQIAAAQIECBAgQIAAAQIECBDopIBgNe2wCFYFq2lnlNYIECBAgAABAgQIECBAgAABAgQ6KSBYTTssglXBatoZpTUCBAgQIECAAAECBAgQIECAAIFOCghW0w6LYFWwmnZGaY0AAQIECBAgQIAAAQIECBAgQKCTAoLVtMMiWBWspp1RWiNAgAABAgQIECBAgAABAgQIEOikgGA17bAIVgWraWeU1ggQIECAAAECBAgQIECAAAECBDopIFhNOyyCVcFq2hmlNQIECBAgQIAAAQIECBAgQIAAgU4KCFbTDotgVbCadkZpjQABAgQIECBAgAABAgQIECBAoJMCgtW0wyJYFaymnVFaI0CAAAECBAgQIECAAAECBAgQ6KSAYDXtsAhWBatpZ5TWCBAgQIAAAQIECBAgQIAAAQIEOikgWE07LIJVwWraGaU1AgQIECBAgAABAgQIECBAgACBTgoIVtMOi2BVsJp2RmmNAAECBAgQIECAAAECBAgQIECgkwKC1bTDIlgVrKadUVojQIAAAQIECBAgQIAAAQIECBDopIBgNe2wCFYFq2lnlNYIECBAgAABAgQIECBAgAABAgQ6KSBYTTssglXBatoZpTUCBAgQIECAAAECBAgQIECAAIFOCghW0w6LYFWwmnZGaY0AAQIECBAgQIAAAQIECBAgQKCTAoLVtMMiWBWspp1RWiNAgAABAgQIECBAgAABAgQIEOikgGA17bAIVgWraWeU1ggQIECAAAECBAgQIECAAAECBDopIFhNOyyCVcFq2hmlNQIECBAgQIAAAQIECBAgQIAAgU4KCFbTDotgVbCadkZpjQABAgQIECBAgAABAgQIECBAoJMCgtW0wyJY3Q3B6mcmfhwveuJj4oA5c9KOltYIECBAgAABAgQIECBAgAABAgQIzEDgoYcfjr///k/ixfMfO4Ozi1NWrFgRCxYsiAMPPDD/PW/evPz3AQccEHPnzs1/z5kzp/Z7xhfbC04UrO6GYHXTD+6PJz7qoHjKLx20F0wBXSRAgAABAgQIECBAgAABAgQIENjXBb73bzvj+z/fGYufcOiMb1WwWqcTrO6GYHXHv/087rh/Zxx96KNiwaMPtHN1xsvViQQIECBAgAABAgQIECBAgAABArMRyHaqbvvZA/Gv9/88jjv0oDjslx414+YEq4LVePjhh2PXrl3xUC9Uzf75wAMPxIMPPhg7d+6M7du3x7p162Y8ybJ2fvjznfG9X+yKHz20K3Y9POOmnEiAAAECBAgQIECAAAECBAgQIEBgxgJz50Q87oC58ZSD58bjH3VQ/uj+TH8JVgWruz1YzULbMrjN/pkFuX4RIECAAAECBAgQIECAAAECBAgQ2NMCWc3TrPZptQ7qTPsgWBWs7vZgNSPOwtTy90wnq/MIECBAgAABAgQIECBAgAABAgQIzFag+kKp2bQlWBWs7pFgdTaT1LkECBAgQIAAAQIECBAgQIAAAQIEuiYgWBWsCla7tir1hwABAgQIECBAgAABAgQIECBAoPMCglXBqmC188tUBwkQIECAAAECBAgQIECAAAECBLomIFgVrApWu7Yq9YcAAQIECBAgQIAAAQIECBAgQKDzAoJVwapgtfPLVAcJECBAgAABAgQIECBAgAABAgS6JiBYFawKVru2KvWHAAECBAgQIECAAAECBAgQIECg8wKCVcGqYLXzy1QHCRAgQIAAAQIECBAgQIAAAQIEuiYgWBWsCla7tir1hwABAgQIECBAgAABAgQIECBAoPMCglXBqmC188tUBwkQIECAAAECBAgQIECAAAECBLomIFgVrApWu7Yq9YcAAQIECBAgQIAAAQIECBAgQKDzAoJVwapgtfPLVAcJECBAgAABAgQIECBAgAABAgS6JiBYFawKVru2KvWHAAECBAgQIECAAAECBAgQIECg8wKCVcGqYLXzy1QHCRAgQIAAAQIECBAgQIAAAQIEuiYgWBWsCla7tir1hwABAgQIECBAgAABAgQIECBAoPMCglXBqmC188tUBwkQIECAAAECBAgQIECAAAECBLomIFgVrApWu7Yq9YcAAQIECBAgQIAAAQIECBAgQKDzAoJVwapgtfPLVAcJECBAgAABAgQIECBAgAABAgS6JiBYFawKVru2KvWHAAECBAgQIECAAAECBAgQIECg8wKCVcHqHglWf/zAg7Hl/p3xgwcejF0Pd35d6CABAgQIECBAgAABAgQIECBAgMA+KDB3TsQTDpwXiw49KB574LxZ3aFgVbC624PV/7Pzwbjj//wsnnzgQfGQVHVWC9bJBAgQIECAAAECBAgQIECAAAECsxM4YO6cuOeBnXHcLz86fvmgmYerglXB6m4PVr/2w5/GoXPmCVVnt+adTYAAAQIECBAgQIAAAQIECBAgkEggC1fvf/jBOP7xh8y4RcGqYHW3B6ufmfhxLJx30IwnqRMJECBAgAABAgQIECBAgAABAgQIpBbY+uDOePH8x864WcGqYHW3B6t/e++P48gDBaszXqVOJECAAAECBAgQIECAAAECBAgQSC7w3Qd2xn84QrCaCvb7P/1uzHnz+Wc//MRDjkzVZufaefjh4u1R2T/L37t27YqHHnqo//uBBx6IBx98MHbu3Bnbt2+PdevWzfg+BKszpnMiAQIECBAgQIAAAQIECBAgQIDAbhIQrKaFFaz2wlXBatqJpTUCBAgQIECAAAECBAgQIECAAIFuCQhW046HYFWwmnZGaY0AAQIECBAgQIAAAQIECBAgQKCTAoLVtMMiWBWspp1RWiNAgAABAgQIECBAgAABAgQIEOikgGA17bAIVgWraWeU1ggQIECAAAECBAgQIECAAAECBDopIFhNOyyCVcFq2hmlNQIECBAgQIAAAQIECBAgQIAAgU4KCFbTDotgVbCadkZpjQABAgQIECBAgAABAgQIECBAoJMCgtW0wyJYFaymnVFaI0CAAAECBAgQIECAAAECBAgQ6KSAYDXtsAhWBatpZ5TWCBAgQIAAAQIECBAgQIAAAQIEOikgWE07LIJVwWraGaU1AgQIECBAgAABAgQIECBAgACBTgoIVtMOi2BVsJp2RmmNAAECBAgQIECAAAECBAgQIECgkwKC1bTDIljtYLD6Lx/5QFz09TED/awT4y9f+cy0M2G3tPbNuOHiz0a86k2xcg9290ef+5/xpjufGh/43RfG43bLfe2eRvN+TzxnLxnb3WOgVQIECBAgQIAAAQIECBAgQGD3CQhW09oKVrsarMZsw9NHJtSsT8+Z9iE778ux8HdfEy8+PKIelNY/a1sOgtW03yS0RoAAAQIECBAgQIAAAQIECOwbAoLVtOMoWBWspp1RtdZmGqzWuzTdoHS6x+9GgGk1bcfqtLgcTIAAAQIECBAgQIAAAQIECExTQLA6TbBJDhes7s3B6jc/Ga/+662DIT78mN7j70WgeVPvk8Un/k78lyd+oX5sRORf/83D86Oy8gMfm39iPO/Oz8aVUbZTnT31NvNP+tfrHdfoz6mvOjHir4tSAKd+v3jMfU18tlfmYGGsufC0mJ89/v7Zn+QNnNovGTDYlbr4G4PPI7Jzjo4vVXazRtwXn7nib+LK+3p9OPyYWHPMd+KirBTAqyKuvOLO2FRbBMV1n9G2MO77fPzpFT+M553447iy16fqPbaVaJiWYXO8GobjgtXis6fGGyfu7N/r2GtP5d6r/SndeqUIyr4U4zU8ViXf0Ji96qnxpb8uzIv+3TeYi7X5MoX5lPZ7ndYIECBAgAABAgQIECBAgMB+LyBYTTsFBKtdDVZH1lh9TLwxe0Q+shDwzlhYCyM/G1v7YWl9t+iP7rsvHnd4EaIWv+qP1BehYa/t6mHl4ffdFz86/PBazdIijO2Fs3koeWdEI6zNasVm4VserH72J/3wNA/uPvuTQbibh3w/Lu7t8KmXAij6XQlLe/3YdPjCeMl9W+PTtXq0vRC2NTiOiPLc/jm98O9ZJ8YH5n853vTZ6PWvJCyC7TJcHGvY4lOMwWfjpt71Jg1WK37RC0Xbr11vt+ht496b/Wncezk+g+A0YmgO9YLol+dBde+aQ+F+OTa968/vlbiYbD6l/T6nNQIECBAgQIAAAQIECBAgQCAiBKtpp4FgtavB6qQ1Vid7zL7t88buzsou0TwUnPSavXqn5W7ObC6WIWQesn0nnterizoIbys7VqsvlMqDwajsHq2GqdMMVhv9LkoBPDYPVg9uvDhrbJmAlnsoXfJgdeiFWHXjsYatPsVO4dJ90mC1dv1x126fG7V7H3Ov2YvRRjs1d5qWYXzzmsVc+9Ixg13RbfdXBrj9b2t7zYvZ0n4j1hoBAgQIECBAgAABAgQIENgTAoLVtMqC1b02WC0mQv3x9Opj7tWgqwxUqztSpxEKxiBQbT5+3g9jBau1kHRomZY7QtvW71R3rO7mYLUafA4Hq2Wg2twdXIbp0wtWh3Ysl3N5CuF+2m+BWiNAgAABAgQIECBAgAABAvuPgGA17VgLVvfWYDXb8fmZx/dqqhaToh6GVYOuth2M0wtW23Zj1r4mWJ1CsNrc0VtfzJ3esdo2vrWvTS9YnXQ+pf0+pzUCBAgQIECAAAECBAgQIEBAKYDkc0CwujcHq/2apMW8yMOqifoLrLIXR6185nDNzXKna61G55jdgkO1TMsXH9VKAdRrrFbrdOY1VndXKYBqjdV+rc+Z11gd1ImdQY3VUYZjaqwWY9QLxnsvj2qu9MKyUuO1rcZq/9ozqLHaVu+1Ol5D/W/ugp5BsFodt+Z8Sv6tToMECBAgQIAAAQIECBAgQICAHatp54BgtavB6siXVw3qmg6/pb5aCmBQTzV/fP/Xvpm/XCp7W3v2KwtUn/dPgxdWLfy7yWqsNuqzZoHqr/9r/vKmfnmAxlvvF594Yjzvzs/G1hf3Xl41w2C1fFFTRHZ/R8eXLv5yLOzXcm3WjV0Ya14VcVG2m/dVEVdW7rm486pRYzH1dmAufFbETV//SfFh5U32w97lm++Lt31NWqe24VOOQxaqZr8m37H62Dg1tsZN9xXHjyzLkH3YWnqgce+1/iyMU5+1NW7qhbOtNVZrx2dlJU6O+Ou/iSvvK8elqKdb3M9kNVanMJ/Sfq/TGgECBAgQIECAAAECBAgQ2O8FBKtpp4BgtYPBatoh1tqUBUa8YGrK5+/GA8e+dCvRdbNg+GPzBy+bStSsZggQIECAAAECBAgQIECAAIGOCAhW0w6EYFWwmnZG7c2t7VfBamNHaW+H68L+jtO9eSD1nQABAgQIECBAgAABAgQIEGgTEKymnReCVcFq2hm1N7e2XwWrw+UCqqUF9uZh1HcCBAgQIECAAAECBAgQIECgXUCwmnZmCFYFq2lnlNYIECBAgAABAgQIECBAgAABAgQ6KSBYTTssglXBatoZpTUCBAgQIECAAAECBAgQIECAAIFOCghW0w6LYFWwmnZGaY0AAQIECBAgQIAAAQIECBAgQKCTAoLVtMMiWBWspp1RWiNAgAABAgQIECBAgAABAgQIEOikgGA17bAIVgWraWeU1ggQIECAAAECBAgQIECAAAECBDopIFhNOyyCVcFq2hmlNQIECBAgQIAAAQIECBAgQIAAgU4KCFbTDotgVbCadkZpjQABAgQIECBAgAABAgQIECBAoJMCgtW0wyJYFaymnVFaI0CAAAECBAgQIECAAAECBAgQ6KSAYDXtsAhWBatpZ5TWCBAgQIAAAQIECBAgQIAAAQIEOikgWE07LIJVwWraGaU1AgQIECBAgAABAgQIECBAgACBTgoIVtMOi2BVsJp2RmmNAAECBAgQIECAAAECBAgQIECgkwKC1bTDIlgVrKadUVojQIAAAQIECBAgQIAAAQIECBDopIBgNe2wCFZ3Q7C64d4fx8Npx0lrBAgQIECAAAECBAgQIECAAAECBGYlMCcilh3x2Bm3sWLFiliwYEEceOCB+e958+blvw844ICYO3du/nvOnDm13zO+2F5womB1NwSrf3vvj+M/zGKS7gXzRhcJECBAgAABAgQIECBAgAABAgT2MoHZZlaC1fqAC1YFq3vZtwDdJUCAAAECBAgQIECAAAECBAgQmImAYHUmaqPPEawKVtPOKK0RIECAAAECBAgQIECAAAECBAh0UkCwmnZYBKuC1bQzSmsECBAgQIAAAQIECBAgQIAAAQKdFBCsph0WwapgNe2M0hoBAgQIECBAgAABAgQIECBAgEAnBQSraYdFsCpYTTujtEaAAAECBAgQIECAAAECBAgQINBJAcFq2mERrApW084orREgQIAAAQIECBAgQIAAAQIECHRSQLCadlgEq4LVtDNKawQIECBAgAABAgQIECBAgAABAp0UEKymHRbBqmA17YzSGgECBAgQIECAAAECBAgQIECAQCcFBKtph0WwKlhNO6O0RoAAAQIECBAgQIAAAQIECBAg0EkBwWraYRGsClbTziitESBAgAABAgQIECBAgAABAgQIdFJAsJp2WASrgtW0M0prBAgQIECAAAECBAgQIECAAAECnRQQrKYdFsGqYDXtjNIaAQIECBAgQIAAAQIECBAgQIBAJwUEq2mHRbAqWE07o7RGgAABAgQIECBAgAABAgQIECDQSQHBatphEawKVtPOKK0RIECAAAECBAgQIECAAAECBAh0UkCwmnZYBKuC1bQzSmsECBAgQIAAAQIECBAgQIAAAQKdFBCsph0WwapgNe2M0hoBAgQIEHgkBH724/hJ/FI85tHzHomruyYBAgQIECBAgACBvUJAsJp2mASrgtW0M0prBAgQIEBgTwnc90/xVx+9PT70zz+NHbt6F507L477d/8u3vaKF8dxhwtZ99RQuA4BAgQIECBAgMDeISBYTTtOglXBatoZpTUCBAgQILDbBR6MrX/3V3HuxydiS0Q85pBD4oW/8sR4cvxb3PGtifjHn2YdODjOOOPUuOi3jtztvXEBAgQIECBAgAABAnuLgGA17UgJVgWraWeU1ggQIECAwG4W2Pq/18YrP/XjiMfMj//n9a+Mlx55cO2KO7d9Kd5/xe1x/U8iXvjS/zve+9sLdnOPNE+AAAECBAgQIEBg7xAQrKYdJ8HqPhas3vHeJbH6ukkmyaq1sfHc42Y1k8rrLL3olnjPyw6bVVuzO/mOuHzJ6rghayTBfZV9ye8v2pyK6215xO97dmqTnZ3d/9VPe6THdrJe7g+fF/MtrtoY5z27uN8dn3hLnLwm4sKb3xOnz9/XDbL7vzoWPYL3mnt/++xZf898REZq4sZ4yykXx21jL750D82lHXHjuSfHxbdHzPrnxo9uj3dc/KX41KOPjGve8co47tHZDf447li3IT4XR8eqFb8ej8m+9LN/isve+em4/mdPiEsvXBXLHleFqPzsaPGZdR/Hmg+v60dkfrgoAQIECBAgQIDAfikgWE077ILVfTVYTRgytk25WrD67z/f+5/3lbF243kxu8h2zATvhwSD6+yugFewKlhN+612pq01Aph8DWyJs2e9zh75wHJqItV+PjJ93jeC1dmGp4MQcmUl5J/aGJZHpQtWv/lX74v/9IWI165+fbz12HKn6kR8/L//RayJ4+PTf/ji6P913zduitM+eFfE80+NT/5fT690eUy4+dXLY8k5N8TM73Uymcq1n5xqTff+0uXW1PXn/QAAIABJREFUZXHLe08f3P9kXfE5AQIECBAgQIDAficgWE075IJVweqMZtTuCjSn15nif9S3rB7s5pve+aOPFqwKVlPNpdm10wxWd8SO+YftR6HJIxOmVsdMsJppdClY3RYff+f/ijU/fXr8xX87NZ7ZH6wRwWrcFVf/15vi/YccH598x4tjYf/4cbtGd/eO0t3Tfj5XBauz+5brbAIECBAgQIDAfiAgWE07yILV/TRY7ZcMyHe2Luw/ohkvuDDf7bI1exT+rqWx9Pbbao+Rljt4Ru5YvXlRXD306Olgt1TxGPPwg6nNdmvTvNx9W92x2nqd7KzGbta7VsbKuCFuuH3QYnmtQV+Gd3NNJ1gtg5e1sbpfhqH6GGnbPbfvhGovM9Dvy4s25Luoar9643XYiEd+R+24aisZUe3zuFIAxWcXxqI1FxclGDL1/i62XhB21bLYcM7FEVnJhKOuH93v3vnV/iy9aG0su3V1PzAvrld87eLI5ucL4/O9R4orozrYLV3u6rwqYnXPK+9fvjOs91h0dUd3b3da1XX0Y8CDXXejr1199Lo6tyY5N2uw0ZeVV62NOKcoBbDs74fLfAyPWc8pm+/VtZyXB6n2pRJYRvNx8cpxrfNqzM70hv3Kq26JRWuLx7+rv6rzcvz6GLVjddhyYNHmXJ2jjR+iLeNf2mW7HvePYHWc2fAj80svujwWrTmvv/77ouX3o+wLzbnzgsH34qXnvTXi8staShSUc6vSn2qb+YX+KS5766fj+vmNnanRC1Z3PjP+4h3L45nzyl71vj5xZFxz2SsrT1RMNVidbD7Vv+cVP90aa2TMui6+L/V2oU9xLrb9rKmvo+z6r40tQ98nx6yDtP9tqTUCBAgQIECAAIEOCwhW0w6OYHVfDVZHzpMyNBkf8gyCruL4F/5DGYgWf170l0XIk4cZ/VIAJ8fJcUvckl27F1wN/mev+B/NaNburISll120Jd6ah65lHwf/Qz/ZdSKG/0c8D4ergdI9xeOd9YCpHWraweqa2wbhYu+eFvXCxh0TO+Kw+ZU6tGMe5x7acZQfuyGWXbcsNqzqBZX9mrY9n5ayD3n/7ypC8mYF3NYanY1HXycLVldf1wzLy5qfvT41At88YB3R72Z/yjlTD9vrAeWOicPisEp90Vr4Vc6pZiDfD2jqAfbQ+OS780bV9dwRo68dRb3fyngU97KoF/qOO/e4fhBVtSrX4StftzQ+8uFGXdWWMauOS3lu/S8Syr6U93h2bDllVJ+XxYbG/fTXWR5wtzxu3LAv+lAPmYbGe+z6aA9Wi+8/lXYra64IoMdfs7/qe+dNOj/35Rqrq9ZGP6jrrZHo/wVY6djYsdry+Hr9KYatQ7Wvq8Fftmt0a+XnRNv379GVu0cFq7+IO/7ftfGGL/0iYuHx8ZHzXhwL83B1BsFqZW1NPp8a3/Oy/b3V778tc6y2NkvL3l8WTjoXx/2sqexYLX7+TXEdpP3vSq0RIECAAAECBAh0XECwmnaABKv7arA6lRqrQ7toBo/U13e0DkKf23qh52TBan9HWktd1OpjpYPpvDTe+taIyy67rb/TLvsf6/adsYMAt3XnW3On3tCO18nrDU47WK09ftm2E6q562tEH8ogtfeynn7Q+kcRa7KAtfESn7Z+1sO84W8Y7Y+L1vs8abBafbFXrc9tNUHH93u4P8N9aX2RWHN3Vy3MrV5zeDyG72/4LxrG1ldsvfaiuL7xoqli116jJuqU+52NXdH3n2XB6j83ayeOd2oP6cu+1IPV6suxBn0ugtXaZ+UOzlGPGzfmb+s6ahxTzNBR62NMsFp7udygLEgehDVfPNd6zXJX5RTm514frI7/ntcPPYd2h5bfP9pLAbQ+gZB/v+39JUNtN/tgjZXB6rjv36OD1R/Epy69Lt6x7ci45pJXxnFzq9/jfhrf/Ku/iLO+8NMiXH1b9uj/P8Vl5386rl/wnPj023+z8hdNwztxqy2VO6Ann8PD319qa2/MfM/XVi1YncJcHPOzpnrdPFid6jpI+9+VWiNAgAABAgQIEOi4gGA17QAJVvfnYLUSXFYffc1jjnK354hQcsrBam2+Vv9HtreTph+8tgertdP7x+5NwWp5z83ddcP/A13caxE+bDgp2+EZg3/v7wpu+QbQ8lj7uFBwVDmGrOXqLtGrn1bdZTq47lDQkDxYrdfOHbpeGUw2d4aWgcNQkDEuWC2ML769+Zj8cKCYC4y9dkuwWh2uafe7Eax+uP3d7rWdvZUgZcbBar/P7Y9Kj63j2Bas5rvGm7+au9JHrY+pBquN+Tn2mpW+jCihkR9R3XW/jwer+f22WAzKK9SD1dfePSjpUgsgM/fdHqxG/OTvrovf+vgP4qWvWBXv/M0nNCZXFq7+r/iTB34jPviaX49ffO66eMlHfxAvPGNVXPpb1WPHlQKYznxKGaxWy4hUbqs6F6cTrE51HaT970qtESBAgAABAgQIdFxAsJp2gASr+3Owuqd3rPbrorbVcOzgjtXGY5TV8KH6uObYHZf5bqRGiDpq91y5trNxWbsobsl3qfZ2GE52TiUYqT9KOvwNYyovOOnyjtW2/o/fITYuWC0eWa7vyhwduIy/9vgdqwtbXiwz1Z1t7TtW62PbDKBnHKz2d9nuph2r1W63zeuhoL4syzAIWfO/2JnOjtVRPzensK72/Rqrg52k9VrJq/MaqsXX6sFqv95v5S836n8Ztzt3rEbEL74Z7794fVz9s8fGRW9bFWcUz/wPfu2KiGwn69bPxLnv/lp8/tFPi2suPCOOO7h60DSC1ebOz9rFUgaro/7CrbjgZLv7J92xmva/H7VGgAABAgQIECCwlwoIVtMOnGB1vw1WK/+jvGpl3HBd/r/Q/RcADWqsFl/LQ6FK/dPJdqy21litvHCq2OVU7hbMJnUlWE1dY3UGpQAGNf+G6zje1iizMHmwWq2NWoYY4x7NLQKkWBVxQ5wdG89tr79ZPj5dhIK98ZxCCYjRNVajNv5jd6xWQud6e22lAMbXhh3qT1vt0OZOzDWVeqPlTrsZlQLo1YJsCYjadv0O9bV27SJYHVVjtVhDk/W7blXuLh5dY7U+ZtWwcTrBanufZ1pjdRAOjayxWttdPG59jNmxOt0aq23lC8bUWC3D9v0pWC2/b1d3r44NVsufGdW/pGvsWO23WTlmdjVWi/8I2vmNm+INV90Vd8TBccaJL4qzf/vXY2EZnP5iW9zxvz8Tf/LZifhmHBJvPuc/xdm/dkjjv56mEay21Srtz6epBKvt63rwUr0tcfaYGqu1uTitHastNVZHlfFI+9+WWiNAgAABAgQIEOiwgGA17eAIVvfVYHXcPFl1WVx411uLN3Xn/xO8sPc4dNubxOsN1V8o1Hx51cpYWwlPB2dWQsTGLtnyDfDFW8NXxjtW3RDvbD6+OBSMjrpO0UYWBB83hXIGzRdynV55GVLZ9+rb6vP4t/YSpuKoyXYR1d/0nllcFPHH2ePno9+uPjr8zALwwa/6i4mGHxUf9Xb75n0132I9+Y7VlbHyuhv6bwVv7nSr7QCd5E3X2d3U+rOqaLtso63GYe34LFDNd/deHHno/eotjV3Ck9RYbTwCnd1LsSOvPfye/NrVx3nrbYw9NwvQR6yPLavLPtVGvz/X+4bTLgXwnjg9sl3VI/rc+qj86HlbBHLVXXctL8lr1vGs3XNzfWTh7vCO1dPnD7c7mOtTuGaVsWV+DtX+3OtLAYz7gbA0Luy9HK/5HWSU6dKL/jKW3frq4mdI/mtlrL0qYnX+csDmz4XBMStX3RA3ZC89PO+tEZdfFsPfscq5Nfwywraaqzu/9Zn4k2u+Fh//SXGNgw4+OH4lfhHf/EXvz4+ZH39w1ulxxq80Q9V8xbTsVm9zmmw+TRKsZk2OWdf9GqvZz62pzMVx9bz752eOr40teZmTyj2NrKE7bn74jAABAgQIECBAYF8TEKymHVHB6j4WrKaaHvU3PI9+jUiq62ln7xEY/WKvVPdQ3aWYqk3tECCwTwrs+nFs+eIX43994a64oxewxmOeEGc8/wXx0t84Mh5Te7nVPingpggQIECAAAECBAhMS0CwOi2uSQ8WrD70UGzfeH1sPuS0eP6R82Lnzp2xffv2WLdu3aR4ow6Y7SSd8YUTnihYTYi5jzWVPFht7HIsdusuqu3G3McI3Q4BAgQIECBAgAABAgQIEHhEBGabWa1YsSIWLFgQBx54YP573rx5+e8DDjgg5s6dm/+eM2dO7fcjcqN76KKC1W1fiutv+Xo8aYlgtTrnBKt7aAXuhZdJHqyW5RTyGr7Zr3H1Z/dCMF0mQIAAAQIECBAgQIAAAQIdERCsph2I/ThY3R5fXHtT/FNEPPzww4LVtPNKawQIECBAgAABAgQIECBAgAABAh0TEKymHZD9OFjdFQ/l9VXvj3++9W/i7oV2rKadWlojQIAAAQIECBAgQIAAAQIECBDokoBgNe1oCFYFq2lnlNYIECBAgAABAgQIECBAgAABAgQ6KSBYTTssglXBatoZpTUCBAgQIECAAAECBAgQIECAAIFOCghW0w6LYFWwmnZGaY0AAQIECBAgQIAAAQIECBAgQKCTAoLVtMMiWBWspp1RWiNAgAABAgQIECBAgAABAgQIEOikgGA17bAIVgWraWeU1ggQIECAAAECBAgQIECAAAECBDopIFhNOyyCVcFq2hmlNQIECBAgQIAAAQIECBAgQIAAgU4KCFbTDotg9aGH4qGHHooHHnggHnzwwdi5c2ds37491q1bN2Pp2U7SGV/YiQQIECBAgAABAgQIECBAgAABAgRGCMw2s1qxYkUsWLAgDjzwwPz3vHnz8t8HHHBAzJ07N/89Z86c2u99eTAEq4LVfXl+uzcCBAgQIECAAAECBAgQIECAAIGegGA17VQQrApW084orREgQIAAAQIECBAgQIAAAQIECHRSQLCadlgEq4LVtDNKawQIECBAgAABAgQIECBAgAABAp0UEKymHRbBqmA17Yzao63tiBvPPTk2nHRLvOdlh+2xK9/x3iVx9dP27DWzm8uuu/q6lbF243lx3B6728aFvnp5LDkn9lAfivG9OC6MW957euyOEd7xibfEyWtui6UX7fnxHB7CO+LyJasjrtoY5z17zw1wbnDrst1mnOZOMpurY9HN74nT56dpUSsECBAgQIAAAQIECBDYHwUEq2lHXbAqWE07o/Zoa/tusDoU3maB5tpFsw+/Jm6Mt5yyJc6eaThbCVYXZoHct8+Ojefuppg3u9bfL5td+2Pv95EJMkcvkZn3pzpfmkHpZH8RIFjdo9+0XIwAAQIECBAgQIAAAQKPqIBgNS2/YFWwmnZG7dHW9t1gtcm4Y2JHHDZ/d+zZnOaA7cEdq7v/nmceZE5TbYqHp+nPdIPS6R4/xZtJfJgdq4lBNUeAAAECBAgQIECAwH4qIFhNO/CC1X0wWC12qF0Yi9ZcHDf05svK/uPFvYDiqmWx4ZyLI7JHoI+6PpacUx7ZO+EFg8evi0fQKxNv1dr+LsKhzyIqj1X3HuW+fXDuoB/Dn2VHDT5vmej57sOL47beR0svWhvLbl1dlAKY5B6arTX7XX0UfPw9FY/kF6UAonhUvXJ/9XsYvsfBdcZ9Np1r1MezsBlTLqC6g7P896siVpfjXxn3rKW6xcpYmx9blAKo7lgdN0ciD2Pr86vpffXTirEsHvt/YXx+yHXMPTXbr97DyB2rRYhZ9irrz0WxpvFIfDXonO58bTu+cQ+Nfq+8am3EOUUpgNfeXewGXhure2uvODc3X9Mb5UrJgHJO5vfQ+7ycB1ErXdHo1wsujLUnbYjVWSmAP4pYU1lfxZqZhnt2eMU+D2xr91D93tBckZP5ClbT/ujXGgECBAgQIECAAAEC+6uAYDXtyAtW99FgdfV1S+PCXj3Coo5k9P7cC5TKAKQXVuYBa79Oae+YVWvjlqddXTk3j9ryQGpLGUT12+1NzF5YlAWky/5+Say+axDQFv1YlAdEWdjTrBda7+dQFFoEYZVQt18f87y3Rlx+WRESt9xD81H1aj/yh9jzPm/JfV74D1Wr4XvKal+WIdbZ3z557D0s+svGPfasF5U21Xqplc+mc43T5zfGswxDK+41yaFg9eK4rW/aC7eeXgTnw+NRhpGVkO/bZ4+dI9l4DO88rYdkRSg7mK8RO2LHxGFxWKWWZhnSDZUdaLhV52c+F6ZRCmB45+YgWM3ncqO+7fj5Osk9tKy7MpzO1k4erK65rf8XDUO1YCtzNqs5OtVSAEN1esu/rHjB6+KVt384PlJZX9k4jKxxO8n3jcH8GdxDMRYXRzb/mzVk2+oHD3/fUmM17Y9/rREgQIAAAQIECBAgsD8KCFbTjrpgdV8NVmOwq7QINDbEsjxobTxuXPtsMLnyoCN6wWrjxTa13XFDL70ZtJ+HQyNeilO2XwvKRvSl6FXbY9K9UgDPy4LVL/Xub/gehsK4MY+ztz8WXb92LVitOmeXrtxDHqzWPi/6u2V1L3Qe8dlQsDrmGkPjGVEEoqNeRjQUrJbzoqfcG/d+MNZsp6XGah6+j5gjg6B79O7l1rnQD7wrO10bu2lHz4vKN8mUwerYcRjxjXnUbtrWuT5m7QzN2eFwunyh2rgaq23WxfHPyIPVRzdCz5FzaZLvG+3zZ3Spg8m/H9ixmvZHv9YIECBAgAABAgQIENhfBQSraUdesCpYrYSuUwtWy6PKXXRtU7L/SP/Q4/vFrtLJg5Rmq5MFq5f1SwTUzqztwKt+Un8UPHrHTeWe6jtW2+6+2H05HKxOIfTtHTLV8LarwergTstAtbojdTiorgXQZRjZ3J085s31QyULypdzpQxWq+Uw+jdYva/KXJjsHvaJYHVQlqNtzY3bAdy+Y3X0WirmuR2raX/8a40AAQIECBAgQIAAgf1RQLCadtQFq4LVaQer43es9mPX/u7MQYjSeLR6WjsAJwtWh3esjloqw29JH7wEa7jO5nArY0PPyuHD4fH+uGN1a17CIasb2jYPyt251WC1bZfkyJ2TWYC5dlHc8t7To3y1V+3YlMFqc76O+V486T3sE8Fqfbdzk2PawepYX8Fq2h/9WiNAgAABAgQIECBAYH8VEKymHXnB6r4arFbqQbbVWO0HXbulxmr2cqPXxpbsBUS9ep35tB1XY7R8hL1Zs7U/3wd1X/uP9vd2BS4dU2O1HugVjeWBZ60G6VTqxhYvbMpqsk5aY7W3s3Jrs47sbqyxWr3PpKUAauNR7j6dTo3VIlit1sat1hIdGaxWr9uvAzqo19ufFo1ao0PjO91gtVcDOBvncvdyv15wW43VEbtoh+qvNu+hZd1VrzdURiNlKYDafZQ1etPVWC3n4rSD1bG+gtW0P/q1RoAAAQIECBAgQIDA/iogWE078oLVfTVYjZWx8rob+m897z+a31artOWt7dW3e4974/vQZ9W3iDfKAGRTd/A2+MneAt4y0ZvtrVqbvzU9ry151PVDb54f3HOzrUYZgOzjymPnY++pEqy+52VRvNzn9kr7tTqgw/c47v4Hn1VfRtRyjexd7f0doMM7eVMFq/2Qsv8I/NK48KplseGcLXF2+Yb6b5+dv+hq3BwpA/XiXfZF34uXQY0umVBrLzMt31jfUtph8jlY9Dd/UVnt17Bdta2lF62NZbeuzmvinvfslvnaWvN1cIFJ76Gx7qrXm02wWryMLatNWwTg2Yviyvqr/RdS9efsylh7VcTqbNdvaVwzKtoYtitf+lapgVubl221fkfXWB3uV0T1e1BRY1kpgLQ//rVGgAABAgQIECBAgMD+KCBYTTvqgtV9NlitvLwq7ZzRGgECBAgQIECAAAECBAgQIECAwF4oIFhNO2iCVcFq2hmlNQIECBAgQIAAAQIECBAgQIAAgU4KCFbTDotgVbCadkZpjQABAgQIECBAgAABAgQIECBAoJMCgtW0wyJY3QeD1bRTRGsECBAgQIAAAQIECBAgQIAAAQL7goBgNe0oClYFq2lnlNYIECBAgAABAgQIECBAgAABAgQ6KSBYTTssglXBatoZpTUCBAgQIECAAAECBAgQIECAAIFOCghW0w6LYFWwmnZGaY0AAQIECBAgQIAAAQIECBAgQKCTAoLVtMMiWBWspp1RWiNAgAABAgQIECBAgAABAgQIEOikgGA17bAIVgWraWeU1ggQIECAAAECBAgQIECAAAECBDopIFhNOyyCVcFq2hmlNQIECBAgQIAAAQIECBAgQIAAgU4KCFbTDotgVbCadkZpjQABAgQIECBAgAABAgQIECBAoJMCgtW0wyJY3c+C1TveuySuftot8Z6XHTZ+Jn318lhyTsTajefFcWnnnNYIECBAgAABAgQIECBAgAABAgQeAQHBalp0wep+FqxOefoIVqdM5UACBAgQIECAAAECBAgQIECAwN4gIFhNO0qC1X0uWN0RN557clx8+2CirLxqY5z37OLP1R2r2b+vvm5w3NKLejtZ81D1ht4HS+PCmy+K+ON6m9mHg3bviMuXXB2LrloWG865OG6LiKKtrXH5ktWRt/SCC+OW954exT7Z7Pje18vL1z5PO8m1RoAAAQIECBAgQIAAAQIECBAgECFYTTsLBKv7WLCah6V3DULMHZ94S5y8ZlH/kf4yWL0o1tS+HnmYuiUuvPk9cfr8iOLPRSmAyAPYlbWyAEW70Tu+F5T2w9EyOC3P6YW9T18bG889LmJiR+yYf1gvZB0OfNNOca0RIECAAAECBAgQIECAAAECBAhkAoLVtPNAsLqPBat54Hnrssru0PqE6e9YPer68TVUm8Fq9ELRsrmJG+Mtp2yIZXkQWwSp0d8ZWwSpG04a1HLN+/Xts4tgtferCGez/a29X6sa10g717VGgAABAgQIECBAgAABAgQIENivBQSraYdfsLqPBav59MhDz+KR/OxX/xH/RimAoUfyq8Hm0I7VtomXlQmYfrBaBqrNfq1uhrdp57rWCBAgQIAAAQIECBAgQIAAAQL7tYBgNe3wC1b3qWC12Cm6ZfWgpmoZnpa7Scsdq2d/++S4+mmDHaURjV2mk+1Yrc3D6e1YzcsVNELUtq+lnepaI0CAAAECBAgQIECAAAECBAjs3wKC1bTjL1jdB4PVi8taptlc6e1eXdR7TL8arFZrsZYB7JbaC6wmqbHaLzkwg2C1WrO1fFmWUgBpV7fWCBAgQIAAAQIECBAgQIAAAQIVAcFq2ukgWN2ngtXhMgDZdGkvBbA1r4t6Q3U+VYPNfjmB7HH/iyL++OS4+PbKwf0XVWVfm16wWu6O7beXXfdFG2LJOTcUfc3rv94QK/s1W9NOeq0RIECAAAECBAgQIECAAAECBPZHAcFq2lEXrO5rwWra+aE1AgQIECBAgAABAgQIECBAgACBfURAsJp2IAWrgtW0M0prBAgQIECAAAECBAgQIECAAAECnRQQrKYdFsGqYDXtjNIaAQIECBAgQIAAAQIECBAgQIBAJwUEq2mHRbAqWE07o7RGgAABAgQIECBAgAABAgQIECDQSQHBatphEawKVtPOKK0RIECAAAECBAgQIECAAAECBAh0UkCwmnZYBKuC1bQzSmsECBAgQIAAAQIECBAgQIAAAQKdFBCsph0WwapgNe2M0hoBAgQIECBAgAABAgQIECBAgEAnBQSraYdFsCpYTTujtEaAAAECBAgQIECAAAECBAgQINBJAcFq2mERrApW084orREgQIAAAQIECBAgQIAAAQIECHRSQLCadlgEq4LVtDNKawQIECBAgAABAgQIECBAgAABAp0UEKymHRbBqmA17YzSGgECBAgQIECAAAECBAgQIECAQCcFBKtph0WwKlhNO6O0RoAAAQIECBAgQIAAAQIECBAg0EkBwWraYRGsClbTziitESBAgAABAgQIECBAgAABAgQIdFJAsJp2WASrgtW0M0prBAgQIECAAAECBAgQIECAAAECnRQQrKYdFsGqYDXtjNIaAQIECBAgQIAAAQIECBAgQIBAJwUEq2mHRbAqWE07o7RGgAABAgQIECBAgAABAgQIECDQSQHBatphEawKVtPOKK0RIECAAAECBAgQIECAAAECBAh0UkCwmnZYBKu7IVj9zMSP40VPfEwcMGdO2tHSGgECBAgQIECAAAECBAgQIECAAIEZCDz08MPx99//Sbx4/mNncHZxyooVK2LBggVx4IEH5r/nzZuX/z7ggANi7ty5+e85c+bUfs/4YnvBiYLV3RCsbvrB/fHERx0UT/mlg/aCKaCLBAgQIECAAAECBAgQIECAAAEC+7rA9/5tZ3z/5ztj8RMOnfGtClbrdILV3RCs7vi3n8cd9++Mow99VCx49IF2rs54uTqRAAECBAgQIECAAAECBAgQIEBgNgLZTtVtP3sg/vX+n8dxhx4Uh/3So2bcnGBVsBoPP/xw7Nq1Kx7qharZPx944IF48MEHY+fOnbF9+/ZYt27djCdZ1s4Pf74zvveLXfGjh3bFrodn3JQTCRAgQIAAAQIECBAgQIAAAQIECMxYYO6ciMcdMDeecvDcePyjDsof3Z/pL8GqYHW3B6tZaFsGt9k/syDXLwIECBAgQIAAAQIECBAgQIAAAQJ7WiCreZrVPq3WQZ1pHwSrgtXdHqxmxFmYWv6e6WR1HgECBAgQIECAAAECBAgQIECAAIHZClRfKDWbtgSrgtU9EqzOZpI6lwABAgQIECBAgAABAgQIECBAgEDXBASrglXBatdWpf4QIECAAAECBAgQIECAAAECBAh0XkCwKlgVrHZ+meogAQIECBAgQIAAAQIECBAgQIBA1wQEq4JVwWrXVqX+ECBAgAABAgQIECBAgAABAgQIdF5AsCpYFax2fpnqIAECBAgQIECAAAECBAgQIECAQNcEBKuCVcFq11al/hAgQIAAAQIECBAgQIAAAQIECHQBXgVLAAAgAElEQV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smB13gEHxMT3vx8HHHBAzJ07Nx518MFx7HHHxaMe9aj8zw8//HB86YtfjCOe9KT4lV/5lfxr2a+777477rnnnjjhhBPioIMO6t/aD3/wg/j/vvWtePaznx3z5s3Lv77roYfi69/4Rhx+2GHxpAULusbQ78/3f/rdmPPm889++ImHHNnZTs62Y9mAZr+yf5a/d+3aFQ899FD/9wMPPBAPPvhg7Ny5M7Zv3x7r1q2b7WWdT4AAAQIECBAgQIAAAQIECBAgQGCfEXje854XWYaWBaYHzpuXh6v3Tkzk4enxxx+fh6tZ5rbhb/82fumQQ+L5z39+HHjggfn933XXXfGdb387XrB0aTz60Y/Ov5Zlc5/73Ofyf2aB6+Mf//ji6w8+GJu++tWYP39+HHXUUZ31E6z2wlXBamfnqI4RIECAAAECBAgQIECAAAECBAh0QODoo4/OA9QnPvGJeWCa7TDNgtRvfOMb+S7U7LNsU2MWrD7hsMPyAPVZz3pWHsC2BavZDtbvfve7+eePOfTQePrRR+f/LljtwGCXXbBjtUODoSsECBAgQIAAAQIECBAgQIAAAQJ7pcDRT396/NaJJ+ahahmsZuFqFpBu37Ytljz3uXkwumHDhny36qZNm/Kw9Zd/+ZfjW9/6Vm3HapbX3XHHHfku1yOPPDI2btwYz3nOc+KQQw4RrHZpdghWuzQa+kKAAAECBAgQIECAAAECBAgQILA3CixevDgPP5vBavYkeBaiPnfJkjjo4IPjMxs2xEkveUlk9VOz3ay/8e//fXznO9+Ju7/znX4pgKwk52c+85k48cQTc4osZM0C2F/91V/Na6wqBdCRGSJY7chA6AYBAgQIECBAgAABAgQIECBAgMBeK/CMZzwjXvSiFw0Fq9u2bYvvffe78dznPS//rAxW58yZE5///OfjcY97XBx88MH5MVmN1ezfs8D15z//eTzpSU/Ka7RO3Htv/NvPfhZLliyJuXPmCFa7MksEq10ZCf0gQIAAAQIECBAgQIAAAQIECBDYWwWy3aRZ8PmEJzyhXwogu5evf/3reb3VbEdrVnO1DFazsgD/f3t3FhvXded5/FcUKVaRsrhbIilKbpEUqZW0rN3uVmPsdGPkNALnIYAfgkk6AYJGBoPBoAVPIz2YBJiMp+HXeWmgMX7ohwQIEMOT0EYHCBBjvMuWqcUyJUqyKC6iLJKiJJJV3MTBOXVP1a1SUWJRpWIt3wIKFIv3nuVzz6WBn/8811Szfv755/bz8MyMDVZN+PrHP/5RZmsBBQKWw+yrOjg0pLa2NjU1NanXe3iV2SbABLS5+OLhVTy8KhfXJWNCAAEEEEAAAQQQQAABBBBAAAEEEMgxgUOHDtkq0x3t7aqqrtb83JyGhodtxen+/fttJWpysGqmcOXKFbvHqqlEPXL0qL7++mvdu3vXbhHgQlNTGGmOM5/v6+qyWwuY/Vfr6upiCjU1NfaBWLnyIlglWM2Vtcg4EEAAAQQQQAABBBBAAAEEEEAAAQRyWODEiRN2/9N7U1P2IVUmUDWVquYBVSZUNZ+ZgPTUp5/aANX83LxM1er58+c1Nzur7mefVX9/vw1MGxsbE2Z79+5dXbx40bZnvk5NTSVUq3Z0dMiEq7nyIlglWM2Vtcg4EEAAAQQQQAABBBBAAAEEEEAAAQRyWODll1/Wpk2bbJhqQlT3ECvz1QWtpgJ1cXHR/sxfjWoqWc3L/2f9Lnh1UzbHmGDWHePOcT83xyefs5ZcBKsEq2u5/ugbAQQQQAABBBBAAAEEEEAAAQQQQCBPBEywaqpMXaBqAlYXsrrQ04Si/neeTG1VwyRYJVhd1cLhJAQQQAABBBBAAAEEEEAAAQQQQACB4hIgWE283gSrBKvF9RuA2SKAAAIIIIAAAggggAACCCCAAAIIrEqAYJVg1e7VYPZoMPs9uLfZRHdhYUFzc3MaHR1VT0/PqhYYJyGAAAIIIIAAAggggAACCCCAAAIIIFCIAsnBqtlX1e21ylYAhXjFJRukmpf56t4EqwV6sZkWAggggAACCCCAAAIIIIAAAggggMATEUgOVk3ONjAwoI6ODq1fv94+WIo9Vp8I/do1SrC6dvb0jAACCCCAAAIIIIAAAggggAACCCBQGALJwerg4KBGRkbUun27/mz7doLVwrjMibMgWC3Eq8qcEEAAAQQQQAABBBBAAAEEEEAAAQSyKeAPVk3edv78eVWEQgqFQurcudNWrVKxms0rkoW+CFazgEwXCCCAAAIIIIAAAggggAACCCCAAAIFLeAPVqempnTt66+1r6tLF778Ul3d3XrqqacIVgttBRCsFtoVZT4IIIAAAggggAACCCCAAAIIIIAAAtkWcMGq2Uv17Nmz2r17t6qrq3V9YEDhcNiGrKWlpQnharbHmM3+bk0PKvDTkz9aaqhsyWa/We2LYDWr3HSGAAIIIIAAAggggAACCCCAAAIIIFCAAi5YnZiY0PDwsDo7OxUMBjU9NaXrg4M6cuSI/d6/HUABMsSmRLC6uKjFxUXNz89rYWFBc3NzGh0dVU9PTyFfd+aGAAIIIIAAAggggAACCCCAAAIIIIBAWgImWN28ebP6L13SutJSVW3cqNKyMtvGzMyMamtqtL21lWA1LdUcP5iK1Ry/QAwPAQQQQAABBBBAAAEEEEAAAQQQQCDnBV588UU9/fTT6uvrs9Wp5qFV5k//161bp7GxMfX39+vYsWMqKyuLhas5P6nHGCAVq1SsPsby4VQEEEAAAQQQQAABBBBAAAEEEEAAgWIRaG9vt8FqRUWFduzYofLy8liwav4S/PPPP9fevXvtvqtuO4BCtiFYJVgt5PXN3BBAAAEEEEAAAQQQQAABBBBAAAEEMiTg9lg1FanmbapVXcWqeaCVefv3VzX/LuQXwSrBaiGvb+aGAAIIIIAAAggggAACCCCAAAIIIJAhAYLVREiCVYLVDN1aNIMAAggggAACCCCAAAIIIIAAAgggUMgCBKsEqzIPs7p//74WvVDVfJ2fn5fZC2Jubk6jo6Pq6ekp5PuAuSGAAAIIIIAAAggggAACCCCAAAIIIJCWAMEqwSrBalq3DAcjgAACCCCAAAIIIIAAAggggAACCCAgEawSrBKs8psAAQQQQAABBBBAAAEEEEAAAQQQQACBNAUIVglWCVbTvGk4HAEEEEAAAQQQQAABBBBAAAEEEEAAAYJVglWCVX4PIIAAAggggAACCCCAAAIIIIAAAgggkKYAwSrBKsFqmjcNhyOAAAIIIIAAAggggAACCCCAAAIIIECwSrBKsMrvAQQQQAABBBBAAAEEEEAAAQQQQAABBNIUIFglWCVYTfOm4XAEEEAAAQQQQAABBBBAAAEEEEAAAQQIVglWCVb5PYAAAggggAACCCCAAAIIIIAAAggggECaAgSrBKsEq2neNByOAAIIIIAAAggggAACCCCAAAIIIIAAwSrBKsEqvwcQQAABBBBAAAEEEEAAAQQQQAABBBBIU4BglWCVYDXNm4bDEUAAAQQQQAABBBBAAAEEEEAAAQQQIFglWCVY5fcAAggggAACCCCAAAIIIIAAAggggAACaQoQrBKsEqymedNwOAIIIIAAAggggAACCCCAAAIIIIAAAgSrBKsEq/weQAABBBBAAAEEEEAAAQQQQAABBBBAIE0BglWCVYLVNG8aDkcAAQQQQAABBBBAAAEEEEAAAQQQQODfv/yyNm3apPVlZSo179JS+163bp1KSkpibyMVCATsOxuv0pKSbHTzQB+3pgcV+OnJHy01VLasyQCy0enS0pLtxnx17/v372txcTH2np+f18LCgubm5jQ6Oqqenp5sDI0+EEAAAQQQQAABBBBAAAEEEEAAAQQQyAuBdXvapY0bpHUlCqxbJ5lA074D0bcJUmNhqvl3dqb13w79u+x0lNQLwaoXrhKsrsn6o1MEEEAAAQQQQAABBBBAAAEEEEAAgTwRKNnTFgtWlUPB6n8/9OKaCBKsEqyuycKjUwQQQAABBBBAAAEEEEAAAQQQQACB/BI4/OJfqrahQevKvC0A3DYA3lYAgZKS6BYAplTVFq9mp2S1tapuTSAJVglW12Th0SkCCCCAAAIIIIAAAggggAACCCCAQH4JmIdXbdq8WWVlZfadco9VbzuAaMBqN1t94pMsyUIfqSZBsEqw+sQXNx0ggAACCCCAwMoFLk9e1pvn39SF8QtauL+w8hM5suAFSktKtatul36454dqq24r+PkyQQQQQAABBBDIPQETrDY2Nj40WHUPrcrmw6vWSopglWB1rdYe/SKAAAIIIIBAkoAJVU++d1JlpWVaX7o++idUvBDwBJa0pLmFOc0vzOuN428QrrIyEEAAAQQQQCDrAukGq+ZB8eZB8iUlJbG3GbR7oLz5t6l89W8ZYI43D503n5nz/C/Tnvl8ndnfNQdeBKsEqzmwDBkCAggggAACCBiBn73/M/Xf6Vd5aTkgCCwrMLswq/aqdv3yhV+ihAACCCCAAAIIZFUgnWA1Eono448/tuGoCUsPHz6sUCgkE45+9dUFjY9PaGFhXseOHVNFRaUNTE3gOjU1pd7eL3Tw4CFVVFTE5mfC1nPnzmr9+vXauXOn2WMgq3NP1RnBKsHqmi9CBoAAAggggAACUYFX3n5FlcFKKlVZEA8VMJWr05FpvfWdt5BCAAEEEEAAAQSyKrDSYNUEqX/605/03HPP2YrU3t5e1dfXq62tzYatW7duVU1NjYaGhjQ+PqYjR47aKtRr175Wf/9lO6dvfetbsUpW097c3Kw++OADHT58RJWVlVmd93KdEawSrObEQmQQCCCAAAIIICD9zVt/o+qKaigQeKTA5MykfvfK7x55HAcggAACCCCAAAKZFHDBqglBTeWo/6v7c39TeTozM6O5uTkbnprPv/zySxuwNjQ06PPPP9MLL/y5gsGgHdof/vAH/cVf/LlKS8t069Y3WlhYtBWtf/VXfx0b+r179/TRRx/pyJEj2rhxYyan9FhtEawSrD7WAuJkBBBAAAEEEMicAMFq5iwLvSWC1UK/wswPAQQQQACB3BQwwaoJRK9fv666ujrdunVLBw8ejAWoJkRNfnjV/Py8rVI11arSks6dO5cQmr777js6fvwvY3/2PzIyovPnE485depThcNhbdq02fZrql9z4UWwSrCaC+uQMSCAAAIIIICAqFhlEaxcgGB15VYciQACCCCAAAKZE3jppZc0MTGuAwcO2opVs1/qmTNn7D6pJnBNDlbNPqsffvih9u3bZwPRsbExW8m6ZcsWOygTup46dUqHDh1SaWmp/Wx0dFRXrlzR888/b7+/evWKLl++bKtcTbhqql93795t21vrF8Eqwepar0H6RwABBBBAAAFPgIpVlsJKBQhWVyrFcQgggAACCCCQSYFdu3bZitSKipBKStYpEJDdDuDYsedt0BoPVqWhoWH19X1lf2YeQmV+Zipczf6o7qFUAwPXNDw8EgtWzcOrTMVqbW2tPc48sOqdd3r00kvfsu2b18WLF3Xv3l0dOnQ4k1NbVVsEqwSrq1o4nIQAAggggAACmRdYTbC6reGYmsvSGMv8sD68NZDGCRyaiwIEq7l4VRgTAggggAAChS+wc+dOtbS02IdPmT1TTchqAk9TrWoCVhOempepML127ZoOHDhgQ1L3+c2bN/XNN99o7969Mg+kMn/y39y8RdXV1fYYU8364Ycf2NDUhK8mWP3d7/6vTpx42fZngtdLly7ZvVpzYTsAglWC1cK/65khAggggAACeSKwmmD1xy/8q46n9VDUGV24/D/1+hXC1TxZFimHSbCaz1ePsSOAAAIIIJC/AubP82dnI6qpqbVBqqscddsAmHDUhKHvvvuuamqq7XEmfC0rK1Vra5ump6dl9kttbGy0n9+9e1cHDx6ybZnX7Oys3n///+no0WM2WDXh6+nTn6u8PPqgq5KSgGZn52ww67YOWEtNglWC1bVcf/SNAAIIIIAAAj6B1Qer87ozNaOKDVXyF6/OR0Z0a6FM1ZUNqtCMbk1Pq3JD9N8X+n6i18lW83b9Eazm7aVj4AgggAACCOS1gHl4lQk7TUBqQtTOzk77J/ummtR8b97m5729X9h5mvDUvEpLy7Rnzx77c7Pv6oULF2xw2t7ebs91L7Nn61dffaWOjo7Yn/6bz86ePWMD2/r6BjU3Nyecs5agBKsEq2u5/ugbAQQQQAABBDISrI7ovX/rV/tfH1eTr72R4e/rtfMn9A8vvqpduqBf/fF1DXf/b/39pipFfwZ/vgoQrObrlWPcCCCAAAII5LeACVZNtakJQ83bVI2at9sGIPnhVS5Yze9ZLz96glWC1UJd28wLAQQQQACBvBNYfcXqyoPVd/b8k/61uSkpWP2x/ikplE3GK+wgNjp/5VHYTLCad7c3A0YAAQQQQKAgBAhWEy8jwSrBakHc2EwCAQQQQACBQhBY62D1SQeLZj/Yg7O/0k9OvZNjl+tRwar5+UFN5tD2CQSrObaEGA4CCCCAAAJFIkCwSrBq93ow+zKYJ4m59/z8vMyeDebpY6Ojo+rp6SmSW4JpIoAAAggggECuCGQ6WNX9ec0vSWXryqSF6FYAD6tYfdLBaq44PziORwWruTdygtXcuyaMCAEEEEAAgWIQIFglWCVYLYY7nTkigAACCCCQhwKPF6y+pn9ZyZwfshXASoLVEwf/Wa+Wn9J7Oq7jldEOZyaiVaj2Z7WTeu/ffGPZ9g/6585ndK3vJ7rVEq9YjR5bkTDi+HYDXoXo8DU907xL8tpPnF6K7QtceCxFxxIb54je65vUwc5divfof9GTeRAAABpiSURBVICXF6xOXFB1rTvGbK/g5uEqVt+W2l7Vrtn39P3349q2r43X9KvL0ncS+jAj9rXj2cfm4RvvSi6d/xiC1XTFOB4BBBBAAAEEMiFAsEqwSrCaiTuJNhBAAAEEEEAg4wJrHaz6H3yVMLnkwLK2Ir5Hqw1Od2nS7k/6YOWn+fP/44oGkf6tAE5sO6F3BnxbAth2qnXKhpleaPqw4HHbCZ0YeEf+TQUS2veC22hY67U3HQ9EE0PgB/uz4y73qnzteLytAJ4ye9QqKXQ1+7O+JzUfV5OvD8n34DAvdI06Gd1on9UpQ+NHLy2C1UcbcQQCCCCAAAIIZF6AYJVglWA18/cVLSKAAAIIIIBABgTWOlhdccWqqc402wrYOSeGqf4gNdXPEvdYTa46dVWkK//T/AcqX71gM1ZFaseZor0UQa5//g+e7/ZYTWrLVqGaoLVf7SkegBVv55aOZ/ABWQSrGbjhaAIBBBBAAAEE0hYgWCVYJVhN+7bhBAQQQAABBBDIhkAhBKuKBY2v6V/8/zYRbOzhVU22WrPJ/2fyvi0DXh94dLDqAlW3DYGNeH3VsY8MVhMu6IP9LR+sJvYT71N2TsnhdGI73rneFgoJ2wSkucAIVtME43AEEEAAAQQQyIgAwSrBKsFqRm4lGkEAAQQQQACBTAsURLDq/fl79c3vq786vqeqCz5txeo3XbF9V18f8BTTDFYTK2OjbaQVrK66YlVS7FxTpbpMJas3rViwerNar26a9FX6evvAJlT/rnxFEayu3IojEUAAAQQQQCBzAgSrBKsEq5m7n2gJAQQQQAABBDIoUBjBqntw1KRGKqs12fcTufA0VrFqg1X/Q6m8vUhLV74VgA1RK1M8GOohWwH49z9NtcfqyrYCMBc8Ot7q2RE1lbuw9MF9XBP2WDXBanO1LiR5xPdxTW8hEaym58XRCCCAAAIIIJAZAYJVglWC1czcS7SCAAIIIIAAAhkWWH2wKs0vzq9sNIEylZUo/vApe1byXqcPNhV9CFSqKstUf7afKmT0bwXwjqJbBrjHZZlA9W2p7VXtKjVhaer9ShNH5cJY71MTqE622zbN9gBv6zt61V8N6j1kqyLWiAtx4/NfebCq2Pidi232gT7Mh/HwNxoG+2fhC4ZXdvViRxGspgnG4QgggAACCCCQEQGC1UTGW9ODCvz05I+WGipbMgKci40sLS3ZYZmv7n3//n0tLi7G3vPz81pYWNDc3JxGR0fV09OTi1NhTAgggAACCCBQwAKrCVb/w9H/kxTWrQxoZORv9Y8XVnYsR+WeAMFq7l0TRoQAAggggEAxCBCsEqxSsVoMdzpzRAABBBBAIA8FVhOs5uE0GXIGBAhWM4BIEwgggAACCCCQtgDBKsEqwWratw0nIIAAAggggEA2BAhWs6FcGH0QrBbGdWQWCCCAAAII5JsAwSrBKsFqvt21jBcBBBBAAIEiESBYLZILnYFpEqxmAJEmEEAAAQQQQCBtAYJVglWC1bRvG05AAAEEEEAAgWwIEKxmQ7kw+iBYLYzryCwQQAABBBDINwGCVYJVgtV8u2sZLwIIIIAAAkUiQLBaJBc6A9MkWM0AIk0ggAACCCCAQNoCBKsEqwSrad82nIAAAggggAAC2RAgWM2GcmH0QbBaGNeRWSCAAAIIIJBvAgSrBKsEq/l21zJeBBBAAAEEikSAYLVILnQGpkmwmgFEmkAAAQQQQACBtAUIVglWCVbTvm04AQEEEEAAAQSyIfDK26+oMlipgALZ6I4+8lRgSUuajkzrre+8laczYNgIIIAAAgggkK8CBKsEqwSr+Xr3Mm4EEEAAAQQKXOBn7/9M/Xf6VV5aXuAzZXqPIzC7MKv2qnb98oVfPk4znIsAAggggAACCKQtQLBKsEqwmvZtwwkIIIAAAgggkA2By5OXdfK9kyorLdP60vVUrmYDPY/6MJWqcwtzml+Y1xvH31BbdVsejZ6hIoAAAggggEAhCBCsEqwSrBbCncwcEEAAAQQQKFABE66+ef5NXRi/oIX7CwU6S6a1GoHSklLtqtulH+75IaHqagA5BwEEEEAAAQQeW4BglWCVYPWxbyMaQAABBBBAAAEEEEAAAQQQQAABBBAoNgGCVYJVgtViu+uZLwIIIIAAAggggAACCCCAAAIIIIDAYwsQrBKsEqw+9m1EAwgggAACCCCAAAIIIIAAAggggAACxSZAsEqwSrBabHc980UAAQQQQAABBBBAAAEEEEAAAQQQeGwBglWCVYLVx76NaAABBBBAAAEEEEAAAQQQQAABBBBAoNgECFYJVglWi+2uZ74IIIAAAggggAACCCCAAAIIIIAAAo8tQLBKsPrQYHV+fl43btxQT0/PYy82GkAAAQQQQAABBBBAAAEEEEAAAQQQQKBQBAhWCVYJVgvlbmYeCCCAAAIIIIAAAggggAACCCCAAAJZEyBYJVhNGawuLCzIVKtSsZq1e5GOEEAAAQQQQAABBBBAAAEEEEAAAQTySIBglWA1Fqzev39fJlBdXFy0X12wOjo6qt///vd5tKwZKgIIIIAAAggggAACCCCAAAIIIIAAAk9W4Nvf/rY2b96ssrIy+y4tLbXvdevWqaSkxL4DgUDC+8mOaG1bvzU9qMB/PPnjpbrKJgVUsrajeUK9Ly0t2ZbNV/c2oap5u1CVYPUJ4dMsAggggAACCCCAAAIIIIAAAggggEBBCBCsxi/jku5rfHpEgf908u+WQusrFSrbUBAXOXkS6QarN2/e1G9+8xsFg8GC9GBSCCCAAAIIIIAAAggggAACCCCAAAIIpCMQDof1ve99L1ax6qpVi7ViNTw/pfDctAL/5e//89JcYEqV66sVLKsouMrVRwWrpmrVbAPgqlbHxsb085//XF1dXemsL45FAAEEEEAAAQQQQAABBBBAAAEEEECgIAV6e3v1i1/8QvX19QlbAZhtANw7eRsA832hvUylamR+RtNzk1q/tEGBkydPLi0uzWshENF9LWhJ0T+dL5SXC1bNfOJbASzZrQDuL0a3A4huCbCohfkFTU9Na9/uZ/W//scbhULAPBBAAAEEEEAAAQQQQAABBBBAAAEEEFi1wH/9x5M6++UXqtxQqdIys7eqF6iar25/1ZL4/qqmo0IMVgO2JLVUpUtBrQuUKfDaa68tmZDRhY6rFs7hE5OrVt0eq/59Vv2Vq7dv39arr76qH/zgBzk8K4aGAAIIIIAAAggggAACCCCAAAIIIIDAkxV488039etf/1o1NTX2YVXuwVWuUtU9uMr/8KpCDVbdvExobOdrglXzob+y88lejuy3/qhg1f8QK7MlwOzsrO7cuaPu7m5997vf1b59+1RRUZH9gdMjAggggAACCCCAAAIIIIAAAggggAACWRaYnp7WuXPn9Nvf/lZmG4CqqiqVl5fbYNW9/dsA+ENVV6laiBWr7jLE5uiC1Sxfn6x2t5J9Vk2gmvw2iygSidg9WE34al6FXt2b1QtDZwgggAACCCCAAAIIIIAAAggggAACayrgD0LdPqkmKF2/fr19uHtlZWVCoJocrLqKVf8eq2ZChRysxgLWYg9Wk7cD8Ierbv9V89VtH+C2TEjeu3VN7wA6RwABBBBAAAEEEEAAAQQQQAABBBBAYIUCyaGnPxR1Qam/ItVfqWr+/bBq1WKoWC2qYNVM1l+16qpOXVgaf4DVgvcgq+hX93bhqz9ULeQ9aVd4D3IYAggggAACCCCAAAIIIIAAAggggECeC/hDVX/Fqj88Nf9ebguA5IpVw1EM1ap2nsVQsZocrLpQ1B+sJleuJoeq/i0AUlWt5vk9xPARQAABBBBAAAEEEEAAAQQQQAABBIpQwF9h6vZKTVW16sJV89X83H0ttv1V/UukqINVE5CmCldTbQGQKlj1B7ZFeN8xZQQQQAABBBBAAAEEEEAAAQQQQACBPBXwV5UmV626YNUFqMnVq/6fJ59rOKhYzdNFsdywk/dETa5aTRWwus+S91f1B6r+dguMjOkggAACCCCAAAIIIIAAAggggAACCBSwQKpwNblq1V+d6q9SXe6hVQSrBbpg/PusJu+Xmhyi+vdVTbdalbC1QBcQ00IAAQQQQAABBBBAAAEEEEAAAQTyWCBVJal/K4Dkh1iZ71OFqcl//u/OK6ZQ1c61WPZYNZNdrmrVbQng3xog+d/J+6omh6eEqXn8W4WhI4AAAggggAACCCCAAAIILC9w55rOXLuT8uflmzvVuan8oXqzN/vUNzqrlRybuqE7unbmmu6UN6qz82k9vLdHXUivLVXpma5nVPWow9P4+Z2BM7o2mfl20xhCFg6d1Td9fboxW67Gzk49vcqLEbVKHm6i3QPrxq3Dh64DN77MXwc3nqpnuvRMbOGkt55S3wuuDb+H5xuJ3nurv3eWXxIuTL1zrVdf+65F9PNqtT7XqppAwO6l6q9MtYHq7cv6pH9CFVv3a1u4VxfHJdV36vmOOtvhk9kGIKyh06c1EI7Pqa7zeXVWDOn06QH5Ppb93A5lXH0f9GlcIW3bv19bQuajPn3QZwYcfYW27tf+FvOD1b2KKlg1RP6qVfe9PzR11anLPawq+fzVsXMWAggggAACCCCAAAIIIIAAAvkmMKmrp69qUtXavn+7qlc4/MiNL3XhxqzKG3dpd2NwhWf5D/P6LW/Srt2btZoW4q2tbg4rGfTk16d19XZ6NitpN7eOiWj0ywsamS1X067d2ryKi+HWg39e5eXlmp2dlXzX+IF1M3lVp69OJhyz9jbpradU90J03Sh+f2R5nq7/6u3PqbVGct8Hatt0sK3WhqTm7d8eIHC7Xx9fmlBo6049Pdan6W3H1FlnAtknFapK4cHTOn09HA1C68e9MLVaDaFJ3Qp7AWnFgBea1mn71hldve7iVhesuqBVquvslPpM6Gr+7YLY9FdU0QWrKwlXk7cJcN+nOjd9cs5AAAEEEEAAAQQQQAABBBBAIB8FbuvKZ1d0WzVqPdCqGjOF21f02ZXb8ckEm7VnT6M0cl7nRyIJkww2tatuol/Dvo9rWg+otca16w73tW8/8n4e3KRNuqmbqz0/YTQ1am2VriSPvU26fH5Yroua6EGKzzCo5j171BhMGnNNq1p1Rf7mJO/Y8MqMgk17tKfJSyojN3R+JeNIbrumVQfMkO11ci8zjmbNnI9/FqzdqMjEXUX9zWX8zI69ZnONbo/6rqe91s2KnD+fcN2ic0tsc9n52jHZ1SJ58wrV1Oj2bdNhqw40R3T+/IzqmsIaHonIOUS8NRRzcWvNrDF7ncalYESR+MXSgdaQbtixblRt8K4mFF2PQecZrNXGyITuPszmgXUavY41E9E1/eCaMI3VqHVPhYZ918x5uPP8y89/rR+Yp/9Ab87lT5Vr9t6s95OgmlvrNH7FrdOHrLNlnbzrYe6uq5/pyoRU03ZAbTUBufGEtuzTvuawLn96WbdtFasJTSu0tbtbWyKX9NHFaMVqZ6BPX1wPq6ahQpNj8ipDXXVpSA3VYd3yVyfXd6pTfeob86YT2qb9+7covZpR174LVpOD0zp1Pt+pOsXHEa1Y9X+/U/rKVMD6qllX8Wu5KINV47Rc5ar7WXKYmur4VXhzCgIIIIAAAggggAACCCCAAAJ5KnBblz/t14Rq1X6oTTVy34fUsm+vgsOfqn9cCm3aLN0cVdget0WRc2c1GJaCG4OK3I1Ide061BzRubOD9pjGugndMOdt2ae9TSbIGVLlvr2KF7d6/ZSVSfPzaZ9/+4o3LtN+aEif9k9I2qANmtKUHjb2NinVuaEWbasY1IAdc7vqx/vt/DZskKamTPlbuw7Vjkf7CdWrKjymO4/oJzRyTmfDW3TIF0A6H2OdehyJbTeGL+vToUrf2HzzTRpHYzCiG+a6VLTrUKui1zXUon17G6MVwbcve05SVV1Id8bDSe4h1VeFNXbHu27ONbkfb0yxdiM3dO7stLa0S/39E6ptP6Q2l/F5fUbXQVARYzIU9tZFMD4mM05zvl0/5vrZb+w1qG3fp8oh8+9atds+wnZt1kxE23LXyPaxzJjdsfY6mqD23FlNbzmkLeGHtBG7J6LhcfTaLX8vuDm6XwRurvFfDNF1aa9p/0T83gm1qKViUIOmzDLUova6MfUPmXLNR62zZKe4++0rp3TZ3BK+VyBgju9SaPgTXTLrvKVbz1YO2SpVhbbq2W3T6r1oKlaf1U716YvBSKwCdMZfUerbHmD84gdemFqn5vpxDY+t9s/w41sChLbu0tO3LvjCUVeRulywKsXH8TjBbhyr6IPV5ULW5M/ZUzVP/7vPsBFAAAEEEEAAAQQQQAABBDIkMKH+T7xg9XC7apX0/US/3Xcx6AWrkWCLurqapOEzOjMUUfnGcs3enVVwS5e6mqWRM2c0GKlV++F2VXjH2IF658X/ytzrxwtW0z1/4vInNvCtbT+s9lo3ZhesJtIkj33GOzfhqGCLnqkc1LVYm9GfpuwnWK+qiAlWo/OsdUbWYMbzjJ4fHZ/XU2REZ84MyhkuN46urlpNWMfoecamJXzGzjdxzEnjMPmfNa/wAsgJBbd0qGHsotdWrVq2zGhwKKKquqDujEeSrltQ9VURG6wmuNpr9+CYuppdJa6Z17RavGDVhJeHt0R05swtNWyp0OCQGYexCXrjc/0GJc/Oro8O6aLPx62x2vYuVQ66dVWn8U/6NbOlXQ1j/XatuRD/UTaxvqJXJmGNunA2cT352w6qxc1lmXvBzTH1jem7rzynhHsnNGjvs7idWSfLrLNl+vevtduXo+Fp7Y4j2mHWn1t7qlWT+Z8eEwHV7jiqjroJXfrooiYqtunZrdP64uK4/bP8nfrKC1afV8PYB+qb3qbOhm/Udz2suu3bNHPV2/+0fpu2TQ9oIBwPVlP9CX5C8OkLZo2V2w5AsT1TkytSHxGsznj7q3pVsjNe2Ps4+6wWbbDqFm/yA63M56n2UV3u4VQ8tCpD/32mGQQQQAABBBBAAAEEEEAAgRwXmNCljy/ZitUdR3bYYDX6fUhbu7sUHPw4Wt22uVEavWGrUc1x6o9+Hq9Y3aEjLRGd6b2usKpUH7qjsbBpw6RlvTLbIsZCHivi9ROrWE3v/Amvf1N111U34fX7lJ7SPd0zsZkLlExXJlQy4wptVXdXk2a8c1W3Q0diqafJ+Ly5tuxQw9glO+annpLu3XPteWP2VRImGNVXKWxSSdNu3VisEtD0aSPIlYzDf4ylM57RMGzEbhzpH3PytfP1YY0T/UO+ecUrVk17il3zWMWqcQ1dj84hWKVg5I4ixs83puh6ifcZ2tGtDYPRa21fdTvUXTGo3sGwrY50war53lRIGhcTnsa+d20n/aw21m7i2nN97NAluxYfZuPWq1kX9ePuOnerQxdt/+46J66nRHfXz3L3gptjbG1795DdCcJdV3P/7JAuXYpXrNrznLW5vu4+Wm6duXvxAScvRDV3l7eWo+Gp+eBS9Fr61pKpTH224rr983+ZUHLblE73RYPVXYE+u/epDUnlfzBUnTr3b9CAfbBUSNs6n9Y3febfDw9Wl/slmLDHauxhU/7q1f3a79tjNeVWAC5Ylalo3aaw9zAsgtXH/E/Pw6pRqVR9TFxORwABBBBAAAEEEEAAAQQQKBCBCV00FWuqVcfRjmhQNnExGra4lwlwupulod5oCOZ7hVp2qmHsq3iYZqKbjqM2sEpoo65DR23pnHt5/YYa1agbuuFrNq3zE0ZTqw4TzvnHbsbzZ1sV/toLVrubFZKbs+9kOz55Ft7ndR12Hubp6HZMtW7MW9W9dcr+2XSiUa0men3Bog3WutXsNpoMD6vXBbwPGYfr07Wd0Ld/vnVNqh0fSbx2NkP7KPpEd2fu+k2wcuF3wtXU1u6tmuo16yF28e0cQoNem97H0THFzw3H1kZ8HcU+89ZPlCGs4QQj85l3TpKPW2+1Hd3acN24Jh0X8011PZNskg2S1nRtdOH45u3G1aBb9v5IdGrcLN0YTb4XutVtH1Gf4h7yu3n3hvufEiZY7XYBp7lmLeH4Okm1zvwBtO++9F+T2BpIGLd5oNOx+Dr2XWO7V+lMnz60WwFEK1ZjwWpdUtDZEvJVmfo6WC9pLr2HRj3wJ/y2OX94G28/XgmbXNHKVgBJlzlz366mIpVq1cz50xICCCCAAAIIIIAAAggggAACCBSHQOowzxfYFwdDTswy4D2YarnBpPr5o87JiYllaRBFvxVAsvNKw9KVHpel60g3CCCAAAIIIIAAAggggAACCCCAAAIIrFrgUYHpo36+6o7z+ESC1UdcPALUPF7dDB0BBBBAAAEEEEAAAQQQQAABBBBA4LEECFSX5yNYTXNpEbSmCcbhCCCAAAIIIIAAAggggAACCCCAAAI5L0CAmv4lIlhN34wzEEAAAQQQQAABBBBAAAEEEEAAAQQQQKDIBQhWi3wBMH0EEEAAAQQQQAABBBBAAAEEEEAAAQQQSF+AYDV9M85AAAEEEEAAAQQQQAABBBBAAAEEEEAAgSIXIFgt8gXA9BFAAAEEEEAAAQQQQAABBBBAAAEEEEAgfQGC1fTNOAMBBBBAAAEEEEAAAQQQQAABBBBAAAEEilyAYLXIFwDTRwABBBBAAAEEEEAAAQQQQAABBBBAAIH0BQhW0zfjDAQQQAABBBBAAAEEEEAAAQQQQAABBBAocgGC1SJfAEwfAQQQQAABBBBAAAEEEEAAAQQQQAABBNIXIFhN34wzEEAAAQQQQAABBBBAAAEEEEAAAQQQQKDIBQhWi3wBMH0EEEAAAQQQQAABBBBAAAEEEEAAAQQQSF+AYDV9M85AAAEEEEAAAQQQQAABBBBAAAEEEEAAgSIXIFgt8gXA9BFAAAEEEEAAAQQQQAABBBBAAAEEEEAgfQGC1fTNOAMBBBBAAAEEEEAAAQQQQAABBBBAAAEEilyAYLXIFwDTRwABBBBAAAEEEEAAAQQQQAABBBBAAIH0BQhW0zfjDAQQQAABBBBAAAEEEEAAAQQQQAABBBAocoH/DyXRwXFJaIHcAAAAAElFTkSuQmCC"/>
          <p:cNvSpPr>
            <a:spLocks noChangeAspect="1" noChangeArrowheads="1"/>
          </p:cNvSpPr>
          <p:nvPr/>
        </p:nvSpPr>
        <p:spPr bwMode="auto">
          <a:xfrm>
            <a:off x="1831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dirty="0"/>
          </a:p>
        </p:txBody>
      </p:sp>
    </p:spTree>
    <p:extLst>
      <p:ext uri="{BB962C8B-B14F-4D97-AF65-F5344CB8AC3E}">
        <p14:creationId xmlns:p14="http://schemas.microsoft.com/office/powerpoint/2010/main" val="25601126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184" t="11660" r="5006" b="4516"/>
          <a:stretch/>
        </p:blipFill>
        <p:spPr bwMode="auto">
          <a:xfrm>
            <a:off x="2234648" y="2015231"/>
            <a:ext cx="7722704" cy="4012708"/>
          </a:xfrm>
          <a:prstGeom prst="rect">
            <a:avLst/>
          </a:prstGeom>
          <a:solidFill>
            <a:srgbClr val="FFFFFF">
              <a:shade val="85000"/>
            </a:srgbClr>
          </a:solidFill>
          <a:ln w="88900" cap="sq">
            <a:solidFill>
              <a:srgbClr val="FFFFFF"/>
            </a:solidFill>
            <a:miter lim="800000"/>
          </a:ln>
          <a:effectLst/>
        </p:spPr>
      </p:pic>
      <p:sp>
        <p:nvSpPr>
          <p:cNvPr id="3" name="CuadroTexto 2"/>
          <p:cNvSpPr txBox="1"/>
          <p:nvPr/>
        </p:nvSpPr>
        <p:spPr>
          <a:xfrm>
            <a:off x="390617" y="1065319"/>
            <a:ext cx="11123720" cy="584775"/>
          </a:xfrm>
          <a:prstGeom prst="rect">
            <a:avLst/>
          </a:prstGeom>
          <a:noFill/>
        </p:spPr>
        <p:txBody>
          <a:bodyPr wrap="square" rtlCol="0">
            <a:spAutoFit/>
          </a:bodyPr>
          <a:lstStyle/>
          <a:p>
            <a:pPr algn="just"/>
            <a:r>
              <a:rPr lang="es-CO" sz="1600" dirty="0">
                <a:latin typeface="Calibri" panose="020F0502020204030204" pitchFamily="34" charset="0"/>
                <a:cs typeface="Calibri" panose="020F0502020204030204" pitchFamily="34" charset="0"/>
              </a:rPr>
              <a:t>Posterior al proceso de aprobación de requisitos realizado por el programa académico y las demás áreas involucradas, y una vez realizado el cambio en su estado de admisión, se visualizarán los requisitos de matrícula y el(los) volante(s) de pago que apliquen.</a:t>
            </a:r>
          </a:p>
        </p:txBody>
      </p:sp>
      <p:sp>
        <p:nvSpPr>
          <p:cNvPr id="13" name="12 Rectángulo redondeado"/>
          <p:cNvSpPr/>
          <p:nvPr/>
        </p:nvSpPr>
        <p:spPr>
          <a:xfrm>
            <a:off x="2294282" y="2528441"/>
            <a:ext cx="7603435" cy="2431940"/>
          </a:xfrm>
          <a:prstGeom prst="roundRect">
            <a:avLst>
              <a:gd name="adj" fmla="val 4018"/>
            </a:avLst>
          </a:prstGeom>
          <a:noFill/>
          <a:ln w="76200">
            <a:solidFill>
              <a:schemeClr val="accent6"/>
            </a:solidFill>
          </a:ln>
          <a:effectLst>
            <a:outerShdw blurRad="50800" dist="381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s-CO" dirty="0"/>
          </a:p>
        </p:txBody>
      </p:sp>
      <p:sp>
        <p:nvSpPr>
          <p:cNvPr id="4" name="AutoShape 2" descr="data:image/png;base64,iVBORw0KGgoAAAANSUhEUgAABVYAAAKlCAYAAAAgmLcrAAAgAElEQVR4XuzdCZxU5Z3/+293082+KNgiItiCggtIEDCh1TGoacAENK4R1IAkV02ukMxEM3+Xf66YeydmJgHvxDgJQqJoFDUGjAqJQaM2UUEF3FhEdsJiK8jeLP1//U7VqT516tTWXdVdXfWpefXQdJ3znOd5P0+1M19+5zlFP/nJT+rECwEEEEAAAQQQQAABBBBAAAEEEEAAAQQQQCBlgSKC1ZStOBABBBBAAAEEEEAAAQQQQAABBBBAAAEEEHAECFZZCAgggAACCCCAAAIIIIAAAggggAACCCCAQJoCBKtpgnE4AggggAACCCCAAAIIIIAAAggggAACCCBAsMoaQAABBBBAAAEEEEAAAQQQQAABBBBAAAEE0hQgWE0TjMMRQAABBBBAAAEEEEAAAQQQQAABBBBAAAGCVdYAAggggAACCCCAAAIIIIAAAggggAACCCCQpgDBappgHI4AAggggAACmRfYuHGjOnfurE6dOmW+cVpEAAEEEEAAAQQQQAABBLIgQLCaBVSaRAABBFqiwNtvv61zzjmnJXadPrdwgQ8++EBLlizRtddeq9atW7fw0dB9BBBAAAEEEEAAAQQQKBQBgtVCmWnGiQACCCQRIFhliTSXwMcff6yTTjqJULW5JoDrIoAAAggggAACCCCAQIMECFYbxMZJCCCAQP4JpBus2q3bCxcu1NatWx2M/v37a+TIkZFw7Mknn9Q111zjvHfw4EH94x//0LJly3TgwAEdc8wxqqys1JlnnimrVnz//fcDQc866yyVl5c71wl6Wfs7duxw3j/11FM1ePDgqMMWLFignTt3Rvrhvml9Oe6449S3b9/Adt02vW/26tXLad+tqIzX7+OPP14XXnhhTLuvvPKKM167rp27adMmVVVVRR3nPca+37ZtW0w7rqm9YeN477339PnnnzumAwYM0Fe+8pXIOUFtWP/sGHccNk9dunSJ6cs777yj1atXa8SIEU6fU7Fz3datW6c2bdro7LPPjrLwjs/as+MXLVqkFStWRNbQ8OHDI9dz27vsssuiQlfzs5d58kIAAQQQQAABBBBAAAEEmkuAYLW55LkuAgggkGMC6QSrFpT+/ve/16hRo5xKQzc4tSDQDf5+9rOf6Y477nBGaQHgF1984YRsFuhZKPviiy8659u+mrt27XKO+/DDD50/zzjjDOdP9z0LTi3g87/s2tbWH//4R7Vt21bf/e53I4fY9WbNmuUEuW4/7E3r6xNPPOEcd+ONNwbOghsae69pQaOFtO7t6u6Y3L66DVmg6A0i3Z9bgGmhofXZzn311Vd1ySWXRIXB3mPsewuL/W3Z+faykHL9+vW6/PLLnX1JbbzPPvusevfuHQkzg9qwcZiJd56szxMmTIja3/Q3v/mN9u/fr29+85tOn5PZWQhq1zczC6zd/px22mmRsNc7Pnd+zj///IiB9e21116L9MXm4fHHH3dC+7Fjx0bmyvzs5Q2Rc+zjRHcQQAABBBBAAAEEEECgAAQIVgtgkhkiAgggkIpAOsGqBV5WaeitnrRrWODlhl3eYNUbqLl9sTbs5YZ27vn+wCzetbztWF8snLWQ0Q0iLaSzsG/p0qVRwar93MJdqxi1CtSgEDTeNefOneuEhlYpmW645w9WLVi0YNSCWveBTf5g1Q1i/fNn51o4bMGwd09SC40feuihSDAZ5G5teefGvh80aJDj4Fb8uiGpBdvePiSy89q4/bV+vvzyy5FQ1Nsfqyb2XtM9xw2srZrXnQcLgq3C2a0wTtc+lfXPMQgggAACCCCAAAIIIIBAugIEq+mKcTwCCCCQpwLpBKtugGeVhH369AncH9NfsWq3rA8ZMsQ5NijMbGyware4W0DphoMW9FkA+swzz0QFq1aJaYGkhXZr1qyJuQXe+hEvWLW9QO02dKueTDfc8werdh23etetxkw1WHVDY/9WAtamN7AMClbtXHtQlFvda/N0xRVXRMZlbdgxFopaBbI3WE1kN336dN18880J90n19seO91fJ2rXdStbJkydH5sGqYK0a1g2S07XP048sw0IAAQQQQAABBBBAAIFmFiBYbeYJ4PLJBRatWazte2qSHxg+4vw+w9S1w7Fxj6/Z85leW/NWyu2Vd+iq4X2Gpnw8ByLQUgXSCVZtjO7+mLafplUUWsjq3R/TG6y6oemqVaucPVmD9gN1j7E/vbd4u7eD+11PPvlkp2LWDUEtfHvhhRec8M0Nfi2c8/bDjrXtBtxA0g0K/U+ijxesen/u3s7v79cFF1wQeIt6ULBq47Sfn3POOU41pj9YNVvv67rrrotsJeB3co/zho7Wnr8Nc/Pum+r6eINR2+Zh9OjRzt61brCazM4/30GfA+/4Eh3vvuf3tnm17SQIVlvqbxn6jQACCCCAAAIIIIBAfgkQrObXfOblaP60bL4s3EwlXG1TWqazTzxDJ3TuHtfin7u2atnmD3XgUG1SL/e6l509MumxHIBASxdIN1j1jtdCVqvktIdTuVWL8YIzC8es8tOqJr37byYKVoO2HXCv7w3fLCi1W+vtZ+7Dobz9sGpOu/3ebnG3l4W8F198ccxDkBJVrJqTBbrphnvxglXvbf1/+tOfIkFmvNv44zm5Hrb3qgXFbmjrBqPu7f3e7RLsHNfHbHr27OkEt7bNgFW0+m/dT2SXqWDV1se0adOcKmP/PFjga6GwzW28YLmlfw7pPwIIIIAAAggggAACCLQcAYLVljNXBdtTC1bt9d6uLUkNBnTuoXNPHpQ0WH1z3dKU27OLEqwmpeeAPBBIJ1i1UNGtHvQOPV5FooVuU6ZMibpNPCi8DAorU91j1cJOCxVtOwA7x7YBsCpQN/Bzq1jtYUzuy0JNC3j9D7GKd03vbfaZClbdoHT79u1O5a8bhCYKVt2Q1PuwLndMFi674am/DQu0q6urIw/g8gar7jYHFqy6Dxpzzy8vL3f2bk1k52694O6D6vbHwlD3AVve/gTtyWrnWEBvfbHtEfzz4D70zAJ5NzzOg48eQ0AAAQQQQAABBBBAAIEWKkCw2kInrpC6bcFq57YdtG3PZ1q959PAoZ/UpqO6tO7ovJdKsLpg5WvaeGC3jmnVWp8fPhjTprVn77vtphqs2jYDtUeiK2Hd6lnve2UlZXG3K/Ae16F1B3Vs0yHSv9rDtarZ+1nk713bH6uyVmUx/d99YI/2HNwT9fOGHJvq9YLG7V480ViD+mltdWjTQR1bd0i4pYN3cNbO+poNOng4ZG9bQZzctVfcj4l/XM45cSyDjrXrWD97dAlVRieqkI7XCTt/Xc0GndN7UMofZ6u29r+27NzqrBH7ijeGVC+QTrDq7oNpt6a7+6Va2GdPcA+qWLVA0l7ePUHtZxaO2a3d7quxwar1wbYD2Llzp2wbAHu5waq7b6j3eva+e9u7d9/XoGDVfWK9O75MBqtuP6zfFl5auJkoWLXj7f0uXbrEmFob7kPFgtqwQNOC0qCHjNl2ANambQNgHu755uqGrd715LVzQ1s3RLXjzGjDhg2B/THjP/7xjwpaQ65B0DxYeG6V0cOGDQvcciHV9c5xCCCAAAIIIIAAAggggEBjBQhWGyvI+VkXcEO7v695S58e2B0YhFpA+rU+56YULrlB2YptH2vX/j2BlaunduimNiVlGtTzjLQCvlXbPtai9e9GQtuvnHhmJDiz997Z/KEzBuvracf3DbSz4/6y5k1nnBbsXjd4bCQ8tQCx+pO3tPjTdbroxAEacOLpUcGr26C73YEdZ69kx5qtG1qf1/00Dek1yGnXrrdkw1K9vnWVhnY7WZWnDAu8njs2a8Pmomf7rs51dx7c7QTe8YJp66e3etgqjg8cqY30ZXTvwUmDR7v2kytflc3ZqV17aePOrc6cXt7nyzrrxDMCjb2OdkCisXkN7Fh3bdj3m/bWOPNkY/56v/MThrn+jsz/cKEzj5POHp1yMPv2+qX6x+YPImvD/ccEc7Z/CHDnuqF7AqcTrNq1rLLwpZdecoK4Nm3axNxW77013KpF7TZ3u/W+e/fu2rVrl3M7/mWXXRZVxRovWLXANuhloZy9vFsFWMVm7969I4Gj2w9vJae3raAHQQXt6+rfQzbeHqvWtt3G7n/F2wrAPc7Cy5kzZzpBYyrBqmvqWgaZBgWrbuWu++CooK0S3EpY9/wXX3wxUgWbyM41sX1crT8WnLshrZ3n74+7hmxN2Mu/NUNQsGr9t0B3wIABBKtZ/y8wF0AAAQQQQAABBBBAAIFEAgSrrI8WI2Ch0gvr34nb37svmJjWWPyhnvfkVLYUiHcxt5/Whj9QtPcs+EtWAWtVuu7WBxb6jTxjRORyFvRNe2uOko3Xxjdj2QvOecmOddu0Y/2BpBv0fnfYVYHVsW7HgsZtfbAA+6unnRd3boL66YaOQYbehiwk/9mi2U4A/e1hV0XesvNT2WvX9Ukl3Jz66kynfe+xdv2Fq153AlILV28cPDYwePYP3uvtn99ki9hdG/7Q+f3NH+rZNW84p1/T74K4wX2i9tMNVt22LPyyl1VB+h8C5b+eVT1a4GZBrLdCNNm4eT++gGtqQbVtg9DcLws+bVuDdObYXUMWKPNCAAEEEEAAAQQQQAABBFqKAMFqS5kp+qlCC1bdakiben+IZiFfsrA0nWDVruGGmf6Q0n14WLIqyESBcqLlG9RPt61koaN7rlWRXjt4TOQy9nP/NgpBfQgKS+P1Nd6xbrgbNE/x2vJWntoxU4ZdnVIga8fGC1a97/k9Uv310dBgNdX2OQ4BBBBAAAEEEEAAAQQQQACBfBIgWM2n2czzsRRasHpSl+7asfczpxrSXt4qxGwEq7bf56MfvORcy63KdCsrUwn+goLVhvTTgsrH35nr3NqerJLUtol48J0/OX226lYzs31PU91rNBPBqjfQTFZh635Ef/fWU7qwz7n688rXnNv6bauGZMG1e26iYNX7GUkWvAf9uiBYzfNfogwPAQQQQAABBBBAAAEEEEAgowIEqxnlpLFsChRisDrgxDP0x+XznT1H7Vbzbw0c5TyYqSGBZSpzY4GfBZq2z6rdvm/mFu56tyKI1068+UkW8HkrVi1gfGfbKucSqd5W/8Q78wIfapbK7fDNEaxagG2B6veHj9OiNYv1t83vOXObbKsFgtVUVjDHIIAAAggggAACCCCAAAIIINB0AgSrTWfNlVIQsP08P6nZoJ0H9jgPefKGaw0NVq0C0h74ZE9y9waEub7HqlVf2hPjrSrzD8tfjDwkyUwyvceqOzXefTrvGD7eqRy1ysqTu/ZKOnv+ilX3Fvl0gtVbB18WqUBN9PApf2csrDQn98FV9r6FlRZeJnplOlhNpfLUtlywl+0BaxXB9uAte6USBNtxqVSs+rdzSDp54QMKrWLVHhZ14MAB50FRvBBAAAEEEEAAAQRyVGDvCr342KvaqIEa+90v6/gc7Wbju7VNb/xmrpafPVbfPTd/R9l4J1pAILcECFaTzEddXV1uzVge98ZCpvc2f6TdB/dEHgZ0w+Axkb0nLbh7cf27cQXuumBCzHsWtj2xfL4TStprVO8vObeKn9C5uyxYfWvdsshDorwn2y3dw04+O+WntXvPdftpbYw9uyqqT/bepp3bYn7u7/jcZQvUs8vxTrBqL+vrw8tedL63/TOtgjVovN52vOckO9Y9z8LQ+xc95vzV+m9Pm79x2JUprbqgcVsfzDrRy99Ptx0LRr3zH9SG9ddC1dOO7xt52+b81+/Mdf6ebNz3vTrLOe6ms0cl7We8Y71mydqxNT79raccW/dlxlYlbGFoKta2NuzBZraW3fXhtuW+V9n91IQPDIs3H4UUrNoDnx566CFdfPHFGjx4cEprnIMQQAABBBBAAIG8F9i7QvMff032aNKTLhinkf3aBQx5n1bMf0yvOQedr3Ej+yvoqERW2978reYtH6Ax30kelKZzbPrzs01v/Hae3hs4Rt9p9jAzl/qSvmRLPWPfyvl67FXp/OtGqn/7ljqK7Pe7qKgo+xdpoVcgWPVNXKIglZA186vcgqbV29fo/W2rtfHAHp3UpoN6dTlBJ3burt7HnhT1FPp3NixLGKzeef63ozpobb/w0cs6ePig07b7OqvzCRo7sEpbd23Tm+uX6v1d/4wZmB1zbu9B6t45/X8pdPt5TKsyTRp6ZdQY5i5f4OwDOrjX2Qkxg44zpzkrX4uc5x+vv0Eb38PLQ2FssmO9576yulrVW1c7P7LwLllf3XPdcbu+7s9tLOefMlTHdjg2cMz+flpQ+cS785w587cVNEabQ5tP92Xz/sDip521dMPQ+KHwZxbAvjvPOe2mgaOSzvVPX/td4LGu15BuvVV1+lcTzqsZra7ZoGu+9I3Icd55TaUf5mlr1j83bjtB6y7VT+4777xTMCHjG2+8IQtXv/a1r6XKw3EIIIAAAggggED+C+xdqfl/eE2bbKQ9z9d1I/vFhqapHJNEavtbM0LB6qRzVZ7oWOdaa1XxrZHql5XQa7venBEKVicNS9iT/J/7Ah3hvlXz9bgFq1lbY0GwoXX3+QXXaeRp/n+WCK/JoNP869T7WXSO7xk8jpSOS3xd9x8eogPWUJX15/8yXqMC/xHGHUSi48KV2kHj9VdvR6rX3YNP0gXjRjV7IE6wGp4Pf2iaLERN9n6B/k5Kedh7Du7V2xuWqXrbKg3perIqup7kVAx2aB3/v5YWSs3fEL9i9X+dFx2s2jVatyrTH96dp00HdjvXWVKzzrlFvE/nEzTwxNOditX3v9gS0++zOoUqVrt3Sj9Ytes+sPip0K+1Nh11VnmomvLjmo2qObhb139pTMJx2vkvfPiyju9wrIafMlSlJaWR/v199SLHzF7+8XoHcejIIb23+cOI17gzLnKC6lRen+39XA+9G6r4vG3oVQn76m3vjU/e1sIt76lv+266oM9QZ+sFqx59c8uHuuXL3wq8tL+fEy3g7HS81n+2UY99+DfnnJG94oe7W7/YppnLX3SOcatWF32y2JnnRGO269q2E3M/edO5xthTznXO91p7O+ydUzvW9rm1APejrWuc9WNr66unVcY939oy1z9/tFC9O5+gfzl1eKR5b9u27kad+dWE7cx598/6eO+nqjz+NPU7vo/jvK5mo7MubL19/fQROrb9MalMdcwxjQlWN23apDZt2qhbt24Jr/3pp59qzZo1zjEdO3ZU3759VVZWFvecRO3u3r1bu3btijm3vLw8sE1rK9HLPc9tN9F43Lbcc2pra7V9+3YFXdve+/jjj2Xt2qtPnz4JnfxGtlWBWTX05fatc+fOge3Y9WxLBP+rZ8+eMT9riI01Yl7e67vXDLqG3zKRra0la8tetvbMyl1P8daHd1Bun+IZJFvT7jX8855srVkfbOz+sfmd/BMQzyLTa6aha43zEEAAAQTyQGDfSi14/DXppJO0caNV8VXJn5fsX7XAqfA76aSN2qjzNa6qn9qmOfTti2do3rKBGjNpWOJgdd9+7W/XNu32U+/Odr01Y56Wnz1Gk4YSrKbulj9Huus5aK1nbZTb3tKM55Y7VeFVp/k+PeHPoBWEx7w86zTU741RbYQ+V9LAb0zSsHCUkepxCl93U1BlakBFtxOwbn1Dv5m3XCclC1YTHRcTlnpG7QlW9618UbP/vjHqWtve/I3m2njHfFdfTnyjbNam0homWJXkDUnjfe/OAoFq49ejBUxPvrdAfTp31/CKoerQJrV/enx3w/KEweq/n3djTOfsWv/z7jyn8rFP15M095O31KVVa+08fFATBo7U4vXL4lasDu3dsGDVOmGB3/LNH2nNrq3Otex1TtfeGtLr7KShlwWUO/bWOOf0P76PTi3vEzUue3/1Z+t1/ZBvxp0Mq15csS0UXrmvSqsaTTFwswC3dUlrffmUc1KacHOu/mRx3GO/MSC4KjBRP60PX4QrjeP1fc+BvXp74zJ9aPvyhp37duimYb0GJgySg/qbyMc7J95BHte+q07u1jOlAP659/4SOdU7r96f2wHWZjz3IC87p1ObDurR+fiYtZLS5HkOevfdd/WlL30p3dOcoPRPf/qTc973v/99tW7dOqaNgwcP6rnnntP69et1/PHHOyHs1q1bneNGjBihM844I+acZO2++eabev311wP727t3b33jG9+I6st//dd/JRzbNddc44Rd3naDxuPtl3uOBWJPPvmk3L+7F/rwww+1cGFoX93u3bs7Aea2bdsU1L8gIwuOd+7cqaFDh+qCCy5Ie27shFdffVWLFy923MePHx/TxtNPP+3MS9DLf92G2Fi7Zn/eeefp3HPPdS7jXvOyyy5zgmbvy28ZZGtB4ty5cx0bs7SXu56uvfZaJ2RNtD7c67l9SmRg69n6GRQCz54925lPv1OytWbX/9d//VcncPauG2vPXkHz5J1Ld11ma800aKFxEgIIIIBAfghYuPKH16Xzz9Mxr72uz8+/zhf87NfKBY/r9WPP03mfva7XdZ6u8wWrFuQ8/lr0P2gP+PpN4aBnu956+Dm959HqadfoucG57jFfv0knb3hYzy23gtnQtUPtSed9yxvyxrZTfw3JCYnC7bkBk3vJ7Ysf1nOfuf0OtzPwG7rJE6wmHkOcqY5c8zp1Xvq4XncJevqNQtc02wv0asjKub5CNm5fPGNwTUJXHqBv3DRM5eH3I9K+MYSO9TuFz40MIV5fgkNmx265d/z+9iLKvnlO4brOqT3D8+zrd4yhHRteixEA99z6/sXOo/cY//mKmofY+XFNkl834S+DbW/p4T+HPgHuGo863nlfoTmO21Dwuo2YRD6XqR4nyXPd4wPCVW+lqhuq/va50DgSBqvhUDXucc77SrJ/crz9h/dpxYuz9aou0PhR6W9Jkqlf2gUfrLpBaVCgmihkJWBt+BJ87O1ntenAHl1xaqXTyNrPNmr73s+cn1X1OluDThro/NxuCX9q2fMad87lzt+tsm/Pwfpb+v09CKouffXjf+ijmg0adWqlXlxdrYsqhmrplhVqU1KqC08b7mwH4La5Y+/nToVrp9bt1aF1B+fW8EQVtA0X4EwEclNg6dKlGjQotK9vOq+XXnpJFvBYOPfVr35Vp59+etTpVmVnwZW9LOx0qy/t5xb6vffee7r++utjqjiTtfvWW2+purpaP/jBD6Ku98knn+jvf/+7E6peeeWVkQrGX/7yl6qsrNSwYcMSDs9t184PGo/1a9WqVc6Yr776ap144onavHmz5syZE/m7XeCjjz7S/PnznTa8rnashYIWCF566aWRvjz++ONOUDh27FinTfdl8/Lyyy9ryJAhOv/889OZGufYWbNmOZWc5jxp0qSYqtVnnnnGOe6KK66ItG1zY6HwokWLdNpppzl70dqrITZ2nt/errlhwwZnjqxP3qplv2WQrZ1vWzmMGzcucq712cJ7CzpvvfXWGKegcboHxXvPKlKtTZsXf5v23owZMzRgwABt3LhREybE7vNt7Qf1372u/z13zQTNk3cu3fnI1ppJe5FxAgIIIIBA/gjsW6W/PlktnXetzt71hJ7/vFLXXnJafcVo+P0uo69V5+VPqFrR7+9f/Vc98bpUec0litzhvG2xZr3wvnqed60uOTVUnbd9ySw9/95ZunTC0FB4FG7XMjLvcfZWTJvusQMu1YQhoegpdMwmnTV6goZapV6kn+G/e2bIuXZkXNu1eNbzej+mreRjiJl0zxgi/dB+rfrrE6re5Bmrwte0BjzXtRA0qi+BJm57drKnzQBj18DmMq573L74Rxe+rm++Y+bRM5cNuW6oPWukZ/0aCpjvGKuAdRLUt6D1GfuzePPjrNzU1kvQbwTPfLpv+9e683Oby+Wdoz93/vY8n1N3bt1DQuMO+6n+85zwONuNYPtizVrWWdd+rX77j5gw1aoz99n2HK+HtgsJv6zydpR/g9qAStTAANaC1Xe7JA5Gw20poDI2VLXavFsCFHSw6g9VvX9P9F7+/FezeUby2zef0s4joSpOe53SvqvOOK5CB48c0uZd23TpWaH/B/6jLSucP4/pcIxWb1+rjk7g2V59y0/RZ3s+d957Z9N7urj/BU6FaIey9urQpkOkXfvZo+//VZecdLY+3L5GJ3XurlPLK5yfXX/WJVFVhq99/Ibe2P6xzujUPXL95tFp+qsu3fie475l7+e64syLdWyHht1G3vQ9b7orvrn2HX269zPH6MZzxkbtm9t0vcj+lRoSrFq4+Otf/1pVVVXasmWLczv8t74VvfXDsmXLnGDwpptuign17HwL/s466yynotF9pdKuhXwW/E2ZMiUGxyoarfpv+PDhkSB12rRpUX+PJ+q2a4GZ9WP06NFRh9pDr0499VQnqLzqqqsiwepTTz0V+bud4B530UUXxVzKvcYtt9zihIsWqC1YsMCpVAzaTsE9Psgw0cqwkHnevHmOvYWHtvWC19nO/eMf/+g08c1vxlbBu3PnjrMhNta2396uacGoVfD26tUrytjCRq+l/+9B7bkGdqxVqlp1r98x0TgTvecaugbutaxa2rZ4sED64Ycf1pgxY3TKKafETEdQ/7399Y413ufBjvf3I1trJvu/abgCAggggEBOC+xdpb8+tUiqvFqXdPpAv3txp4ZfdYlOc28y3LZYv3tRGv3tM7Xzr3O0SMN19SWnhfdh3adV9rNjRuvb4cAzNNbwzz3Hbl/yO73w/pka/e1wsBq+7uaz/OdK+1b/VXOqFelHzLlB1wi312XUt0NBq+flnP+52+/tWvy7F/RB5LqpjyFmHt0xnOg1keQ1PdVJsELX9B/n/tztS5z2Qh6bdWbU2OIYR8YZ7m3KffGNLp5nTHsWmnt9k1xXnjVghzrr6wOdaOvPsQq9/HMeMuhSv35CR3nmUs73O33tRB8TCuX96yv+/LjHJrpuittJBLi5Y3X6s+tsjdYLeuH9+nmImu8E54esTgx9XixYdSmW1f0AACAASURBVD/PHs96054afvXFzj+C7F/9kp784mxdquf1wvv1D6qyfyQY1j30dwta3bDV+TO8d2tRULDqXUIJglHnFv+dgzVWc53b+t1X1O39BKsxv25y4gfxQlT7ufu1d+9e7d+/X4cOHYr8LCc638I7Yftu2le71m11bLtjnT/ttenzzVr/2Rad1aOf3tn0gTbv36V+nbpr5Reh24XdV0X7rlq7t0YdSkrVuaydc5x9v+fIIY0fONI57NDhQ3p+5avO+x1K26r2yCFV9hmqBSv+rg6l7ZxrlBaXOtdeuul9vf/ZJp3YtrNO7Hic87Oex9RXiyXituts3rlZtYcPq6Jbb5W2qt8PtSVMk5m/svE9HVfWVl/u/SV1btupJXS7Sfu4auvHemv7x876OLfXoMh6bdJONNHFrArTqhPTea1evdoJGC2Us6o+q9AcOXKkunTpEmnmL3/5i1NVeOGFF6bcdCrtWkXl8uXLZbd+B70sdN2zZ0/kAVVPPPGEBg4cGLjtgPd8t12rDn3ttdecsbkVle4Y3fdsGwPbX9MCZbvl3/27hWl2rvv3ZAN/5ZVXnEPiGVk1poV/qfTfey0zsJcFzF5T7zHJrm3XtcDQqm4bYmPX8tu717TK3LffftupxHWrdP2W/r9be88//3zEq3371LaTSTTORO+tW7dO9rAz/7o2FwvfLWT3OvvnOqj/7jFB7y1ZssSpuvVWM9vx/p8nm7eGrplka5X3EUAAAQTyXODABr31t/ekgRdp2En79dHzi6SvXKrTw8+h/XzF806Yemn/ttrw1t/0ngboomG91CYhy4GYY5121pyi4ZeeLqesI+q60a0d2PiW/rZcGnDRMPVq87nTp0/6WB8SFISE2+vo6bvbRefaX7j9TrE9xY4hZshxx+C/Rrxr+n4ep71oj/pepDYu/zhSHH+4LzuOSzbf8dpL8bqffaTn//GJTvHNW2jMHcPrJf5c1K+r7tpq60SeNRZnjcZ6pjoGn713PSf7NZFgvYfGIB3nfAZDn4VQH3d4fpakjzuOS/J5CRtGjpPc65affZGG9mzjBKgHN72ll5bt0IlfvlyjB3SLBKuRgNXdOsSC1fBmzNEPtwpDJA1Go7cTiN1PNclWABupWE225DL+frJQ1YLUzz//XGeeeaZThWX/D2XQnoEZ7xgNIoAAAggggAACCCCAAAIIIIAAAggg0MwCdjfVymX/0M+mz9GO4kMadMIxKi0trQ9Y963Sgj+8Jv2LBauhYof0gtXwHqnHjtV3z40uLfff4p/o4VUSwWqTLpWgW/ztZ0ePHo1Upe7YscO5LTHotsgm7SwXQwABBBBAAAEEEEAAAQQQQAABBBBAoBkF/mf2M1r8yos67rjjIsFq8f7V+ottqnzBOI3s1y56mwBvXxNUrMYdUvihV1FbAngehGXn2Z6t/6K/a/bfj0ny8KvswhXUHqvJQlULV+1hFPaE4h/+8IfZlad1BBBAAAEEEEAAAQQQQAABBBBAAAEEWoDAL37xC61Zs8Z5bkZxcbGK9q92HnZXdMF1GumpWI2pWo0XrAaFp65DovciVuGKV12Q+OFXWbYt2GDVu5eqBarulz3wxEJVe5AKLwQQQAABBBBAAAEEEEAAAQQQQAABBApdwJ5vYQ+ltYfEWrBafOBjvTRnkXS+BauhitWoh1u5YHErVuPtnSqFtgIYGK5EjXNcQyphszCJBResulWr3lv/7fsjR4444eo///lP5+m+bdok3n47C3NBkwgggAACCCCAAAIIIIAAAggggAACCOScgD3cfdKkSTrhhBOcYLXkwBq99PQ/VHT+t5yKVW+oGlW1miAADdo71f2ZdxsA/56rUm5Uq9okFUyw6n9glbuvqrda1cJVC1b/8Ic/5NwCpkMIIIAAAggggAACCCCAAAIIIIAAAgg0l8C1116rHj16hILVg59oYThYrQoHq4FVq8kqS317p8Z7GJUbuEbGfnbsQ6+aw6WgglVvuOoNVN2K1cOHD2vr1q168sknm2MuuCYCCCCAAAIIIIAAAggggAACCCCAAAI5KXDNNdeoe/fuatWqlUpKSkJbAni+4m4HkJOjyUynCi5Y9e6t6t7+b3/alwWrVrH69NNPZ0aXVhBAAAEEEEAAAQQQQAABBBBAAAEEEMgDgSuvvNLZCsANVi1cdQNWN1QttHC1YINVt2LVG6q6FavPPPNMHix3hoAAAggggAACCCCAAAIIIIAAAggggEBmBK644opIxao3XHWrVr3hql0xaq/VzHQh51opiGDVv7+qf19Vt1r10KFDzlYAzz77bM5NFB1CAAEEEEAAAQQQQAABBBBAAAEEEECguQQuv/zySMVqsqpVgtXmmqUsXDdesOpWq9qfFqq6WwHMnTs3C72gSQQQQAABBBBAAAEEEEAAAQQQQAABBFqmwNixY51gtbS0NLIdgAWs/n1W3VCVitWWOc9RvfaGqvaGVavaz7wPrPIGq1axSrCaBxPPEBBAAAEEEEAAAQQQQAABBBBAAAEEMiZgwao9vMoNVuNtB0CwmjHy5m/IX63qhqpusOpuA2DVqu5WAPPmzWv+jtMDBBBAAAEEEEAAAQQQQAABBBBAAAEEckRgzJgxMcGqW7FqD7GyClWrXiVYzZEJy0Q3kgWrFqi6X26w+txzz2Xi0rSBAAIIIIAAAggggAACCCCAAAIIIIBAXgh84xvfiASr3u0ALFQNeoAVWwHkwbSnG6z+85//1J///Oc8GDlDQAABBBBAAAEEEEAAAQQQQAABBBBAIDMCX//616P2WLVqVXc7AILVzBjnXCupBqtWrepWrBKs5tw00iEEEEAAAQQQQAABBBBAAAEEEEAAgWYUsGDV3WPVv88qwWozTkw2Lx0vWLW9Vd0vd39VgtVszgRtI4AAAggggAACCCCAAAIIIIAAAgi0VIFLL700UrFKsBqaxaKf/OQndS11QlPpdyrBqgWqbrhqWwE8//zzqTTNMQgggAACCCCAAAIIIIAAAggggAACCBSEAMFq7DQTrB454mwBQLBaEL8DGCQCCCCAAAIIIIAAAggggAACCCCAQAMECFYJVmUVrEePHo1sA2DbAbjBam1trbZu3UrFagM+XJyCAAIIIIAAAggggAACCCCAAAIIIJC/AgSrBKsEq/n7+Y6MrGbeZFXdK939wnSNLc/sgBO3vVzThkzUbI3XzCVTNDCzl6Y1BBBAAAEEEEAAAQQQQAABBBBAoNkECFYJVpskWF3+wBBNfETSDTO15LaAeG3pNA2ZNFvjZyzRlEHN9nlo5IXDIWK8MTay9cac3lzBamjeCVUbM3eciwACCCCAAAIIIIAAAggggAACuSlAsEqw2rTBqhQcnhKs5uZviMb0avtcTR69UCOyUCXbmG5xLgIIIIAAAggggAACCCCAAAIIIJAJAYJVgtUmD1YVdFs4wWomPs+51cb2GtWUd1XX3OoVvUEAAQQQQAABBBBAAAEEEEAAAQQyIkCwSrDahMHqeM2cIU2cNFuV9yzQ9DGeyC0gWHVuI//4bi14YGx0OOdUQk5VhW/bgNDt7tWRGfVew30vaKuB2Nvk3X1BPYtjeEA/YtZO7FYA9WOo0KPOXqPuy3d7fHhM9b1XrJEk/xjl61fkendJ946equpwiH2ib4/VyHET16pqkqdXAVsxJLtmvG0Gos+rjNnfNWWbjPyqoxEEEEAAAQQQQAABBBBAAAEEEEAgswIEqwSrTRusLpkiOftu+oK2RgarMXt5hoNKuQGuG1zG7H9ao7m3VWmq3OA0aJ/U8DGLku0VGi9YrVTlogrdFHl4k6+9oGpdf/8lhcbodQtfzxOuRvay9VUF+8PPyHHeYDbcD28gnco1g4JV/3lBwXYoWE1ik9nfd7SGAAIIIIAAAggggAACCCCAAAIIZEyAYJVgtcmD1YFBIWdjgtU4FazRYWuccNQfYDr9WBtTXamUtiqIE6w+ErCvrKe9Ea8GV+ZG9T8gaHWWrq9fsUFoaIHHC1b9FbwNuWZMsBrYV3+A7QbFiW1a7oPMMvY7moYQQAABBBBAAAEEEEAAAQQQQCBHBQhWCVabPlj13NIeCfYaEazGfeK9v82Aa4TOrdDMSDVpnE9qo4LVgEpXTxjsBKtB4aunK3HH6OtuTOVu+P3gYDW2X97jznvDbBQbMvuu6W878dYA9e3F66viBOU5+juUbiGAAAIIIIAAAggggAACCCCAQIEKEKwSrDZLsCr5bmNvRLBaf/t78Ke4virTX1EarqLsO1NLbhsYdXK8NoP2aK0/MdEeqwn2ie0R2jPWu7+q/wFfcUPIoGA1YF/aVINVbwVsKPBNtv1BvGrYgPOCqmvT2EO3QH9HM2wEEEAAAQQQQAABBBBAAAEEEMhRAYJVgtVmClbrb2N39vTs9aiGTJotb3CZ6sOrUg0dbaqj2gyqjAyHf6Fl4dnPNKUqygYGq4PqF2G8B0VtdvZXTR5yxjMLDFaDQk3/FgUpXLMhoa3d4p/q/Obo7066hQACCCCAAAIIIIAAAggggAACBS5AsEqw2nzBqveBTPdUaOq9KQarvsrHVG+Td6bas4dq6FZ37zYAsfuARpZHEwWr3uXofeDT9Rvi3JafYhVoquFnSlsBJPFPaysAKlYL/D9BDB8BBBBAAAEEEEAAAQQQQACBlitAsEqw2qzBqrufpnsbfEzFakDFpHubvn9/Vu/T7G1ag/dPDVWVrr1npka8NFFTo7YBiK04dZdH0FPtY5dOQypWZ0qTJmr2DbHbEUTtNRreLqBixhJ5H+jkr9ZNq2L1EU9FbngwSSt6I2F4ffVsox5eRbDacv/rQc8RQAABBBBAAAEEEEAAAQQQKHABglWC1eYNVj0PsrKpiNrDNFwZ6Q1MvbfK1x8brjRd5LlVPvDJ9KHJ9u6f6t8zNfRedODovaY/vI1ePg0JVpcoVI1aHT12xVbPxmx5EOCTXrAqafjdWvBAeP/XePvcesPtuHMS/ZArv2NQMM1WAAX+Xx+GjwACCCCAAAIIIIAAAggggEALFyBYJVht9mBVboi4yBes2txE7XkaDgLvku4dPVXB1Zv1Exo3BA2HrtXeUDFymhvS+tuR5t5WpalBfYwc2rBg1alA9Y/T2gyoYvXvwRoYDKf68Co7buJaVU2aHRlB0MO5kl0z8a3/bi1ykupY7+cwpW0XWvhvXrqPAAIIIIAAAggggAACCCCAAAItXoBglWC1SYLVFv9JybMBxK0WzbNxMhwEEEAAAQQQQAABBBBAAAEEEEAgWwIEqwSrBKvZ+nTlcLsEqzk8OXQNAQQQQAABBBBAAAEEEEAAAQRahADBKsEqwWqL+KhmtpMEq5n1pDUEEEAAAQQQQAABBBBAAAEEECg8AYJVglWC1cL73Ice4BWwF2sBUjBkBBBAAAEEEEAAAQQQQAABBBBAoEECBKsEqwSrDfrocBICCCCAAAIIIIAAAggggAACCCCAQCELEKwGBKt3XjegLp8XRV14dHWqk31fV1eno3XS0aN1OnK0ToeP2NdR56v2cJ2279yvF9/anM8kjA0BBBBAAAEEEEAAAQQQQAABBBBAAIG0BEaf31fHd22v0tISlZYUq1WrYrUqKVZJcZGK3a+iIqmoSM7/FKXVfIs8uOjfL1Z+B6s2LRaohv5wwtVQsCodqZMOHw1/HZEOHZG27ZEWfJTXJC1yodJpBBBAAAEEEEAAAQQQQAABBBBAAIHmExg1pKOOP6ZEZSVFatWqSK3sz2KFg1WpuMi+3GC1rpHBaqZS2Uy1E+xe9O9fK6BgNRywxgSrR0LhqhOs7pYWfEiw2nwfU66MAAIIIIAAAggggAACCCCAAAIIIJBrAqOHdtbxx7RSaUmRSi1YLQ6FqyXFClWsRgWrTuFqA1+WyzX4ZN81M9VOnGD1JyMLM1g9YhWr4a9DVrV6RKo9Im3dLT3/AcFqA1c+pyGAAAIIIIAAAggggAACCCCAAAII5KHApcM66gQLVlsVOeGqU7Fa4las1qlYh50w1fmyaLRRmWajTvboWzvZy/mKup97bPZaz6VFFK5WDW20GtoSwP5X3dHQvqt1R6Q623N132HtWrs3l3pOXxBAAAEEEEAAAQQQQAABBBBAAAEEEGhWgbIze6uoYztLUlUUKlOVSkJJanFJqYrbD5PqDtcnqo1LVpt1rMkuXmrVuk6APPj4gglWI5utmo6z2ap301WFNl/df1h1G3Yl8+N9BBBAAAEEEEAAAQQQQAABBBBAAAEECkag6MxTpE6hYFUlJaFNVe17CxiLy1TWoVJ1smDVSMKlq3ms42xYUHxOeQEFq+Eg1QlWw0GqG7A6G6/WqW7/YR1d/0UeTztDQwABBBBAAAEEEEAAAQQQQAABBBBAID2B4jMrwsGqc/9/VLBaUlKm0vYWrB4qmGDViY8JVsOVqwSr6X2aOBoBBBBAAAEEEEAAAQQQQAABBBBAoGAECFZjp5pglYrVgvkFwEARQAABBBBAAAEEEEAAAQQQQAABBBomQLBKsBp+ahVbATTsI8RZCCCAAAIIIIAAAggggAACCCCAAAKFKECwSrBKsFqIn3zGjAACCCCAAAIIIIAAAggggAACCCDQKAGCVYJVgtVGfYQ4GQEEEEAAAQQQQAABBBBAAAEEEECgEAUIVglWCVYL8ZPPmBFAAAEEEEAAAQQQQAABBBBAAAEEGiVAsEqwSrDaqI8QJyOAAAIIIIAAAggggAACCCCAAAIIFKIAwSrBKsFqIX7yGTMCCCCAAAIIIIAAAggggAACCCCAQKMECFYJVglWG/UR4mQEEEAAAQQQQAABBBBAAAEEEEAAgUIUIFglWE0pWN30jxWF+PlgzAgggAACCCCAAAIIIIAAAggggAACCAQK9LykUurUTiopkUqKpeKi0J/2R0mZSttXqk6HnL87/6vI+SavX0XF55TX5fUI3cG5o6wLf2N/HK0LBa1Hw98frVPd/sM6uv6LgiBhkAgggAACCCCAAAIIIIAAAggggAACCKQiQMVqrBLBKsFqKp8djkEAAQQQQAABBBBAAAEEEEAAAQQQKGABglWC1ZS2AqBitYB/SzB0BBBAAAEEEEAAAQQQQAABBBBAAIEYAYLVgGD1jjvuyOutAOrCt/7bn+7X0aNHZV9Hjhxxvg4fPqxDhw45Xzt27NCCBQv4+CCAAAIIIIAAAggggAACCCCAAAIIIIBAWKCqqkrl5eUqLS1Vq1atnK+SkpLIV1FRkYqLi52j7Xv7yvdXEcEqwWq+L3LGhwACCCCAAAIIIIAAAggggAACCCDQOAGC1Vg/glUqVhv3qeJsBBBAAAEEEEAAAQQQQAABBBBAAIG8FyBYJVh1tgNgK4C8/6wzQAQQQAABBBBAAAEEEEAAAQQQQACBDAoQrBKsEqxm8ANFUwgggAACCCCAAAIIIIAAAggggAAChSFAsEqwSrBaGJ91RokAAggggAACCCCAAAIIIIAAAgggkEEBglWCVYLVDH6gaAoBBBBAAAEEEEAAAQQQQAABBBBAoDAECFYJVglWC+OzzigRQAABBBBAAAEEEEAAAQQQQAABBDIoQLBKsEqwmsEPFE0hgAACCCCAAAIIIIAAAggggAACCBSGAMEqwSrBamF81hklAggggAACCCCAAAIIIIAAAggggEAGBQhWCVYJVjP4gaIpBBBAAAEEEEAAAQQQQAABBBBAAIHCECBYJVglWC2MzzqjRAABBBBAAAEEEEAAAQQQQAABBBDIoADBKsEqwWoGP1A0hQACCCCAAAIIIIAAAggggAACCCCQfYEvvvii0Rfp1KlTo9ogWCVYJVht1EeIkxFAAAEEEEAAAQQQQAABBBBAAAEEmlogp4LVvZu0fMNutes5UL1qP9Saz4tU1K2fhvfrpuLiYoemqKjI+crca782vfOO1u+vb7Fr/0r1b7dJ77yzXp4fy/l5VzuuRiuqV6hGbdV78GD1bGs/WqHqFTWRRtr2GqzBJ9kbDXsV3XHHHXUNO7VlnFVXFxqe/el+HT16VPZ15MgR5+vw4cM6dOiQ87Vjxw4tWLCgZQyOXiKAAAIIIIAAAggggAACCCCAAAII5L1Abgar/VS+c4329/6y+ncrcYLUbAWr+ze+o3c27JcThHarCYepXXRc253asV+hn7dbHw5Nu+qUXvv0yQY3bnWDVTdolbr27y+tsNDVvneD2PSXEcEqwWr6q4YzEEAAAQQQQAABBBBAAAEEEEAAAQSaTCAXgtW+fU9Xn8FDdOLh+orVfiWf6P0tB3VMt3ba9VlRuDJ0vza/u1QbDrTVcV32a8dOD1O3/uqvFVrxafhnbXtr8OCeSq9m1K1edYNVf3DaVf0r+6ur3OPc971/P136yCpgPdWsDZhNglWC1QYsG05BAAEEEEAAAQQQQAABBBBAAAEEEGgqgdwIVvuq/bF9dGbPWq0KbwXgBqtd+/VT8erV2t9rsL7U7TO9u3SDDnTrr8p+zj35qllZHQ5Tu+rEbjXa/Gm4yjTt2/DrtwRo2+sMle/40BOOuhWp8YJVbz8aE+zWzzrBKsFqU/0O4DoIIIAAAggggAACCCCAAAIIIIAAAg0QyIVg9ey+faW4wepwlX/+hlbt663+x+3Qyo0H1PWU3tr3SXj/02691Xvveq3fXx+sBt2CXx/ASvIEs0bmbgegyJ6p/orUJMHqvvD+quEq2X3hsLcx+6wSrBKsNuDjzCkIIIAAAggggAACCCCAAAIIIIAAAk0lkAvBat++iSpWh6t/8Wq9seozh6SoqKv6D+6o9c6Dpdqqd/9ybV9h3ycOVuN5Ru2xGqly9VavRu+xGrgVgBusyipae2t/+GFYBKsJVjEPr2qqjzjXQQABBBBAAAEEEEAAAQQQQAABBBDIhkCyYHXevHkaM2ZMwkt36tSpUV1LtMdq137D1b/bQW1ZtlT2zCgLK8/p1c5TZeq5dJmk2vQeGhVVyRppysLbDuHwtr79+kpYf0UrWwGkvQAIVtMm4wQEEEAAAQQQQAABBBBAAAEEEEAAgRwSSBSsWqjqvhKFq40NVquqqlReXq7S0lK1atXK+SopKYl8FRUVqbi42OmKfW9f+f5iKwC2Asj3Nc74EEAAAQQQQAABBBBAAAEEEEAAgRYtEC9Y9YaqycJVgtXMLwGCVYLVzK8qWkQAAQQQQAABBBBAAAEEEEAAAQQQyJhAULAaFKomClcJVjM2HZGGCFYJVjO/qmgRAQQQQAABBBBAAAEEEEAAAQQQQCBjAsn2WE3lQgSrqSildwzBKsFqeiuGoxFAAAEEEEAAAQQQQAABBBBAAAEEmlSAYLVJuVO+GMEqwWrKi4UDEUAAAQQQQAABBBBAAAEEEEAAAQSaXoBgtenNU7kiwSrBairrhGMQQAABBBBAAAEEEEAAAQQQQAABBJpJgGC1meCTXJZglWA1N1cmvUIAAQQQQAABBBBAAAEEEEAAAQQQcAQIVnNzIRCsEqzm5sqkVwgggAACCCCAAAIIIIAAAggggAACBKs5vAYIVglWc3h50jUEEEAAAQQQQAABBBBAAAEEEEAAAbdidenSpWljDBo0yDmnU6dOaZ/rPaGqqkrl5eUqLS1Vq1atnK+SkpLIV1FRkYqLi51T7Hv7yvcXwSrBar6vccaHAAIIIIAAAggggAACCCCAAAIItGgBgtXcnD6CVYLV3FyZ9AoBBBBAAAEEEEAAAQQQQAABBBBAwBEgWM3NhUCwSrCamyuTXiGAAAIIIIAAAggggAACCCCAAAIIEKzm8BogWCVYzeHlSdcQQAABBBBAAAEEEEAAAQQQQAABBKhYzc01QLBKsJqbK5NeIYAAAggggAACCCCAAAIIIIAAAgg4AgSrubkQCFYJVnNzZdIrBBBAAAEEEEAAAQQQQAABBBBAAAGC1RxeAwSrBKvS0mkaMml2+sv0hplacttA1cybrKp7q6Xhd2vBA2PVNf2Wmu8Md+xZ7XuN5t5WpamLpMp7Fmj6mBYlFDM3zTnfyx8YoomPSAqvvcCFc2SL5v7oSk19VRr4vVl6aEI/lTXfCuPKCCCAAAIIIIAAAggggAACCDRagIrVRhNmpQGCVYJVglULlQlWU/4Fk+vB6pZnJ2vMTxer8keP6efXVBCqpjyzHIgAAggggAACCCCAAAIIIJCrAgSruTkzBKsEq3FXZnMGaE32caFitcmom+RCq2bqqutmqMedT2v65T2a5JJcBAEEEEAAAQQQQAABBBBAAIFsCxCsZlu4Ye0TrBKsEqxSsdqw3x6chQACCCCAAAIIIIAAAggggAACTSJAsNokzGlfhGCVYLXRwWqkstW776VbCWo/m9RR82f8Wg/PW6i1O6Wy8n46b+T1umnCSPXrGOfy2xdr9n/P1NxFi51z1KVCQ4eP1fiJY1V5cryT4q//mjdn65e/fVQLl9aotl1XDbzwet3y/fEauiW8v2zQVgBHarT42Yf11BMvauG63ZI6quLcSo294Qcaf246+6TG32PV3TN0/IwlmnLaWp/TQI249hb9YNxQdS3xjW3fFlU//aBmz6vWYqdvZeo6aITGXnW9rr+4nzr6j7fTA0xHjLkpdh62z9Xk0VNV7ZiM0hfzpmnqQ3/S8u1Xa+aSKTrR3VM3g/O9e9V8PfzbR/XimytVs8/WSPDYXa/AvWp3r9T8WQ/r0fmva+X2WqldV/U7d5SuHne9xg7yz9dyTRsyUbM13hlT/zXz9eBDD2vuy2u1O2x5/XfSnee0f/9yAgIIIIAAAggggAACCCCAAAIpCRCspsTU5AcRrBKsZjdYHTNe45fP1ux1AZfpMkL3PXK/Rvru2K5ZdL9uvm2O1gb2rKNG3PuY7h+d6m3etVr+wDhNfCSgtXaVuvsHFZr604A9Vmuqdf//NVlzgvotqeKGmXrstoEp7t+ZQrD6i5nSAxMDncouuFtP/3yserhh6b7lmnZD8LFGVjHmfj10uSkrggAAIABJREFUz4ioh4hteWmqJv94brCpOTwxXWNd0kiwOkV3952rqRG7UAiZMFhNe75rtXLWzZrwq+WqDZrvk8dr5iNTNLBd6M14wWrtmjn60YT7Vb0vqJEy9Zv0kGbd7J2v+mB1+gxp2qTZATZlqrznaU0fk+paa/Lf31wQAQQQQAABBBBAAAEEEECgQAQIVnNzoglWCVazG6xa6+0GauLP79OkIT1UViLVblmu2f95sx58tTb2oVHr5mjilfdruco0cNJ03XfDUPWwUK12ixY/MlW3P7RYu1WhibMe060Dkj/rvXbR/brwtjmqjenDYs24Z7JmLg3Hed6K1SNrNWfSVbr/PQsp79Z93xulfl3LpCO1qln5oh68Z6rmritT5b3PafroVCpXkwerZe3KVFs+SnffO0Vjz+joXGtL9TRN/qEFzGW6+lev6PZzQ+NdOWuMxv1qS6hvt41Vvy4K9+1P+tlt92vhzujj5TGt/N5DumPcQPUok2prVupPP79Z97+0Wxpwu56acbUqLLx1g1XnahUa++O7ddOY0Dn2SlihnOZ8R+ZHFbr6p/frlosrnGrb2o3VevCOH2n2qlqVXTldr/y40gmxA4PVfdW6f+Rkzdnnn6/dWvn8NN37n3O1cp9/vtxgtUxl7Wp14sUey9otqp4+WZOfXCu1u1q/ful2DU2+1HLzNzy9QgABBBBAAAEEEEAAAQQQyAsBgtXcnEaCVYLVrAerI376su6v8t2+HwnDeujWR+Zp4hnWjd1aeG+Vbp9Xqx7X/VpP/3BoTEXo2icn6qqfL3eCwHmzrlbiWsItmjNhjBOQJu6DogLe3S9PVdWP5kpV92vBT0coZuMBN6jscasee3ai+gXddh+lmjxYlSp19zxP1ahzfq2q/2O4Jj8t9fjeY5o3oZ/Fmpp7W5WmLhqqu+f9ur7KNHy92lenavgP56ps0kwtunmg08bin1+oW56MY3pkpWZePk4PbumhWx+fp4mnRQerA3/0lGZeUxE9mkRbASiZtXe+6+en8s55sQ+b2jlft198lxZqpO5/+T6N6BgcrK595Cpd9cBaZw7n/dJT2euaRMJ1b0jqBquhuY85r7Za9w+frDnyuOTm73B6hQACCCCAAAIIIIAAAgggUAACBKu5OckEqwSrWQ5W60Mx/4UW/2KIbnlc6vejp/SYhXeRMGugbn92pq4+KaBruxfqrq/ervkWRL4wXWPLE3ywauZrctVdqvYEc/6jV84Yo3EPbfEEq26YWabxMxZpyqCg9rdo7s1jNHVJqqFbCsHqldO1KFyV6b1ibHVofdha+cPHdM+V/WTFtHFfEdN+uv3px3T1ybFHLn9ouCbOqFXlvQtCFbiRitVg48QVq2nM97o5Gnfl/VqpqzV90e2qjBlHjeb/sEp3vVqmibMW6dYBQcHqWs254Srd/6GvSjdqmCs1c4yFx945rQ9Wr35gkW4f7r94/Zw5+98GroPc/KVOrxBAAAEEEEAAAQQQQAABBPJPgGA1N+eUYJVgNbvB6hm366lHrlZ0zWPokjEBXSRoC+3lafWWsS831JSSBl7vPajhE2aqtt1EzXz11sD27Fb04bfN8QSrbgiX2gc2OJTzn5s8WB165zz9+vLY+tugELP2vQc1bsLM8J6gZep62nm6aGSlKocM1cC+PdTRmxFGQtJEpr7+JjknYbCazny7DzgLenBYHP6YrQAiwXHioN0N8esfeuUGq8GVv/WVwSmss9SWCkchgAACCCCAAAIIIIAAAggg0GABgtUG02X1RIJVgtXsBqsJQrOYgC6loC2NSsJU2os5xnOLeAofvUiVZ8JjkwergU+5j7efqW2asK5aT/1qmh51nmLvfXXUwCun6O7bxqrC9qbdOEcTL7c9a5soWE1jvmND7eTgMcFqisFx7N6s7jzHC2TTWGfJu80RCCCAAAIIIIAAAggggAACCDRKgGC1UXxZO5lglWC12YLVLc/eojE/XSzdMFNLbhsoe8hS6NbwDFWsbpmrW8ZM1eJE7cUNVutvP2/8py/zwWqkT0dqtbtms9a+u1gLq+frxVeWq2afVObuD5ti8Bg1xsZUrCYIVmPmO5Xg24ef+YpVgtXGr29aQAABBBBAAAEEEEAAAQQQyLYAwWq2hRvWPsEqwWp2g9V24zXz5SkaGPOAJ89eoe7enpneYzWF28QjVbORQDB+CNqwj5idlcVg1d+pLXM1eczU+n1lW7sPYYp/q/zyB4Zr4iO1GvkfL+u+izt69lgNDrgTbgWQzny7QXrcc1y3+r1sYytPG7vHKsFqw9c1ZyKAAAIIIIAAAggggAACCDSVAMFqU0mndx2CVYLV7AarKtPVD7wS+3CgSFWk90FVSZ5gL2ntkxN11c+XSwNu17xZVyt2V1LvcOrbC3q6vY6s1MxrxunBdaEnwy94YKy6Stry9ESN+Y/QNZ6acbUq/KGw+7T6dt6nzCf64GUwWHXd4u1lGgmT3YdI7dbCO7+q2xdIgQY7F+quMbdr/j5PwNiYitW05rv+oVKBa2TVTF113YNa6wleY4NVz3wNv1vzfjlWPXzzZVsOXHjbHNVGzRdbAaT3nwqORgABBBBAAAEEEEAAAQQQaE4BgtXm1I9/bYJVgtUsB6uS2g3UxJ/fp0lDeqisRKrdWK0H7/iRZq+qVdmV0/XKjysVed5SpOKyTAMnTdd9NwxVD9srtHaLFj8yVbc/tFi7VaGJsx7TrQNiHiMfOxY3nFOFxt5zn6Zc2k8drQ9blmvOA5M17aXwDqXeW9gjYaNUMeZu3fe9UerXtUw6UqualS/qwXumau46qeJ7j+mpCf1S+GRnMFhVfRjp+Iw7Wz3CT6uqrVmrhTNv111Pro0OnuMaLNaMeyZr5lLfPDQqWE1vvne/dJeqfjxftb41svvDuZoWdvYGwkHBqvYt1rRrb9HsLf752q2Vz0/Tvf85Vyv3lany3uc0fbRF5/YiWE1h4XIIAggggAACCCCAAAIIIIBAjggQrObIRPi6QbBKsJrdYPWMSlXuq1a1VYX6XmWnTdRDM27VQAtOPa+aRffr5tvmhJ967z+ro0bc+5juH524VtV71pYXbte4exb6HvJkR5Sp8oarVfvIbC327Q1au/RBTbhtplbuC+bpePF9euynI2OqI4OPzmSwKtUunaZxk2bH8bFgs1J3PzFdYz1EW+ZN1pX3Vqs2qIMnj9fMR6bUz0NjgtW057tWyx8Yp4mPrA2kK7vgbj398/oq1MBg1XL3NXP0own3qzpwvsrUb9JDmnXzwPoAn2A1N/+LRK8QQAABBBBAAAEEEEAAAQQCBQhWc3NhEKwSrGY3WLXA8j8GavGMX+vheQu1dqfU8eShqhwzUT8YN1RdY/ZeDXdn+2LNmfmUnnopdI66VGjo8LEaP3GsKk/umPanafeq+Xr4tw9r7strtVtl6jpohK6/+Qca3+t1TR49VdVBD13avlxzn5itOfNf18rtFkl2VMW5lRp7zU0aW1nhVL6m9spssOpcM+wzd8lirVwXqrotK++n80Zer5smjFS/AKKQwaN68c2VzgOu4s5DY4LVBs53zZuz9ctH5qr6zfD8nHaeRt14k266OFRh7L7iBavO+7tXav5jj2rOvIVabvPVrqv6nTtKV4+7XmMHuZWqkZY0bchEzRZ7rKa2hjkKAQQQQAABBBBAAAEEEECgOQUIVptTP/61CVYJVrOzMhvwxPfsdIRWm0SA+W4SZi6CAAIIIIAAAggggAACCCBQmAIEq7k57wSrBKvZWZkEbdlxzdVWme9cnRn6hQACCCCAAAIIIIAAAgggkAcCBKu5OYkEqwSr2VmZBG3Zcc3VVpnvXJ0Z+oUAAggggAACCCCAAAIIIJAHAgSruTmJBKsEq9lZmQRt2XHN1VaZ71ydGfqFAAIIIIAAAggggAACCCCQBwIEq7k5iQSrBKvZWZkEbdlxzdVWme9cnRn6hQACCCCAAAIIIIAAAgggkAcCBKu5OYkEqwSrubky6RUCCCCAAAIIIIAAAggggAACCCCAgCNAsJqbC4FglWA1N1cmvUIAAQQQQAABBBBAAAEEEEAAAQQQIFjN4TVAsEqwmsPLk64hgAACCCCAAAIIIIAAAggggAACCFCxmptrgGCVYDU3Vya9QgABBBBAAAEEEEAAAQQQQAABBBBwBAhWc3MhEKwSrObmyqRXCCCAAAIIIIAAAggggAACCCCAAAIEqzm8BghWCVZzeHnSNQQQQAABBBBAAAEEEEAAAQQQQAABKlZzcw0QrBKs5ubKpFcIIIAAAggggAACCCCAAAIIIIAAAo4AwWpuLgSCVYLV3FyZ9AoBBBBAAAEEEEAAAQQQQAABBBBAgGA1h9cAwSrBag4vT7qGAAIIIIAAAggggAACCCCAAAIIIEDFam6uAYJVgtXcXJn0CgEEEEAAAQQQQAABBBBAAAEEEEDAESBYzc2FQLBKsJqbK5NeIYAAAggggAACCCCAAAIIIIAAAggQrObwGiBYJVjN4eVJ1xBAAAEEEEAAAQQQQAABBBBAAAEEqFjNzTVAsEqwKqlGc2+r0tRFAYv0hplactvAlFZvzbzJqlp3U8rHp9RoCzkod8cemtuFFy/Q9DFdW4hmtrq5XNOGTNTsNNZ0tnrSuHZD49CMJZoyqHEt5e7ZNsaHVfHCdI0tz91e0jMEEEAAAQQQQAABBBBAoKkECFabSjq96xCsEqxq+QNDNPGR8Zq5ZIqiItTtczV59FTpntRCuaYIF62vD5+cWn/S+yg07uiEY186TUMmKeLbtGNoeLDaFPMZq56hQM1Zu2t1k2dNN61749ZT4rMLLVjN0JrI5pTQNgIIIIAAAggggAACCCCQZQGC1SwDN7B5glWC1VCwqqDK1PRCueYJ4hq48jN8WjrBaoYvnaS59OawafvWlFerUc32ruqaF9WPhRasNuU64VoIIIAAAggggAACCCCAQG4KEKzm5rwQrBKsygkF762IrVj1r1mn8nJ29E+H360FD4yV3WTuDRdDVbDRh1ZGKl9jtx5I7T05IbBbsZr4Gu6xMzXipYmRbQ7Gu7dPh6txq6O6GFC1676fxtijmow6r1J3vzBdFU/UjyFkNkJ3fzw10sdEFtZ2ZAxBv1N846q8JzR+ZyuAXo8mnD9/c975dL+fqYmReU3Uz/o+Jppr3xzJ1lKFHo3cAh6uVLynQlPvddedZ45i5sTznrdiNdlcu8fOkCa669uzroOYvWvPNV47MXRrfsw/VDjtL9QIu61doSrwlNedXdw3zvEzZkqTQlsBjHg1vc9ZonmJXltB24Mk+Hz4DMfPWKCKmbHbi3jXbuj3jk8isr2Bt0rV8/2WgN9BCn2ubMuAlNqcMUILJ6VeiZ+b/+mmVwgggAACCCCAAAIIIFBoAgSruTnjBKsEq+GVGd5/0l2n/n0oA7cFiN6z0g3fFpz8sKruVSTscJoMh0MWrITCIH8INlUVSd5zQysLVu/RvQmvEQm4HqkPXUJ9WKu7X7hJa0f799oMB0lOuBcKiiOvNMYeuB9tgq0A3CAoEjglcnLDa79tpKOxe4i67VdO+YE07Ze+bR0S7zkaE6zeW10f6oZNInP2sS9gDwf18m8z4TkvcI7kD9QmanYk5PTM0V3Svb5tKpxA0+1HJFgdoYUx+6r65toNXiNrPvx+3+D9hUOm9evbP4fxg9U0153Na8Dac0PdKyZU6plZST5nqc5LzNqKrfBNWJXtMwzaXiTGbXuNupZ7PmlR2zfECVajKo5j56kmaZve9ZSb/1GmVwgggAACCCCAAAIIIIBAkADBam6uC4JVgtXglRmpkgsHk06lXbjqzhNueEOkqGD1pRG+gLL+9mUnWI3aeiAUkFjFX6L3YoLVBNdIXDkYCrj8D/9x+h/TphtupTb2BgWrUddM5BS/L6FJDLpFPLwVwDALVt8KVU3GmT//QogJVuP08/oNcdysRzHbTNTPdeAcBQSr3nmKzJETrPrmxNbszIrQuvMFqwnn2ltRGraJvz1GuCoyjkVG110kWPWvvdA877dgdWX8z1l68xJnbfmrguNV8voMA/0CnN01W18H7/5DSPJgNSpIj1q8vn8kilS0FsIWCrn5f2jQKwQQQAABBBBAAAEEEGi8AMFq4w2z0QLBKsFqwnUVCUiuXRtwC3P41HClX3TFavQtvu5FIhWrgXu6BgVx0d1ztwJwKlYbGaz6NjUIXSgoOAq8lTx47LkdrP7Sdwt69BgaGqw6T6aP2YIg9ICxRAGlEwXHBK+xFaspB6veAeRwsJryukslWJ0V/3OWdF58W3WE+MLBpnvLvadyPe4/PAT0M2ibjqj2y93w01+57obIiYNVf/VrqO1U2oz9B5Vs/IeVNhFAAAEEEEAAAQQQQACBTAsQrGZaNDPtEawSrGrakMmq8FUyussrOliNrdr0LsPEFav1RyaqYmzOitW4H6nASrvoo9N5eJV3n9jYsKppK1YT/RpJrWI1tJemu7+oN+CK7AEapzqZitUUfoknqPIMrlh124yuDE4+LwHr2fcPF2kHq3H+8cS5UtC4on6WIFj1bJfhhMfuK6U2CVZTWHUcggACCCCAAAIIIIAAAjkoQLCag5MiiWCVYFXThgzR2siDpaKiUucW/am212S4YlVRx0XfWpt8j1U5D8hKtO9mov1XG7THqjfciQQv8fe6dB7yNCZqh9XAfS79t903Klj17pma4T1W3b1tE+2x6r9NPhLNOQ/WuklWhRs/AA4/pMi7H6l//9U4++mmGqzO9u99avvgZnyP1eh/NEi6FUCyPVY9e5uGqjetEjTNdRcJIKMftOTu6Rp/j1X7nF2vte5n97aBoSlNNC/uHqvhMFW+fWQjFcnpbAXgnXdf+6GtGrzjch+WlWQrgPDDv6J/D4VXbEptEqzm5v8pQq8QQAABBBBAAAEEEEAgmQDBajKh5nmfYJVgNeY27qil6A1SYp7CHv2Eem+4GHsrsPeJ4omeFJ/KU+Q9t5n7bmeuf1J9+k9n954b83FMY+wx50Zukw+FRhVPDJE9gMsC3FBgWaHxmq3Zi0Jn1vcj6Mns0ebxrxV+54aZmqmJoev1elRD3Kfeh9/2PqXd31ZqFatLNKVH7JPuE40h4RwF7bF6w3jNfsS9gd6zjmLmxH9b+VrdtGSKBgZu5RDvFvSQQkpbGLhr74bxGm/9izzRPnrexs+YKU16OFQVHg4GvTfwJ1x31hnfOCvvmakRL02s35M46jMQ+1C44GsFrC1faBr1Gbb3wmF2tf/BdpHQ1htOJ28/elz22bhHuq9KUxfZGOyhY2EzZ9uA0Pf22ZkYsIWB/+Fv4U9SQJu+YDVe9Wvz/PeYqyKAAAIIIIAAAggggAACcQUIVnNzcRCsEqzm5soskF4lvL26QAziD7OlPGyopfSz4BcUAAgggAACCCCAAAIIIIBAixUgWM3NqSNYJVjNzZVZIL0iWE000S0lsGwp/SyQDxXDRAABBBBAAAEEEEAAAQTyUIBgNTcnlWCVYDU3V2aB9IpglWC1QJY6w0QAAQQQQAABBBBAAAEEEGiEAMFqI/CyeCrBKsFqFpcXTSOAAAIIIIAAAggggAACCCCAAAIINFaAYLWxgtk5n2CVYDU7K4tWEUAAAQQQQAABBBBAAAEEEEAAAQQyIkCwmhHGjDdCsEqwmvFFRYMIIIAAAggggAACCCCAAAIIIIAAApkTIFjNnGUmWyJYJVjN5HqiLQQQQAABBBBAAAEEEEAAAQQQQACBDAsQrGYYNEPNEawSrGZoKdEMAggggAACCCCAAAIIIIAAAggggEA2BAhWs6Ha+DYJVglWG7+KaAEBBBBAAAEEEEAAAQQQQAABBBBAIGsCBKtZo21UwwSrBKuNWkCcjAACCCCAAAIIIIAAAggggAACCCCQXQGC1ez6NrR1glWC1YauHc5DAAEEEEAAAQQQQAABBBBAAAEEEGgCAYLVJkBuwCUIVglWG7BsOAUBBBBAAAEEEEAAAQQQQAABBBBAoKkECFabSjq96xCsEqymt2I4GgEEEEAAAQQQQAABBBBAAAEEEECgSQUIVpuUO+WLEawSrKa8WDgQAQQQQAABBBBAAAEEEEAAAQQQQCA9ATcUTe+s4KOXLl2adjODBg1yzunUqVPa53pPqKqqUnl5uUpLS9WqVSvnq6SkJPJVVFSk4uJi5xT73r7y/UWwSrCa72uc8SGAAAIIIIAAAggggAACCCCAAALNJkCw2mz0Wb8wwSrBatYXGRdAAAEEEEAAAQQQQAABBBBAAAEEClWAYDV/Z55glWA1f1c3I0MAAQQQQAABBBBAAAEEEEAAAQSaWYBgtZknIIuXJ1glWM3i8qJpBBBAAAEEEEAAAQQQQAABBBBAoLAFCFbzd/4JVglW83d1MzIEEEAAAQQQQAABBBBAAAEEEECgmQUIVpt5ArJ4eYJVgtUsLi+aRgABBBBAAAEEEEAAAQQQQAABBApbgGA1f+efYJVgNX9XNyNDAAEEEEAAAQQQQAABBBBAAAEEmlkgWbB644036ve//31KvVy6dGlKx3kPGjRokPPXTp06pX2u94SqqiqVl5ertLRUrVq1cr5KSkoiX0VFRSouLnZOse/tK99fBKsEq/m+xhkfAggggAACCCCAAAIIIIAAAggg0GwCiYJVC1XdVyrhKsFqs01j4IUJVglWc2tF0psWJVB74ID279unbZs3a//evdr0ySfat2ePDh86pHWrVqn24MHIeLp07aoevXs7f+90zDHO98f16KEuxx6rNu3atahx01kEEEAAAQQQQAABBBBAAAEEUhWIF6x6Q9VUw1WC1VTVm+Y4glWC1aZZaVylxQrU1dVp965d2rpxo7asW6dPVqzQ+lWr9NmOHTpy+HBGxlXWurV6nHyyBgwdqnMuuEDHnXBCQdwykBE8GkEAAQQQQAABBBBAAAEEEMhpgaBgNShUTSVcJVjNrakmWCVYza0VSW+aVcBC1C8+/1xrPvxQH737rtZ88IF2bN2asQA11cG179hRF1x6qc4fNUpW6coLAQQQQAABBBBAAAEEEEAAgZYqkGyP1XTGRbCajlb2jyVYJVjN/irjCjkrYEHqzpoarVy2TG/87W9at3Jl1O37zd1x2/T6rGHD9M0JE1R+4onN3R2ujwACCCCAAAIIIIAAAggggEDaAgSraZO1mBMIVglWW8xipaOZEbAw9dOtW7XoL39xwtRdn32WmYaz2EpJq1a66LLLNPpb35JtG8ALAQQQQAABBBBAAAEEEEAAgZYiQLDaUmYq/X4SrBKspr9qOKNFCtiDpN56+WX99ZlntOOf/2yRY+h71lma8G//pmO6dWuR/afTCCCAAAIIIIAAAggggAAChSdAsJq/c06wSrCav6ubkTkC+/bs0V+eflqvPPdcTt3m39DpOb5nT33n3/9dPXr3bmgTnIcAAggggAACCCCAAAIIIIBAkwkQrDYZdZNfiGCVYLXJFx0XbFqBQ7W1Tqg679FHm/whVNka6bHHHaeb77lHPSsqsnUJ2kUAAQQQQAABBBBAAAEEEEAgIwIEqxlhzMlGCFYJVnNyYdKpzAts+uQT/e4Xv9CWdesy33gztEi42gzoXBIBBBBAAAEEEEAAAQQQQCBtAYLVtMlazAkEqwSrLWax0tHGC+z89FP9z30/1fqPVze+sRxo4bgTumvCv/6bTujdS63btsuBHtEFBBBAAAEEEEAAAQQQQAABBKIFCFbzd0UQrBKs5u/qZmRRAlvWb9Cvpt6nz7duySuZ0pJitS0rUedjj9WQERfpKyNHq0PnLnk1RgaDAAIIIIAAAggggAACCCDQcgUIVlvu3CXrOcEqwWqyNcL7eSCw9I039N9T/1+V1B1RSXFRHowoegitS4vVprTE+WGbdu30tWvHadglVSopCf2MFwIIIIAAAggggAACCCCAAALNJUCw2lzy2b8uwSrBavZXGVdoVoFFf31Jv/n5L1VcdDQSPjZrh7Jw8aIiqX3rVlGh8bCLv6av3zhRpa1bZ+GKNIkAAggggAACCCCAAAIIIIBAagIEq6k5tcSjCFYJVlviuqXPKQq4oeqRI0fUvnWJivOwWtWlsC0B2rWOrlAdPupSjRp/o1qVlqYoxmEIIIAAAggggAACCCCAAAIIZFaAYDWznrnUGsEqwWourUf6kkGB95e8rf+68x7VHjqsslahfUjz+VVcVBQYHleO/rpGXf9ttgXI58lnbAgggAACCCCAAAIIIIBADgsQrObw5DSyawSrBKuNXEKcnosCWzdu1E++P0W7d+9xume3ybcqyb+9Vf32QeMsLi7WNyZM0perRuXiVNEnBBBAAAEEEEAAAQQQQACBPBcgWM3fCSZYJVjN39VdoCPbv2ev/vf3/m9t3rjZEbCHVVngaPuQ5vvLqnKtOtf/6nTMsbrxx3eqR8Up+U7A+BBAAAEEEEAAAQQQQAABBHJMgGA1xyYkg90hWCVYzeByoqnmFqirq9OjD/y3/jL3z6oLd6Z1aXHePrTK7x0vWLXjzhg6TNfc9gOVtW7T3NPE9RFAAAEEEEAAAQQQQAABBApIgGA1fyebYJVgNX9XdwGObMWyZfrZ7Xeq9tChyOgLZRsAG7A9vMoeYhX0si0Brp38rxrwleEFuDIYMgIIIIAAAggggAACCCCAQHMJEKw2l3z2r0uwSrCa/VXGFZpE4PChQ7pvyg+1+qNVkes5D3RqUyL7sxBeyULkk/qeqhv//S6179ipEDgYIwIIIIAAAggggAACCCCAQA4IEKzmwCRkqQsEqwSrWVpaNNvUAov//qr+/6n/n44cPRq5tD2wqp3tr9rUnWmG66USIlvV6jdv/p7OuXBEM/SQSyKAAAIIIIAAAggggAACCBSiAMFq/s46wSrBav6u7gIa2dEjR5xq1ZUfrIgatT3IyfYdLYSXEyKXJX9IV5+zBuj6H/1Yrdv25651AAAgAElEQVS2KwQWxogAAggggAACCCCAAAIIINDMAm6wunTp0rR7MmjQoKhzGtNGp06Nu3uzqqpK5eXlKi0tVatWrZyvkpKSyFdRUZGsoMle9r195fuLYJVgNd/XeEGM76Nly/UfP/qxDh8+EjXeRA9zyjeYNqUlsgd1JXu1ad9eN931E/Xs0zfZobyPAAIIIIAAAggggAACCCCAQKMFCFYbTZizDRCsEqzm7OKkY6kL/GrqT7Xo5VdjTki252jqV8jtI51tAFqXqLg4tX8Nu+Sa6zTiiqtye1D0DgEEEEAAAQQQQAABBBBAIC8ECFbzYhoDB0GwSrCav6u7QEZWs2277vzuLdq9e09ssNqmlVqlGDa2ZK5Uq1XdMVacfqZuuON/qU07tgNoyfNO3xFAAAEEEEAAAQQQQACBliBAsNoSZqlhfSRYJVht2MrhrJwR+NvceZr1wK9UVxfdJdvKxCpWS/I8WLXx2TjT2bqlfcdOuume/0cn9D45Z+aRjiCAAAIIIIAAAggggAACCOSnAMFqfs6rjYpglWA1f1d3AYws3kOrnA93GsGqhbJH6+qcL/d7Cyztf2zfabvVPhdf1q92rUsaFB5f9b3bNPhfvpqLw6JPCCCAAAIIIIAAAggggAACeSRAsJpHk+kbCsEqwWr+ru4CGNn2LVt053dv1b59+2NGa6FjhzbxKzmPHK1T7eGjOnTkaEy1q78xi1VblRQ7D4fKlQpY61O71q3UqqRhoe+Xq0ZpzMTvFMRTCgvgo8AQEUAAAQQQQAABBBBAAIGcFSBYzdmpaXTHCFYJVhu9iGig+QRefu7Penjaf6vOvw+A5DzIqYPvFnmrSLUw1b4CTklpIBas2p6mDQ00U7pIkoOsgLZdWcNDVWuefVYzMRO0gQACCCCAAAIIIIAAAgggkEyAYDWZUMt9n2CVYLXlrl56rl/de58WvfJaoIQ3WLVA9eChUKCaqZcFrFbBWlpSnKkmU2qnW5c2shrV2tojKR0f76DOXbtp0j33qtsJJzSqHU5GAAEEEEAAAQQQQAABBBBAIJEAwWr+rg+CVYLV/F3deT6ygwcO6M7v3Kx/bv5ncLBaVKS2rUt0+PBRHcxgoOq/mFWPWrjaulWxUyWbrdcJ3drq4i/31On9j9f+A4f019fW66PVNQ2+XHFxsSbe+b/VZ8DABrfBiQgggAACCCCAAAIIIIAAAggkEyBYTSbUct8nWCVYbbmrt8B7nmh/1eaicUNW2ybAKlob+9Crju1KdcYpnXXO6ceqvGt7te7QLvRULklHj9apevFmLXp7S+BWCKkY8ACrVJQ4BgEEEEAAAQQQQAABBBBAoDECBKuN0cvtcwlWCVZze4XSu//D3r3A2VnXd+L/nrkmQxKBcKmxWqJIrK0sbcELca1m2QYvJb0AXoi0BnQRXIK2RFuB9k9iF3H/CqwC20KoEKxFu5rYCtmlwarBKmzFaK3xFuolKhCIDOQy1309Z+bMnHPmzMw5J2dmfufkffrKCyTP8/t9n/fznVP45Pf8nkkF/u2rX41r1r03BgYP7ZH46YizVaid7bk4elF3dHa2xd7evth/cDAGB4cj22Jguk92fkdbLp+HZmFr9n9tbZH/69gnFzGvqz2OPao7nn1cTyx91oJYcmxPfsVt9uno7oqunvkTpsrC1W33/yAe/NpPpyuj4u//5qrfizPPe3Nd5zqJAAECBAgQIECAAAECBAhUIyBYrUapOY8RrApWm7NzVR3/uHlL3HbDR+p+CdVkhFkAuuSYnjj9RcfGySceGfPnjYSbk3169w3EvgMD+aD1ez/qjQP90we9nR1t8cyj58fiI7vz4/eUvWSrMFeurS0fqLZ3dkw6//4DA3HX3++Mn/zsqZq74iX/eWX8zlsvqvk8JxAgQIAAAQIECBAgQIAAgWoFBKvVSjXfcYJVwWrzda2K8wJ3/I8Pxz2f+kzDNLIXUb3i146LV/768dHdNXWY2rBJJxkoC1Q753XnV6pW8/nev++NT939nRgYrO3lXMt+7TfiTe/64+jqnlfNNI4hQIAAAQIECBAgQIAAAQI1CwhWayZrmhMEq4LVpmlWhZYKXPNH6+LrX/3aIbO0t+di5UueGa/89V/IP6I/V59cLpdfmdrR3R1tHbUFu1mg+pn//b3Y+f3HaypfsFoTl4MJECBAgAABAgQIECBAoA4BwWodaE1yimBVsNokrarMcoG/eOcfxb9+7RuHBPPcJQviD1733Dhi3uSP2h/SBFOcnAWpWYDa3tmZD1SzVaqH8vn295+IT93znZpeZHX8s58Tb/2z9XHEokWHMrVzCRAgQIAAAQIECBAgQIDApAKC1dZtDsGqYLV1u7uFr2ygvz/+9ML/Ej/+4Y/rvsqXveiY+L1XPif/UqkZ/eSyF1floq29LdraR4LU7O8bPfGTvX3x8S3/Fo/vPVD15Rz7rGfF2/58Qyx4xpFVn+NAAgQIECBAgAABAgQIECBQi4BgtRat5jpWsCpYba6OVW1eoO/AgfiTC94WP/3Jz+oSOenZC+OCVSdGe1t9qWoWlOba2yIXo+fnIh+a5j/ZI/0dHfm/5gPUWfoMDQ3HZ7d9P76x87GqZxSsVk3lQAIECBAgQIAAAQIECBCoU0CwWidcE5wmWBWsNkGbKrFcYGhwMN771oviBw//oGacoxd1xWVveEH01PH4f/a4flfP/Pyj+yl+vvqNn8XWf3q46tIEq1VTOZAAAQIECBAgQIAAAQIE6hQQrNYJ1wSnCVYFq03QpkqsJFDPHqttuVysfvXSOPnE2h99z/ZD7T7iiMjVucp1Nu7i7p89FR/f/K3o6x+sajrBalVMDiJAgAABAgQIECBAgACBQxAQrB4CXuKnClYFq4m3qPImE6gnWH3O8UfEJeecVPMWANlK1e4FPeOP+yd6W57a1x8f+9Q3q95nVbCa6I1UFgECBAgQIECAAAECBFpIQLDaQjez7FIEq4LV1u3uFr+yWoPV7CVVb/jPJ8RvvODommU658+LznndNZ832yf0DwzF5q3fje8+/ERVUwtWq2JyEAECBAgQIECAAAECBAgcgoBg9RDwEj9VsCpYTbxFlTeZwI0b/iK2b/unqoGOXNAV73pT7XurZi+l6l54RGQvrGqGz+e+9MP453/ZXVWpxz/7OfHWP1sfRyxaVNXxDiJAgAABAgQIECBAgAABArUKCFZrFWue4wWrgtXm6VaVlgj07v15XHnRJfHoI49WJZOtVH3jb51Q1bHFB2UrVbMVq83y+db3Ho9P3/Odacvt7O6ON132x/GC3zh12mMdQIAAAQIECBAgQIAAAQIE6hUQrNYrl/55glXBavpdqsJJBf5l+/1x3Z+vj8HBoSmVssWm561cGqecdFRtmrmIrp6e6OjqrO28OTz6Z4/ti49v/rfYf2Bgyipe+bu/H7/1hvOaZiXuHJKamgABAgQIECBAgAABAgQOQUCwegh4iZ8qWBWsJt6iyptKYGhwMP7bH62Lb+74xpRQ87ra451vfEEsfkaN+6TmctHdMz/amyhY3be/P/7m0/8Wjz6+f1KTZ/7SCfGHf3JFLDp6sQYjQIAAAQIECBAgQIAAAQIzKiBYnVHeOR1csCpYndMGNPmhC3zty1+JD17xZzEwxarV44+eF+984y9HR3uN+6Q2YbCard79zL3fi2999/FJcX//okvi1BVnHDq+EQgQIECAAAECBAgQIECAwDQCgtXWbRHBqmC1dbv7MLmyA/v3x3vfelH8dPdPJ73iX3nuM+Itr3te7SJNGKxmFznVC6yOeeaSuODKP48jjzm2dg9nECBAgAABAgQIECBAgACBGgUEqzWCNdHhglXBahO1q1InE7jjhg/HPZ/+zKRA/+m0X4hXv2xJ7YBNGqx+/VuPxT/84/cqXu9LV746zlrzVnur1t4NziBAgAABAgQIECBAgACBOgQEq3WgNckpglXBapO0qjKnEvj6g/83/vufXBkDg4MVDzv3jF+KF7+wjv1EmzRY/eHu3vjbLd+asD1CW1tb/MF7roiTTvk1DUWAAAECBAgQIECAAAECBGZFQLA6K8xzMolgVbA6J41n0sYK/Pzxx+NPLvwv8fO9T04YuL0tF2/7nefH835xQe2TNmmw+tjj++NvNv9bPL2vv+Sajz7++HjrVevjyGNtA1B7MziDAAECBAgQIECAAAECBOoREKzWo9Yc5whWBavN0amqnFJgeHg4rv6va+Pb39w54bjOjra49Nxl8cxj5teu2KTBahaofuzT/xZ7nthfcs2//BunxRsv+6Po7O6u3cIZBAgQIECAAAECBAgQIECgDgHBah1oTXKKYFWw2iStqszpBDZ9+CNx9//aErlcxLFHzossUN1/cCD2HRiMP3rTL8dRi7qmG2Li7zdpsHqwbzD+/t7vRX//YH4v1d6n+yJbxfqbq34vzjzvzbU7OIMAAQIECBAgQIAAAQIECNQpIFitE64JThOsClaboE2VWI3AF7dujZ3/+LFYcerxMa+rfeyUvb190dnZFkfM66hmmNJjmjRYzS5iaHg42rKUefTzxN4DcfDIF8Wy3/z92h2cQYAAAQIECBAgQIAAAQIE6hQQrNYJ1wSnCVYFq03QpkqcVmB4OH70uduibe938itWG/Zp4mC1ksFwrj3mP/eV0f2LpzWMyEAECBAgQIAAAQIECBAgQGAqAcFq6/aHYFWw2rrdfRhd2b6HvxI/37ElYmiwsVfdYsFqhtPWtSB6fuV3o33RsxprZTQCBAgQIECAAAECBAgQIFBBQLDaum0hWBWstm53Hy5XNjwce774l9G35+HGX3ELBqsZUteSX4v5z1/ZeC8jEiBAgAABAgQIECBAgACBMgHBauu2hGBVsNq63X2YXNnggSfj8S/+VQw89Vjjr7hFg9XOxc+Pnl+112rjG8aIBAgQIECAAAECBAgQIFAuIFht3Z4QrApWW7e7D5MrE6zWfqMFq7WbOYMAAQIECBAgQIAAAQIE6hMQrNbn1gxnCVYFq83Qp2qcRmDPF7KtAHY13qlFV6x2/+KLY97zVjTey4gECBAgQIAAAQIECBAgQKBMQLDaui0hWBWstm53H0ZX1vuv98RT3/mnxl9xCwarufaumL/sNdF57Asa72VEAgQIECBAgAABAgQIECAgWI1cLpf/1eofwapgtdV7/LC4vv0/+lr8/Kt/F8OD/Y293hYMVtvmPSN6fvWcaD/imMZaGY0AAQIECBAgQIAAAQIECFQQsGK1ddtCsCpYbd3uPoyubKD3kdiz/ZYYOtDb2KtuwWC146gT4oiT39BYJ6MRIECAAAECBAgQIECAAIFJBASrrdsaglXBaut29+F0ZcPD8dgXbo7+x3/Q2KtuwWDV/qqNbRGjESBAgAABAgQIECBAgMDUAoLV1u0QwapgtXW7+zC7sid3bImnv/+lxl51iwWr9ldtbHsYjQABAgQIECBAgAABAgSmFxCsTm/UrEcIVgWrzdq76i4T2PfwA/Hkjs0xPDTYOJsWC1btr9q41jASAQIECBAgQIAAAQIECFQnIFitzqkZjxKsClabsW/VXEGg/8mfxuPZPqsHn26cT4sFq/ZXbVxrGIkAAQIECBAgQIAAAQIEqhMQrFbn1IxHCVYFq83Yt2quIDA82B97vvA/o3/vjxvn02LBqv1VG9caRiJAgAABAgQIECBAgACB6gQEq9U5NeNRglXBajP2rZonEdj7f++K/T/8auN8WihYtb9q49rCSAQIECBAgAABAgQIECBQvYBgtXqrZjtSsCpYbbaeVe8UAk9/7/548hv/EDE81BinFgpW7a/amJYwCgECBAgQIECAAAECBAjUJiBYrc2rmY4WrApWm6lf1TqNQP8TP4zH778thvr3N8aqhYJV+6s2piWMQoAAAQIECBAgQIAAAQK1CQhWa/NqpqMFq4LVZupXtU4jkN9n9Yt/FVnA2pBPqwSrubbofvZLY97SVzSExSAECBAgQIAAAQIECBAgQKBaAcFqtVLNd5xgVbDafF2r4ikF+n/+k9j74N/EQO+jo8flImK4PrWmDlZHrzvXFp3HLIueX/7tiFxbfQ7OIkCAAAECBAgQIECAAAECdQoIVuuEa4LTBKuC1SZoUyXWLDA8HANPPRYxPBiPb//LGDxY59YATRysdhy1NLqf/eLIdS2M9iOOqZnQCQQIECBAgAABAgQIECBAoBECgtVGKKY5hmBVsJpmZ6qqYQKP3H31YRmsdi5+fvT86u83zNFABAgQIECAAAECBAgQIECgHgHBaj1qzXGOYFWw2hydqsq6BQSrddM5kQABAgQIECBAgAABAgQIHLKAYPWQCZMdQLAqWE22ORXWGIFH/881MfD0z+sbrIm3Auh61qkx/8Qz6rtuZxEgQIAAAQIECBAgQIAAgQYJCFYbBJngMIJVwWqCbamkRgo89o//Pfp799Q3ZBMHq92/+OKY97wV9V23swgQIECAAAECBAgQIECAQIMEBKsNgkxwGMGqYDXBtlRSIwX2fvmvY/9PdtY9ZOf8edE5r7vu8+fkxLaOmP+8FdG15NfnZHqTEiBAgAABAgQIECBAgACBgoBgtXV7QbAqWG3d7nZleYGnvnVPPLXz8zE8PFyXSDMGq7nOnuj5ld+Njmc8u65rdhIBAgQIECBAgAABAgQIEGiUgGC1UZLpjSNYFaym15UqaqjAQO9PYs8/3RRDA/11jdvR1RldR/TUde5cndS+6Fmx4JTzInJtc1WCeQkQIECAAAECBAgQIECAQF5AsNq6jSBYFay2bne7sjGBJ7bfHAce/fe6RNo62mPewgV1nTsnJ2X7wj77JTFv6SvnZHqTEiBAgAABAgQIECBAgACBYgHBauv2g2BVsNq63e3KxgQO/Oj/xt5/+V8xPDRUs0quLRfdCxZEW3tzrP5sm/eM6PnVc6L9iGNqvlYnECBAgAABAgQIECBAgACBRgsIVhstms54glXBajrdqJIZFdjzueujb+9Pa58jWwHaMz/auzprP3e2z8i1RfezXxrzlr5itmc2HwECBAgQIECAAAECBAgQqCggWG3dxhCsClZbt7tdWYlA/94fxuPbb4mh/r6aZZpln9X2RUviiF89J3Kd82u+RicQIECAAAECBAgQIECAAIGZEBCszoRqGmMKVgWraXSiKmZFYN/3vxBPfuOemrcEyLW1xbyFR0T211Q/bfOOjJ5f+Z1oX/ALqZaoLgIECBAgQIAAAQIECBA4DAUEq6170wWrgtXW7W5XVlHg6W/dE73f/kLN4WrX/HnRMa87SdW2rgUx/6RXR8fi5yVZn6IIECBAgAABAgQIECBA4PAVEKy27r0XrApWW7e7XdmkAvsf/lI8+Y27Y2igv2qltvb26M5WreZyVZ8zGwe29RwTPcteE9k2AD4ECBAgQIAAAQIECBAgQCA1AcFqanekcfUIVgWrjesmIzWVwODTj8QTX7ot+p/aW3XdXT3zoqM7nVWrnce+IOYve03k2ruqvgYHEiBAgAABAgQIECBAgACB2RQQrM6m9uzOJVgVrM5ux5ktLYHhodj9938ebUMDMTw8PG1t+b1WFxwRufa53Wt1aHAohnt+IY5+6Zppa3YAAQIECBAgQIAAAQIECBCYSwHB6lzqz+zcglXB6sx2mNGTF9h553uis2M4eno6YnhwaNp62zs7o3tBz7THzdQBfQf740DvvjjqRStjwUmvnKlpjEuAAAECBAgQIECAAAECBBoiIFhtCGOSgwhWBatJNqaiZk8gC1b79u+Pjs72OOronhgeHJx28s7586Jzll9kla2offrJ/XHgqX3R09MZC18oWJ32RjmAAAECBAgQIECAAAECBOZcQLA657dgxgoQrApWZ6y5DNwcAoVgNV9tLuKooxdER9vw1FsD5HLR1TM/Oro6Z+UiBwcG44lHn4z+g/2xaFF3ZO/PEqzOCr1JCBAgQIAAAQIECBAgQOAQBQSrhwiY8OmCVcFqwu2ptNkQKAlWRyfsWTAvjjiic8rVq7m2XHQd0RPtHR0zWuaB/X3x+M/2xvDQcD5UbW/P5ecTrM4ou8EJECBAgAABAgQIECBAoEECgtUGQSY4jGBVsJpgWyppNgUqBavZ/O3tbXHUMQsiBgcmLWcmw9UsSO3d+3Tsfbw32ttysXBhd3R0jL80S7A6m11iLgIECBAgQIAAAQIECBCoV0CwWq9c+ucJVgWr6XepCmdUYLJgtTDpkYuPiM62mHRrgFy2LUC2crWzcStXB/pHHv3f//SBaGvL5VeqFoeqWW2C1RltC4MTIECAAAECBAgQIECAQIMEBKsNgkxwGMGqYDXBtlTSbApMF6xmtcyf3xULFnVPujVAFq52zu+Oju7uQyp9eDjiwNMH4vFHfh6Dg0P5x/7LV6oWJhCsHhK1kwkQIECAAAECBAgQIEBglgQEq7MEPQfTCFYFq3PQdqacS4EsvHz6wED0DwxFV2db/Ojvroi+/furKmnRkfOju6s9hoeGKh6frVrNXmqVaxt/ZL+agYeHh+Pggf74+WO9cfBAX/6Uzs62fKiarVit9FnwK6+JeNbLYmBwKOZ1tcf87vZqpnIMAQIECBAgQIAAAQIECBCYVQHB6qxyz+pkglXB6qw2nMnmViALVfc8eTAO9o0HowM/2RG9//J3MTxwsOriOjvbY8Gi+dGRf5HUcLZPwPi5uYi2jo786tWpAtahwaEY6B+I/U8fjH29+/MrVAufefM6YsGCrsnr6Tk22l60OgY6FuaPyaromd8RRy7orPoaHEiAAAECBAgQIECAAAECBGZDQLA6G8pzM4dgVbA6N51n1jkR2PtUfzy9v+xlVMPD0f/Iznjqwb+pKVydiQvIVqf29HRGFqxO+ln4izH0vNdGHHF8ySFtuVw8Y0Fn9MyzcnUm7o0xCRAgQIAAAQIECBAgQKA+AcFqfW7NcJZgVbDaDH2qxgYI7D84GHt7+2OoeHXp2LjDMbDn4Xj6a5+Kwd5HGjBb7UNkq2AXLuya9NH/bMTho06M4aVnRsw/uuIEnR1tcfSirtGVtLXX4AwCBAgQIECAAAECBAgQINBoAcFqo0XTGU+wKlhNpxtVMmMCWZb62N6D0TdQeW/UkYmHY/DnP82HqwNP/GDGaikfuKpVqll1x74ohk84I6Jr5PH/yT7ZitWjFk6xjcCsXZmJCBAgQIAAAQIECBAgQIBAhGC1dbtAsCpYbd3udmVjAhW3AJjEZ/Dpx2Lf1z8T/T/bOaOCuVzkH/nvmd8ZuUleUFUoYPiZL47h5/xmRMf8aWuyJcC0RA4gQIAAAQIECBAgQIAAgVkUEKzOIvYsTyVYFazOcsuZbrYFpt4CoHI1QweejH3/enf0/eirDS83l8vFvHntVQWq2eTDz/7NGH7WyyLaq1+FakuAht82AxIgQIAAAQIECBAgQIBAnQKC1TrhmuA0wapgtQnaVImHItC7byB69/VHxa1Vpxh4uG9f7N/5j3Hg+9sPZfqxc9vb22L+/I6pX0xVNtPwc18dw8f/WkTbFC+zqlBde3sujl7YFV2dbQ2p3SAECBAgQIAAAQIECBAgQKBeAcFqvXLpnydYFaym36UqrFsgC1P7+ofiid6+GBwarnmc4YGDceC7X4j9O++t+dzshGz/1O7ukTA1Czur/rR3xfDzXhvDx/xKRK72cLS7sy2OXOglVlV7O5AAAQIECBAgQIAAAQIEZkxAsDpjtHM+sGBVsDrnTaiAxgkMDQ9Hf/9wDAwOx+DgcGT/O/tkL63qn/LFVZPXMDw0EAf//YHYt2PztIVmj/l3drZFZ2d7/nH/7H/X/MlC1WW/H8NHnhhRx/nZKd2d7dHelsufnu25moW6HR256Gxvq2fImi/BCQQIECBAgAABAgQIECBAoCAgWG3dXhCsClZbt7sPgyvLwtMsMM0HqUPDkz7unwWsB/uGxoLWmmmGh2L4kW/EwLc+E4N9B0pO7+hoy69Mzf56yJ+eY2Poea+NWPScuofqaM/lg9XJPmNBa3sWAufywasPAQIECBAgQIAAAQIECBCYKQHB6kzJzv24glXB6tx3oQqqFshC1P6B8dWoteybmm0J0D84VPVcEw4cHo7c3u9GbuffRQz21T/OJGcOP+OEGH7eayLmH1P32FlG2tXRHlm4Wu0nOydb3Zqdk730qqYtC6qdxHEECBAgQIAAAQIECBAgcNgKCFZb99YLVgWrrdvdTX5l2SrTgYFsRerIatShOvZILSbIzj/QP1jzS6wmMD75g2j73j9E7Hu0YcLDRy+L4eeeGdH9jEMaMwtI53VNvlq1msHz2wdkQevoKtzOjupD2mrGdwwBAgQIECBAgAABAgQIHF4CgtXWvd+CVcFq63Z3k11ZFp5mIerAwNCUj/UfymUd7B/MbxtwyJ+nfzYSrvb+6JCHGj7+lBj+pf8U0XnEIY2VxZ/5/V3bG7AlQVklWdCahbZZyJqtarV7wCHdKicTIECAAAECBAgQIEDgsBIQrLbu7RasClZbt7sTv7Is4OzvH4qB0dWotTzWX++lZeFtFq42ZK79j0du1z2Re+K79ZYTw886PYaf/R8j2rvrHqNwYhZ+ZqtVZ2N96dj2AR1t+bA1C119CBAgQIAAAQIECBAgQIBAJQHBauv2hWBVsNq63Z3YlRVeIJU93p/9fUPCzTqu8UDfYH5FbEM+fb2Re/jeyD369ZqHy1apDi95SURbR83nVjqhKx9yNn61ajXFFYLWrs62yH75ECBAgAABAgQIECBAgACBgoBgtXV7QbAqWG3d7k7kyrIANQszs5dHzVWYWkyRrZTtG2jQqtVs4IH9kfvBP0XuJ1+pWnz4xN+O4eNOjsgd2n6ohQnbcrno7mqL7K9z/RlZOStgnev7YH4CBAgQIECAAAECBAikIiBYTeVONL4OwapgtfFdZcQxgWxl6r79DdrXtIGuDV21mqHoejQAACAASURBVNU12Be5H38pcj/8p6mrbO+K4eeviuGjXxCN3Kg0W6marVhN5ZPFu11dbTG/uzHBcSrXpQ4CBAgQIECAAAECBAgQqF1AsFq7WbOcIVgVrDZLrzZdndnK0H37B6JRT903EqB/cCi/grahn+HByP30XyL3/bsrD9u1KIaff1YMH/nchk6bLVKd19ke2UrRlD5ZNe3tuVjQ05itDlK6NrUQIECAAAECBAgQIECAQPUCgtXqrZrtSMGqYLXZerZp6n1078HoHxjK7/s5E2+qPxSIbIfVbNXqUMNT3+HIPfqNyH3vH/KrWMc+C38xhp57ZsSCJYdSdsVzO9rbojuxfU0z377+kb1sF8zviEVHdDb8ug1IgAABAgQIECBAgAABAs0hIFhtjvtUT5WCVcFqPX3jnGkEevcNRO++/rE9VVN7VD0rv29gKB/8zsQn99TuyH3j9ny4OnzUiRHZnqpdCxs+VbZatbuzPdoTWq2ahaoHi14Q1tGei+OOmtfInQ8a7mhAAgQIECBAgAABAgQIEJg5AcHqzNnO9ciCVcHqXPdgS86frVYtf9Q+tZWV2f6vB/uGIvvrTHza+p+K2LMzho8/JYYb9JKq8jqz0DILVlP5ZJbZfc9WqhY+Wfi7YH5nLDrClgCp3Cd1ECBAgAABAgQIECBAYDYFBKuzqT27cwlWBauz23GHwWxDQxE/e+JAxcfssyCwq7M9UtkNNAsBs/1WG/0ZHh6Of9/zg/jOz74bL33ei2PhvJlZrdrV0R6ZaQqfbFuFg/2Vg+psq4JjjuxOoUw1ECBAgAABAgQIECBAgMAsCwhWZxl8FqcTrApWZ7HdDo+p9u0fjL1P941tA1B+1dlj69kqy2wl41x/sjDwQP/gpLXWU1/vgd745IOfivff/cF46uDT8eu/dEpcfuY742XPe0l0tDVudWnmOK+rcePVc62Fc7IVqllIPdnq3yz8Pf7oeYcyhXMJECBAgAABAgQIECBAoEkFBKtNeuOqKFuwKlitok0cUovAk0/3x1P7BmKqB+yzN9hnqxjbEkhXD/YPxsDgoW8HkK1SfeiHO+LPNm+If/n3hyaQvfHF58R//U9vj+csfnYtnBWPzTLpzs40Xgo2MDiU3692qh0Vsvv9zMWC1UO+8QYgQIAAAQIECBAgQIBAEwoIVpvwplVZsmBVsFplqzisWoFqgtVsrCxU7epsm/MXL2WrLbNw9VC2Wn386Sfi5s/dEjfe95dTMj3zGb8QV/z2u+O1LzozOtrr33M0v+q3a+63VMhe/pX9mi6WFqxW+9PjOAIECBAgQIAAAQIECLSegGC19e5p4YoEq4LV1u3uObqyaoPVrLxU3mp/oOgt9rWy7e/fF2/76Dvivm99oepTP3ze/x+/9+ur6n5xVldHW3R2tFU930wcmK1SzULVaj6C1WqUHEOAAAECBAgQIECAAIHWFBCstuZ9zec67373u6dbbNXUV589npx9sr8Wfg0NDUX2a3BwMP9rYGAg+vv7878effTR2Lp1a1Nfs+LnVqCWYLUQrmZBYUf73AWF2VYAfQO1rVrNQuHO9rb4wRM/iFU3vCl+/MRPqoZ/22/+QVxz9p/n56x1G4JspW9319xuo5C9pCrbAqDaj2C1WinHESBAgAABAgQIECBAoPUEBKutd08LVyRYFay2bnfP0ZXVGqzmw9Vsz9A5XoVZy6rV/B6xHW2R/bV/cCCu+tRfxM2fu60q8Xmd3fHJiz8ay5//kvzx/YOjj9NX+Uc8mVMWRM/FJyuxr449aQWrc3G3zEmAAAECBAgQIECAAIE0BASradyHmahCsCpYnYm+OqzHrCdYLYDNZWiYBZzZm+2n+2SrVLMXR2VhcOGzv29//OEtb47P7fznGB4u/p3S0TrahuIvfv/P4g//49tKfmNoKFsxOxTZfq9TfXK5XMzLXvrVNvkc09Vf7+9ni9+zvWinq7HS+ILVetWdR4AAAQIECBAgQIAAgeYXEKw2/z2c7AoEq4LV1u3uObqyQwlWs5I72rOXWs3+i5mySDNbtZqFnJU+2aP/U21Z8Beb3xGf/MrUL6/Kxv3IH/59vOz5v1VxjizYzQLeyT7ZdgndnbO/WnVoOHvBV7aFSJXLassuQLA6Rz+MpiVAgAABAgQIECBAgEACAoLVBG7CDJUgWBWszlBrHb7DHmqwmsnN1Vvvs5cxZStHyz/Fj/5PdmerDVavfePH44xf/b1JG2SyrQHm6kVf2QrVLPDNwtV6P4LVeuWcR4AAAQIECBAgQIAAgeYXEKw2/z2c7AoEq4LV1u3uObqyRgSrhXC1K3vsPUsUZ/GTBavZi5myHDGbub2KFbT7+56Od3/8TfHFnXdPW+nlr/tgvPFl75jyuHyYOTC+QjQzyLZJyFbzzuYnqyN7/P8QMtV8uYLV2bxr5iJAgAABAgQIECBAgEBaAoLVtO5HI6sRrApWG9lPxoqIRgWr+UAul8s/+j4Xe4rWcjMbHazWMvdMHZuFy1m4e6ihqmB1pu6QcQkQIECAAAECBAgQINAcAoLV5rhP9VQpWBWs1tM3zplCoJHB6li42jX7K1druck/3/94vOOvXxf/+qMHpz3tDS+7JNa97kPTHjeXBzQyVBWszuWdNDcBAgQIECBAgAABAgTmXkCwOvf3YKYqEKwKVmeqtw7bcRsdrGaQc7XnarU3cc9TP4u33nJGPPzozmlPOfvFb4s/XfXhaY+bqwMa9fh/cf22Apiru2leAgQIECBAgAABAgQIzL2AYHXu78FMVSBYFazOVG8dtuPORLCaYWZ7jHZ1tCXp+ljvT/LB6r8/9p1p63vdr62OP/u9v4z2to5pj52LAw70DUYWrjbyI1htpKaxCBAgQIAAAQIECBAg0FwCgtXmul+1VCtYFazW0i+OrUJgpoLV/H6riW4J8O2f7IiLNp4Ze/c9Nq3Qy5e9Ot7/ho/F/K4jpj12tg9o9BYAhfoFq7N9J81HgAABAgQIECBAgACBdAQEq+nci0ZXIlgVrDa6pw778WYqWM1gsxWr2crV1D6tEqzOxGrV7F4JVlPrWPUQIECAAAECBAgQIEBg9gQEq7NnPdszCVYFq7Pdcy0/30wGq9leq/O62pMz/Mr3tsXFf/3aGBoanLa2E45dFn914b2xeMHx0x47mwcMDQ3Hgf6hGB5u7DYAgtXZvIvmIkCAAAECBAgQIECAQHoCgtX07kmjKhKsClYb1UvGGRWYyWA11e0AvvSd/x2X/PXrquqBVIPV/DYAWbBa1VXUdpAVq7V5OZoAAQIECBAgQIAAAQKtJCBYbaW7WXotglXBaut29xxd2UwGq7lcRHdne2QrV1P63PuN/xXr/uYNVZV0/DN+Mf7nBf87nrP4xKqOn62D+gaGon9gaEamE6zOCKtBCRAgQIAAAQIECBAg0BQCgtWmuE11FSlYFazW1ThOmlxgRoPVbJ/VzvboaE8rWP2bL304PvD376qqLY7sOSZuXnNPnPTMk6s6frYOOtg/FNmq1Zn4CFZnQtWYBAgQIECAAAECBAgQaA4BwWpz3Kd6qhSsClbr6RvnTCEgWJ26PZ7RszgfrC575n9Iqo8Eq0ndDsUQIECAAAECBAgQIECgZQQEqy1zKydciGBVsNq63T1HV3Y4Bqt/sfkd8cmv/GXV4h/5w7+Plz3/t6o+fjYOFKzOhrI5CBAgQIAAAQIECBAgcPgJFILVRlz5Qw89VPMwp5xySv6cRYsW1Xxu8QkrV66M4447Ljo7O6OjoyP/q729fexXLpeLtra2/CnZ32e/Wv0jWBWstnqPz/r1CVanJ58qWB0cGo5sv9Phoca9Rir7Mu/qbJtyb1rB6vT3zREECBAgQIAAAQIECBAgULuAYLV2s2Y5Q7AqWG2WXm2aOvcdHIy9vf0xPNy4YLBw8dmf9aS2x2rfwMG48hN/GP/nG39X9T36k7P+R5zzkv8y4fhM7EDfYAw1MFQds8vlYl5nW2T7nVb6zGSwmu2Je/zR86r2cSABAgQIECBAgAABAgQItI6AYLV17mX5lQhWBaut291zeGWPPHFwRt4wn2Kwur/v6Xj3x98UX9x5d9Xil7/ug/HGl71jwvEDg9lq1cGYgUw6prObyWC1Z15HHLWws2ofBxIgQIAAAQIECBAgQIBA6wgIVlvnXgpWh4djaGgo/2twcDD/a2BgIPr7+/O/Hn300di6dWvr3nFXNisCWUj3xJN9kT3W3sjPdOFgI+eqdqx9fU/F5R97fXzpO/+n2lPi4jP+PC581Z9WDlb7B6OxaiPTTGc3U8FqtgXBsUd2V23jQAIECBAgQIAAAQIECBBoLQHBamvdz+KrsWJVsNq63T3HV5YFdXt7+yJbhdmoz3ThYKPmqWWcPU/9LN56yxnx8KM7qz7t7Be/Lf501YdbOljN9uju7myPoxZ2xeje3VX7OJAAAQIECBAgQIAAAQIEWkdAsNo697L8SgSrgtXW7e5EriwLWPv6hmK4Aeswc5GLzo7sLXvpvFlvaHgofr7v8RgaGqxavLtzfiyYN/FthNneqv0DmVTjwuhCUdPZZQH4wOBQ1dcw1YFtuVxkj/8LVBvCaRACBAgQIECAAAECBAg0tYBgtalv35TFC1YFq63b3a6MAAECBAgQIECAAAECBAgQIDDHAoLVOb4BMzi9YFWwOoPtZWgCBAgQIECAAAECBAgQIECAwOEtIFht3fsvWBWstm53uzICBAgQIECAAAECBAgQIECAwBwLCFbn+AbM4PSCVcHqDLaXoQkQIECAAAECBAgQIECAAAECh7eAYLV1779gVbDaut3tysYE9mxZGyuv3h7Lr9oa15+1uERmxw2nxprYGA9eevKE48sJV9/yYFx2ysg/LYxZibl4nrHjzi+dY+S8HXHdqWtiUyyPKz97faw6rny0PbH50pWx/v7VsfHBy6JQYX7Me1fE1htWRenVuOkECBAgQIAAAQIECBAgQCAtAcFqWvejkdUIVgWrjewnYyUqMB6CTgwwy4PV/P++vULQ+dB1ceqFm8bC2UnDzUrHXb09IkrD0TzV6LExWbA69vtREgoLVhNtNGURIECAAAECBAgQIECAwAQBwWrrNoVgVbDaut3tysYECkHklSeuj/XfvbJkpWdxsDoSwMYkq0fHg9Bs5eqbfzDZqtGRVai7RlfHjsy9NFbHpog14ytes+KyuW+N1RG374oVFVasFmrbGGtiTVHdglXNTYAAAQIECBAgQIAAAQLNIiBYbZY7VXudglXBau1d44ymExgPIpfGHUWhZyHcLGwFMBKsLi157L70YkdC06giWM2OybYNKMy98YxtsebhC4q2HMjGujWW3rIitl24rUKwOj7XZUs2x9rXjB8jWG26FlQwAQIECBAgQIAAAQIEDlsBwWrr3nrBqmC1dbvblY0JFAeRUbYqdeKK1UMMVvOP78dYODs29xURV79mV1xQ2Cs1O27j0tia/+cVgtWScUb2Wt12xsgesYJVzU2AAAECBAgQIECAAAECzSIgWG2WO1V7nYJVwWrtXeOMphMoDSJHXwgVI1sC/Ljo5VU1r1jN751a/indn3V87pfHFy9dGbtGtwPIbwNwwta4/qVfLFmNOjJaaZCa/ydFL6zKh8NeXtV0fahgAgQIECBAgAABAgQIHI4CgtXWveuCVcFq63a3KxsTmLDC85Hs0fr1EVdtjQseXhkN3Qogv9J019g+rRMC0fx2ADGyDUC2r2qUPuafL3q0vomx7Uho+/J/FqxqbwIECBAgQIAAAQIECBBoDgHBanPcp3qqFKwKVuvpG+c0mUClR+cLL6pafvr22H7ixvzep418eVX5HqvZ6tjF+cB0V1xwS8SabBuAsX9WuhVA5Uf9R1fanrgxtp5wqxWrTdaDyiVAgAABAgQIECBAgMDhKiBYbd07L1gVrLZud7uyMYEpg8r7I+L8kWA1++T3XL299HH+/G/kV6JuiuVXTbfPadFLp4peXpUPUUcf8V9/f4yNM7I6tThYnbgNQOFCClsVfOiqXfFOWwHocAIECBAgQIAAAQIECBBoAgHBahPcpDpLFKwKVutsHac1k8CkL3sqPHJfFKxm1zUSYE58EH/1LQ/GZaeMXPnkL5AaCVY3nT6yh2v5fqgTVsWWB6tlWwmUOI/W+wtvWR5/d1ul/V0jimtspnukVgIECBAgQIAAAQIECBBoTQHBamve1+yqBKuC1dbtbldGgAABAgQIECBAgAABAgQIEJhjAcHqHN+AGZxesCpYncH2MjQBAgQIECBAgAABAgQIECBA4PAWqBSs/sEf/MGkKB/96Ecn/b2HHnqoZsxTThl59HTRokU1n1t8wsqVK+O4446Lzs7O6OjoyP9qb28f+5XL5aKtrS1/Svb32a9W/whWBaut3uOujwABAgQIECBAgAABAgQIECAwZwKTrVitFK5OFapmFyBYnbPbWHFiwapgNa2OVA0BAgQIECBAgAABAgQIECBAoIUEptoKoDhcnS5UFaym1xSCVcFqel2pIgIECBAgQIAAAQIECBAgQIBAiwhMt8dqFq5WE6oKVtNrCMGqYDW9rlQRAQIECBAgQIAAAQIECBAgQKBFBKYLVmu5TFsB1KI188cKVgWrM99lZiBAgAABAgQIECBAgAABAgQIHKYCgtXWvfGCVcFq63a3KyNAgAABAgQIECBAgAABAgQIzLGAYHWOb8AMTi9YFazOYHsZmgABAgQIECBAgAABAgQIECBweAsIVlv3/gtWBaut292ujAABAgQIECBAgAABAgQIECAwxwKC1Tm+ATM4vWBVsDqD7WVoAgQIECBAgAABAgQIECBAgMDhLSBYbd37L1gVrLZud7syAgQIECBAgAABAgQIECBAgMAcCwhW5/gGzOD0glXB6gy2l6EJECBAgAABAgQIECBAgAABAgQOVaAQzj700EM1D3XKKafkz1m0aFHN5xafsHLlyjjuuOOis7MzOjo68r/a29vHfuVyuWhra8ufkv199qvVP4JVwWqr97jrI0CAAAECBAgQIECAAAECBAg0tYBgNc3bJ1gVrKbZmaoiQIAAAQIECBAgQIAAAQIECBDICwhW02wEwapgNc3OVBUBAgQIECBAgAABAgQIECBAgIBgNeEeEKwKVsfac8cNp8aa26fu1oUnnBbLz1oT7zzvtFjcnnBnK612gcGdsfF3z4sbd2ennhvX378ulnfVPsxkZxT6a/lVW+P6sxaPHbZny9pYefX2iNOvjK03rIrx32nc3EYiQIAAAQIECBAgQIAAAQLNLGDFapp3T7AqWK0pWB07+IRVce0NV8aKJWk2tqpqF+j78rXxykvuir7RU1e87764duXC2gea5AzBasMoDUSAAAECBAgQIECAAAECh5mAYDXNGy5YFaxODFbP3xgPXnryxI7t643dX70jrrh8Y+zYF9G18trY+r4V0bjoLc0fksOjqr7Yfs3psfaTEUtPWBq7Ht4VccaGuO+aMxt2fycLVg8PX1dJgAABAgQIECBAgAABAgTqFxCs1m83k2cKVgWr1Qero0f2fX59nP6uzRGxPDZsvT7O9Oz2TP6Mzs7Ye++JdWdcEdt6zo2bbjkhbnrTtbEjlseVn70+Vh3XmBIEq41xNAoBAgQIECBAgAABAgQIHH4CgtU077lgVbBac7Aaj2yOta9ZH9ujK9bcdn9c/KJsiD2x+dKVsf7+kTDu1b2b47r/dmN8+qE9ce4tD8Zlp4xOM9gbO++9NW796N3xxW/vib7oisUnvTxe/YbV8ebXnjzpvq29374nbv2rW2PzfbuiNzvnFefGOy+5OM5cePdILcX7cxbqy/+zV8eTW66L9Td/OnY8cm5sfPCyKKzF3fP1zXHH7XfF9q/ujF17s/oWxtKXLI9Vr784zn3FkijZXrR8zK03xk1/tTm2Pdwb0bM4lp/9zrjswjNjaU/E7s9fF++/5q7Y/kjE4lN+Jy7+k8ti1fMm2ax0z47YfOemuOvzD8TObKysivw+tqvj4rOXx5KeCl8chXPu+WLsfCR7cH9hLH3Vq+Ocsy+Ic19SX8q9+5Nr4qxrdkTX62+Kz13+3Lg7fy8jTn7Plth49hT7PQzuiQfu/FBs3LI9HsjXn9WyKi546wVx5kmja5kfui5OvXDThAsp7LU6tsdqYaX0NzfGWeffGLtjRWy499o488gKBg9dF6dfuCn6llwcd35qTSwr7PdbT3/NgGeaX/eqIkCAAAECBAgQIECAAIFmFRCspnnnBKuC1dqD1d2b4+1nrY8HYlms++Sdce4JpcHqZVctjc1Xb4pdoyOvLgSr+3bFXVecF9d+vrCLZ+kPRddJa+LmWy6Ok8vCxN1b1sbZV28f2/tz/KylsfqqVbHr6usmCVYviytP3Bzrbx+rZCxYnXzMkdGXnr8x7rz05PFwtRCsnro6Ll6yPW7cUhhzvJquV1wZ1//HbbH2feW1Lo8rt1wfq8rzyd2bY+0b1sf2fZN8OZywOjbeflmpx5TndMXJl94WN5+/rDQUnva7Z3fc9Zaz4tqvL4mLb98Sa14Y0bt1XbzqvdsiXrguPnH7ubG00hi7t8X6S9fF5ocr/WZXLL/qk3H9WUsiag1WY2dsPGvkJVpnXnNfbDhj4mYTO244Pdbc3hdLLroztly4bKSAevprRjynBXcAAQIECBAgQIAAAQIECBCoSUCwWhPXrB0sWBWsjjVb4VHtmGyP1dEjx1YYlrw5vrBidTSYPGtdXHnh78TJSworNbM9PF8Zaz/ZF3HCqrjy6ovj1csWR1d7RO83N8d1G94fm7/dF12v2BCf+eCZ42+G//bGOOdNN8auWBqrrtoQF5+5LBZnQ+7dGZtvuCLWFwLOSitWRyLSWPWeK+OCs06OsVLGHns/OdZ8YENceOqSfB3Rtyd23XdrrHvvXbGr/DH4sVW62ZhdcfKF18eGNaflx+z98nWx5pJCkNwVyy+/LTacvSwW7nsgrnvL22PTwxFLLrkztrxlNADM19Ub97znVXHFvaNjnX/ayOrUwb7Y88NtcesfXxF3PRxRWNU5otob2977qli3tXT+7Jzd22+My6/YFDv3nRzrPrUxzn12Dd8hhRWixas/C0axJC7+2JZYc1LZeIO74q4Lz4lrvx7R9YqL4+Y/Xj1yr/v2xM4t74+LrtkWvXFyrPvkxtHgPWLal1cV9d2uvz0vzvnAzoiV18Z95fv4Du6I6161JjbtKw726+mvGfKsgd6hBAgQIECAAAECBAgQIECgGgHBajVKs3+MYFWwWn2wmg8e74gr3pcFeBFLzt8Ynxxb1VkUrL5oXXzilnNjaeHx7GyG722Kc15/3UhgWWn15r7tce2Za+OufV1x7kc+F+tekqWnffHAB14Zb//bvjj58k/ExteXrZssCvdikmC10nm9914Rr3rPPZM85j5+HWMrbbP6i4LVrrOvj8+9Z3nRqtBCQBcRZddemKukvnxGui2ueNW6uOdF62LLbedG+WLWCY/H5+/Sjrju1DWxKVbHTV++LE4r9o2IXR87L8754M5YfvXWuP411W8JsPOWs+K8m3eXhb/j11SyKnS0W/q+fG288pK7om/J6rjp45fFaWWrjCuNWUuwGj+8K9b8brbP65lx7X0bYkXxotXCNgDFdnX118x4zv7XuBkJECBAgAABAgQIECBAoNUFBKtp3mHBqmB1YrBaRa92nXJx3HbDmlg2FqiNB5KlqyxHBiusQBzZw/O0io+q77ztrDjvI7uj6/yNcf+l2U6oheCreGViaXFjAWTFYLWGly/t643evt7Y/eVPx/vftzF27IuoHKxWXsFZCA0nrEwtPAZfXN9kvoN90dt7MHp3b49Pf/Dq2PhQX5SuHt4Vd51/Tlz7zSVx7gdujsuyfWDLwtUqbl3pIX0PxLVnvD3uqrDSdSwU7lkdG++7LE4emytbHXp6rP1kxLLLPxF3lgfe2QxfvzFOf8vG6HvFhtg6ugK5pmA1CtsTRJx7w/2x7vTxPWoL2wAU7/9aX3/NgGfNN8AJBAgQIECAAAECBAgQIEBgegHB6vRGc3GEYFWwWkOwujCWvvC0WH7eBXHBGctiYUmoN8lKz/zo40FcpdB1rIAHr4tTL9oUY6s7x1aJVl6hmT+vEOBVDFZXl7ysquQHrHdn3HPnHbH58w/E1/Iv0Zr4qRysnhvX378ulpe9i2rSN95PFazmX7R0R9yRvfjp6ztjT6W9Vsu2Zdjz2bXx21cV9nAdednW8le9PFacelq84NkjWyvU8hkLTyutnO3bHteevjbuiuJVxNnoU93ryWevLViNGAvNz74+7i+sEB7bBqA4NK+zv7IrabBnLfaOJUCAAAECBAgQIECAAAEC1QoIVquVmt3jBKuC1YnB6jR7rFZu0anCtiqDuPIQsihY3fjgZZGtYZ3wKRxTS7Ba/MKinsWx7EWnxWkvekEsfeGyeMHSY+JrHzgnrr1/shWrlcPamoPVwd2x+fKzY33+RV5dsfik/xCnnfqieMGJ/yGWnbg0jvnm++Oca7aXrVgdufo9D90Vt3741vj0Q2WBcM/iWH7+hrjqLafF4qoC1sI+r9N/6ZSuNB5fTVoSPk8zTK3Baozt81oUZhe2AThjQ9x3zZkxskNAnf01Wm/jPKd3dAQBAgQIECBAgAABAgQIEKhHQLBaj9rMnyNYFazOQrBa54rCwj6kJS/JKvuhqDlYHQ8Tl55/U2y85LTqVt5OE/LWGqz2bl0Xr3rvtogTVsdNt1wWpx1Zel2V91gtu/Zs64Ddu2LHVx+I7V/YHHfftyt6s9d1XXJnfKLkRVmTfJGM7WNazRdN8UrdKoPMsmFrDlaLXvBV2He3sA3AivfdF9euLGy8Wmd/lV/2oXpWw+gYAgQIECBAgAABAgQIECBQh4BgtQ60WThFsCpYnYVgtd49VnfGxrPOixt3T/Jm+myTgfuvjdMvvWt8+4Dsd2hLpgAAIABJREFUaqYKQcceb6/8SH/E7th80Vmx/sGZXLE6HgSW7x9auBm7P/X2OOt9D1RcsTrZ90Lfg9fF2Rdtit1LLo47t6yJZdN8gRT2JY2V18Z971sxuvqz7KSxPVgjxsPMKoLMwsrSorFrD1bH729+xey7uuPGV62JTfsmvtCqvj1Wpwaq1XMWvq9NQYAAAQIECBAgQIAAAQKHqYBgNc0bL1gVrM5KsDr+lvflceWW62PVkrIfiH3b49oz18Zd+0r38yy8Xb7r7Ovjc4V9NgunZo/Tv/OsWH9/VB+s7rkn1q68IrZH5Rdb9T10XZx34abYFTMZrO6Je961Mq74fETFPWf37Yjrzl8Tmx6O0mC1sFVC8Z6jxYwP3xXnnX1t7KwmWB3cGRt/Nwuty/dPnfhFVVglGkWP3xfvzfqJW86NpSVbD/TGtveujHVb+0qur55gNQrBbqyOmz6yKNa/5cbYXen6x1bf1tBfjfRM8/tdVQQIECBAgAABAgQIECDQIgKC1TRvpGBVsDo7wWr0xQMfPDve/rHdESesiiuvvjhevWzkZUu939wc1214f2z+dl90vWJDfGb0LfL5wh65J9aefUVs39cVJ194fWxYc1osyV4ctXdnbL7hili/JYtAawhWo7AKNmLp66+P69cuHxlv3+7Y8dlbY/01m/Ohavap/PKqxuyxuvO2s+K8j2QW58b1N1wWy7MiBvti99c/HbduuDY2Z6Fq9ine73Zsa4SlseqqDXHxGcticc/IYX0/3BGbPnRR3Pj5vijdD3WSL57CitKec+Ome9fFaWUv4yo565sb46zzb4zdxWF0Fsy+/ry48eGIpWddGRsuXRXLsu0M+nbHAxuviLW37Ii+nnPj+nvWxfLRGnfcfHqsuaUvlrzpprhz7fgWDFNve9AXD3zglfH2v41YesIxsevhx6KwLUDpldXRX430TPP7XVUECBAgQIAAAQIECBAg0CICgtU0b6RgVbA61pmFFYUlYV7VfVvFvpv7dsVdV5wX1+Zf2DTx03XSmrj5lovj5NEgrnBE8SrS0rO6YvkrTovtn99e/YrVCW+CLx1x4Rkb4t0n3hhX3Lw7uk46M1YsXxHvvGRFLG7wHqvjgXEFiCNXxIbLXxA3vvfG2N2zLM585fJYsfbiWLE4YveWtXH21dujsmDk92zdePtlEwwnhJD5sLIvus7fGPdfWvG1YOOnjK1ujTj5PVti49mjy42LXwI24TKWxupb7ozLThlPbPd8dm2svGr72JGF1brT7idbCIGzM6cKguvor8Z4Vv1D4kACBAgQIECAAAECBAgQIFCXgGC1LrYZP0mwKlgda7IZD1azmQZ7Y+e9d8Qdn9gc2/Jvte+KxSe9PF79htXx5teePPnb7B95IDZ9+Ka443M7Ys++iIUnrIg3X/7uWNN9R5x64aaagtWsjD0PbooP3XzHaA0LY+lLlseq898Zq1+yOGLfjth4ydq48esHY/FrNsTHrp6BYDVfxAOx6friazotlp+1Jt553mmxuL0vdtxyUay9eUccPO7M2HDHhnywmn16v31P3LFpc2x/8Gux85GRiHXhCcXnTvO9sfeeWHfGFbEtlsTFt2+JNS+c/numsCVDvHBdfOL2c2Np4ZTenXHPbbfGHfd8caSWI5fGaaevijXvWB2nHVc2bt/O2PTeK+LW0ZdsVR2sFgW7Sy66M7ZcOMXusXX01yF7Ts/nCAIECBAgQIAAAQIECBAgcEgCgtVD4puxkwWrgtUZa67ZGHhsteObbooH33XabExpDgIECBAgQIAAAQIECBAgQIDArAoIVmeVu+rJBKuC1aqbZfYPzF6C9KpYt7X4jfRFVRTt83nmNffFhjMWzn6JZiRAgAABAgQIECBAgAABAgQIzLCAYHWGgescXrAqWK2zdWbntOzt8yvfc0/09Zwcaz6wIS48dUn+hVd9P3wgbvn/1sbGh/ry+24WvyRpdiozCwECBAgQIECAAAECBAgQIEBgdgQEq7PjXOssglXBaq09M7vHD+6OzZefHesneeFVxMSXJM1ugWYjQIAAAQIECBAgQIAAAQIECMysgGB1Zn3rHV2wKlitt3dm77z8C4lujVs/end88dvZC68iuo5bFi8/89xY/YZVcXL5S5JmrzIzESBAgAABAgQIECBAgAABAgRmXECwOuPEdU0gWBWs1tU4TiJAgAABAgQIECBAgAABAgQIEJgdAcHq7DjXOotgVbBaa884ngABAgQIECBAgAABAgQIECBAYBYFBKuziF3DVIJVwWoN7eJQAgQIECBAgAABAgQIECBAgACB2RYQrM62eHXzCVYFq9V1iqMIECBAgAABAgQIECBAgAABAgTmRECwOifs004qWBWsTtskDiBAgAABAgQIECBAgAABAgQIEJg7AcHq3NlPNbNgVbCaZmeqigABAgQIECBAgAABAgQIECBAIC8gWE2zEQSrgtU0O1NVBAgQIECAAAECBAgQIECAAAECgtWEe0CwKlhNuD2VRoAAAQIECBAgQIAAAQIECBAgYMVqmj0gWBWsptmZqiJAgAABAgQIECBAgAABAgQIEMgLCFbTbATBqmA1zc5UFQECBAgQIECAAAECBAgQIECAgGA14R4QrApWE25PpREgQIAAAQIECBAgQIAAAQIECFixmmYPCFYFq2l2pqoIECBAgAABAgQIECBAgAABAgTyAoLVNBtBsCpYjYg9sfnSlbH+/gpNev7GePDSk6vq3j1b1sbKhy+o+viqBm2Sgw7na0/rFu2I605dE3HLg3HZKaOVPbI51r5mfcRVW+P6sxanVe5hWs2OG06NW0+Yi/sx8l237Yy5mDvhm53/GdkWKz57faw6LuE6lUaAAAECBAgQIEDgMBYQrKZ58wWrgtXIQo41t6+OjQ9eFiURao2B1GyEi3MXyEz9Azwb157mV0hqVZUHqyNB2q41RUFrXSVn494aSwVPdemVnzR3P8cpBqtz1Fv57/ddcUH2vT9NsOr7rSFtbxACBAgQIECAAAEChyQgWD0kvhk7WbAqWB0JVqPSytTaQojD+T++D+drn7Fvp7oGnhis7nlkcSy2Cq8uzZk6SbA6U7J1jmvFap1wTiNAgAABAgQIECAwewKC1dmzrmUmwapgNfKh4NVLJ65YLe+kh66LUy/cVPpPT78ytt6wKrIHrIvDxZFVsKWHLh97FHvi1gPV/V7kQ+DCI8RTz1E4dmOsuHfN2DYHqwuPiI+uxt1eUmKFVbuF36/h2svZRlxWxJXfXT9Wx/j1ltUZV8bWKyKufs36mLK24npOvzI2nrEt1oxuw1C4DxtjzdhK5Gfl73HZiGOPy4+umLtlRWy7cGTekfp+nH+sPn/Hi+5zVLAovp6K1z/Z3BPuw/K4cmxVaKUtKsruUVktq2/ZGHHh6FYAUV2/jjhlVY+MXWw11i9RvKqwtv7Nj1y8NUEx0DR9FYVVhbdErCn87BXfixLsylt6TLiGovtcuOaKm31MqK3IvkIQV/IHNNP0yOTB6sRrGK9/uuur8P/6yvpr+VUj3wf5rQCec8eU32fl3y/lP7OTf79F1PYzUrpidcSm2u+t8ntS/L1R/LNU+jOe3xbjpV+csGI1Tt8e2wtbwkzy3V7ek5P2di3/JuJYAgQIECBAgAABAgSmFRCsTks0JwcIVgWro403stJvLDYt31u14rYAo+eMHlsI9LaecGusvDqKArLxoCH7j/AVny/bemB07KXT/F62Z2YhkLkqrp5yjsKxa24vChfyYc+uuPKzF8Su16yJTSXXOBraZMHmaFA89hNZw7VX2o92JLjePh6ujYZOhUBiJMAp1FlqOlJDWW3l9RTCo+L7UDxfNsIje2LxcUX7ixY/BpwPDdfEprEgpdALhdBmdP4TR1Y1TxirJHSc+D02+dwrYls2b9F9KA3590T5atOSlcEV7kshDFv9gStj1+Xl+6pW6Ncip8J9GgvQxvol23dyPPxa+vEa+rfwBw7lPw8ZUxV9VThm+5hR6b0o1q60pcfINRV+Fsvv88jP05rvVtfzJcdOE6xO1yOTBavl9RT3Q1TYsqT0+sp7b+LP0tg9vuydEdd9qGzf3fHjR77Div6wqagXXv7Pxaajc5b9TE93/aWVTgxWp/re2lX+B1T5n8sY+Rme9Gdp4r0fC0jHtgJYH+N9Vvm7Pf/9VvZ9Myf/5mJSAgQIECBAgAABAoehgGA1zZsuWBWsVu7MsRVno4FfVH65SfEqtZJg9d4VZQHl+CPa+WC1ZOuB8X0wp/q9CcHqFHOMBavF84yFQSPBaskLjgoB2IQxCwHYxBe7VLr2SYPVknFLH1cv3YqhwsuXymubLtTKwrRK11EIUMfueGmYO+4xcQuIiVsdTLWysFJLlQX3kc1d4T6UBL6lodXYqIUAuOLjy6N++WC1intW7JTv+ShauV0ceJUFq1X37+T9MxJQTV1jpWMm27qj4j8vmWNib+Xva7U9n/lsXDrycz3ditXiPxAoeile8R8mVHp51aT1xGgIXL5lyZSPsFf6WRrt7RdnwepXJrysaczwFdvKemG8pyvXOPlcxS8FrLy6s0KwWvF766qIDZO9eKvC/BX+8GTiS90m32N10u832wak+W9zqiJAgAABAgQIEGh5AcFqmrdYsCpYnbIzx/7j+g278m9WL32YfPTUiitWKx6ZX7U5MTwdL2Hy/V5HjilZsXqIwWrZpgYjE1R6zLritgGVr32ugtXi4HNi8FO+ArU87Ju4L2n5m9PHx39W/mVQ6+8vf8x4YlA9esdGV0JXeoy8csA91g2FcL98FV7hvk8brFbRrw0JVqfp38mCqCr6quZgtWz7jZHKJgvQR7fvqDZYLf6mmDJYnb5HptxjdcLj+9m2FItHX7JX6euquBeLf3+6YPVDU36fRfkfRJStCK9UyUhwWvhDh1p+RsZfjDbhO7DMurDqdrp7W1rfNMFrNX9YM7rVyGR/IJDmv+KoigABAgQIECBAgEDrCAhW07yXglXBalx36tpJ33ZeGqxOXF1X3NZTr1idKnxKY8XqpD+iVazQmurlVZMFnYXVYzO+YrVS/VOuZJxqxerII8elq30rr7LNe04599QrVvN7nZaFfiWW0warVfRrQ4LVqfq39hWrJX1Y1crQ0Qh70pfQFUacrRWr0/dI5WB13DFbcT56VWP9NtUfyFT+2Z0uWJ24YnVs1qK9nEf+2fjPRH4bkoorwid3LoS05avkx6+ximD19hWx7fzRFaaFqcZWWY9sqzHpitTRkNiK1TT/RUxVBAgQIECAAAECBKoREKxWozT7xwhWBatx3amnxvi+fcVNWLSf4+iK1fxLT84q7NVZGlxMv8fqyGPWE/ZKHF2hNiN7rE6xFUClPVbzL7UZu75Riyn2wiwEFdMGq8V7bFbaY3Wszjr2WC2srCteUVcc/Eyov3xFXS0rVifu5Ti2r2mlFzRNOffEvW6L99QceYlU0V69hZWMJVsBlO6jOraf7RR7rJbcs3qD1dsnvjSoYv/WucfqWABWa7BaXNeE7S1qDVZLbSfusbo+smvOh6Al+25O3yNTBavrR/fyHQ/mR+aZsDfzVNt35E+u8LM0+rO3fIo9VjP7/Fwle8+OjJV9T06+v3NhG4mJ8075M1K2R/GkK1bzwWqR+VhvZXvBTrdfcTUrVovv93R7rE79hxaz/68yZiRAgAABAgQIECDQ+gKC1TTvsWBVsDoeilTq0WneBl+8Z2BxuFj+Ru3St4/X9lb18rdxF/ZmnDhH4W32I8HvlI/U5veMLX1UfKo321d6y/dk117OOLLKcmmsjk2xaXS/yQlvGJ8QAJc/xl4U5GUTlLx1fXWsPn9TbBodo+IekCXHZ48oj+zXuP7+bNzy1W7T7LFa9qj2+AvJJnkke6q5P7s0bi25D6VjlNzjrBeviLg6O76wPUDZ2+cLb33ftebBuCyyPVNLN3yYcM/qCFZXHVdb/2a3a9I3p5fVP+HYGoLVsZecFe1pWrq1RQ3B6oQey1dWtP9sWQ+efmVsPGNbrCl5XHy8h8t7JHsBWKU9VscC2qIfovGflYnuFbfuKP4BLN9u4fyNsTHWjMz9nDum6I/yPYEjomhLiqm/34qC5tFapv4ZqXaP1etj5MVZxdusFP28TNhaYpqtCIr3YB39+6XZ90hhO4mi7/6JL40rDVanfolYmv/yoyoCBAgQIECAAAECzSYgWE3zjglWBatpdmYLVTXVC3kadZlT7lnZqEmMQ4AAAQIECBAgQIAAAQIECMyJgGB1TtinnVSwKlidtkkccGgCjQ9Wy1aUFm2lML435aHV7GwCBAgQIECAAAECBAgQIEAgHQHBajr3orgSwapgNc3ObKGqGh+sTnzUeMptDFrI0qUQIECAAAECBAgQIECAAIHDUUCwmuZdF6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Hx+yhlAAAWcElEQVQ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gZJg9VA4Fi1adCinx8qVK+O4446Lzs7O6OjoyP9qb28f+5XL5aKtrS0/R/b32a9W/whWBaut3uOujwABAgQIECBAgAABAgQIECDQ1AKFFauHchGC1UPRq3yuYFWw2viuMiIBAgQIECBAgAABAgQIECBAgEDDBASrDaNs6ECCVcFqQxvKYAQIECBAgAABAgQIECBAgAABAo0VEKw21rNRowlWBauN6iXjECBAgAABAgQIECBAgAABAgQIzICAYHUGUBswpGBVsNqANjIEAQIECBAgQIAAgf/X3t2sNtX8ARyf9EVEUUGhNyEoXkXXunLXy+jKlV6ILt2I296EIOJNWBRERLFvfyb9j8wzPWkyfUnGM59CqM/Tk+acT37J4st0QoAAAQIECBC4LgFh9bpkL/d7hVVh9XIT5N4ECBAgQIAAAQIECBAgQIAAAQLXKiCsXivvhX+5sCqsXnh43JEAAQIECBAgQIAAAQIECBAgQOD6BYTV6ze+yCMIq8LqRebGfQgQIECAAAECBAgQIECAAAECBJYkIKwuCbryYYRVYbVyZBxOgAABAgQIECBAgAABAgQIECCwTAFhdZnaiz+WsCqsLj4tjiRAgAABAgQIECBAgAABAgQIEFi6gLC6dPKFHlBYFVYXGhQHESBAgAABAgQIECBAgAABAgQIrEZAWF2N+7xHFVaF1Xkz4ucECBAgQIAAAQIECBAgQIAAAQIrFBBWV4h/zkMLq8Jqm5PprAgQIECAAAECBAgQIECAAAECBKYCwmqbgyCsCqttTqazIkCAAAECBAgQIECAAAECBAgQEFYbngFhVVhteDydGgECBAgQIECAAAECBAgQIECAgBWrbc6AsCqstjmZzooAAQIECBAgQIAAAQIECBAgQGAqIKy2OQjCqrDa5mQ6KwIECBAgQIAAAQIECBAgQIAAAWG14RkQVoXVhsfTqREgQIAAAQIECBAgQIAAAQIECFix2uYMCKvCapuT6awIECBAgAABAgQIECBAgAABAgSmAsJqm4MgrAqrbU6msyJAgAABAgQIECBAgAABAgQIEBBWG54BYVVYbXg8nRoBAgQIECBAgAABAgQIECBAgIAVq23OgLAqrLY5mc6KAAECBAgQIECAAAECBAgQIEBgKiCstjkIwqqw2uZkOisCBAgQIECAAAECBAgQIECAAAFhteEZEFaF1YbH06kRIECAAAECBAgQIECAAAECBAhYsdrmDAirwmqbk+msCBAgQIAAAQIECBAgQIAAAQIEpgLCapuDIKwKq21OprMiQIAAAQIECBAgQIAAAQIECBAQVhueAWFVWG14PJ0aAQIECBAgQIAAAQIECBAgQICAFattzoCwKqy2OZnOigABAgQIECBAgAABAgQIECBAYCogrLY5CMKqsNrmZDorAgQIECBAgAABAgQIECBAgAABYbXhGRBWhdWGx9OpESBAgAABAgQIECBAgAABAgQIWLHa5gwIq8Jqm5PprAgQIECAAAECBAgQIECAAAECBKYCwmqbgyCsCqttTqazIkCAAAECBAgQIECAAAECBAgQEFYbngFhVVhteDydGgECBAgQIECAAAECBAgQIECAgBWrbc6AsCqstjmZzooAAQIECBAgQIAAAQIECBAgQGAqIKy2OQjCqrDa5mQ6KwIECBAgQIAAAQIECBAgQIAAAWG14RkQVoXVhsfTqREgQIAAAQIECBAgQIAAAQIECFix2uYMCKvCapuT6awIECBAgAABAgQIECBAgAABAgSmAsJqm4MgrAqrbU6msyJAgAABAgQIECBAgAABAgQIEJgZVnd2dmbqvHnz5szP7t69eynN7e3tsLW1FTY3N8PGxsb0tr6+/vc2mUzC2tra9DHiv+Nt7F/CqrA69hl3fQQIECBAgAABAgQIECBAgACBf1pg1orVobg6FFXjxQurVz8CwqqwevVT5TcSIECAAAECBAgQIECAAAECBAhcmcB5WwHkcXVWVBVWr+yp+M8vElaF1euZLL+VAAECBAgQIECAAAECBAgQIEDgSgTm7bEa4+p5UVVYvZKn4cwvEVaF1euZLL+VAAECBAgQIECAAAECBAgQIEDgSgTmhdVFHsRWAIso1R0jrAqrdRPjaAIECBAgQIAAAQIECBAgQIAAgaUKCKtL5V74wYRVYXXhYXEgAQIECBAgQIAAAQIECBAgQIDA8gWE1eWbL/KIwqqwusicOIYAAQIECBAgQIAAAQIECBAgQGBFAsLqiuDnPKywKqy2OZnOigABAgQIECBAgAABAgQIECBAYCogrLY5CMKqsNrmZDorAgQIECBAgAABAgQIECBAgAABYbXhGRBWhdWGx9OpESBAgAABAgQIECBAgAABAgQIWLHa5gwIq8Jqm5PprAgQIECAAAECBAgQIECAAAECBJoR2N7eDltbW2FzczNsbGxMb+vr639vk8kkrK2tTc83/jvexv4lrAqrY59x10eAAAECBAgQIECAAAECBAgQIHBJAWH1LKCwKqxe8mXl7gQIECBAgAABAgQIECBAgAABAmMXEFaF1XBychKOj4+nt6Ojo+nt8PAwHBwcTG/7+/thb29v7K8F10eAAAECBAgQIECAAAECBAgQIEBgYQFhVVgVVhd+uTiQAAECBAgQIECAAAECBAgQIECAwKmAsCqsCqveDQgQIECAAAECBAgQIECAAAECBAhUCgirwqqwWvmicTgBAgQIECBAgAABAgQIECBAgAABYVVYFVa9DxAgQIAAAQIECBAgQIAAAQIECBCoFBBWhVVhtfJF43ACBAgQIECAAAECBAgQIECAAAECwqqwKqx6HyBAgAABAgQIECBAgAABAgQIECBQKSCsCqvCauWLxuEECBAgQIAAAQIECBAgQIAAAQIEhFVhVVj1PkCAAAECBAgQIECAAAECBAgQIECgUkBYFVaF1coXjcMJECBAgAABAgQIECBAgAABAgQICKvCqrDqfYAAAQIECBAgQIAAAQIECBAgQIBApYCwKqwKq5UvGocTIECAAAECBAgQIECAAAECBAgQEFaFVWHV+wABAgQIECBAgAABAgQIECBAgACBSgFhVVgVVitfNA4nQIAAAQIECBAgQIAAAQIECBAgIKwKq8Kq9wECBAgQIECAAAECBAgQIECAAAEClQLCqrAqrFa+aBxOgAABAgQIECBAgAABAgQIECBAQFgVVoVV7wMECBAgQIAAAQIECBAgQIAAAQIEKgWEVWH13LB6eHgYvnz5Evb29ipHy+EECBAgQIAAAQIECBAgQIAAAQIExisgrAqrM8NqjKoHBwfC6nhf/66MAAECBAgQIECAAAECBAgQIEDgggLCqrAqrF7wxeNuBAgQIECAAAECBAgQIECAAAEC/QoIq8KqsNrv69+VEyBAgAABAgQIECBAgAABAgQIXFBgVljd2NgIa2trYTKZTL/Hr/jveBv712R3d/dkzBd5cnJ6efF7fjs6OgrpFrcBsBXAmKfAtREgQIAAAQIECBAgQIAAAQIECFxGYCisxqi6vr4urF4GtuX75mE1nufx8fHfVasxrKaomsLq/v5+eP/+fbh582bLl+XcCBAgQIAAAQIECBAgQIAAAQIECCxF4NevX+Hp06dha2srxJia34TVpTwFq3mQFFbjo8d/l2E1xdX4wVUxrn79+jW8evUqPHnyZDUn7FEJECBAgAABAgQIECBAgAABAgQINCTw4cOH8OLFi/DgwYOwubn5N6zGqJrCatoOIJ62rQAaevIucyqLhtW0cvXHjx/h4cOH4eXLl5d5WPclQIAAAQIECBAgQIAAAQIECBAgMAqBGFU/f/4c7ty5c2a1ahlW096q9lgdxVN/ulI1fqU9VuOq1XQb2g7g27dv4fnz52FnZ2ckAi6DAAECBAgQIECAAAECBAgQIECAQL3A69evw9u3b8P9+/f/s1o13181rlZNK1aF1Xrjpu8xL6zmcTVuCfDnz5/w/fv38Pjx4/Ds2bPw6NGjcOvWraav0ckRIECAAAECBAgQIECAAAECBAgQuAqBnz9/hk+fPoV3796Fjx8/hnv37oUbN24MbgOQ77GabwFgxepVPBMN/I4yrKa9VuOq1RhVy1WraVuAOES/f/8OMbbGY+JX2qM132KggUt0CgQIECBAgAABAgQIECBAgAABAgSqBfIVpimMxtWnMaTGD3e/ffv2mQ+sSqtVh7YBsGK1+ilo+w7nhdUUV2NMLQNriq7xe9o6IG0nUO7d2raAsyNAgAABAgQIECBAgAABAgQIECBwKlCuJk1BNX5Pf9afPpgqfo8hNb/lP8u3ALBidaQTlsfVtOo032c1RdX8ewqrKb7mUTX9e6RcLosAAQIECBAgQIAAAQIECBAgQKADgTyq5itW83iax9Uyqva6v+o0UO/u7p5+stPIv+ZtB1CuXC2jar4FwNCq1ZHzuTwCBAgQIECAAAECBAgQIECAAIERCuR/up9Wnw6tWk1xNf35f+/bAHQfVsu9VvM9V/OwOrQNQB5qR/iackkECBAgQIAAAQIECBAgQIAAAQIjFsi3AyhXraawGr+XK1fzoNrzNgBdhtV40fmK0xRN820BUmAtf5b/+b+wOuJ3FpdGgAABAgQIECBAgAABAgQIEOhAYCiulqtWU1zNv+fhNY+yiazcw3WslN1sBZCCahlWUywtI2q+r+rQNgD57yuHI/9gq7EOjusiQIAAAQIECBAgQIAAAQIECBD4twSGgme+FUD5IVbxv8sVquWeqmVY7SWqxme+y7A6FFfLD7TKtwkoP7RqKKqKqf/WG4mzJUCAAAECBAgQIECAAAECBAj0KjArsJ63JUD8Wb6atTw2WQqrI56q8k/4y2iaB9byZ0NbAYyYyqURIECAAAECBAgQIECAAAECBAh0IDBr1WqKp/OCan7/Drj+XmJXK1bTVc+Lq4sEVStUe3qZuFYCBAgQIECAAAECBAgQIECAwLgF5sXVcoVqGVN7WqmaJqHLsBovflZcTT8rV6cOHT/ul5OrI0CAAAECBAgQIECAAAECBAgQ6EFg6EOs4nUP/bl/+n/p5/n3Hqzya+w+rM6KrOX/L1eoWrHa20vF9RIgQIAAAQIECBAgQIAAAQIExilQrjYtV68ORdRe//xfWM0E8kB63qrUWSFVYB3nG4qrIkCAAAECBAgQIECAAAECBAiMXWDWn++XK1iHwmr+/8buNOv6ul2xmoOctxrVStVeXxqumwABAgQIECBAgAABAgQIECDQn8BQVB2KqD3uqVpOg7D6f5GLrEi1WrW/NxdXTIAAAQIECBAgQIAAAQIECBAYi8C8ODr083n3GYvNItchrBZKi8bSRY9b5ElwDAECBAgQIECAAAECBAgQIECAAIFVCswLpvN+vspzX9VjC6tz5AXUVY2mxyVAgAABAgQIECBAgAABAgQIEFi1gKA6+xkQViunU2itBHM4AQIECBAgQIAAAQIECBAgQIBA8wICav1TJKzWm7kHAQIECBAgQIAAAQIECBAgQIAAAQKdCwirnQ+AyydAgAABAgQIECBAgAABAgQIECBAoF5AWK03cw8CBAgQIECAAAECBAgQIECAAAECBDoXEFY7HwCXT4AAAQIECBAgQIAAAQIECBAgQIBAvYCwWm/mHgQIECBAgAABAgQIECBAgAABAgQIdC4grHY+AC6fAAECBAgQIECAAAECBAgQIECAAIF6AWG13sw9CBAgQIAAAQIECBAgQIAAAQIECBDoXEBY7XwAXD4BAgQIECBAgAABAgQIECBAgAABAvUCwmq9mXsQIECAAAECBAgQIECAAAECBAgQINC5gLDa+QC4fAIECBAgQIAAAQIECBAgQIAAAQIE6gWE1Xoz9yBAgAABAgQIECBAgAABAgQIECBAoHMBYbXzAXD5BAgQIECAAAECBAgQIECAAAECBAjUCwir9WbuQYAAAQIECBAgQIAAAQIECBAgQIBA5wLCaucD4PIJECBAgAABAgQIECBAgAABAgQIEKgXEFbrzdyDAAECBAgQIECAAAECBAgQIECAAIHOBYTVzgfA5RMgQIAAAQIECBAgQIAAAQIECBAgUC8grNabuQcBAgQIECBAgAABAgQIECBAgAABAp0LCKudD4DLJ0CAAAECBAgQIECAAAECBAgQIECgXkBYrTdzDwIECBAgQIAAAQIECBAgQIAAAQIEOhcQVjsfAJdPgAABAgQIECBAgAABAgQIECBAgEC9wP8A22vsdN15c/IAAAAASUVORK5CYII="/>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dirty="0"/>
          </a:p>
        </p:txBody>
      </p:sp>
      <p:sp>
        <p:nvSpPr>
          <p:cNvPr id="5" name="AutoShape 4" descr="data:image/png;base64,iVBORw0KGgoAAAANSUhEUgAABVYAAAKlCAYAAAAgmLcrAAAgAElEQVR4Xuy9CZgV5Zmw/ZxeWGTfwQYBcVfAyKZsKi4sLhiN0SiaKIyTZa7EZCZf/vky+ufSmf+fzDczMbn+mZgE0Ym4LxEVESWoICiLC+CCrEKDssouS2//9VTVW6eqTtVZq7tPd9+VtE33eetd7vet6u77PPW8iV/96ld1wgEBCEAAAhCAAAQgAAEIQAACEIAABCAAAQhAAAJZE0ggVrNmRUEIQAACEIAABCAAAQhAAAIQgAAEIAABCEAAAhYBxCoLAQIQgAAEIAABCEAAAhCAAAQgAAEIQAACEIBAjgQQqzkCozgEIAABCEAAAhCAAAQgAAEIQAACEIAABCAAAcQqawACEIAABCAAAQhAAAIQgAAEIAABCEAAAhCAQI4EEKs5AqM4BCAAAQhAAAIQgAAEIAABCEAAAhCAAAQgAAHEKmsAAhCAAAQgAAEIQAACEIAABCAAAQhAAAIQgECOBBCrOQKjOAQgAAEIQAAC8ROorKyUTp06SceOHeOvnBohAAEIQAACEIAABCAAAQjUAwHEaj1ApUoIQAACTZHAe++9J8OGDWuKXafPTZzAxx9/LCtXrpSbb75ZWrdu3cRHQ/chAAEIQAACEIAABCAAgZZCALHaUmaacUIAAhDIQACxyhJpLAIbNmyQfv36IVUbawJoFwIQgAAEIAABCEAAAhDIiwBiNS9snAQBCECg+RHIVazqo9sLFy6UHTt2WDDOOussmTRpkivHnnrqKbnpppus144fPy7vvPOOrFq1So4dOyZdunSRMWPGyLnnnisarfjRRx+FAj3vvPOkZ8+eVjthh9a/e/du6/XTTz9dLrjgAl+x+fPny/79+91+mBe1Lz169JDTTjsttF5Tp/fFU045xarfRFRG9btXr15yySWXpNT75ptvWuPVdvXcbdu2ycSJE33lvGX03zt37kypxzDVF3Qca9askX379llMBw8eLBdddJF7Tlgd2j8tY8ah89S5c+eUvrz//vuyfv16mTBhgtXnbNgZbp9//rm0adNGhg4d6mPhHZ/Wp+WXLl0qa9euddfQ6NGj3fZMfdddd51Puio/PZQnBwQgAAEIQAACEIAABCAAgcYigFhtLPK0CwEIQKDICOQiVlWU/s///I9MnjzZijQ04lRFoBF/v/71r+UXv/iFNUoVgAcPHrQkmwo9lbLz5s2zzte8mgcOHLDKffLJJ9bnc845x/psXlNxqoIveGjbWtfzzz8vbdu2lbvuusstou09/PDDlsg1/dAXta9PPvmkVe673/1u6CwYaextU0WjSlrzuLoZk+mrqUiFoldEmu+rwFRpqH3WcxctWiRXXHGFTwZ7y+i/VRYH69Lz9VBJuWXLFvnmN79p5SXV8f7lL3+R/v37uzIzrA4dhzLxzpP2+Y477vDlN/3jH/8oR48eleuvv97qcyZ2KkG1fWWmwtr054wzznBlr3d8Zn7GjRvnMtC+LV682O2LzsPjjz9uSfupU6e6c6X89PBK5CK7nOgOBCAAAQhAAAIQgAAEINACCCBWW8AkM0QIQAAC2RDIRayq8NJIQ2/0pLahwsvILq9Y9Qo10xetQw8j7cz5QWEW1Za3Hu2LylmVjEZEqqRT2ffhhx/6xKp+X+WuRoxqBGqYBI1qc86cOZY01EjJXOVeUKyqWFQxqqLWbNgUFKtGxAbnT89VOaxi2JuTVKXxgw8+6IrJMO5al3du9N/nn3++xcFE/BpJqmLb24d07LxsTH+1n2+88YYrRb390Whib5vmHCOsNZrXzIOKYI1wNhHGubLPZv1TBgIQgAAEIAABCEAAAhCAQK4EEKu5EqM8BCAAgWZKIBexagSeRhIOGjQoND9mMGJVH1kfPny4VTZMZhYqVvURdxWURg6q6FMB+txzz/nEqkZiqpBUabdx48aUR+C1H1FiVXOB6mPoGj2Zq9wLilVtx0TvmmjMbMWqkcbBVAJap1dYholVPVc3ijLRvTpPN9xwgzsurUPLqBTVCGSvWE3H7re//a18//vfT5sn1dsfLR+MktW2TSTrT37yE3ceNApWo2GNSM6VfTO9ZBkWBCAAAQhAAAIQgAAEINDIBBCrjTwBNJ+ZwNKNK2TX4b2ZCzolxg0aKd3ad40sv/fwV7J44/Ks6+vZvpuMHjQi6/IUhEBTJZCLWNUxmvyYmk9TIwpVsnrzY3rFqpGm69ats3KyhuUDNWX0s/cRb/M4eJDrgAEDrIhZI0FVvr3yyiuWfDPiV+Wctx9aVtMNGCFpRGFwJ/ooser9vnmcP9iv8ePHhz6iHiZWdZz6/WHDhlnRmEGxqmy9xy233OKmEghyMuW80lHrC9ah3Lx5Uw0frxjVNA9TpkyxctcasZqJXXC+w64D7/jSlTevBXnrvGo6CcRqU73L0G8IQAACEIAABCAAAQg0LwKI1eY1n81yNC+selVUbmYjV9uUt5KhFedIn069I1l8eWCHrNr+iRyrOpGRl2n3uqGTMpalAASaOoFcxap3vCpZNZJTN6cyUYtR4kzlmEZ+atSkN/9mOrEalnbAtO+VbypK9dF6/Z7ZHMrbD43m1Mfv9RF3PVTyXn755SmbIKWLWFVOKnRzlXtRYtX7WP8LL7zgisyox/ijOBkemntVRbGRtkaMmsf7vekS9BzDR9n07dvXEreaZkAjWoOP7qdjF5dY1fXxwAMPWFHGwXlQ4atSWOc2Siw39euQ/kMAAhCAAAQgAAEIQAACTYcAYrXpzFWL7amKVT3WHPgiI4PBnU6WUQPOzyhWl33+Ydb1aaOI1YzoKdAMCOQiVlUqmuhB79CjIhJVut19992+x8TD5GWYrMw2x6rKTpWKmg5Az9E0ABoFaoSfiWLVzZjMoVJTBW9wE6uoNr2P2cclVo0o3bVrlxX5a0RoOrFqJKl3sy4zJpXLRp4G61ChvWTJEncDLq9YNWkOVKyajcbM+T179rRyt6ZjZ1IvmDyopj8qQ80GW97+hOVk1XNU0GtfND1CcB7Mpmcq5I08bgaXHkOAAAQgAAEIQAACEIAABJooAcRqE524ltRtFaud2raXnYe/kvWH94QOvV+bDtK5dQfrtWzE6vzPFkvlsUPSpay17Ks+nlKn1qevm3qzFauaZuBEjT8S1kTPel9rVdoqMl2Bt1z71u2lQ5v2bv9OVJ+QvUe+cr/u1q6rtCprldL/Q8cOy+Hjh33fz6dstu2Fjds0nm6sYf3Uutq3aS8dWrdPm9LBOzitZ8verXK82mavqSAGdDsl8jIJjss6J4JlWFltR/t5cmc7MjpdhHRUJ/T8z/dulWH9z8/6ctZo6+Dxxf4d1hrRj6gxZNtALmLV5MHUR9NNvlSVfbqDe1jEqgpJPbw5QfV7Ksf00W5zFCpWtQ+aDmD//v2iaQD0MGLV5A31tqevm8fevXlfw8Sq2bHejC9OsWr6of1WealyM51Y1fL6eufOnVOYah1mU7GwOlRoqigN22RM0wFonZoGQHmY85Wrka3e9eRlZ6StkahaThlt3bo1tD/K+Pnnn5ewNWQYhM2DynONjB45cmRoyoVs1zvlIAABCEAAAhCAAAQgAAEIFEoAsVooQc6vdwJG2r21cbnsOXYoVISqIL1y0Kis5JIRZWt3bpADRw+HRq6e3r67tCltJef3PScnwbdu5wZZuuUDV9peVHGuK870tfe3f2KNQft6Rq/TQtlpudc2LrPGqWL3lgumuvJUBeKSTctlxZ7P5bKKwTK44myfeDUVmnQHWk6PTGWVrZHWY3ufIcNPOd+qV9tbufVDeXvHOhnRfYCMOXVkaHtmbFqHzkXfdt2sdvcfP2QJ7ygxrf30Rg9rxPGxmhNuX6b0vyCjeNS2n/pskeicnd7tFKncv8Oa028OulDOqzgnlLGXoxZINzYvAy1r1ob+e9uRvdY86ZivPnNcWpkb7Mirnyy05nHG0ClZi9n3tnwo72z/2F0b5s0E5axvBJi5zjcncC5iVdvSyMIFCxZYIq5NmzYpj9V7Hw3XaFF9zF0fve/du7ccOHDAehz/uuuu80WxRolVFbZhh0o5PbypAjRis3///q5wNP3wRnJ66wrbCCosr2swh2xUjlWtWx9jDx5RqQBMOZWXs2bNskRjNmLVMDUsw5iGiVUTuWs2jgpLlWAiYc358+bNc6Ng07EzTDSPq/ZHxbmRtHpesD9mDema0COYmiFMrGr/VegOHjwYsVrvP4FpAAIQgAAEIAABCEAAAhBIRwCxyvpoMgRUKr2y5f3I/t4z/s6cxhKUet6Ts0kpENWY6afWERSK+pqKv0wRsBqla1IfqPSbdM4EtzkVfQ8sf1oyjVfHN3PVK9Z5mcqaOrVsUEga0XvXyBtDo2NNx8LGrX1QgX3pGWMj5yasn0Y6hjH0VqSS/NdLZ1sC+nsjb3Rf0vOzybVr+GQjN+9fNMuq31tW21+47m1LkKpc/e4FU0PFc3DwXt7B+c20iM3aCErnj7Z/In/Z+K51+k1njo8U9+nqz1WsmrpUfumhUZDBTaCC7WnUowo3FbHeCNFM4+b1aAKGqYpqTYPQ2IeKT01rkMscmzWkQpkDAhCAAAQgAAEIQAACEIBAUyGAWG0qM0U/paWJVRMNqVMflGgq+TLJ0lzEqrZhZGZQUprNwzJFQaYTyumWb1g/TV2ZpKM5V6NIb77gWrcZ/X4wjUJYH8JkaVRfo8oauRs2T1F1eSNPtczdI7+dlZDVslFi1ftakEe2t498xWq29VMOAhCAAAQgAAEIQAACEIAABCDQnAggVpvTbDbzsbQ0sdqvc2/ZfeQrKxpSD28UYn2IVc33+ejHC6y2TFSmiazMRvyFidV8+qmi8vH351iPtmeKJNU0Ef/9/gtWnzW6VZlp3tNsc43GIVa9QjNThK25RB9Z/oxcMmiUvPzZYuuxfk3VkElcm3PTiVXvNZJJvIfdLhCrzfwmyvAgAAEIQAACEIAABCAAAQhAIFYCiNVYcVJZfRJoiWJ1cMU58vzqV62co/qo+XeGTLY2ZspHWGYzNyr8VGhqnlV9fF+Zq9z1piKIqidqfjIJPm/EqgrG93eus5rI9rH6J99/MXRTs2weh28MsaoCW4Xq342+VZZuXCF/3b7GmttMqRYQq9msYMpAAAIQgAAEIAABCEAAAhCAAAQajgBiteFY01IWBDSf56a9W2X/scPWJk9euZavWNUISN3wSXdy9wrCYs+xqtGXumO8RmU+sXqeu0mSMok7x6qZGm+ezl+MnmZFjmpk5YBup2ScvWDEqnlEPhex+sMLrnMjUNNtPhXsjMpK5WQ2rtLXVVaqvEx3xC1Ws4k81ZQLemgOWI0I1o239MhGBGu5bCJWg+kcMk6eU6ClRazqZlHHjh2zNorigAAEIAABCEAAAhAoUgJH1sq8xxZJpQyRqXddKL2KtJuFd2unvPvHObJ66FS5a1TzHWXhnKgBAsVFALGaYT7q6uqKa8aacW9UMq3Z/qkcOn7Y3Qzo9guudXNPqribt+WDSAL/NP6OlNdUtj25+lVLSuoxuf83rEfF+3TqLSpWl3++yt0kynuyPtI9csDQrHdr955r+ql1TB060dcnfW3b/p0p3w92fM6q+dK3cy9LrOqhfX1o1Tzr35o/UyNYw8brrcd7Tqay5jyVof+29DHrS+2/7jb/3ZHfymrVhY1b+6Cs0x3Bfpp6VIx65z+sDu2vStUzep3mvqxz/vv351hfZxr3Py962Co3fejkjP2MKutllqkeXeO/Xf6MxdYcylijhFWGZsNa14ZubKZr2awPU5d5bUzv09NuGBY1Hy1JrOqGTw8++KBcfvnlcsEFF2S1xikEAQhAAAIQgAAEmj2BI2vl1ccXi25N2m/8rTLpzJNChvy1rH31MVlsFRont046S8JKpWO1c9mf5MXVg+Xav8ksSnMpm/v87JR3//SirBlyrfxNo8vMYupL7iSb6hlff/aqPLZIZNwtk+Ssdk11FPXf70QiUf+NNNEWEKuBiUsnUpGs8a9yFU3rd22Uj3aul8pjh6Vfm/ZySuc+UtGpt/Tv2s+3C/37W1elFau/HPc9Xwe17lc+fUOOVx+36jbHeZ36yNQhE2XHgZ2ybMuH8tGBL1MGpmVG9T9fenfK/Z1C088uZa1kxohv+cYwZ/V8Kw/oBacMTQszrJxyevqzxe55wfEGK9TxPbTalrGZynrPfXP9ElmyY731LZV3mfpqzjXjNnzN93Us404dIV3bdw0dc7CfKiqf/OBFa86CdYWNUedQ59McOu+/W/GstZZuHxEthb9SAfvBi9Zp04dMzjjX/7L4kdCyhtfw7v1l4tmXpp1XZbR+71a56RvXuOW885pNP5Snrtng3Jh6wtZdtlfu+++/32Ik47vvvisqV6+88sps8VAOAhCAAAQgAAEINH8CRz6TV59YLNt0pH3HyS2TzkyVptmUyUBq1/KZtlidMUp6pitrtbVZBn5nkpxZL9JrlyybaYvVGSPT9qT5z30LHeHX616Vx1Ws1tsaCwNrr7t942+RSWcE35Zw1mTYacF16r0WrfJ9w8eRVbn07Zo3HvyC1Y6y3nfxNJkc+iaMGUS6ck6kdth4g9HbbvS6KdxPxt86udGFOGLVmY+gNM0kUTO93kLvSVkP+/DxI/Le1lWyZOc6Gd5tgAzs1s+KGGzfOvqnpUqpV7dGR6z+77F+sapttC5rJU988KJsO3bIamfl3s+tR8QHdeojQyrOtiJWPzr4RUq/z+toR6z27pi7WNV2f7fiGfu21qaDnNfTjqbcsLdS9h4/JLd949q049TzX/nkDenVvquMPnWElJeWu/17a/1Si5kewfF6B1FVUyVrtn/i8rr1nMssUZ3N8dWRffLgB3bE549H3Ji2r9763t30niz8Yo2c1q67jB80wkq9oNGjy774RH5w4XdCmw72804VnB17yZavKuWxT/5qnTPplGi5u+PgTpm1ep5VxkStLt20wprndGPWdjXtxJxNy6w2pp46yjrfy9rbYe+calnNc6sC99MdG631o2vr0jPGRJ6vdSnXlz9dKP079ZGLTx/tVu+tW9fd5HMvTVvP0x+8LBuO7JExvc6QM3sNsjh/vrfSWhe63q4+e4J0bdclm6lOKVOIWN22bZu0adNGunfvnrbtPXv2yMaNG60yHTp0kNNOO01atWoVeU66eg8dOiQHDhxIObdnz56hdWpd6Q5znqk33XhMXeacEydOyK5duySsbX1tw4YNovXqMWjQoLScgow0VYGyyvcwfevUqVNoPdqepkQIHn379k35Xj5stBLl5W3ftBnWRpBlOra6lrQuPXTtKSuznqLWh3dQpk9RDDKtadNGcN4zrTXtg449OLYgp+AERLGIe83ku9Y4DwIQgAAEmgGBrz+T+Y8vFunXTyorNYpvogR9ydF1860Iv379KqVSxsmtE8+UtjkOfdeKmfLiqiFy7YyR6cXq10fl6Eltc64/++7skuUzX5TVQ6+VGSMQq9lzaz4lzXoOW+v1Nsqdy2XmS6utqPCJZwSuHuca1IDwlMOzTu1+V/rqsK8rkSHXzJCRjsrItpw47W4Li0wNiei2BOuOd+WPL66WfpnEarpyKbLUM2qPWP36s3ky+61KX1s7l/1R5uh4r71LLkz/oGy9TaVWjFgVEa8kjfq3mQWEauHrUQXTU2vmy6BOvWX0wBHSvk12bz1+sHV1WrH6j2O/m9I5besPH7xoRT4O6tZP5mxaLp3LWsv+6uNyx5BJsmLLqsiI1RH98xOr2gkVfqu3fyobD+yw2tJjWLf+MvyUoRmllwrK3Uf2Wuec1WuQnN5zkG9c+vr6r7bIbcOvj5wMjV5cu9OWV+YYo1GjWQo3FbitS1vLhacOy2rClfOSTSsiy14zODwqMF0/tQ8HnUjjqL4fPnZE3qtcJZ9oXl6H82ntu8vIU4akFclh/U3Hxzsn3kH2aNdNBnTvm5WAf2nNa+6p3nn1fl8LaJ1R3MN46Tkd27SXkzv1SlkrWU2ep9AHH3wg3/jGN3I9zRKlL7zwgnXe3/3d30nr1q1T6jh+/Li89NJLsmXLFunVq5clYXfs2GGVmzBhgpxzzjkp52Sqd9myZfL222+H9rd///5yzTXX+PryH//xH2nHdtNNN1myy1tv2Hi8/TLnqBB76qmnxHxtGvrkk09k4UI7r27v3r0tgblz504J618YIxXH+/fvlxEjRsj48eNznhs9YdGiRbJixQqL+7Rp01LqePbZZ615CTuC7ebDRutV9mPHjpVRo0ZZzZg2r7vuOks0e48gyzC2KhLnzJljsVGWepj1dPPNN1uSNd36MO2ZPqVjoOtZ+xkmgWfPnm3NZ5BTprWm7f/93/+9JZy960br0yNsnrxzadZlfa2ZvBYaJ0EAAhCAQPMgoHLlibdFxo2VLovfln3jbgmIn6Py2fzH5e2uY2XsV2/L2zJWbgmIVRU5jy/2v6E9+OrpjujZJcsfeknWeGj11Tb6brXa7XL1dBmw9SF5abUGzNpt2/WJjP2OV/Km1pNsQ8SSRE59RjCZJneteEhe+sr026lnyDUy3SNW048hYqrdNm+RTh8+Lm8bBH2DjOw2le14WWSzstoXm43pi2cMhond8mC5ZvpI6em87pIOjMEuG+TknOsOIaov4ZLZYrfaO/5gfS7lwDxn0a51al9nngP9TmGoZZ216AIw5yb7lzqP3jLB88U3D6nzY5hkbjftzWDncnnoZfsKMGvcV956Xew5jqwofN26TNzrMttyIuJpt1eIXPVGqhqp+qeX7HGkFauOVI0sZ70uGfInR+Uf/lrWzpsti2S8TJuce0qSuG7aLV6sGlEaJlTTSVYEa/5L8LH3/iLbjh2WG04fY1Wy+atK2XXkK+t7E08ZKuf3G2J9Xx8Jf2bVXLl12DetrzWy7/Dx5CP9wR6ERZcu2vCOfLp3q0w+fYzMW79ELhs4Qj78Yq20KS2XS84YbaUDMHXuPrLPinDt2LqdtG/d3no0PF0Ebf4EOBMCxUngww8/lPPPt/P65nIsWLBAVPConLv00kvl7LPP9p2uUXYqrvRQ2WmiL/X7Kv3WrFkjt912W0oUZ6Z6ly9fLkuWLJGf/vSnvvY2bdokb731liVVv/Wtb7kRjL/5zW9kzJgxMnLkyLTDM/Xq+WHj0X6tW7fOGvO3v/1tqaiokO3bt8vTTz/tfq0NfPrpp/Lqq69adXi5almVgioEr7rqKrcvjz/+uCUKp06datVpDp2XN954Q4YPHy7jxo3LZWqssg8//LAVyamcZ8yYkRK1+txzz1nlbrjhBrdunRuVwkuXLpUzzjjDykWrRz5s9Lwge21z69at1hxpn7xRy0GWYWz1fE3lcOutt7rnap9V3qvo/OEPf5jCKWycplDUaxqRqnXqvATr1NdmzpwpgwcPlsrKSrnjjtQ831p/WP9Nu8HXzJoJmyfvXJr5qK81k/Mi4wQIQAACEGg+BL5eJ68/tURk7M0y9MCTMnffGLn5ijOSEaPO652n3CydVj8pS8T/+tH1r8uTb4uMuekKcZ9w3rlCHn7lI+k79ma54nQ7Om/Xyodl7prz5Ko7RtjyyKlXHZm3nL6UUqcpO/gquWO4rZ7sMtvkvCl3yAiN1HP76XztmSGrbXdcu2TFw3Plo5S6Mo8hZdI9Y3D7IUdl3etPypJtnrGK06ZW4GlXJaivL6FMTH16sqfOEMaGgc5lJPfIvgRH57QbmO+UefTMZT7t2vVpJX2TayhkvlNYhayTsL6Frc/U70XNj7Vys1svYXcEz3yal4Nr3fq+zuXqTv7rLlif5zo1c2uK2ON2+Enyek5bTrMR7FohD6/qJDdfmUz/kSJTNTrza03P8badLsQ5NPJ2cjBBbUgkaqiAVbH6Qef0YtSpS0IiY+2o1cZNCdCixWpQqnq/Tvda8/mp2Tgj+dOyZ2R/jR3Fqcep7brJOT0GyvGaKtl+YKdcdZ79B/ynX6y1Pndp30XW79osHSzh2U5O63mqfHV4n/Xa+9vWyOVnjbciRNu3aift27R369XvPfrR63JFv6Hyya6N0q9Tbzm950Dre7edd4UvynDxhnfl3V0b5JyOvd32G4dOw7f6YeUai/sXR/bJDedeLl3b5/cYecP3vOFaXLb5fdlz5CuL0XeHTfXlzW24XtR/S/mIVZWLv//972XixInyxRdfWI/Df+c7/tQPq1atssTg9OnTU6Senq/i77zzzrMiGs2RTb0q+VT83X333SlwNKJRo/9Gjx7titQHHnjA93UUUVOvCjPtx5QpU3xFddOr008/3RKVN954oytWn3nmGfdrPcGUu+yyy1KaMm384Ac/sOSiCrX58+dbkYph6RRM+TCG6VaGSuYXX3zRYq/yUFMveDnruc8//7xVxfXXp0bBm7kz48yHjdYdZK9tqhjVCN5TTjnFx1hlo5dl8Ouw+gwDLauRqhrdG+SYbpzpXjMMDQPTlkZLa4oHFdIPPfSQXHvttXLqqaemTEdY/7399Y416nrQ8sF+1Neaqf87DS1AAAIQgEBREziyTl5/ZqnImG/LFR0/lkfm7ZfRN14hZ5iHDHeukEfmiUz53rmy//WnZamMlm9fcYaTh/VrWaff6zJFvucIT3uszvc9ZXetfERe+ehcmfI9R6w67W4/L3iuyNfrX5enl4jbj5Rzw9pw6us8+Xu2aPUc1vn7TL93yYpHXpGP3XazH0PKPJoxVHiZiIiX6emWwbLbDJYz3zd9iajP5rFdzvWNLYKxO06nt1n3JTC6KJ4p9ak09/LN0K541oAWtdbXx1Kh689iZR/BObcZdE6uH7uUZy7F+vf+QD3+MraUD66v6PkxZdO1m2U6iRBuZqxWfw4MlSnyirzyUXIefPOd5nybVYV9vahYNdezh2eSaV8Z/e3LrTdBjq5fIE8dHCpXyVx55aPkRlX6JsHI3vbXKlqNbLU+O7lbE2Fi1buE0ohR6xH//RfIVJljPdZvDsJVZE4AACAASURBVN/j/YjVlNtNUXwjSqLq983HkSNH5OjRo1JVVeV+ryg638Q7oXk39eOk1m2l60ldrc96bNu3XbZ89YWcd/KZ8v62j2X70QNyZsfe8tlB+3Fhcwxs1002H9kr7UvLpVOrk6xy+u/DNVUybcgkq1hVdZXM/WyR9Xr78rZyoqZKxgwaIfPXviXty0+y2igvKbfa/nDbR/LRV9ukom0nqejQw/pe3y7JaLF0uLWd7fu3y4nqahnYvb+UlyXzoTaFaVLmb1aukR6t2sqF/b8hndp2bArdbtA+rtuxQZbv2mCtj1GnnO+u1wbtRAM1plGYGp2Yy7F+/XpLMKqU06g+jdCcNGmSdO7c2a3mtddes6IKL7nkkqyrzqZejahcvXq16KPfYYdK18OHD7sbVD355JMyZMiQ0LQD3vNNvRodunjxYmtsJqLSjNG8pmkMNL+mCmV95N98rTJNzzVfZxr4m2++aRWJYqTRmCr/sum/ty1loIcKZi9Tb5lMbWu7Kgw16jYfNtpWkL1pUyNz33vvPSsS10TpBlkGv9b65s6d6/Jq1y67dDLpxpnutc8//1x0s7PgulYuKt9Vsns5B+c6rP+mTNhrK1eutKJuvdHMWj74/Uzzlu+aybRWeR0CEIAABJo5gWNbZflf14gMuUxG9jsqn85dKnLRVXK2sw/tvrVzLZl61VltZevyv8oaGSyXjTxF2qTFciylrFXPxlNl9FVnixXW4WvXX9uxyuXy19Uigy8bKae02Wf1adMg7UOagBCnvg6evpsuWm0fNP3Osj5JHUPKkCPHEGwjqs3A9yPq8/NI9iK7cQXHkeX4nb7s7pFpvqPqy7Ldrz6Vue9sklMD82aPuYOzXqLnIrmuessOXSfiWWMRazSVZ7ZjCLD3rudMt4k0690eg0gP6xq0rwW7j7s938vQx909MlwvDkO3nIhpt+fQy2RE3zaWQD2+bbksWLVbKi78pkwZ3N0Vq65gNalDVKw6yZj9m1s5IDKKUX86gdR8qhlSAVQSsZppycX+eiapqiJ13759cu6551pRWPoHZVjOwNg7RoUQgAAEIAABCEAAAhCAAAQgAAEIQAACEGhkAvo01Wer3pFf//Zp2V1SJef36SLl5eVJwfr1Opn/xGKRi1Ws2sEOuYlVJ0dq16ly1yh/aHnwEf90m1eJIFYbdKmEPeKv36utrXWjUnfv3m09lhj2WGSDdpbGIAABCEAAAhCAAAQgAAEIQAACEIAABCDQiAT+MPs5WfHmPOnRo4crVkuOrpfXNKny+Ftl0pkn+dMEePuaJmI1ckjOple+lACejbD0PM3ZerG8JbPf6pJh86v6BdeicqxmkqoqV3UzCt2h+Gc/+1n9kqd2CEAAAhCAAAQgAAEIQAACEIAABCAAAQg0AQL/+Z//KRs3brT2zSgpKZHE0fXWZneJ8bfIJE/EakrUapRYDZOnhkO611xWTsSrjE+/+VU9s22xYtWbS1WFqvnQDU9UqupGKhwQgAAEIAABCEAAAhCAAAQgAAEIQAACEGjpBHR/C92UVjeJVbFacmyDLHh6qcg4Fat2xKpvcysDLDJiNSp3qoidCmCIE4kaUS6fSNh6mMQWJ1ZN1Kr30X/9d01NjSVXv/zyS2t33zZt0qffroe5oEoIQAACEIAABCAAAQhAAAIQgAAEIAABCBQdAd3cfcaMGdKnTx9LrJYe2ygLnn1HEuO+Y0WseqWqL2o1jQANy51qvudNAxDMuSpSHNGqOkktRqwGN6wyeVW90aoqV1WsPvHEE0W3gOkQBCAAAQhAAAIQgAAEIAABCEAAAhCAAAQai8DNN98sJ598si1Wj2+ShY5YneiI1dCo1UyRpYHcqVGbURnh6o59aOqmV43BpUWJVa9c9QpVE7FaXV0tO3bskKeeeqox5oI2IQABCEAAAhCAAAQgAAEIQAACEIAABCBQlARuuukm6d27t5SVlUlpaamdEsDzEZkOoChHE0+nWpxY9eZWNY//62f9ULGqEavPPvtsPHSpBQIQgAAEIAABCEAAAhCAAAQgAAEIQAACzYDAt771LSsVgBGrKleNYDVStaXJ1RYrVk3EqleqmojV5557rhksd4YAAQhAAAIQgAAEIAABCEAAAhCAAAQgAIF4CNxwww1uxKpXrpqoVa9c1RZ9uVbj6ULR1dIixGowv2owr6qJVq2qqrJSAfzlL38puomiQxCAAAQgAAEIQAACEIAABCAAAQhAAAIQaCwC3/zmN92I1UxRq4jVxpqlemg3SqyaaFX9rFLVpAKYM2dOPfSCKiEAAQhAAAIQgAAEIAABCEAAAhCAAAQg0DQJTJ061RKr5eXlbjoAFazBPKtGqhKx2jTn2ddrr1TVFzRaVb/n3bDKK1Y1YhWx2gwmniFAAAIQgAAEIAABCEAAAhCAAAQgAAEIxEZAxapuXmXEalQ6AMRqbMgbv6JgtKqRqkasmjQAGq1qUgG8+OKLjd9xegABCEAAAhCAAAQgAAEIQAACEIAABCAAgSIhcO2116aIVROxqptYaYSqRq8iVotkwuLoRiaxqkLVfBix+tJLL8XRNHVAAAIQgAAEIAABCEAAAhCAAAQgAAEIQKBZELjmmmtcsepNB6BSNWwDK1IBNINpz1Wsfvnll/Lyyy83g5EzBAhAAAIQgAAEIAABCEAAAhCAAAQgAAEIxEPg6quv9uVY1WhVkw4AsRoP46KrJVuxqtGqJmIVsVp000iHIAABCEAAAhCAAAQgAAEIQAACEIAABBqRgIpVk2M1mGcVsdqIE1OfTUeJVc2taj5MflXEan3OBHVDAAIQgAAEIAABCEAAAhCAAAQgAAEINFUCV111lRuxili1ZzHxq1/9qq6pTmg2/c5GrKpQNXJVUwHMnTs3m6opAwEIQAACEIAABCAAAQhAAAIQgAAEIACBFkEAsZo6zYjVmhorBQBitUXcAxgkBCAAAQhAAAIQgAAEIAABCEAAAhCAQB4EEKuIVdEI1traWjcNgKYDMGL1xIkTsmPHDiJW87i4OAUCEIAABCAAAQhAAAIQgAAEIAABCECg+RJArCJWEasxX997X/yJTLxP5J5XfitTexZWeZx1FdYTzi6YwIcPyPAZs2XazJVy9/lZ1pb2nL0y58cT5f6lY2JZa1n2iGIQgAAEIAABCEAAAhCAAAQgAIGiJqBBgocOHZIuXbqIbiAVdhw/flyOHj0qnTp1kkQikfd4EKuI1QYRq6t/N1zu/HO6dTpNZq28W4bkvZSL58Q4ZWicdYUS2jVHfjLlfpF758tvr+3WyBAdUXjaLFn543hXgs1xicjoe2T+76ZKLiO11u6G3M9LgRmzWK33tdHIq4HmIQABCEAAAhCAAAQgAAEIQAACuRLQtJZbt26Vffv2SUVFhfTq1StFnH799ddWGT0GDhworVu3zrUZtzxiFbHagGI1KrJutTww/E6ZLc1HruZ9RTb0iS1CrJr1pXBzj+6MTazGOrf2mCSX6NdY26cyCEAAAhCAAAQgAAEIQAACEIBAcRLQ9JYqTvfv358iVzWSVV8rLS2VAQMGSJs2bQoaBGIVsVoEYlVEnGi+MUUROVnQNdW0Tm4JYtVEit57j2y+L/fo3KIUq7v2yt6e3XKKvG1aC5PeQgACEIAABCAAAQhAAAIQgAAE8icQJlcPHDgglZWVUl5eHotU1d4hVhGrxSFW0wg+9zFuZ67C5avJN+kU0ke+/0nkvin3y0Anqi9SkDltm3JmSWRq163PaWeJE3FbEcixmlrObsGMw58mwR9RGfW4d9Z9+91AedSKBjZHMio4WIcEIob9r4dEejrclniuoVzEuH/c2q/bZLPmDA2kAsg01ky3WbsdT/0S/Vh/2JgHPplMBSDW3A6UWSsnyEIv19vt9AXBvvryqaakAvBG0jqjcOpxxxSVPsD5vjurgchVux/aT4fpUlMy94jdTHx5HQIQgAAEIAABCEAAAhCAAAQgUIwEjFzVKNV27drJkSNHrAjVOCJVzXgRq4jV4hCrERGrSSnm5F8NFbBGqnpSCWh9szbLmKVL8hKr2bSbFIP+FAZBGRpaziPGkjIydRxhYjXrvm0YI2OWDpTpbu7aEE4RQttuIynhjDB0RWGY8Msh+jVlDKKS8SHZPHqJLPGI1WzGmv7m7chLn/gM31gslbXyuk8WyhJZ4shYW6yqSvYISq9g9ojRIEMTlW0xPDkst62/r9a4QjhHzYVXapuxjBktMuGfkpuopfSpGH/y0ScIQAACEIAABCAAAQhAAAIQgEBMBHSTqk2bNonmVS0rK5NBgwZJ+/btY6qdiNUwkIlf/epXdbERLsKK6urs4eln81FbWys1NTXuh1p9TfirO6nt2LFD5s6dW9BI0gudEOGnrUVEkqbItoioPiM0jQzMOmI1y3ajxhQlVv27wTsSLbiZUmAsKbIvp75J6g70QVZhMjSdvHYE4/aIDZ1ShWnIsskUhWnkZJZjTbcwo/gtCUaGRklhI02deTJi1R+Zm379uhuDecZ921YTUerfsC2lv1FRroH+B7kb+ZoSQZyD/C7ogudkCEAAAhCAAAQgAAEIQAACEIBAIxMgYrVxJgCxWlMj9SNW00xoyG7tkbueZ5KPpplAuWzFarbtRknEcLEa3JgrJDoxRCYH6yq0bymyOkS0pU8/YEd7Wo/H/zlE3GZxzUbvZp9ldGmUmE1p2xGevkf/IyRoZJ3+OmyxGox4DWtHO2OPZ7PJG5wiVpe46SAisQX7lUFKG3mfibHbpyzmiyIQgAAEIAABCEAAAhCAAAQgAIGmRoAcq403Y4jVehOrUfkdTa5Jv3z05+BMXRC+SFQrh6Y/+i/4GHW2YjWndjek5usMFasp5fITq4X2LRuxGhl16pV6zqPs3vyqwRytUZdwdFSrIyidVADZjjXyVhERnZnyKL2Ikxs1PEWAd90kc6x611ruYvXu80Pyq3rTC0S8ORApTANjTeZYDVwTQdnbePdZWoYABCAAAQhAAAIQgAAEIAABCNQLgTCpmkgkrLY03+rWrVultLQ0llyr5FhNnULEaoOLVSO2lvgeXc/qsXKNC3Q3JwpIpMCj5LmJ1RBRG1grUfXVv1jNv2+xidXzkzBSNsEKiT72ostNrGYea9RdOHVzrkBJz+P00RGezvpyxHh8YtXTl8BGVD5BnW10NmK1Xn4YUykEIAABCEAAAhCAAAQgAAEINC0CmtZSxem+ffukoqJCevXqJUaqmpFovlUto8fAgQOldevWeQ8SsYpYLarNq7x5SNPJLu+05fR4fEiEaTCyNdt2G0OsFtq3bMRqNqkApvYMv+eERYMGS2Z6TH12FhtNZb7jReSwtU6M2OxsxuzUnLSmrG/zqoGB6Oh8IlYjRhDcxK2gVADBfmqbgfQEmUFSAgIQgAAEIAABCEAAAhCAAAQg0KQI6H5BGpnapUsXKSkpCe27bmp19OhR6dSpU4p4zWWwiFXEalGJVd9mO0HJ5MxVymPOaTc5SuYBjYqUDG5yZURrcOOfYLuNIVYL7Vs2YtWUcTdd8spISzAOlEeH3ylGgPouoYi5CCvjrz+5WZm7sVS28x92x4s41xRNFcARqRkcETnbt3lVoWJ1vgycNVHu9+V+NT2Lzst6txUlHN7P8M2rEKu5/DCkLAQgAAEIQAACEIAABCAAAQhAIFcCiFXEanGI1XQ70S/1PA4ekTczRZp6Hq92o2BDZJv3cfFktGxIRGNIu40iVsOiLXPoW4pYjYhgtHkmc+IGRWR4ZGpU5GbqRRas3xaGD8nm0UtkiZNjNTSyNMtd7VPrD/TBqceVuG6eVW86Cns8C2WMLJEJMv93UyW2VADygAyfMTtl86qodZwaye3pZ+S6Rqzm+gOR8hCAAAQgAAEIQAACEIAABCAAgVwIIFYRq0UlVpeEbOAT3MQoGElqptBfbprMemWgPDTlfhk4c6XY0X4iJuLTnXaNRPwnkfuC5dzcrckFEmy3ccSq3Z9MTLLNJ+uvy5/P1J+jNGTjsZTcoCLiyVua6UYUVv/AJ4fLnTJLVv54iHt6prGmtBMiTVP7YuR5YFyBManQvG3rT2TigpjFqq5H009v54L5aYOpAEzZkH66a9yVxIjVTGuQ1yEAAQhAAAIQgAAEIAABCEAAAoUQQKym0mPzqnrYvKqQRZr3udk8lp535ZwIAQhAAAIQgAAEIAABCEAAAhCAAAQg0JIJIFYRqw0SsdooFxlitVGw0ygEIAABCEAAAhCAAAQgAAEIQAACEGgJBBCriFXEaku40hkjBCAAAQhAAAIQgAAEIAABCEAAAhCAQKwEEKuIVcRqrJcUlUEAAhCAAAQgAAEIQAACEIAABCAAAQi0BAKIVcRq8xWrLeEKZowQgAAEIAABCEAAAhCAAAQgAAEIQAACjUIAsRoiVn95y+C6RpmNBmq0zhldndSJ/ruurk5q60Rqa+ukprZOqmv0o9b6OFFdJ7v2H5V5y7c3UO9oBgIQgAAEIAABCEAAAhCAAAQgAAEIQAACxU9gyrjTpFe3dlJeXirlpSVSVlYiZaUlUlqSkBLzkUiIJBJi/S9R/GMqtIeJf7xcmrdYVUIqVO1Plly1xapITZ1Ida3zUSNSVSOy87DI/E+bNZJC1wznQwACEIAABCAAAQhAAAIQgAAEIAABCLQwApOHd5BeXUqlVWlCysoSUqafS8QRqyIlCf0wYrWuQLEal5WNq57wyU7845UtSKw6gjVFrNbYctUSq4dE5n+CWG1h9waGCwEIQAACEIAABCAAAQhAAAIQgAAEIJCGwJQRnaRXlzIpL01IuYrVEluulpaIHbHqE6tW4Gqeh3q5vE8OtBlXPRFi9VeTWqZYrdGIVeejSqNWa0RO1IjsOCQy92PEap4rn9MgAAEIQAACEIAABCAAAQhAAAIQgAAEmiGBq0Z2kD4qVssSlly1IlZLTcRqnZRItSVTrQ9VowU5zYJO9tDXeurP8yV6j+paf7UX0yJyolXtRKt2SgD9T12tnXe1rkakTnOufl0tBzYfKaae0xcIQAACEIAABCAAAQhAAAIQgAAEIAABCDQqgVbn9pdEh5PUpErCDlMVKbVNaklpuZS0GylSV500qoWZ1UYda6bGyzVa1xLIF/RqMWLVTbaqdKxkq96kq2InXz1aLXVbD2Tix+sQgAAEIAABCEAAAhCAAAQgAAEIQAACEGgxBBLnnirS0RarUlpqJ1XVf6tgLGklrdqPkTpRsapInNDVZkzHSlhQMqxnCxKrjki1xKojUo1gtRKv1knd0Wqp3XKwGU87Q4MABCAAAQhAAAIQgAAEIAABCEAAAhCAQG4ESs4d6IhV6/l/n1gtLW0l5e1UrFa1GLFq6WPEqhO5iljN7WqiNAQgAAEIQAACEIAABCAAAQhAAAIQgECLIYBYTZ1qxCoRqy3mBsBAIQABCEAAAhCAAAQgAAEIQAACEIAABPIjgFhFrDq7VpEKIL9LiLMgAAEIQAACEIAABCAAAQhAAAIQgAAEWiIBxCpiFbHaEq98xgwBCEAAAhCAAAQgAAEIQAACEIAABCBQEAHEKmIVsVrQJcTJEIAABCAAAQhAAAIQgAAEIAABCEAAAi2RAGIVsYpYbYlXPmOGAAQgAAEIQAACEIAABCAAAQhAAAIQKIgAYhWxilgt6BLiZAhAAAIQgAAEIAABCEAAAhCAAAQgAIGWSACxilhFrLbEK58xQwACEIAABCAAAQhAAAIQgAAEIAABCBREALGKWEWsFnQJcTIEIAABCEAAAhCAAAQgAAEIQAACEIBASySAWEWsZiVWt72ztiVeH4wZAhCAAAQgAAEIQAACEIAABCAAAQhAAAKhBPpeMUak40kipaUipSUiJQn7s34qbSXl7cZInVRZX1v/SVj/aNZHomRYz7pmPUIzODPKOucf+qm2zhattc6/a+uk7mi11G452CKQMEgIQAACEIAABCAAAQhAAAIQgAAEIAABCGRDgIjVVEqIVcRqNtcOZSAAAQhAAAIQgAAEIAABCEAAAhCAAARaMAHEKmI1q1QARKy24LsEQ4cABCAAAQhAAAIQgAAEIAABCEAAAhBIIYBYDRGrv/jFL5p1KoA659F//Ww+amtrRT9qamqsj+rqaqmqqrI+du/eLfPnz+fygQAEIAABCEAAAhCAAAQgAAEIQAACEIAABBwCEydOlJ49e0p5ebmUlZVZH6Wlpe5HIpGQkpISq7T+Wz+a+5FArCJWm/siZ3wQgAAEIAABCEAAAhCAAAQgAAEIQAAChRFArKbyQ6wSsVrYVcXZEIAABCAAAQhAAAIQgAAEIAABCEAAAs2eAGIVsWqlAyAVQLO/1hkgBCAAAQhAAAIQgAAEIAABCEAAAhCAQIwEEKuIVcRqjBcUVUEAAhCAAAQgAAEIQAACEIAABCAAAQi0DAKIVcQqYrVlXOuMEgIQgAAEIAABCEAAAhCAAAQgAAEIQCBGAohVxCpiNcYLiqogAAEIQAACEIAABCAAAQhAAAIQgAAEWgYBxCpiFbHaMq51RgkBCEAAAhCAAAQgAAEIQAACEIAABCAQIwHEKmIVsRrjBUVVEIAABCAAAQhAAAIQgAAEIAABCEAAAi2DAGIVsYpYbRnXOqOEAAQgAAEIQAACEIAABCAAAQhAAAIQiJEAYjVCrNbUVUuVHJWauhNSJ3UxIm/8qurqnPHUiS1V6+qkrrZWamtrpaZGP2qkprpGqqurpaqqWvbs+kreen1J43ecHkAAAhCAAAQgAAEIQAACEIAABCAAAQhAoEgIXHzFGOnes6uUl5dJWVmZlJaVSllZqZSUlEpJaYmUlCQkkUiI/s/6fyJRJD2Prxs6ttJEKymXtlKaKJPEP/yvv687VndA1u3YIYvWfSAnqqvia62YajK+2CNapdayrSK1Ita/a+uk7mi11G45WEw9py8QgAAEIAABCEAAAhCAAAQgAAEIQAACEGhUAiX9O0qibZlIScL5ELWn9r+NQzUytfk5VYt9m/JWMvb08+WM3r2lTaKTJH7yv35Q9+mXlbLgk+WNOjn13ngDitWDVdWy+fAJ+aqq2vK1HBCAAAQgAAEIQAACEIAABCAAAQhAAAIQaGgC6jy7lpfJwPatpGN5WUHNI1aT+C4/Z6Sc3aefJP7u5zPqZi6a13wjVc2YG0isHjhRLasPHJWTy1tJDVa1oAuWkyEAAQhAAAIQgAAEIAABCEAAAhCAAAQKI1BakpAvqk7IkE5tpVOr/OUqYjU5Dxq5eue4SZL40c+n1/1+4UuFzVBTOLuBxOqqfUekfaIMqdoU1gR9hAAEIAABCEAAAhCAAAQgAAEIQAACLYCAytXDddUytEu7vEeLWPWj+8GEaxCrcedYfWPXQakoa5X3IuVECEAAAhCAAAQgAAEIQAACEIAABCAAAQjETWB79Qm5tGfHvKtFrCJW7c2q9NBP9bB51V93HpR+5YjVvK9SToQABCAAAQhAAAIQgAAEIAABCEAAAhCInUBl1Qm5rBdiNS6wRKwiVuNaS9QDAQhAAAIQgAAEIAABCEAAAhCAAAQgUMQEEKvxTg5iFbEa74qiNghAAAIQgAAEIAABCEAAAhCAAAQgAIGiJIBYjXdaEKuI1XhXFLVBAAIQgAAEIAABCEAAAhCAAAQgAAEIFCUBxGq804JYRazGu6KoDQIQgAAEIAABCEAAAhCAAAQgAAEIQKAoCSBW450WxCpiNd4VRW0QgAAEIAABCEAAAhCAAAQgAAEIQAACRUkAsRrvtCBWEavxrihqgwAEIAABCEAAAhCAAAQgAAEIQAACEChKAojVeKclJrF6qfzwmrOle2jf9skHLz0hL8Xb7/xqq3NOq3P+oZ8Qq/mx5CwIQAACEIAABCAAAQhAAAIQgAAEIACBJkUAsRrvdMUqVtvvWSr/9s6Hnh6eL7dNGi0Dy4tEriJW41091AYBCEAAAhCAAAQgAAEIQAACEIAABCDQZAggVuOdqnoWqyIXXTRdruj+dXFErSJW41091AYBCEAAAhCAAAQgAAEIQAACEIAABCDQZAggVuOdqgYWq3bKAKn8VKTf2dK9apu8/uqL8o6kphI4Foh+vebSH8o32juDr9omHxzoId9os0nue+MNkVOvlf91bg/5snK39OnXV9oc/tT+/vnfkXv7dZE659F//byn8kF58EM1rONl+pWnSU3lWqnpdap0qKqS6mPbZcniNyXR9yJZtWBu3qT/uvOg9Ctvlff5nAgBCEAAAhCAAAQgAAEIQAACEIAABCAAgbgJIFbjJVrPYjWYCsAIVG9qAOd7Robq+Bwhuqfyv+W/PxSxparnHEukegSq+doVtZKUrR8/JI9usqFdeOEdclnXr+WDl5+UVxyx2qnmqHz+6WPy/Oci44fdKKeWnZCNa5+RN5cczJs0YjVvdJwIAQhAAAIQgAAEIAABCEAAAhCAAAQgUE8EEKvxgo1VrGbevMqWqP5crCaK1Zao9uH/niVWxYlCdUr4vueI1cOOiI1ENPAa+fuzu8mXHz8sj2+2I1bb7F4m/7VijUitiJw+Ub7XtUpWLnhVVm1pfLG67rkH5d5PUkfzjUu+Jb8YF0473uURc21rX5KbnxG5755r5IxYql4rs+9/U16OqKvJcvKNxxnjOZfIkzecFQs1KoFAoxDY87b8+vcfiWRz/4r9XtEoI45uNGR89v2+Isb7Y5GNme5AAAIQgAAEIAABCEAAAkVBALEa7zTEKlZTN68KdjazRM1WrFq5W4OpADzRqaZlLXd5N/uxfE0FUFd3TDZ7xGpN5UPyyJq6IhOre+SN3z8rf9gT8kd2LnIi41qx21l+Xjyidv/ix+T7u4ZFC8DYZYktHeXG78u0oHO02touV4e9lpFL8RRQpn+QiakiPcBSpcxfesYzj8UzenoSRsC6zj7qLw/+YKx0FpGmMff2vWb7pSHXatggPetbPGs7OPYmu0KCca2W+AAAIABJREFU90L9+o0u7pzmPS7r58M++WZsb17l3RNOhAAEIAABCEAAAhCAAASKlABiNd6JabZi1d40q7WIeFIIhESsFqNYTR+5FKcMjbOuLBZmQ4pVSSNds+hqsRTZv2ePdO4eEp0cO8tiGTH9yESgacrFPbJ/T3fpnG2gfcT6bppjD5nRwPgir/NMi4HXIQABCEAAAhCAAAQgAAEI5EgAsZojsAzFm6xYTU0F0EO+9ESsWq+3NptjORSakljddV5W0Uth6QK8j8Db0WyXyMiP3pQ/7LE52FGcJirWYaOPmp+73ory9B3dPf0w0VA3itxrynleD0as+vtWIfdZ52kqgItkuxWR62/KjS51onI/cF+Oejw2nTz1v+bjIOfJgzeK/OH3H0myDW0s0I4T9Wp1o/t5ct95W+ReJyLXjPU+edN9fLenRhK+ecg3qGTErPbnPam4sb8sf8Zu156nPcl0Bl7Wjhj2pTkwr3v7JR3kb39wq1S8lYxYTVkTnjQC6ddLYE24ayXsLpJaNrnuUl9Lrjv9VyqLFPaeJoN99q7vVNGWOu/edBrp0kPkvEZ882CvERNFKs61MvKSg/IHsyY8r+c6D6bf1njdNWavVxPR+bcyX77/Zkf/o+RWP7bIyB9MFHkmjmtOxB6b99qx1+ClljT1z6312H+Pd9LfV5yo2+Q8ee8VwfGZ60vHHtd9RPsdtmY994PgXPvuFSEpSXzXsh1VHD6+DGMIuVbS3je8Eavp+pzymn/9prvm4v0VhNogAAEIQAACEIAABCAAgYYmgFiNl3jRiNXuBW9eFSJWvRteySXyg6vOkq5NIBWA9UdtFmLVlizikRrqNfyPwNt/IHvEh/X6QeccT8Tq2WtD8h8G8nsaoeKKOkdG9LTzf3rFamrfjHyokL85Z7v8KZBLMFl+mGz//Zuy3c3D6G/Dv/yzTwXg5xCWt9RpR6WrPmIdTLkQGLsRXN5UAylRZ77Hcp02XeGS5GHnnA2Mc88e2d+9u/Wotzl8j3xHpAKw5Zp3TdjtKM/U1/zrZeTH/nVnjzEg6pzOpERVO3wqbvy+WPVEzq8KuCALRzyFrPmUPvjWr9hrzvNYvC327PQQV+8O9D9wbvBWmtMaccS8jtdOQ5HkbOU/TrlWkmvuwZ7vpb1uU/h52Gpb0akAbEnvTY1hjUkuEe8bACa/cSHX3MseWe+fo8DchqYu8V9/6e4VXnGsXL1j3xWSkzS/MdliNRhR697PLt6Tcm/03aMzXKv53wvDrpVM9w0nFcAPushfAvls3T47a9ef6za4Pj3XfYbrJt5fSagNAhCAAAQgAAEIQAACEKhvAojVeAkXgVjVAdm5V71PiR7bs1T+7R13NyuxIlDbO4Ov2iabj/eVgWZDK2vzKr9Y1ZLmHM2taqcE+FQ6XXmh9C/TPKub5KQzTpOiTQWQrVj1SaWk4DFyxYgVd+MjN4JN/2gPilWNbDORZzZr3/m+c1NfTxGrwb45MtASqxLYjCkQWZdd3tfsN6/ycwgXsj5hlc1YU9gn+ScjTY3UDraZmoYhLEetP0JRRIzQSidWA/0yQtYSq2nWiyUiQ8eUetNJWVeOGNYcmpYYjJzfpCzyCsDIR7wzpDxIG7EquW2Wltsa6S4vR+X3tTydiRRNXk+mfkusppmHVH7+/KTpcqxGjSH9nNjRrLlcc768xiFvILivh3AI3ldC5z6LHKuWWI3lPuJZ32FRyJaIDNwbQ3KiRl2r6caX/l4Ydq1kuG+YubDEakSfw8bjvddbTy7EuclgvL+0UBsEIAABCEAAAhCAAAQgUBgBxGph/IJnxyRW4+1U5trOl9smjZaBxz+V+954I3NxU0L9qh6WaNXPIlJbZ39d6/y7tk7qjlZL7ZaD2dcbKPnXnQelX7m9YVY+R6aI1WwFjUa35SZWg4/GO703Mi8b2eh9VD4vsWqLKL+k8D5q7CWafR7V3KSZiVj1i4n04jgYSRaUa7mJVTP+YFoHVyTlIFYNsXB5GehX4DHvqEfnU8Vqcl5CX/OtndR5ixSrVrUBgR6MloyIWPVGkrqi23Nu8NoMWyO+VAzmhMhH+j2PjmcSq4GUEaZqjYAOlaCezqYTq3bEuiPFAnIyveyO65pLv558zJ25qB+xmst9JBm57b5xIZ7I4AgR6buu3jzkpPaw3x70rqWMYvWTsJ8Seb4hk06smmaykN3prrl8fqZxDgQgAAEIQAACEIAABCBQPAQQq/HORdMQq+d/R+7td5JsNjlUra+7yJ7K/5b/Tga1ZibTlMRq4FFq7+DqT6ymRqz6oDaEWP1Of1n+RGBX68ioxYYVq2llSZisSCsT00eehclJ3/dyEKvZRax+SyreCO7aHs23oSJWfekPrMXo55YuYlUF5V96ah5bEwuffrO2bOS7ez1ERSwayZtJrKaJDE7HNn0qAB1nMrrVO/60srvQay6PiFXvfaVexGpOYwpLKZFBrHrmPyxyNiexGoy69d10c3tDxuT2/WYBEauaNiKX6ybzD15KQAACEIAABCAAAQhAAALFRACxGu9sNA2xKiIXXTRdruje2h19zlJVz2wiYjW5kUrYpk3Z52rMJ2I1LO9eusd6UwSCN2LVl+vTbA6TIceqJUQ+kmTuShNJF5brszCx6s0T6TKPyrFqoiajouxSckma8eYXeWbn+wzZPCebVAB55Vi1xeofnHy5tsO0NynyzoW5AFP6l0eO1WxSAaRGb/tzmQZzsJpIXzfy05dSI5AHNXAvDY1Y9UW4esSstSGTyVVsV+Tra8p6yOa6tSNNdTMq39xnnWPVFsh2ZHVHufqTg1LhpPZImS9TTtdKHtdcphyr/nvGR5LuvpKagzR5r8g7x2pOYzL3GE9uYhO5rdHJITlJvXOdkuvVpBPw3ityvRe64r0Qsern7vY5Q45VKx9vDtdNvL+SUBsEIAABCEAAAhCAAAQgUN8EEKvxEm4yYjWWYTcZseoRNWGPiWa9y3umVACe3aq1Tiu33nYfau/mTOnyRgY3r3JFk9v/DvK3N/aX5c9oNGr6nbBTchU6O9/bu457j3zFatjO5lpvQGT78i1WyNXnbJeXneiy6Cg7w0+FqtmJXes9XZb7cnJmyrEa2KXcMz/W4/nOZmMfOGwq3kpGZ9oSzcMp2/USSAOgNUSlAgjbRT1ZNmyHdZHkWsolFUBIHt3A4/ze8X7jkktk5EdviuZ6nXZW5nO9qyk8bYY/PUZKagbf9ZmaCqDiHJGXP3F2so9MIRBce6n8fPPgrku7PRWx/ghD/+ZQ9hjTz0n211zYteNN1RFyTYbsQO+7rxgpHXqvCIzPN/a47iMh91uPUP0g9N7ovVdkuFbHdbele7b3Qs868W7GZqe2yDLHqm6Il8I95I0a7wWQsrFe+D0klp/FVAIBCEAAAhCAAAQgAAEINBoBxGq86BGrRZhjNd4ppra4CKQ+lh5XzdTT7AhE5LFsduNkQBCAAAQgAAEIQAACEIAABCDQpAggVuOdLsQqYjXeFdVsagtEhqV5LL7ZDJmBxEcAsRofS2qCAAQgAAEIQAACEIAABCAAgdgIIFZjQ2lVhFhFrMa7oppTbYFH46Mfi29Og2YssRBArMaCkUogAAEIQAACEIAABCAAAQhAIF4CiNV4eSJWEavxrihqgwAEIAABCEAAAhCAAAQgAAEIQAACEChKAojVeKcFsYpYjXdFURsEIAABCEAAAhCAAAQgAAEIQAACEIBAURJArMY7LYhVxGq8K4raIAABCEAAAhCAAAQgAAEIQAACEIAABIqSAGI13mlBrCJW411R1AYBCEAAAhCAAAQgAAEIQAACEIAABCBQlAQQq/FOC2IVsRrviqI2CEAAAhCAAAQgAAEIQAACEIAABCAAgaIkgFiNd1oQq4jVeFcUtUEAAhCAAAQgAAEIQAACEIAABCAAAQgUJQHEarzT4orVeKstrtrq6ursDtWJ6L9r6+qkrrZWamtrpaZGP2qkprpGqqurpaqqWvbs+kreen1J3oP4686D0q+8Vd7ncyIEIAABCEAAAhCAAAQgAAEIQAACEIAABOImUKhYvfiKMdK9Z1cpLy+TsrIyKS0rlbKyUikpKZWS0hIpKUlIIpEQ/Z/1/0Qi7iEUXX2JH/18el2Pdv2KrmNxdciIVf1sPmypWuN+VFVVWWL1xIkTsmPHDpk7d27ezSNW80bHiRCAAAQgAAEIQAACEIAABCAAAQhAAAL1RKBQsXrVVVdJnz59pLy83PpQuWoJ1lKVqypWS2yx6vmop6EURbW7j1QKYrWmRhCrRbEe6QQEIAABCEAAAhCAAAQgAAEIQAACEIBAPRFArMYLFrHqRK0iVuNdWNQGAQhAAAIQgAAEIAABCEAAAhCAAAQgUFwEEKvxzgdiFbEa74qiNghAAAIQgAAEIAABCEAAAhCAAAQgAIGiJIBYjXdaEKuI1XhXFLVBAAIQgAAEIAABCEAAAhCAAAQgAAEIFCUBxGq804JYrQexunDnQamLd56oDQIQgAAEIAABCEAAAhCAAAQgAAEIQAACBRFIiMiEXh3zroPNq/zoEKv1IFb/uvOgXFbAIs17dXMiBCAAAQhAAAIQgAAEIAABCEAAAhCAAAQiCBTqrBCriFWpq6uT2tpaqXGkqn6Oe/MqxCr3MAhAAAIQgAAEIAABCEAAAhCAAAQgAIFiIoBYjXc2iFglYjXeFUVtEIAABCAAAQhAAAIQgAAEIAABCEAAAkVJALEa77QgVhGr8a4oaoMABCAAAQhAAAIQgAAEIAABCEAAAhAoSgKI1XinBbGKWI13RVEbBCAAAQhAAAIQgAAEIAABCEAAAhCAQFESQKzGOy2IVcRqvCuK2iAAAQhAAAIQgAAEIAABCEAAAhCAAASKkgBiNd5pQawiVuNdUdQGAQhAAAIQgAAEIAABCEAAAhCAAAQgUJQEEKvxTgtiFbEa74qiNghAAAIQgAAEIAABCEAAAhCAAAQgAIGiJIBYjXdaEKuI1XhXFLVBAAIQgAAEIAABCEAAAhCAAAQgAAEIFCUBxGq804JYRazGu6KoDQIQgAAEIAABCEAAAhCAAAQgAAEIQKAoCRQqVnsN6yWtu7SWkrISSZQmpKS0RBIlCetDSkQSiYRIQqyPhP2fejtKE6UyoNMAGdVnVL21kalixCpiNdMa4XUIQAACEIAABCAAAQhAAAIQgAAEIACBZkCgULFaMapC2nZpa4lVlaqWWC21xar10YBiVaejrq5O+rbv22hyFbGKWG0GtwWGAAEIQAACEIAABCAAAQhAAAIQgAAEIJCJQHMTqzrequoquemsmzINvV5eR6wiVutlYVEpBCAAAQhAAAIQgAAEIAABCEAAAhCAQHERaI5i9VjVMbnl7FsaBTRiFbHaKAuPRiEAAQhAAAIQgAAEIAABCEAAAhCAAAQalgBiNV7eiFXEarwritogAAEIQAACEIAABCAAAQhAAAIQgAAEipIAYjXeaUGsIlbjXVHUBgEIQAACEIAABCAAAQhAAAIQgAAEIFCUBBCr8U4LYhWxGu+KojYIQAACEIBAYxA4elAOyUnSoW1ZY7ROmxCAAAQgAAEIQAACEGgSBBCr8U4TYhWxGu+KojYIQAACEIBAQxHY87E8/fxS+dNnR2RvrdNoSZkMOfNM+dn1l8qQ7kjWhpoK2oEABCAAAQhAoHkSWP0/D8j3PkyO7bY775afDm6eY20po0KsxjvTiFXEarwritogAAEIQAAC9U6gWra/9bT8+IVdsllEOrRrJ2NP7SEny9eyetMuWXFEO9Barrvuarn34n713hsagAAEIAABCEAAAs2VAGK1+c1sY4vVC065XgbI5/L81vdjg3us6pjccvYtsdWXS0WIVcRqLuuFshCAAAQgAIFGJ7D9tVlyw7yDIh16yv/9NzfI5H6tfX068eVy+a/fL5VHD4mMnXyT/O7KPo3eZzoAAQhAAAIQgAAEmiIBxGpTnLX0fW5Qsdp5nFzTLSFrNy2W9dot/brjEXkpRqmq1SJW63md1tXVWS3oZ/NRW1srNY5U1c9VVVVSXV0tJ06ckB07dsjcuXPz7lWhizTvhj0nrv7dcLnzz2E1jZF7XvmtTO1pv7b3xZ/IxPuWiNw+S1b+eEgcTRdXHbvmyE+m3C9LRGTMvfPlt9d2i6F/q+WB4XeKzFwpd58fQ3UZqrDmaMEEmf+7qRLWe53rhwbENbb6Hw8tQAACDUTAc/+LbtH/M6H+erZX5vx4oty/NIZ78f6l8sv7l8u8tv3kkV/eIEPaaq8Pyuq5C2WxnC63X3WudNBvHf1YfvMvr8ujR7vKv99zu0zo7B2dfR+fHTHg+H5ehDXQsD9D6m9OqRkCeRLw3psK/v3TXMsNdS/Lc8wFn9ZSxlkwKCqAAATqgQBitR6gNnKVhTqrilEV0rZLWykpK5GSUvsjUZqQRInzkUiIJMT6SNj/SR6dT5fT96+3JWuMB2I1RphhVbUssZr841VkmsxaebcYXepKVBGZ5kjB5iRWU8eSZGHGG89Sq/8/iq2xfD7dkt2I1XhmjVog0OIIuPKiUOGQlJD530vjE6trn/7/5JZ3RG6782/kp4NNpOoueeH/fVzuk6Hy+j9emnwT6tOX5Zo/bhC56Gp56duneZZAmvv4hw/I8Bmz3Z+T8a8bT9sn65t/m2W652d1vu1l+lmRb72cB4G4Cfjf/I/r/hRVT3MRkpnGken1uGeR+iAAgZZEALHa/Ga7ULF6+aTLZUDfAVJenpBDhxfL+0dKJNHlIpncs6e0LimRkpISOXJ4jizYLZLwRqz2vEKu72iFQNjHiWQ6AE0P0K1mt7Rp20PKReTQwefl9V3Zs0esWqy+lrXzZsuiSj+4IdfeJRf2zh5msqRTn4yXWyedKSe1kIjV5C+rfqlquCTlqv0L6Nh3m3PEqv6S+ZAM9ETo5rOSUs+pf7HqbTPTH8tErMYzq9QCgWZHoFmK1S/lhX95Su47cpo8/v9cLWe5kxYhVmWDPPS/X5b/ajdUXvrlpVLhlk93H6/ve3z91J/pZ0WzW98MqIkSSI0WLyxCvKUIxZYyzia6rOk2BJo5AcRq85vgQsXqVVddLF/XbJftPUbLpC7lsmPbIel+2gA56cRnMn/nJkl0GStXd28rX2xaIB8YsfqVyFnde8gxV5ieLuNOHSydj6+Rl7avFyvvatluWaMpAywBK/L5htcl2yysiNUja2XeY4ukcuhUuWtUr+Sq3fGu/PHF1SLB72e1rlu4WB19T/ij44E/tF2xGmBqfskNSyng/gLsRPWkTIfbtv1L4Obbp4n8ebb1OL7+Ubtd/FEFbhu3/0bu2fBT61FR/2EksTcaN1nC9McXsTp+oRVxlEvf7LIhbaWwzOKP4jA2gXq8bMfcO0smLLhTNt9ppxdIjVgVGbN0icVQD+8fIV6xmna+srpuKAQBCDQbAlmL1fB7qx2dGiZBHpCB992d+hi99x4XTEMweppMk9kyW1MB3P1TkQd+497Pkryzuf9+LL/56evyaM9AZKo4YvXEWfL4LyfJWWWmVuf7u/rJI7+5wX2CQyRbsZqOjbbhvIE3c4IsnGGnnQk+LSKBnwfTZs4SmeGkk/FGrGb4uWF+LsySO91UPyk//9z2b5PNTuoF73rOP+K42VwVDKSxCZh1fvssmT/gITsdVci9Y+Dt02T2n+3f46b9YprM/nXwdzpzv4hK6xF8fYzc838Gyv0/n+1vz7kXaO3h7UigvBdgRNsRv4On/R0t5H6d/P1Y03VJRPqSkHG6gRMDZdrts2W2lRosPOCisZcD7UMAAk2DAGK1acxTLr0sVKxOnvgNWZ84JCVdhstlPdrJXkusVkjV/tfl3UMJSXhTAfjEahvZ7pGlKlMrapJi1fxb5AK54rRushexmu20JgXotMlnWZGlvsORq7lHriJWQ3NyphGr1h9cYj8CqccNd4yR5x7WPxOdX8bcP/rGyD1/niALbw/mLvX8gmnlzPL8Euj8kilOTldXDPr6M102T/FHmHplafKPSac/nj/cte+3bXWib791h4x59uFAXtXMfdtu8tJGSWl3YWYQq06/xJfT1WnfySVmj0vcfLdmnL4UDd5UAPctST6WGnhM1YjVe+U+X51Wd+v9kdZsr3PKQQACDU4gmxyrt88S994auE8n/xAPpAIIeXzdCAD73r49KQB89zxbO9pvsIknt7dHXma8/0aJ1eOy+olZctfy4yIVQ+W5uy+VCkuu5iFWPffNCYs0X3lYWh1z/3bYePptsdjgvLkZ8vPAsLLu94blKwPloSn3S+afG56fBU7dA72pfZx83PbPs3T9bvDVSIMQsAikrn/9XdLzhnsw/+rNm1Ny5bvC0bruBsqjJl+ycx36f58zr2sb94r8s+Z6Trbn/p45/GoZufJlWe578zr4u2NgLwKrr/5UHv57YTIzfvKJsZDfqfXJKjF7AiT7FilWrXGOlbfNmyc+DoEn0jzpv1iCEIAABPIlgFjNl1zxnleoWL38sgr5vLxt7GK12zHz+D9iNcfVs1Pe/eMcWR0ZlRr1ejB1QD8Zf+tkOaudaT5KrB6Rta8+Lm9vszezEjlZRky9WPqXezevqpS5c1/LcRzJ4oUu0rwb9vzC6nv331thlFgNRJn637kPeZc7IhIq6pdAN0rGnBf8A977x3RE1M4Dp90vd+u77u5GB/4cqqliNSoy1i99U/LNZvzDPhuxulAmBFIQWGzE3iQs9ZFNf53pc6z6y/rEasomV1lE1xay4DgXAhAoXgJZRqy6f/BH3vvCc6x683a7EAJvqiUjJJP3ayNWvdGTmftgWvhK5v37n+WXX/aTR/7PDTKkxIv/iKx9+nH53jtHbLn6M330/2P5zc9fl0f7DJPX/2GcZwPAqCg3uz7fUxvOfdttyeJq7vGp91jf/d1X1tTgOccnVmP4ueEVq2n7XbzLlp41YwKB3wG7SUju5eB9K0Q4ulHgAbEa/vucV6wmU2DZ17gkN9VzI+nT/e4Yvslr9L3QU9793TYicjSHiNVcxhn590AzXmYMDQIQKIDA9jfkx/+5St6uzb2OVr43tnM/nzMalkChzqq+IlYRq3mvA0ecSlCMpqswVbZ+/dk8mf2WeORqmFjdKe/+aY6sGXK13DGsh9TU1Mjhda/Ls0trZdjVY+WU8mo5cWKnvPvcQvl4//68R1ToIs274bjFasRjoJbY9EQQhPY34x/X3sgB54/YUx5NPr4fjHIafY+kilV/y+4vtm7EamOKVfNIaICOd1w+CWr/cRGdCmCCJ7VDGrGqj9SFHDz+WchVxbkQaKIEshSr1uhColuTKUf8YtV9EysoIN03vpJPK8QvVkUOvfVnufiFr2Ty9bfLv4zrGpgclatPyb9WjZI/3nquHF/8Z7ni+a9k7HW3y79f7C2b3ZtOYY/u2g2any9xitVcf26EvCHni1gNW7eFbhTURK8Ful0UBEIFpOmZeWMnG7HqG03qGz/+N2r8YtWNDNX2/knkvilOxKz7JFb2YtU7npQUWm4QgLezIW/omHKI1aJYo3QCAhAQkS/fkB//e25y1ZKq+oa27w1vaBYzgUKdVX3lWEWsFrBqbCnq2bWq33gJTQvgtGGX7yJT77pQkhlZg7I1Vawe+WyePPZWZ7l6+kjpUVtridWamh2y4tFX5dMzJ8j153SSQxsWycsrvpb9+zfnPaJCF2neDXvFakQupcjNq0IiVidOEpn/qjefpyeyIOKdfX/fw6OcTKTBGDf3qv3ufYWTJsD77rr3l+OmHrHqZdNwEauFrCbOhQAEmjSBrMSqP/Jfczyb/KPWkwuBN9j0a/vxeO/TA8nHe+0nCupXrMrxtfJf978qDx3tKPf+7Ha5zn7mP3lolIX+Ym+iLtoOkEfuuU6GtE4VHOI8Rh81z94nDcLLxClWUyNWc/65kS5itUkvZjrf9AmERKfqoAJpnez0GJ70ADFHrE7tae5XY2Ta7SKz/7zEfhLKDRjIXqz6n9Kyo1PDvuf9fvINqwCPC9/2j9vtp7nXpt5X0wlkdw+FjE9hNf2VxQggAIF6IJCDXEWq1gP/BqiyUGd1+aTLZUDfAVJenpBDhxfL+0dKJNHlIpncs6e0LimRkpISOXJ4jizYLZIwOVbdTak6JEd44nN5fqu9PZXmW0WsFjz5wUf7kxX686tG52TdueyPMmfVEEe4BsWqfv2YLJKx8p0rz5A2rlitkR0rH5XXPjlDLr7+VNm3aK6s+Lq/7N+8Mu8RFbpI827YOtG70UZYfjVnaw1vTjYrytH5RfKLZI5VI1aTojMpSr2bj0RFNXk3PfFHTAbesU/Jwef0xf1l2t44wBWrRhrHlGO1flIBhOfKM3/EB3OsBnOhpqQC8ORjDZbNnGNVLHEd/gBbYauNsyEAgSImkKNYddOsBEWHZwMrn1hNyb+dKgDcOj0pXgrLsWrzPvHpy3LXzA2yWlrLdZeMl+lXnisVRpwe/1JWv/aG/Oubu2SttJMfzbhFpp/t5glyJiyXiNWQn6XuEwfZiFX/zwNfTu0scqz6fm74nnTIFLGart9FvG7pWvMkEHk/8vzeGiY4Pb8LpkSF5pEKQMVq6oZyJt9xpr0D/L9JJSPag3lT/W88+YRrSCCDNS5XrDpvaLmCOeq+WuGmMbB/Tw9PeUAqgOZ5OTEqCDQIgSzkKlK1QWaiXhop1Fm5OVbLSqSk1P5IlCYkUeJ8eDevkoTo/+v7OFZ1TG45+5b6bia0/t1HKiXxo59Pr+vRrl+jdCC6UZMiwC7R7+JpMvlM3drK//3U86PEqqYBeFFWW3lV7cPOsWp/rqtTsdpbtj77hqztebbs/3hR3jwKXaR5N+w5MfPji3bhqMeyUjYg8XbKPLYUlgvVlyQ/ImLV125EZIDV3hi5x7vT8u2/kXs2/FTuX+onlLIrsvZv/MJkWgFv8bBcskHJHLopwNTscvOZ+kM2E41SAAAgAElEQVTYBB/H983R7dNkmu5+6+2Ld/Oqzwdar5s9cZMy246OeGiA5grrloyUcMfMLrBxXE/UAYEmSSCbzav0PuvZjNA7zrDIKuvOfO+TMmHBzZ578TSZNVPkTmfjw6AksOuc5u5O7X1jzs/V3K+y28zqxKY35F8fWSUvHLJradW6tZwqx2XtcefrDj3l//reVLnu1KBU1dezE6v+Nyud3voiwDKIVT0l8PNgzL2zZMKCO+3UL96NwDL83Mj0pEOyHeV4m2w2G9sYyESuNcnLuLl02r/hlPd3Ku/votNklrORm29Dq9DfN839IsdUACpWvUEImXL8a/HIa8cbzGDf51LuhdeaDawi8jp7Uwb4xhmIqPVuCOtbFEEOgc2ruO6byyXEOCDQMASOH5ET5e2klXmkP41cTZGqwXMbpse0kieBQp0VYtUPvojFqumoEalGmGba7MqcF4xYdcTq4Gtk+ogeUuuJWNWUAFVVunnVTvmgmYjVPK8vTms0AvoL90MyMLDhVaN1h4YhAAEINAUCtQdl87Jl8tQ7G2S1I1ilQ1e57qLRMnlUP+lArq+mMIv0EQIQgAAEIACBxiJQe1z2Vq6SV15cJTM3HZHjwXypIXI1RaqaMiXtZPKooTJjwlAZ2NWXg6mxRke7EQQKFasVoyqkbZe2UkLEqkW40cVq6qZTqTMf9Yh/ujysItmnAkiK1UOyocmnAuDe0SQIBHaKtiOHB/LIfpOYPDoJAQhAAAIQgAAEIAABCECgCRPYv1neXvCOzFy2S1ZX+8cRKU5rRdK95q2lQ+eeMuPKi+S6EQOlQyAdfhOm1my6jliNdyobXazKkbUy77FFIu6j/sEBpuZUtUVrPxl/62Q5y33CzynXdarcNUq3tErdvGrnsj/JnFV9ZezNV8rpbc3mVYflswXPyrKO3s2rRPbv/zhv0oUu0rwb5sQmRcCfhoGdmpvU5NFZCEAAAhCAAAQgAAEIQAACTYlA9UHZvGKpzHxtrczbH9LxkjIZO+RcmXH5SDmrjyclgBb98g35hydEfnr3pVLhfSLo+BHZvm65PD3vY3nqy2o5EVLtkFPPkhnXjpax/Ts2JVrNuq+FOisiVv3Lo/HFqirQz+bJ7LcqRYYaKZrsZKhEdWRspad8auRrqlitO7xWXn18kVQOuVruGNZDNFL18LrX5dmltTLs6rFySnm1nDixU959bqF8vD/sTpPdtVXoIs2uFUpBAAIQgAAEIAABCEAAAhCAAAQgAIHMBFb/zwPyvQ9Ty3Xr009+NHm0TDm7j7QqJLr06JeyevFSmbmwUt52ct57W7vtzrvlp4Mz95MS9U+gUGeFWC1CsWp3KWJTqn7jJfyR/2D5iAhWGS+3TjpTdNsre5OqnbJs5ouyxt286mQZMfVi6V+uOVZVrJ6QHTsqZe7c1/JezYUu0rwb5kQIQAACEIAABCAAAQhAAAIQgAAEIBAg4BWrrVp3lJsmjJJvjztTKtoWYlPDMFfLie2fySsLlsl/rT4oe2vtMojV4lmShTorxGrRitX6W2QqVPWwxar9Eb55lRGrO2Tu3Ll5d6jQRZp3w5wIAQhAAAIQgAAEIAABCEAAAhCAAASKWqzq5s13yuzQWSJNXn0v3kKdFWIVsYpYre+rlPohAAEIQAACEIAABCAAAQhAAAIQKBoCxZUKwBarMnOl3H2+H5HZi2RayGtFA7OJd6Q5itWq6iq56aybGmVmiiLHan2PnIjV+iZM/RCAAAQgAAEIQAACEIAABCAAAQgUK4Eoser219m86rZLhsmIbDea0g2xVr8nLyyI3rzK1O9PBRAtVrW8LVdF7nnltzK1Z7ESbbr9am5iVZ1f3/Z9ZVSfUY0yKYjVmhprE6uqKm+OVVIBNMpqpFEIQAACEIAABCAAAQhAAAIQgAAEYieQUax6WrRzsA6T60aeKwM7B3OwVsuhLR/LX998z5dDNVOHcxGr8uEDMnzGZkes7pU5P54o9y/1t+BGtO6aIz+Zcr8scV+eJrNW3i1D9OuU17xpBsLqDZ67WabPFLlzxmwx7a3+3XC58892Y2PunSUTFtwpm++0I29NtK23p8nIW5XJD8nAmRNk4Yz7Re6dL7+9tlsmbPXyeqFitdewXtK6S2spKSuRRGlCSkpLJFGSsD6kRCSRSIgkxPpI2P+pt6M0USoDOg1oNKmqA0OsIlbrbYFTMQQgAAEIQAACEIAABCAAAQhAAAKNTyAXsertbbc+/eRHl18g404R2fT++/Lowkp5+3ju48lXrA58UkWmR3j6Ilqny+Ypd8pmV1I6svS0WbLyx2Lncb1d/21pVkd8DnTE617Zu6ubdPNExFpi9PPpdnkjZVPOT0bSBtMW7N21V7r19MhSq47NMt0SvU5e2dH3yPzfTZXGUar2vBUqVq+66irp06ePlJeXWx9lZWXWR2lpqZSUlFgfKle9H7mvmKZzBmIVsdp0Vis9hQAEIAABCEAAAhBocgSWLVsmGzdubHL9psMNR2DQoEEyalTjPMLZcKOkJQg0LoF8xWpcvS5IrEpSjlr9sYTlQpnwyr0i/zxRFl4eFv0Zkm7AJzqdkVnRsZ5ttIz4dNtIpiOwROqCCR4xGpbSILgxl4mSTZ/+IC7O2dSDWM2GUvZlEKuI1exXCyUhAAEIQAACEIAABCCQI4HHHntMrr/++hzPonhLIvD888/Lrbfe2pKGzFgh0PAENB/qiqUy87W1Mm9/wzU/5NSzZMa1o2WsL29rBsnoSQVgR6yG9Tf5WL//EfwsRaYRqsGIVCNOsxKrdoSsnQrACNVgOgEVwCpnEasNt+oatiXEKmK1YVccrUEAAhCAAAQgAAEItCgCs2fPRqy2qBn//9m7H7A7yvpO+L+EAFrQqmAwRtC04lrLH4PRrsZazGKJBAS1vq+7xoAB/7T2QnSFbdfCe12h7rbCClotohD5t327bf2DEgwrjbYKVhuNEqq25TWKhoRHoq5i1QDhvWbmzDkzc+ac59+dMEk+ua5ckOfM3HPP577v54Fv7vnN9G82C1ZXrlw5/ROdQYDAzAR+tCU+f+sX4qovTsQdD86siXFnPeZx8+Oc335+nPHcRfGYZonW/MSpv7wqD1abO1bLi4/cgRqxduOy2LBkdcRVRf3T/Ffl+IVDu097pQKmFaxW7uPJ5S7aygu3auGsYDX9TOtGi4JVwWo3ZqJeECBAgAABAgQI7JMC119/fbz85S/fJ+/NTaUR+PjHPy5YTUOpFQLTFMheRPWV+PgnvhZXfeun8ZNpnl07fN4h8dLfOD7OOemElhdeNRseHTI265YWL4tqqbGaBaB/FLHmlItjUSU8Lc7P6qgWweqoGqt5sLpmUC+1X1N1slIA1XN6u17zF1TlwWr1pVTly7GmuIN2NvbTPFcpgGmCTXK4YFWwmnZGaY0AAQIECBAgQIBAReC6664TrJoRYwU+9rGPxapVqygRIPBICsywVED7o/6T3UizDmn1+MEj/sVXy4CyckzlBVD1MgDZMZXzyxdQ9U+tt12Etr0PszZ7Qe1tWXmAV2/p1XGt7EDN9tpWz1m1MlZed8NgV2ytXmt2raIG7MW3Z8Fwyw7ayZh20+eC1bSwglXBatoZpTUCBAgQIECAAAECjWD1jDPOYEJgpEC2Y1WwaoIQ6JDAJKUCJn/Uv0P3slu7kgXEV8eivIbqbr1Q0sYFq0k5Q7AqWE07o7RGgAABAgQIECBAoCJw7bXXxlSC1S+963Hx2/+tcuIZH4p/vuZVccQUNfPz43/Hjy543hTPmO5hX4pLH/fbEZ/+Ubz9udM9t9vH3/s3r41/d9PLRnrvbtssWD3zzDMrSC0vgSk/bXmhzO7QbXv8eHdcZ8pt7qH7nnJ/Jj1w7wycJr2t6gH57sSslud5cdy0TtybDq6UCrg74oVTftR/b7rHafS1sQ4HZQf2rjkgWJ3GmE/hUMGqYHUK08QhBAgQIECAAAECBGYmcM0118Tpp58+9uR/vOQJcXLcEj84f5BY5l/77++IW37wn2MqOWZbGzPr8f531sRHzoxn3nRafPPDvxOPxKarG2+8Mc4666yWYDUiKm/szg8YChh3Q4CXBWZrF8Ut7z09DuvKdJgkWM0Dnm+fHRvP7UrEtxvGZWgs9sQ1xkyA/SJY7coC6E4/6qUHmmULutPPcT0RrKYdJ8GqYDXtjNIaAQIECBAgQIAAgYrAhz/84UmC1X+Mdx+2POKWHfG2JVW6lq9vfHccdvI7+we9o3LOP156WCyP9bGjt500Cwt/7Q039Y49Na7cfG38zpPLU4u2+y394eC8iFGfDfenfo13xPodb+uFwNmx74ujPnh8vPEN5VWqn0dE414iBp9n7Z4fp8Xxb3hj3sfqfQ6EJuJvVv9avPHGwVdO/eA34tpXZtFodv3PxVEf/Fq8MTM4/cr4xtrfiRhhkt/HuuPjHfHOeGevvUFbEX3b//SdOPPYT8ZpQ5bvi6PKr9Xuq+nevjSyYPV1r3vdULAaF10YW9bUX0wzHKymX247JnbEYfM7E6kWN2jHavqBnm2LgtXZCjr/ERIQrKaFF6wKVtPOKK0RIECAAAECBAgQqAisXbt2kmB1Ij5y9rPijXFlfP3qV47eMbnx3XH48ohP3dcLL+/5SJx13CfjtDuuiVc+OQv/Do+Xxqfivrc/NyY+elY8a91pg/Zq5xbX++SKr8c1r8hCyOqfY8xn34l3H/7SiPX35QFwfo03HNfvT/3P/5gf+99OL++pd4+/VvQvC1UPX35HXNnrex6EZsf/QaX/b4jK580p1Wgvu4u8P+U59fbys5t+lT8/NT/3pvivvXtr9m9g+9SGT6/dK55aWDfva+g+Rwerq1evHg5Wr9oYr727fMN371HbSXasZo/wX/20tbHs1tVx8e1Fk/kbu5/da772MpuVsfaqiNXl7tSW8DIvCRBr852g5a7QtbG6/8KbpRfdEu95WXsIO/xSnWpferstr1oWG87pvUn8qOtjyTk3VBwqb0Iv+3bRorh4Te+Y5gt8sh2rL9oQS87ZEhfWaj4O3sC+7O8rL+vpXWn0PQy/NGhg2fJCoZp1dTfpJMeOe8HQ2JcPVa4RxRvZb6tNsabfljg7G+/SuOIX0fIypdrnjZcWRW/u5KUAXhtbzs1eUFSf37V556cCgQ4JCFbTDoZgVbCadkZpjQABAgQIECBAgEBF4Oqrr46Xvexlk5hsjMvmnxL/vXLUH35qIt76nPILE/GRc46Ju3+3+rUsTHxdHLPlzTHxn5fExv8xP06Jm2PiP0dcNv/9cdRXP5wHruWv7PP3L7ozPvzU/xnzXxpx88Rbo7ZBNjvwy5eN/iyKPkber+q/1/t40yl3xodfcXfl2OLzvK83nxp3XtUeHg/6v2TSY1sx7/lIvO7ZN8Wp+X03+1f4FX0bfth/uG/188f1re/6imi9RvXcUZPgk5/8ZIwKVs97di/wKksCTCFYXX1d5fHcfFdhGTQ22irDtDJAm0qwuua2QVDbC/0WVYPbyk0O7XzNj98SZ+c1OXt9qV27F7D2gto81L3rwqIkQRkw9ksj9MLKp9dD343nLowbzz05Npw0CHzzgPfWZfGXJ22IV6+Jeujae4t5WwhYu372bvasnTWL8pqikb8ZvRJc9j8v2x+Enov+ctyxZ8eWU1bHDZWSD4PrFG9Rb/+sNMxeHDTcRv9N8jE1v5jYETvmH1Yr/VCE9IVj0aeq3aAO8DtW3RDvHGvhRwKBbgkIVtOOh2BVsJp2RmmNAAECBAgQIECAQEXgqquumkKwWjnhno/G6sW/G+vyL/1hrLv3vFgSG+PyI1bUgtf+Gf9lXdz7tiWx8d1HxIpYF/e++u7K+fWhWPGBzfEn8Qdx7M2nxuYPvWJod+zEx1aP/Cx6fYib743zFmR9vClO3bQ2XlENb999RPz5os2x9uV35/3Nj+2Fw61t1+41Inr3Mr4f9XvK7/tPy6+tiCvyPhVeg+s3/1xvY/h69eP7ttlW3bzP5b1nx/15HNV6zV6gnJlu+b18jEb9+sQnPhHnnHNO5ePBDst8p2k1/HtyFk5uiGX9HZn1OpvVHaZ5g7WwtNFuGQbeuqwSXlbb7u1SrO5YLY/NGx9ub/gemzshy9C3cW7bo/7VWq9TCX17NVbLILWoEVsEsFnQelGsyQPWeu3Y0fdQb6d+Z0POrdbF29LzYLVn2G+lfz9FKBpDu4qzALoIVts/Gw5Wa8dNc2zLfg3tMu4Fvq0WvVIAebA68v72rrfF++G1fwgIVtOOs2BVsJp2RmmNAAECBAgQIECAQEUgC1ZPO+20GZhMxEdff1ysO+WOuDoLKp90asS67f2gstngxnc/KU6Nm2L7f7w7zl68LlZsujpesWD4shMfOzuOu3lF3NEarI7+LA9Wyz48+aOt18j6cMWi9v7WrrstO//38vD4D3r31O//25bEuD6Wd5Qf/66IOO3Pi3vJ2yzvu9LXPNht/rnuMny9+vHVvmWlE/rjctRfxJM+cFTPsv0aedtbfje2jwlWsx2rY4PVLMIsd0jevCiuThis5qHtdEoBTDlYHexo7L81flzIO1kN1WkEq7UwOX9EvgiLX/gPxc7VqQarg2B68Ih9WTagGI+2ZV0NjivB6shjW4LVfrOTBddlqN7eRi0MnYrfmtuiWhZhqAxE006wOoPv607pgoBgNe0oCFYFq2lnlNYIECBAgAABAgQIVAQ+9KEPjQ9Wv/yeWHBqxCe3vWXo0fyNly2I0+KTse2tR8VH33B8rHvp1+Lql7e/t35wbMR7FpwWcdO2eEu/lEClQ2OuF+M+i42Vdqv/XrY9Uenj3UN9yALG4z+1Ir72wVdEZP/+7d+NbW8d7OIc9L8IVstjR9xtvGfBFXHkVyrhcRasnrAuVuRfa/av2reWUgBD16ufX+1bdrdl/97/a2+OdU8rx6T9Gs1z2xZHFqy+/vWvr3zUFqiVj84vjaW3R/d3rLYFpdMNVqcb+vZ2rGaQ5WPs+S7V1p2sJfeo8LLY6bpldaU+bWWHbl6rtblLsza4jVIAI49tuX6/ZMKe27HatgNXsOpH2b4qIFhNO7KCVcFq2hmlNQIECBAgQIAAAQIVgQ9+8INx6qmnjjGZiI+9cXH8frwvNl358sHj+ds+Fq9fcnOcsvFD8fJs5+lX3hsLT9sc7yv/HMV5N790U3zojPnx5csXxsviE7H1vOfExMdfH4vffGx8Yuu5UWSrX473LnxZxCe3xrkn1M/LP+2fe2StzfpnUWkjhq5Rv2b1esWt559/6pT8HqPy7/nrs/L+3hxxfqX/vWPbg9Vm+8Wf/zRO6fkMX7/wi4FJxXfpFwd9K65XP79qm3+cn/v7cXNWvSA37Q1vc4yGxqx9Gtx0003xhje8ofLhiLCvVxIgolJDNQ/7ip2Rp8+vP7pfwFdLBzRrrPbqlDbqcPZrpjbqmg4/Dj5mR2Xv3Oi/3Kp8gdO4UgCT1VidpExBJVgtduJGrIwbInrh6HCd0EaZhfIFXzlcvYbrwPLiyHyKl2C11Fjt7+qcQo3V/NhFcf3IOqqpa6yO9uvviM7r3w5coloKoFZjtRzPlaHGqh95e5uAYDXtiAlWBatpZ5TWCBAgQIAAAQIECFQErrzyykmC1eLgL1/+lDj90irdBXHj98pgtPj697MA8vc/1T/ope/LQtUnDs6PG+N7vaKmzfYu+MT3BgFgFhw+5fTInqTPf536vtj0gTOi19KIz4pzotJOvT/V/o44dv2K3nW+Hx9/0+L4/Zt613/7jbHpaR+Ixb9/bH7PR2X32T92xHT6ynvjKS8r7+Cl8b5/fFPc/dzTY3NucvdQX9v8SpP8PmrXq/c/t6zYRpT9Hx6jLMCt9+tDcUZLSYbqXWXB6hvf+MbKl0YHlkUANtNgtQxay0fbl8bKVRE33FV5PL4f3kbECy6MtSdtiNUjd3xO8qh6ta08DL4o4o+zt8dngWTLbsza8RlH86320whWy2C0DI17um2P8Fcff6/NtjJYrnxxcGwZLFY+LF/ElX+pGnhPcuzQdSrjO+6z6jXykgeDkgVFr6bu1w+Sb+/dTxaovmhDLDnnhn55gLrd0rjwqmWx4ZysFuxrY8u52bjW12rbC8FGrGZfJrBHBQSrabkFq4LVtDNKawQIECBAgAABAgQqAh/4wAemFKxC238FsmD1TW960yMCkO/irO70fER64aIECBDYcwKC1bTWglXBatoZpTUCBAgQIECAAAECFYErrrgiVqxYwYTASIGbb755jwWr9VqaxY7TLf3H9Q0SAQIE9n0BwWraMRasClbTziitESBAgAABAgQIEKgI/Pmf/7lg1YwYK7Bu3br4vd/7vT2k1KuzWl6tV0NzD13cZQgQIPCICwhW0w6BYFWwmnZGaY0AAQIECBAgQIBAI1g95ZRTmBAYKZDtWN1zwaqBIECAwP4tIFhNO/6CVcFq2hmlNQIECBAgQIAAAQIVgfe///0hWDUlxglkweqb3/xmSAQIECCwBwQEq2mRBauC1bQzSmsECBAgQIAAAQIEKgLr16+Pu+66iwmBkQJPf/rTY/ny5YQIECBAYA8ICFbTIgtWBatpZ5TWCBAgQIAAAQIECBAgQIAAAQIEOikgWE07LIJVwWraGaU1AgQIECBAgAABAgQIECBAgACBTgoIVtMOi2BVsJp2RmmNAAECBAgQIECAAAECBAgQIECgkwKC1bTDIlgVrKadUVojQIAAAQIECBAgQIAAAQIECBDopIBgNe2wCFYFq2lnlNYIECBAgAABAgQIECBAgAABAgQ6KSBYTTssglXBatoZpTUCBAgQIECAAAECBAgQIECAAIFOCghW0w6LYFWwmnZGaY0AAQIECBAgQIAAAQIECBAgQKCTAoLVtMMiWBWspp1RWiNAgAABAgQIECBAgAABAgQIEOikgGA17bAIVgWraWeU1ggQIECAAAECBAjMVOAn98f9hxwah86daQPOI0CAAAECBMYJCFbTzg/BqmA17YzSGgECBAgQIECAAIGZCPzwH+KyP7sgvvyrl8cH/uMJwtWZGDqHAAECBAhMIiBYTTtFBKuC1bQzSmsECBAgQIAAAQIEpivQC1U/+tPixKced0Wsfc2vx0Ej2rn305fEJbfcO/IqR5x8fpz/kiOm24vZHT9xa1zyrvWR9Sq7/qq4Lq6LVXu0H5uvf3tc+7WIY8+6NM48Zna3s0fOzs22xvJLz4xjp3vBO6+Nt1+zuX9Wf8zLr89fHudfcFI0Z0FpVBwfceu7Lon1E20XPyKWX3B+nDR/uh1zPAECBLotIFhNOz6CVcFq2hmlNQIECBAgQIAAAQLTEWiEqjH36Fj1mivi9ceMilUj7p24N46YX0Rmeci6aXFriDadbsz22M3XXxvx2iwg3BzXvv3amNjD4W4WGH5l8TQD1TyEjDhzJsHmbMHKsdu+PC597fRi1Twc3VYJTvP7mMiD0CNuKcLlaAtW+2HsscU998Lw+UNB9L1F4Brt4WyCW9cEAQIEHjEBwWpaesGqYDXtjNIaAQIECBAgQIAAgabAPeviuq8eE68+5an1XagzCFXrTRcB2KbFj8AOVaM8S4Fi7LaeMoMw+OaF9SA9D0g3xeILlsfWd10bcfyxsXlb45g88P5KLDx5Itb3wtxi5/P8lmC5CMdjb9n5O8uRcDoBAvuXgGA17XgLVgWraWeU1ggQIECAAAECBAhUBe5ZFxf82Z/GF3YdFM//zavjj0/thauzDlUjoh+oNR/ZLoKxwYPiEXH8mf2dkXmgtn15nBnXFrsbo9jBOL9SYqD6OP1w6YHqY+LZtdbHwl6oV1yztyMy+9fGI+v5x5W+NCdLyr4V/Y7eI+29XZgTZd/Kfmd2vX8/a3FsumZQzuD8l0wMHKs7QKd5T9k91g2PiOX5tbIyAMvj3qHH8af3GH5/1/IpW+OSbAfuWRHXNsLXYkfvmRHXlIFpz2PBYF6UY5HviI3hr1vYBAgQ2BcEBKtpR1GwKlhNO6O0RoAAAQIECBAgQKAv8IP4u/evjD+6+/7eV4pw9aKl2+JDf3ZBlDVVp/L4fxvqyDIAd26OzcccO6jbWQtgy4CxrEU6+HNZp7P+qPm9sfnOiGOPGVTrrAVvzcfLK6UAlm+/JK79WiVk7QeMZdg5FKv2a34Wwe4s+1bWfT1+eSzftj7WV0PErN9l+NisSzrmkfkTNmWP2s/gnqqP1Zf9eubiOOKbmyJqZRN6ofiY8LmqVg2P8zIAWSC6+CuDeyvD7U0nFF8vSx9UauIOza0pXttCJ0CAwN4oIFhNO2qCVcFq2hmlNQIECBAgQIAAAQJVgV3b4tPvPzvWfG8Qrh40d2fs3NU7aAo1VdtBJykD0NxVWe64HNrlOtxOFpyuf1K1vMAg4Cz7Uu5oHd7dWN/B2nycfGxN2MR9i6j0uxEWVu9x6B6atVf7L5k6Ib7S8oj89O4pEyzC018sPiL+ZWuzPu7UHsMf7ICt7sDt7UaNSmjcKwFwwqVnRlR2oo7u8yNTI9c3DQIECOwpAcFqWmnBqmA17YzSGgECBAgQIECAAIGmwFC4OttQdXQZgPKt79XH7ash4lCgNvRm+soj8pHV7sweja88ml47fjgEHHosvfZiqPFhcNq+FcZDL3oqvtorX1CWAajXE20Gy2V5gtqOz/4YT/OesvNyw2/Fk+f/S2yaaFsu9R2xtSP6gXmjXEA1DO7vxj02NvfruFbHalyf1e31DYwAgX1bQLCadnwFq4LVtDNKawQIECBAgAABAgTaBJrh6ox3qo4JDNtqrraUAai+7KofGpZvpq88Ij/RUmtzuAxAVF5+NAjl8jIAzTqdI2vCZvc0HOjNqm9lqJrXkG0JIWtlAKr3UA1dB/3KXjKVlwGY5T31w95fZGUA7onFFzTr445ePmVoXq1/Wx49NC43L4wzF2+Ka3svqipq3fbuc9w4jB0jS5sAAes0qucAACAASURBVAJ7v4BgNe0YClYFq2lnlNYIECBAgAABAgQIjBIow9V7FsSq11wRrz/moBlatT+uXX9ZU7kzcn3cO0kZgOqb6Qe7NXsvbqo8Qt8M9oYeoW+8nX5z7fH73mP51Vqj1bsfUQZgVn3btjzOv+CIWN94fH/SMgDVFz81ygBM/57W12qolo/wPyMrA7CpUWs2Dz8nei/bqk+N4rz5lRC7+nlj5/BQ3dvezt1eKDy6DMAkYzTD2eo0AgQIdElAsJp2NASrgtW0M0prBAgQIECAAAECBMYJ7NoW/3r3YXH002YaqkYUuw/bArjei4/K689fXuxavOXeyHY5Lt92SVyyqVLTs1lLtPaIfPNN9tnLroq3ym/Og9rhwLIa2EUeBN5blxjzUqShsG/GfVscz5jYFP9ShsllndX+i6vGlQEYv2t2UNe0cluTvOipX5qhd8oRxx8b8bWI5ZcW9Vo3V4VGttUY1+o52X2esjUuKXejZp/1gtXBztbhMgDrW0sQRFRLSFjIBAgQ2BcFBKtpR1WwKlhNO6O0RoAAAQIECBAgQIAAAQIECBAg0EkBwWraYRGsClbTziitESBAgAABAgQIECBAgAABAgQIdFJAsJp2WASrgtW0M0prBAgQIECAAAECBAgQIECAAAECnRQQrKYdFsGqYDXtjNIaAQIECBAgQIAAAQIECBAgQIBAJwUEq2mHRbAqWE07o7RGgAABAgQIECBAgAABAgQIECDQSQHBatphEawKVtPOKK0RIECAAAECBAgQIECAAAECBAh0UkCwmnZYBKuC1bQzSmsECBAgQIAAAQIECBAgQIAAAQKdFBCsph0WwapgNe2M0hoBAgQIECBAgAABAgQIECBAgEAnBQSraYdFsCpYTTujtEaAAAECBAgQIEBgpgI/uT/uP+TQOHTuTBtwHgECBAgQIDBOQLCadn4IVgWraWeU1ggQIECAAAECBAjMROCH/xCX/dkF8eVfvTw+8B9PEK7OxNA5BAgQIEBgEgHBatopIlgVrKadUVojQIAAAQIECBAgMF2BXqj60Z8WJz71uCti7Wt+PQ5qbefeuPVdl8T6iREXmb88zr/gpDhiun3ozPGT3N/xZ8alrz027v30JXHJLfe297p3TP7hndfG26/ZPPLujj3r0jjzmM7cvI4QIECAwG4WEKymBRasClbTziitESBAgAABAgQIEJiOQCNUjblHx6rXXBGvP6Y9Vo2JW+OSd62P+R0PBPPgc9Pi6Ye84+6vF5Iee9b5sfDmS2L9giJkrf3qHXPEyefH+S85IjZf//a4dtveHjZPZ0I5lgABAgTGCQhW084PwapgNe2M0hoBAgQIECBAgACBpsA96+K6rx4Trz7lqfVdqNMNVSN6OzXnx5mXnhmNSLFD7sWu002Li3BzOr+Knajt99f/7IKFsX5MuJyHqV87Ns689IT4ytuvjYleyDqdfjiWAAECBPZNAcFq2nEVrApW084orREgQIAAAQIECBCoCtyzLi74sz+NL+w6KJ7/m1fHH5/aC1dnEKpG9B6Tb9upWb1m2+Pvlcfj84By+/I4M66Na792RCy/YFXENZfE1lPOjLjm2sgfnM+Pn18pO5AFlYMwtwgvqxftfd7bcVo+pJ89ar982/Bj++WO0vpkGXd/g8/Of9L6keFr1l7etzgzLl38lXj7NROx/ILz46T5piUBAgQIEIgQrKadBYJVwWraGaU1AgQIECBAgAABAn2BH8TfvX9l/NHd9/e+UoSrFy3dFh/6swuirKk66eP/ZXuN0LIG3QtOB7s1ByFosdMzegHjoIZpv75ov91mOJqFrlkouTmure383Byb7zw2ju3XJq3vUB2UATg2Nmf1YKP+KH5bH/N7yfuxKRa3BKGDeyhC4NG7YYu+xlmXxgmbmuFvKVbel6lKgAABAvubgGA17YgLVgWraWeU1ggQIECAAAECBAhUBXZti0+//+xY871BuHrQ3J2xc1fvoMlqqlbamrxu6SBUrL6QqXZeS3g51O7QMVm762NhLfAsrjV4LVQZVlZC1uM3twal/R2ljfqoY19IFdXQtz18zany3brRLwOQBaxeTmVJEiBAgEApIFhNOxcEq4LVtDNKawQIECBAgAABAgSaAkPh6vRD1bIMwNi6pf1QsVp/ddRu0pOiqH46XA+1LBXQfzFU1u7NC4sXUfXLDFRKA1Q/r4Syx36t7QVW7eHvlO6vrDE75qVY9TIAWcDa5Vq0lgoBAgQI7GkBwWpaccGqYDXtjNIaAQIECBAgQIAAgTaBZrg6jZ2qeXNjHpMvL9e6E7R2XstLpYbaLY7Zespgp2fW7vonZS+iipaXUo0vAzAUBLeGv1O7v0nD117om5U4yMsAZHVWG7tiTU4CBAgQ2L8FBKtpx1+wKlhNO6O0RoAAAQIECBAgQGCUQBmu3rMgVr3minj9MQdN2WqqZQA2V15S1X/ZVVnjdMplALbG8v5Oz0oZgMhqoK6PODkLWbP9rmW91lFlAKrHZrfaKx9Q62NBMPn9jQ9fi7qt9ZqwygBMeXo5kAABAvuNgGA17VALVgWraWeU1ggQIECAAAECBAiME9i1Lf717sPi6KdNPVSddKdm73qtNUorIeZweDm8g3Vo12v1Mf8sGs0DzPIGj4jlZy2OTdesj3vz60S/7mp/12j/2OKcI/qhbBWpZSdti+HYGqzVsHbUrlgzkwABAgT2ewHBatopIFgVrKadUVojQIAAAQIECBAgQIAAAQIECBDopIBgNe2wCFYFq2lnlNYIECBAgAABAgQIECBAgAABAgQ6KSBYTTssglXBatoZpTUCBAgQIECAAAECBAgQIECAAIFOCghW0w6LYFWwmnZGaY0AAQIECBAgQIAAAQIECBAgQKCTAoLVtMMiWBWspp1RWiNAgAABAgQIECBAgAABAgQIEOikgGA17bAIVgWraWeU1ggQIECAAAECBAgQIECAAAECBDopIFhNOyyCVcFq2hmlNQIECBAgQIAAAQIECBAgQIAAgU4KCFbTDotgVbCadkZpjQABAgQIECBAgAABAgQIECBAoJMCgtW0wyJYFaymnVFaI0CAAAECBAgQIECAAAECBAgQ6KSAYDXtsAhWBatpZ5TWCBAgQIAAAQIECBAgQIAAAQIEOikgWE07LIJVwWraGaU1AgQIECBAgAABAgQIECBAgACBTgoIVtMOi2BVsJp2RmmNAAECBAgQIECAAAECBAgQIECgkwKC1bTDIlgVrKadUVojQIAAAQIECBAgQIAAAQIECBDopIBgNe2wCFYFq2lnlNYIECBAgAABAgQIECBAgAABAgQ6KSBYTTssglXBatoZpTUCBAgQIECAAAECBAgQIECAAIFOCghW0w6LYFWwmnZGaY0AAQIECBAgQIAAAQIECBAgQKCTAoLVtMMiWBWspp1RWiNAgAABAgQIECBAgAABAgQIEOikgGA17bAIVgWraWeU1ggQIECAAAECBAgQIECAAAECBDopIFhNOyyCVcFq2hmlNQIECBAgQIAAAQIECBAgQIAAgU4KCFbTDotgVbCadkZpjQABAgQIECBAgAABAgQIECBAoJMCgtW0wyJYFaymnVFaI0CAAAECBAgQIECAAAECBAgQ6KSAYDXtsAhWBatpZ5TWCBAgQIAAAQIECBAgQIAAAQIEOikgWE07LIJVwWraGaU1AgQIECBAgAABAgQIECBAgACBTgoIVtMOi2BVsJp2RmmNAAECBAgQIECAAAECBAgQIECgkwKC1bTDIlgVrKadUVojQIAAAQIECBAgQIAAAQIECBDopIBgNe2wCFYFq2lnlNYIECBAgAABAgQIECBAgAABAgQ6KSBYTTssglXBatoZpTUCBAgQIECAAAECBAgQIECAAIFOCghW0w6LYFWwmnZGaY0AAQIECBAgQIAAAQIECBAgQKCTAoLVtMMiWBWspp1RWiNAgAABAgQIECBAgAABAgQIEOikgGA17bAIVgWraWeU1ggQIECAAAECBAgQIECAAAECBDopIFhNOyyCVcFq2hmlNQIECBAgQIAAAQIECBAgQIAAgU4KCFbTDotgVbCadkZpjQABAgQIECBAgAABAgQIECBAoJMCgtW0wyJY3Q3B6mcmfhwveuJj4oA5c9KOltYIECBAgAABAgQIECBAgAABAgQIzEDgoYcfjr///k/ixfMfO4Ozi1NWrFgRCxYsiAMPPDD/PW/evPz3AQccEHPnzs1/z5kzp/Z7xhfbC04UrO6GYHXTD+6PJz7qoHjKLx20F0wBXSRAgAABAgQIECBAgAABAgQIENjXBb73bzvj+z/fGYufcOiMb1WwWqcTrO6GYHXHv/087rh/Zxx96KNiwaMPtHN1xsvViQQIECBAgAABAgQIECBAgAABArMRyHaqbvvZA/Gv9/88jjv0oDjslx414+YEq4LVePjhh2PXrl3xUC9Uzf75wAMPxIMPPhg7d+6M7du3x7p162Y8ybJ2fvjznfG9X+yKHz20K3Y9POOmnEiAAAECBAgQIECAAAECBAgQIEBgxgJz50Q87oC58ZSD58bjH3VQ/uj+TH8JVgWruz1YzULbMrjN/pkFuX4RIECAAAECBAgQIECAAAECBAgQ2NMCWc3TrPZptQ7qTPsgWBWs7vZgNSPOwtTy90wnq/MIECBAgAABAgQIECBAgAABAgQIzFag+kKp2bQlWBWs7pFgdTaT1LkECBAgQIAAAQIECBAgQIAAAQIEuiYgWBWsCla7tir1hwABAgQIECBAgAABAgQIECBAoPMCglXBqmC188tUBwkQIECAAAECBAgQIECAAAECBLomIFgVrApWu7Yq9YcAAQIECBAgQIAAAQIECBAgQKDzAoJVwapgtfPLVAcJECBAgAABAgQIECBAgAABAgS6JiBYFawKVru2KvWHAAECBAgQIECAAAECBAgQIECg8wKCVcGqYLXzy1QHCRAgQIAAAQIECBAgQIAAAQIEuiYgWBWsCla7tir1hwABAgQIECBAgAABAgQIECBAoPMCglXBqmC188tUBwkQIECAAAECBAgQIECAAAECBLomIFgVrApWu7Yq9YcAAQIECBAgQIAAAQIECBAgQKDzAoJVwapgtfPLVAcJECBAgAABAgQIECBAgAABAgS6JiBYFawKVru2KvWHAAECBAgQIECAAAECBAgQIECg8wKCVcGqYLXzy1QHCRAgQIAAAQIECBAgQIAAAQIEuiYgWBWsCla7tir1hwABAgQIECBAgAABAgQIECBAoPMCglXBqmC188tUBwkQIECAAAECBAgQIECAAAECBLomIFgVrApWu7Yq9YcAAQIECBAgQIAAAQIECBAgQKDzAoJVwapgtfPLVAcJECBAgAABAgQIECBAgAABAgS6JiBYFawKVru2KvWHAAECBAgQIECAAAECBAgQIECg8wKCVcHqHglWf/zAg7Hl/p3xgwcejF0Pd35d6CABAgQIECBAgAABAgQIECBAgMA+KDB3TsQTDpwXiw49KB574LxZ3aFgVbC624PV/7Pzwbjj//wsnnzgQfGQVHVWC9bJBAgQIECAAAECBAgQIECAAAECsxM4YO6cuOeBnXHcLz86fvmgmYerglXB6m4PVr/2w5/GoXPmCVVnt+adTYAAAQIECBAgQIAAAQIECBAgkEggC1fvf/jBOP7xh8y4RcGqYHW3B6ufmfhxLJx30IwnqRMJECBAgAABAgQIECBAgAABAgQIpBbY+uDOePH8x864WcGqYHW3B6t/e++P48gDBaszXqVOJECAAAECBAgQIECAAAECBAgQSC7w3Qd2xn84QrCaCvb7P/1uzHnz+Wc//MRDjkzVZufaefjh4u1R2T/L37t27YqHHnqo//uBBx6IBx98MHbu3Bnbt2+PdevWzfg+BKszpnMiAQIECBAgQIAAAQIECBAgQIDAbhIQrKaFFaz2wlXBatqJpTUCBAgQIECAAAECBAgQIECAAIFuCQhW046HYFWwmnZGaY0AAQIECBAgQIAAAQIECBAgQKCTAoLVtMMiWBWspp1RWiNAgAABAgQIECBAgAABAgQIEOikgGA17bAIVgWraWeU1ggQIECAAAECBAgQIECAAAECBDopIFhNOyyCVcFq2hmlNQIECBAgQIAAAQIECBAgQIAAgU4KCFbTDotgVbCadkZpjQABAgQIECBAgAABAgQIECBAoJMCgtW0wyJYFaymnVFaI0CAAAECBAgQIECAAAECBAgQ6KSAYDXtsAhWBatpZ5TWCBAgQIAAAQIECBAgQIAAAQIEOikgWE07LIJVwWraGaU1AgQIECBAgAABAgQIECBAgACBTgoIVtMOi2BVsJp2RmmNAAECBAgQIECAAAECBAgQIECgkwKC1bTDIljtYLD6Lx/5QFz09TED/awT4y9f+cy0M2G3tPbNuOHiz0a86k2xcg9290ef+5/xpjufGh/43RfG43bLfe2eRvN+TzxnLxnb3WOgVQIECBAgQIAAAQIECBAgQGD3CQhW09oKVrsarMZsw9NHJtSsT8+Z9iE778ux8HdfEy8+PKIelNY/a1sOgtW03yS0RoAAAQIECBAgQIAAAQIECOwbAoLVtOMoWBWspp1RtdZmGqzWuzTdoHS6x+9GgGk1bcfqtLgcTIAAAQIECBAgQIAAAQIECExTQLA6TbBJDhes7s3B6jc/Ga/+662DIT78mN7j70WgeVPvk8Un/k78lyd+oX5sRORf/83D86Oy8gMfm39iPO/Oz8aVUbZTnT31NvNP+tfrHdfoz6mvOjHir4tSAKd+v3jMfU18tlfmYGGsufC0mJ89/v7Zn+QNnNovGTDYlbr4G4PPI7Jzjo4vVXazRtwXn7nib+LK+3p9OPyYWHPMd+KirBTAqyKuvOLO2FRbBMV1n9G2MO77fPzpFT+M553447iy16fqPbaVaJiWYXO8GobjgtXis6fGGyfu7N/r2GtP5d6r/SndeqUIyr4U4zU8ViXf0Ji96qnxpb8uzIv+3TeYi7X5MoX5lPZ7ndYIECBAgAABAgQIECBAgMB+LyBYTTsFBKtdDVZH1lh9TLwxe0Q+shDwzlhYCyM/G1v7YWl9t+iP7rsvHnd4EaIWv+qP1BehYa/t6mHl4ffdFz86/PBazdIijO2Fs3koeWdEI6zNasVm4VserH72J/3wNA/uPvuTQbibh3w/Lu7t8KmXAij6XQlLe/3YdPjCeMl9W+PTtXq0vRC2NTiOiPLc/jm98O9ZJ8YH5n853vTZ6PWvJCyC7TJcHGvY4lOMwWfjpt71Jg1WK37RC0Xbr11vt+ht496b/Wncezk+g+A0YmgO9YLol+dBde+aQ+F+OTa968/vlbiYbD6l/T6nNQIECBAgQIAAAQIECBAgQCAiBKtpp4FgtavB6qQ1Vid7zL7t88buzsou0TwUnPSavXqn5W7ObC6WIWQesn0nnterizoIbys7VqsvlMqDwajsHq2GqdMMVhv9LkoBPDYPVg9uvDhrbJmAlnsoXfJgdeiFWHXjsYatPsVO4dJ90mC1dv1x126fG7V7H3Ov2YvRRjs1d5qWYXzzmsVc+9Ixg13RbfdXBrj9b2t7zYvZ0n4j1hoBAgQIECBAgAABAgQIENgTAoLVtMqC1b02WC0mQv3x9Opj7tWgqwxUqztSpxEKxiBQbT5+3g9jBau1kHRomZY7QtvW71R3rO7mYLUafA4Hq2Wg2twdXIbp0wtWh3Ysl3N5CuF+2m+BWiNAgAABAgQIECBAgAABAvuPgGA17VgLVvfWYDXb8fmZx/dqqhaToh6GVYOuth2M0wtW23Zj1r4mWJ1CsNrc0VtfzJ3esdo2vrWvTS9YnXQ+pf0+pzUCBAgQIECAAAECBAgQIEBAKYDkc0CwujcHq/2apMW8yMOqifoLrLIXR6185nDNzXKna61G55jdgkO1TMsXH9VKAdRrrFbrdOY1VndXKYBqjdV+rc+Z11gd1ImdQY3VUYZjaqwWY9QLxnsvj2qu9MKyUuO1rcZq/9ozqLHaVu+1Ol5D/W/ugp5BsFodt+Z8Sv6tToMECBAgQIAAAQIECBAgQICAHatp54BgtavB6siXVw3qmg6/pb5aCmBQTzV/fP/Xvpm/XCp7W3v2KwtUn/dPgxdWLfy7yWqsNuqzZoHqr/9r/vKmfnmAxlvvF594Yjzvzs/G1hf3Xl41w2C1fFFTRHZ/R8eXLv5yLOzXcm3WjV0Ya14VcVG2m/dVEVdW7rm486pRYzH1dmAufFbETV//SfFh5U32w97lm++Lt31NWqe24VOOQxaqZr8m37H62Dg1tsZN9xXHjyzLkH3YWnqgce+1/iyMU5+1NW7qhbOtNVZrx2dlJU6O+Ou/iSvvK8elqKdb3M9kNVanMJ/Sfq/TGgECBAgQIECAAAECBAgQ2O8FBKtpp4BgtYPBatoh1tqUBUa8YGrK5+/GA8e+dCvRdbNg+GPzBy+bStSsZggQIECAAAECBAgQIECAAIGOCAhW0w6EYFWwmnZG7c2t7VfBamNHaW+H68L+jtO9eSD1nQABAgQIECBAgAABAgQIEGgTEKymnReCVcFq2hm1N7e2XwWrw+UCqqUF9uZh1HcCBAgQIECAAAECBAgQIECgXUCwmnZmCFYFq2lnlNYIECBAgAABAgQIECBAgAABAgQ6KSBYTTssglXBatoZpTUCBAgQIECAAAECBAgQIECAAIFOCghW0w6LYFWwmnZGaY0AAQIECBAgQIAAAQIECBAgQKCTAoLVtMMiWBWspp1RWiNAgAABAgQIECBAgAABAgQIEOikgGA17bAIVgWraWeU1ggQIECAAAECBAgQIECAAAECBDopIFhNOyyCVcFq2hmlNQIECBAgQIAAAQIECBAgQIAAgU4KCFbTDotgVbCadkZpjQABAgQIECBAgAABAgQIECBAoJMCgtW0wyJYFaymnVFaI0CAAAECBAgQIECAAAECBAgQ6KSAYDXtsAhWBatpZ5TWCBAgQIAAAQIECBAgQIAAAQIEOikgWE07LIJVwWraGaU1AgQIECBAgAABAgQIECBAgACBTgoIVtMOi2BVsJp2RmmNAAECBAgQIECAAAECBAgQIECgkwKC1bTDIlgVrKadUVojQIAAAQIECBAgQIAAAQIECBDopIBgNe2wCFZ3Q7C64d4fx8Npx0lrBAgQIECAAAECBAgQIECAAAECBGYlMCcilh3x2Bm3sWLFiliwYEEceOCB+e958+blvw844ICYO3du/nvOnDm13zO+2F5womB1NwSrf3vvj+M/zGKS7gXzRhcJECBAgAABAgQIECBAgAABAgT2MoHZZlaC1fqAC1YFq3vZtwDdJUCAAAECBAgQIECAAAECBAgQmImAYHUmaqPPEawKVtPOKK0RIECAAAECBAgQIECAAAECBAh0UkCwmnZYBKuC1bQzSmsECBAgQIAAAQIECBAgQIAAAQKdFBCsph0WwapgNe2M0hoBAgQIECBAgAABAgQIECBAgEAnBQSraYdFsCpYTTujtEaAAAECBAgQIECAAAECBAgQINBJAcFq2mERrApW084orREgQIAAAQIECBAgQIAAAQIECHRSQLCadlgEq4LVtDNKawQIECBAgAABAgQIECBAgAABAp0UEKymHRbBqmA17YzSGgECBAgQIECAAAECBAgQIECAQCcFBKtph0WwKlhNO6O0RoAAAQIECBAgQIAAAQIECBAg0EkBwWraYRGsClbTziitESBAgAABAgQIECBAgAABAgQIdFJAsJp2WASrgtW0M0prBAgQIECAAAECBAgQIECAAAECnRQQrKYdFsGqYDXtjNIaAQIECBAgQIAAAQIECBAgQIBAJwUEq2mHRbAqWE07o7RGgAABAgQIECBAgAABAgQIECDQSQHBatphEawKVtPOKK0RIECAAAECBAgQIECAAAECBAh0UkCwmnZYBKuC1bQzSmsECBAgQIAAAQIECBAgQIAAAQKdFBCsph0WwapgNe2M0hoBAgQIEHgkBH724/hJ/FI85tHzHomruyYBAgQIECBAgACBvUJAsJp2mASrgtW0M0prBAgQIEBgTwnc90/xVx+9PT70zz+NHbt6F507L477d/8u3vaKF8dxhwtZ99RQuA4BAgQIECBAgMDeISBYTTtOglXBatoZpTUCBAgQILDbBR6MrX/3V3HuxydiS0Q85pBD4oW/8sR4cvxb3PGtifjHn2YdODjOOOPUuOi3jtztvXEBAgQIECBAgAABAnuLgGA17UgJVgWraWeU1ggQIECAwG4W2Pq/18YrP/XjiMfMj//n9a+Mlx55cO2KO7d9Kd5/xe1x/U8iXvjS/zve+9sLdnOPNE+AAAECBAgQIEBg7xAQrKYdJ8HqPhas3vHeJbH6ukkmyaq1sfHc42Y1k8rrLL3olnjPyw6bVVuzO/mOuHzJ6rghayTBfZV9ye8v2pyK6215xO97dmqTnZ3d/9VPe6THdrJe7g+fF/MtrtoY5z27uN8dn3hLnLwm4sKb3xOnz9/XDbL7vzoWPYL3mnt/++xZf898REZq4sZ4yykXx21jL750D82lHXHjuSfHxbdHzPrnxo9uj3dc/KX41KOPjGve8co47tHZDf447li3IT4XR8eqFb8ej8m+9LN/isve+em4/mdPiEsvXBXLHleFqPzsaPGZdR/Hmg+v60dkfrgoAQIECBAgQIDAfikgWE077ILVfTVYTRgytk25WrD67z/f+5/3lbF243kxu8h2zATvhwSD6+yugFewKlhN+612pq01Aph8DWyJs2e9zh75wHJqItV+PjJ93jeC1dmGp4MQcmUl5J/aGJZHpQtWv/lX74v/9IWI165+fbz12HKn6kR8/L//RayJ4+PTf/ji6P913zduitM+eFfE80+NT/5fT690eUy4+dXLY8k5N8TM73Uymcq1n5xqTff+0uXW1PXn/QAAIABJREFUZXHLe08f3P9kXfE5AQIECBAgQIDAficgWE075IJVweqMZtTuCjSn15nif9S3rB7s5pve+aOPFqwKVlPNpdm10wxWd8SO+YftR6HJIxOmVsdMsJppdClY3RYff+f/ijU/fXr8xX87NZ7ZH6wRwWrcFVf/15vi/YccH598x4tjYf/4cbtGd/eO0t3Tfj5XBauz+5brbAIECBAgQIDAfiAgWE07yILV/TRY7ZcMyHe2Luw/ohkvuDDf7bI1exT+rqWx9Pbbao+Rljt4Ru5YvXlRXD306Olgt1TxGPPwg6nNdmvTvNx9W92x2nqd7KzGbta7VsbKuCFuuH3QYnmtQV+Gd3NNJ1gtg5e1sbpfhqH6GGnbPbfvhGovM9Dvy4s25Luoar9643XYiEd+R+24aisZUe3zuFIAxWcXxqI1FxclGDL1/i62XhB21bLYcM7FEVnJhKOuH93v3vnV/iy9aG0su3V1PzAvrld87eLI5ucL4/O9R4orozrYLV3u6rwqYnXPK+9fvjOs91h0dUd3b3da1XX0Y8CDXXejr1199Lo6tyY5N2uw0ZeVV62NOKcoBbDs74fLfAyPWc8pm+/VtZyXB6n2pRJYRvNx8cpxrfNqzM70hv3Kq26JRWuLx7+rv6rzcvz6GLVjddhyYNHmXJ2jjR+iLeNf2mW7HvePYHWc2fAj80svujwWrTmvv/77ouX3o+wLzbnzgsH34qXnvTXi8staShSUc6vSn2qb+YX+KS5766fj+vmNnanRC1Z3PjP+4h3L45nzyl71vj5xZFxz2SsrT1RMNVidbD7Vv+cVP90aa2TMui6+L/V2oU9xLrb9rKmvo+z6r40tQ98nx6yDtP9tqTUCBAgQIECAAIEOCwhW0w6OYHVfDVZHzpMyNBkf8gyCruL4F/5DGYgWf170l0XIk4cZ/VIAJ8fJcUvckl27F1wN/mev+B/NaNburISll120Jd6ah65lHwf/Qz/ZdSKG/0c8D4ergdI9xeOd9YCpHWraweqa2wbhYu+eFvXCxh0TO+Kw+ZU6tGMe5x7acZQfuyGWXbcsNqzqBZX9mrY9n5ayD3n/7ypC8mYF3NYanY1HXycLVldf1wzLy5qfvT41At88YB3R72Z/yjlTD9vrAeWOicPisEp90Vr4Vc6pZiDfD2jqAfbQ+OS780bV9dwRo68dRb3fyngU97KoF/qOO/e4fhBVtSrX4StftzQ+8uFGXdWWMauOS3lu/S8Syr6U93h2bDllVJ+XxYbG/fTXWR5wtzxu3LAv+lAPmYbGe+z6aA9Wi+8/lXYra64IoMdfs7/qe+dNOj/35Rqrq9ZGP6jrrZHo/wVY6djYsdry+Hr9KYatQ7Wvq8Fftmt0a+XnRNv379GVu0cFq7+IO/7ftfGGL/0iYuHx8ZHzXhwL83B1BsFqZW1NPp8a3/Oy/b3V778tc6y2NkvL3l8WTjoXx/2sqexYLX7+TXEdpP3vSq0RIECAAAECBAh0XECwmnaABKv7arA6lRqrQ7toBo/U13e0DkKf23qh52TBan9HWktd1OpjpYPpvDTe+taIyy67rb/TLvsf6/adsYMAt3XnW3On3tCO18nrDU47WK09ftm2E6q562tEH8ogtfeynn7Q+kcRa7KAtfESn7Z+1sO84W8Y7Y+L1vs8abBafbFXrc9tNUHH93u4P8N9aX2RWHN3Vy3MrV5zeDyG72/4LxrG1ldsvfaiuL7xoqli116jJuqU+52NXdH3n2XB6j83ayeOd2oP6cu+1IPV6suxBn0ugtXaZ+UOzlGPGzfmb+s6ahxTzNBR62NMsFp7udygLEgehDVfPNd6zXJX5RTm514frI7/ntcPPYd2h5bfP9pLAbQ+gZB/v+39JUNtN/tgjZXB6rjv36OD1R/Epy69Lt6x7ci45pJXxnFzq9/jfhrf/Ku/iLO+8NMiXH1b9uj/P8Vl5386rl/wnPj023+z8hdNwztxqy2VO6Ann8PD319qa2/MfM/XVi1YncJcHPOzpnrdPFid6jpI+9+VWiNAgAABAgQIEOi4gGA17QAJVvfnYLUSXFYffc1jjnK354hQcsrBam2+Vv9HtreTph+8tgertdP7x+5NwWp5z83ddcP/A13caxE+bDgp2+EZg3/v7wpu+QbQ8lj7uFBwVDmGrOXqLtGrn1bdZTq47lDQkDxYrdfOHbpeGUw2d4aWgcNQkDEuWC2ML769+Zj8cKCYC4y9dkuwWh2uafe7Eax+uP3d7rWdvZUgZcbBar/P7Y9Kj63j2Bas5rvGm7+au9JHrY+pBquN+Tn2mpW+jCihkR9R3XW/jwer+f22WAzKK9SD1dfePSjpUgsgM/fdHqxG/OTvrovf+vgP4qWvWBXv/M0nNCZXFq7+r/iTB34jPviaX49ffO66eMlHfxAvPGNVXPpb1WPHlQKYznxKGaxWy4hUbqs6F6cTrE51HaT970qtESBAgAABAgQIdFxAsJp2gASr+3Owuqd3rPbrorbVcOzgjtXGY5TV8KH6uObYHZf5bqRGiDpq91y5trNxWbsobsl3qfZ2GE52TiUYqT9KOvwNYyovOOnyjtW2/o/fITYuWC0eWa7vyhwduIy/9vgdqwtbXiwz1Z1t7TtW62PbDKBnHKz2d9nuph2r1W63zeuhoL4syzAIWfO/2JnOjtVRPzensK72/Rqrg52k9VrJq/MaqsXX6sFqv95v5S836n8Ztzt3rEbEL74Z7794fVz9s8fGRW9bFWcUz/wPfu2KiGwn69bPxLnv/lp8/tFPi2suPCOOO7h60DSC1ebOz9rFUgaro/7CrbjgZLv7J92xmva/H7VGgAABAgQIECCwlwoIVtMOnGB1vw1WK/+jvGpl3HBd/r/Q/RcADWqsFl/LQ6FK/dPJdqy21litvHCq2OVU7hbMJnUlWE1dY3UGpQAGNf+G6zje1iizMHmwWq2NWoYY4x7NLQKkWBVxQ5wdG89tr79ZPj5dhIK98ZxCCYjRNVajNv5jd6xWQud6e22lAMbXhh3qT1vt0OZOzDWVeqPlTrsZlQLo1YJsCYjadv0O9bV27SJYHVVjtVhDk/W7blXuLh5dY7U+ZtWwcTrBanufZ1pjdRAOjayxWttdPG59jNmxOt0aq23lC8bUWC3D9v0pWC2/b1d3r44NVsufGdW/pGvsWO23WTlmdjVWi/8I2vmNm+INV90Vd8TBccaJL4qzf/vXY2EZnP5iW9zxvz8Tf/LZifhmHBJvPuc/xdm/dkjjv56mEay21Srtz6epBKvt63rwUr0tcfaYGqu1uTitHastNVZHlfFI+9+WWiNAgAABAgQIEOiwgGA17eAIVvfVYHXcPFl1WVx411uLN3Xn/xO8sPc4dNubxOsN1V8o1Hx51cpYWwlPB2dWQsTGLtnyDfDFW8NXxjtW3RDvbD6+OBSMjrpO0UYWBB83hXIGzRdynV55GVLZ9+rb6vP4t/YSpuKoyXYR1d/0nllcFPHH2ePno9+uPjr8zALwwa/6i4mGHxUf9Xb75n0132I9+Y7VlbHyuhv6bwVv7nSr7QCd5E3X2d3U+rOqaLtso63GYe34LFDNd/deHHno/eotjV3Ck9RYbTwCnd1LsSOvPfye/NrVx3nrbYw9NwvQR6yPLavLPtVGvz/X+4bTLgXwnjg9sl3VI/rc+qj86HlbBHLVXXctL8lr1vGs3XNzfWTh7vCO1dPnD7c7mOtTuGaVsWV+DtX+3OtLAYz7gbA0Luy9HK/5HWSU6dKL/jKW3frq4mdI/mtlrL0qYnX+csDmz4XBMStX3RA3ZC89PO+tEZdfFsPfscq5Nfwywraaqzu/9Zn4k2u+Fh//SXGNgw4+OH4lfhHf/EXvz4+ZH39w1ulxxq80Q9V8xbTsVm9zmmw+TRKsZk2OWdf9GqvZz62pzMVx9bz752eOr40teZmTyj2NrKE7bn74jAABAgQIECBAYF8TEKymHVHB6j4WrKaaHvU3PI9+jUiq62ln7xEY/WKvVPdQ3aWYqk3tECCwTwrs+nFs+eIX43994a64oxewxmOeEGc8/wXx0t84Mh5Te7nVPingpggQIECAAAECBAhMS0CwOi2uSQ8WrD70UGzfeH1sPuS0eP6R82Lnzp2xffv2WLdu3aR4ow6Y7SSd8YUTnihYTYi5jzWVPFht7HIsdusuqu3G3McI3Q4BAgQIECBAgAABAgQIEHhEBGabWa1YsSIWLFgQBx54YP573rx5+e8DDjgg5s6dm/+eM2dO7fcjcqN76KKC1W1fiutv+Xo8aYlgtTrnBKt7aAXuhZdJHqyW5RTyGr7Zr3H1Z/dCMF0mQIAAAQIECBAgQIAAAQIdERCsph2I/ThY3R5fXHtT/FNEPPzww4LVtPNKawQIECBAgAABAgQIECBAgAABAh0TEKymHZD9OFjdFQ/l9VXvj3++9W/i7oV2rKadWlojQIAAAQIECBAgQIAAAQIECBDokoBgNe1oCFYFq2lnlNYIECBAgAABAgQIECBAgAABAgQ6KSBYTTssglXBatoZpTUCBAgQIECAAAECBAgQIECAAIFOCghW0w6LYFWwmnZGaY0AAQIECBAgQIAAAQIECBAgQKCTAoLVtMMiWBWspp1RWiNAgAABAgQIECBAgAABAgQIEOikgGA17bAIVgWraWeU1ggQIECAAAECBAgQIECAAAECBDopIFhNOyyCVcFq2hmlNQIECBAgQIAAAQIECBAgQIAAgU4KCFbTDotg9aGH4qGHHooHHnggHnzwwdi5c2ds37491q1bN2Pp2U7SGV/YiQQIECBAgAABAgQIECBAgAABAgRGCMw2s1qxYkUsWLAgDjzwwPz3vHnz8t8HHHBAzJ07N/89Z86c2u99eTAEq4LVfXl+uzcCBAgQIECAAAECBAgQIECAAIGegGA17VQQrApW084orREgQIAAAQIECBAgQIAAAQIECHRSQLCadlgEq4LVtDNKawQIECBAgAABAgQIECBAgAABAp0UEKymHRbBqmA17Yzao63tiBvPPTk2nHRLvOdlh+2xK9/x3iVx9dP27DWzm8uuu/q6lbF243lx3B6728aFvnp5LDkn9lAfivG9OC6MW957euyOEd7xibfEyWtui6UX7fnxHB7CO+LyJasjrtoY5z17zw1wbnDrst1mnOZOMpurY9HN74nT56dpUSsECBAgQIAAAQIECBDYHwUEq2lHXbAqWE07o/Zoa/tusDoU3maB5tpFsw+/Jm6Mt5yyJc6eaThbCVYXZoHct8+Ojefuppg3u9bfL5td+2Pv95EJMkcvkZn3pzpfmkHpZH8RIFjdo9+0XIwAAQIECBAgQIAAAQKPqIBgNS2/YFWwmnZG7dHW9t1gtcm4Y2JHHDZ/d+zZnOaA7cEdq7v/nmceZE5TbYqHp+nPdIPS6R4/xZtJfJgdq4lBNUeAAAECBAgQIECAwH4qIFhNO/CC1X0wWC12qF0Yi9ZcHDf05svK/uPFvYDiqmWx4ZyLI7JHoI+6PpacUx7ZO+EFg8evi0fQKxNv1dr+LsKhzyIqj1X3HuW+fXDuoB/Dn2VHDT5vmej57sOL47beR0svWhvLbl1dlAKY5B6arTX7XX0UfPw9FY/kF6UAonhUvXJ/9XsYvsfBdcZ9Np1r1MezsBlTLqC6g7P896siVpfjXxn3rKW6xcpYmx9blAKo7lgdN0ciD2Pr86vpffXTirEsHvt/YXx+yHXMPTXbr97DyB2rRYhZ9irrz0WxpvFIfDXonO58bTu+cQ+Nfq+8am3EOUUpgNfeXewGXhure2uvODc3X9Mb5UrJgHJO5vfQ+7ycB1ErXdHo1wsujLUnbYjVWSmAP4pYU1lfxZqZhnt2eMU+D2xr91D93tBckZP5ClbT/ujXGgECBAgQIECAAAEC+6uAYDXtyAtW99FgdfV1S+PCXj3Coo5k9P7cC5TKAKQXVuYBa79Oae+YVWvjlqddXTk3j9ryQGpLGUT12+1NzF5YlAWky/5+Say+axDQFv1YlAdEWdjTrBda7+dQFFoEYZVQt18f87y3Rlx+WRESt9xD81H1aj/yh9jzPm/JfV74D1Wr4XvKal+WIdbZ3z557D0s+svGPfasF5U21Xqplc+mc43T5zfGswxDK+41yaFg9eK4rW/aC7eeXgTnw+NRhpGVkO/bZ4+dI9l4DO88rYdkRSg7mK8RO2LHxGFxWKWWZhnSDZUdaLhV52c+F6ZRCmB45+YgWM3ncqO+7fj5Osk9tKy7MpzO1k4erK65rf8XDUO1YCtzNqs5OtVSAEN1esu/rHjB6+KVt384PlJZX9k4jKxxO8n3jcH8GdxDMRYXRzb/mzVk2+oHD3/fUmM17Y9/rREgQIAAAQIECBAgsD8KCFbTjrpgdV8NVmOwq7QINDbEsjxobTxuXPtsMLnyoCN6wWrjxTa13XFDL70ZtJ+HQyNeilO2XwvKRvSl6FXbY9K9UgDPy4LVL/Xub/gehsK4MY+ztz8WXb92LVitOmeXrtxDHqzWPi/6u2V1L3Qe8dlQsDrmGkPjGVEEoqNeRjQUrJbzoqfcG/d+MNZsp6XGah6+j5gjg6B79O7l1rnQD7wrO10bu2lHz4vKN8mUwerYcRjxjXnUbtrWuT5m7QzN2eFwunyh2rgaq23WxfHPyIPVRzdCz5FzaZLvG+3zZ3Spg8m/H9ixmvZHv9YIECBAgAABAgQIENhfBQSraUdesCpYrYSuUwtWy6PKXXRtU7L/SP/Q4/vFrtLJg5Rmq5MFq5f1SwTUzqztwKt+Un8UPHrHTeWe6jtW2+6+2H05HKxOIfTtHTLV8LarwergTstAtbojdTiorgXQZRjZ3J085s31QyULypdzpQxWq+Uw+jdYva/KXJjsHvaJYHVQlqNtzY3bAdy+Y3X0WirmuR2raX/8a40AAQIECBAgQIAAgf1RQLCadtQFq4LVaQer43es9mPX/u7MQYjSeLR6WjsAJwtWh3esjloqw29JH7wEa7jO5nArY0PPyuHD4fH+uGN1a17CIasb2jYPyt251WC1bZfkyJ2TWYC5dlHc8t7To3y1V+3YlMFqc76O+V486T3sE8Fqfbdzk2PawepYX8Fq2h/9WiNAgAABAgQIECBAYH8VEKymHXnB6r4arFbqQbbVWO0HXbulxmr2cqPXxpbsBUS9ep35tB1XY7R8hL1Zs7U/3wd1X/uP9vd2BS4dU2O1HugVjeWBZ60G6VTqxhYvbMpqsk5aY7W3s3Jrs47sbqyxWr3PpKUAauNR7j6dTo3VIlit1sat1hIdGaxWr9uvAzqo19ufFo1ao0PjO91gtVcDOBvncvdyv15wW43VEbtoh+qvNu+hZd1VrzdURiNlKYDafZQ1etPVWC3n4rSD1bG+gtW0P/q1RoAAAQIECBAgQIDA/iogWE078oLVfTVYjZWx8rob+m897z+a31artOWt7dW3e4974/vQZ9W3iDfKAGRTd/A2+MneAt4y0ZvtrVqbvzU9ry151PVDb54f3HOzrUYZgOzjymPnY++pEqy+52VRvNzn9kr7tTqgw/c47v4Hn1VfRtRyjexd7f0doMM7eVMFq/2Qsv8I/NK48KplseGcLXF2+Yb6b5+dv+hq3BwpA/XiXfZF34uXQY0umVBrLzMt31jfUtph8jlY9Dd/UVnt17Bdta2lF62NZbeuzmvinvfslvnaWvN1cIFJ76Gx7qrXm02wWryMLatNWwTg2Yviyvqr/RdS9efsylh7VcTqbNdvaVwzKtoYtitf+lapgVubl221fkfXWB3uV0T1e1BRY1kpgLQ//rVGgAABAgQIECBAgMD+KCBYTTvqgtV9NlitvLwq7ZzRGgECBAgQIECAAAECBAgQIECAwF4oIFhNO2iCVcFq2hmlNQIECBAgQIAAAQIECBAgQIAAgU4KCFbTDotgVbCadkZpjQABAgQIECBAgAABAgQIECBAoJMCgtW0wyJY3QeD1bRTRGsECBAgQIAAAQIECBAgQIAAAQL7goBgNe0oClYFq2lnlNYIECBAgAABAgQIECBAgAABAgQ6KSBYTTssglXBatoZpTUCBAgQIECAAAECBAgQIECAAIFOCghW0w6LYFWwmnZGaY0AAQIECBAgQIAAAQIECBAgQKCTAoLVtMMiWBWspp1RWiNAgAABAgQIECBAgAABAgQIEOikgGA17bAIVgWraWeU1ggQIECAAAECBAgQIECAAAECBDopIFhNOyyCVcFq2hmlNQIECBAgQIAAAQIECBAgQIAAgU4KCFbTDotgVbCadkZpjQABAgQIECBAgAABAgQIECBAoJMCgtW0wyJY3c+C1TveuySuftot8Z6XHTZ+Jn318lhyTsTajefFcWnnnNYIECBAgAABAgQIECBAgAABAgQeAQHBalp0wep+FqxOefoIVqdM5UACBAgQIECAAAECBAgQIECAwN4gIFhNO0qC1X0uWN0RN557clx8+2CirLxqY5z37OLP1R2r2b+vvm5w3NKLejtZ81D1ht4HS+PCmy+K+ON6m9mHg3bviMuXXB2LrloWG865OG6LiKKtrXH5ktWRt/SCC+OW954exT7Z7Pje18vL1z5PO8m1RoAAAQIECBAgQIAAAQIECBAgECFYTTsLBKv7WLCah6V3DULMHZ94S5y8ZlH/kf4yWL0o1tS+HnmYuiUuvPk9cfr8iOLPRSmAyAPYlbWyAEW70Tu+F5T2w9EyOC3P6YW9T18bG889LmJiR+yYf1gvZB0OfNNOca0RIECAAAECBAgQIECAAAECBAhkAoLVtPNAsLqPBat54Hnrssru0PqE6e9YPer68TVUm8Fq9ELRsrmJG+Mtp2yIZXkQWwSp0d8ZWwSpG04a1HLN+/Xts4tgtferCGez/a29X6sa10g717VGgAABAgQIECBAgAABAgQIENivBQSraYdfsLqPBav59MhDz+KR/OxX/xH/RimAoUfyq8Hm0I7VtomXlQmYfrBaBqrNfq1uhrdp57rWCBAgQIAAAQIECBAgQIAAAQL7tYBgNe3wC1b3qWC12Cm6ZfWgpmoZnpa7Scsdq2d/++S4+mmDHaURjV2mk+1Yrc3D6e1YzcsVNELUtq+lnepaI0CAAAECBAgQIECAAAECBAjs3wKC1bTjL1jdB4PVi8taptlc6e1eXdR7TL8arFZrsZYB7JbaC6wmqbHaLzkwg2C1WrO1fFmWUgBpV7fWCBAgQIAAAQIECBAgQIAAAQIVAcFq2ukgWN2ngtXhMgDZdGkvBbA1r4t6Q3U+VYPNfjmB7HH/iyL++OS4+PbKwf0XVWVfm16wWu6O7beXXfdFG2LJOTcUfc3rv94QK/s1W9NOeq0RIECAAAECBAgQIECAAAECBPZHAcFq2lEXrO5rwWra+aE1AgQIECBAgAABAgQIECBAgACBfURAsJp2IAWrgtW0M0prBAgQIECAAAECBAgQIECAAAECnRQQrKYdFsGqYDXtjNIaAQIECBAgQIAAAQIECBAgQIBAJwUEq2mHRbAqWE07o7RGgAABAgQIECBAgAABAgQIECDQSQHBatphEawKVtPOKK0RIECAAAECBAgQIECAAAECBAh0UkCwmnZYBKuC1bQzSmsECBAgQIAAAQIECBAgQIAAAQKdFBCsph0WwapgNe2M0hoBAgQIECBAgAABAgQIECBAgEAnBQSraYdFsCpYTTujtEaAAAECBAgQIECAAAECBAgQINBJAcFq2mERrApW084orREgQIAAAQIECBAgQIAAAQIECHRSQLCadlgEq4LVtDNKawQIECBAgAABAgQIECBAgAABAp0UEKymHRbBqmA17YzSGgECBAgQIECAAAECBAgQIECAQCcFBKtph0WwKlhNO6O0RoAAAQIECBAgQIAAAQIECBAg0EkBwWraYRGsClbTziitESBAgAABAgQIECBAgAABAgQIdFJAsJp2WASrgtW0M0prBAgQIECAAAECBAgQIECAAAECnRQQrKYdFsGqYDXtjNIaAQIECBAgQIAAAQIECBAgQIBAJwUEq2mHRbAqWE07o7RGgAABAgQIECBAgAABAgQIECDQSQHBatphEawKVtPOKK0RIECAAAECBAgQIECAAAECBAh0UkCwmnZYBKu7IVj9zMSP40VPfEwcMGdO2tHSGgECBAgQIECAAAECBAgQIECAAIEZCDz08MPx99//Sbx4/mNncHZxyooVK2LBggVx4IEH5r/nzZuX/z7ggANi7ty5+e85c+bUfs/4YnvBiYLV3RCsbvrB/fHERx0UT/mlg/aCKaCLBAgQIECAAAECBAgQIECAAAEC+7rA9/5tZ3z/5ztj8RMOnfGtClbrdILV3RCs7vi3n8cd9++Mow99VCx49IF2rs54uTqRAAECBAgQIECAAAECBAgQIEBgNgLZTtVtP3sg/vX+n8dxhx4Uh/3So2bcnGBVsBoPP/xw7Nq1Kx7qharZPx944IF48MEHY+fOnbF9+/ZYt27djCdZ1s4Pf74zvveLXfGjh3bFrodn3JQTCRAgQIAAAQIECBAgQIAAAQIECMxYYO6ciMcdMDeecvDcePyjDsof3Z/pL8GqYHW3B6tZaFsGt9k/syDXLwIECBAgQIAAAQIECBAgQIAAAQJ7WiCreZrVPq3WQZ1pHwSrgtXdHqxmxFmYWv6e6WR1HgECBAgQIECAAAECBAgQIECAAIHZClRfKDWbtgSrgtU9EqzOZpI6lwABAgQIECBAgAABAgQIECBAgEDXBASrglXBatdWpf4QIECAAAECBAgQIECAAAECBAh0XkCwKlgVrHZ+meogAQIECBAgQIAAAQIECBAgQIBA1wQEq4JVwWrXVqX+ECBAgAABAgQIECBAgAABAgQIdF5AsCpYFax2fpnqIAECBAgQIECAAAECBAgQIECAQNcEBKuCVcFq11al/hAgQIAAAQIECBAgQIAAAQIECHQBXgVLAAAgAElEQV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smB13gEHxMT3vx8HHHBAzJ07Nx518MFx7HHHxaMe9aj8zw8//HB86YtfjCOe9KT4lV/5lfxr2a+777477rnnnjjhhBPioIMO6t/aD3/wg/j/vvWtePaznx3z5s3Lv77roYfi69/4Rhx+2GHxpAULusbQ78/3f/rdmPPm889++ImHHNnZTs62Y9mAZr+yf5a/d+3aFQ899FD/9wMPPBAPPvhg7Ny5M7Zv3x7r1q2b7WWdT4AAAQIECBAgQIAAAQIECBAgQGCfEXje854XWYaWBaYHzpuXh6v3Tkzk4enxxx+fh6tZ5rbhb/82fumQQ+L5z39+HHjggfn933XXXfGdb387XrB0aTz60Y/Ov5Zlc5/73Ofyf2aB6+Mf//ji6w8+GJu++tWYP39+HHXUUZ31E6z2wlXBamfnqI4RIECAAAECBAgQIECAAAECBAh0QODoo4/OA9QnPvGJeWCa7TDNgtRvfOMb+S7U7LNsU2MWrD7hsMPyAPVZz3pWHsC2BavZDtbvfve7+eePOfTQePrRR+f/LljtwGCXXbBjtUODoSsECBAgQIAAAQIECBAgQIAAAQJ7pcDRT396/NaJJ+ahahmsZuFqFpBu37Ytljz3uXkwumHDhny36qZNm/Kw9Zd/+ZfjW9/6Vm3HapbX3XHHHfku1yOPPDI2btwYz3nOc+KQQw4RrHZpdghWuzQa+kKAAAECBAgQIECAAAECBAgQILA3CixevDgPP5vBavYkeBaiPnfJkjjo4IPjMxs2xEkveUlk9VOz3ay/8e//fXznO9+Ju7/znX4pgKwk52c+85k48cQTc4osZM0C2F/91V/Na6wqBdCRGSJY7chA6AYBAgQIECBAgAABAgQIECBAgMBeK/CMZzwjXvSiFw0Fq9u2bYvvffe78dznPS//rAxW58yZE5///OfjcY97XBx88MH5MVmN1ezfs8D15z//eTzpSU/Ka7RO3Htv/NvPfhZLliyJuXPmCFa7MksEq10ZCf0gQIAAAQIECBAgQIAAAQIECBDYWwWy3aRZ8PmEJzyhXwogu5evf/3reb3VbEdrVnO1DFazsgD/f3t3FhvXded5/FcUKVaRsrhbIilKbpEUqZW0rN3uVmPsdGPkNALnIYAfgkk6AYJGBoPBoAVPIz2YBJiMp+HXeWmgMX7ohwQIEMOT0EYHCBBjvMuWqcUyJUqyKC6iLJKiJJJV3MTBOXVP1a1SUWJRpWIt3wIKFIv3nuVzz6WBn/8811Szfv755/bz8MyMDVZN+PrHP/5RZmsBBQKWw+yrOjg0pLa2NjU1NanXe3iV2SbABLS5+OLhVTy8KhfXJWNCAAEEEEAAAQQQQAABBBBAAAEEEMgxgUOHDtkq0x3t7aqqrtb83JyGhodtxen+/fttJWpysGqmcOXKFbvHqqlEPXL0qL7++mvdu3vXbhHgQlNTGGmOM5/v6+qyWwuY/Vfr6upiCjU1NfaBWLnyIlglWM2Vtcg4EEAAAQQQQAABBBBAAAEEEEAAAQRyWODEiRN2/9N7U1P2IVUmUDWVquYBVSZUNZ+ZgPTUp5/aANX83LxM1er58+c1Nzur7mefVX9/vw1MGxsbE2Z79+5dXbx40bZnvk5NTSVUq3Z0dMiEq7nyIlglWM2Vtcg4EEAAAQQQQAABBBBAAAEEEEAAAQRyWODll1/Wpk2bbJhqQlT3ECvz1QWtpgJ1cXHR/sxfjWoqWc3L/2f9Lnh1UzbHmGDWHePOcT83xyefs5ZcBKsEq2u5/ugbAQQQQAABBBBAAAEEEEAAAQQQQCBPBEywaqpMXaBqAlYXsrrQ04Si/neeTG1VwyRYJVhd1cLhJAQQQAABBBBAAAEEEEAAAQQQQACB4hIgWE283gSrBKvF9RuA2SKAAAIIIIAAAggggAACCCCAAAIIrEqAYJVg1e7VYPZoMPs9uLfZRHdhYUFzc3MaHR1VT0/PqhYYJyGAAAIIIIAAAggggAACCCCAAAIIIFCIAsnBqtlX1e21ylYAhXjFJRukmpf56t4EqwV6sZkWAggggAACCCCAAAIIIIAAAggggMATEUgOVk3ONjAwoI6ODq1fv94+WIo9Vp8I/do1SrC6dvb0jAACCCCAAAIIIIAAAggggAACCCBQGALJwerg4KBGRkbUun27/mz7doLVwrjMibMgWC3Eq8qcEEAAAQQQQAABBBBAAAEEEEAAAQSyKeAPVk3edv78eVWEQgqFQurcudNWrVKxms0rkoW+CFazgEwXCCCAAAIIIIAAAggggAACCCCAAAIFLeAPVqempnTt66+1r6tLF778Ul3d3XrqqacIVgttBRCsFtoVZT4IIIAAAggggAACCCCAAAIIIIAAAtkWcMGq2Uv17Nmz2r17t6qrq3V9YEDhcNiGrKWlpQnharbHmM3+bk0PKvDTkz9aaqhsyWa/We2LYDWr3HSGAAIIIIAAAggggAACCCCAAAIIIFCAAi5YnZiY0PDwsDo7OxUMBjU9NaXrg4M6cuSI/d6/HUABMsSmRLC6uKjFxUXNz89rYWFBc3NzGh0dVU9PTyFfd+aGAAIIIIAAAggggAACCCCAAAIIIIBAWgImWN28ebP6L13SutJSVW3cqNKyMtvGzMyMamtqtL21lWA1LdUcP5iK1Ry/QAwPAQQQQAABBBBAAAEEEEAAAQQQQCDnBV588UU9/fTT6uvrs9Wp5qFV5k//161bp7GxMfX39+vYsWMqKyuLhas5P6nHGCAVq1SsPsby4VQEEEAAAQQQQAABBBBAAAEEEEAAgWIRaG9vt8FqRUWFduzYofLy8liwav4S/PPPP9fevXvtvqtuO4BCtiFYJVgt5PXN3BBAAAEEEEAAAQQQQAABBBBAAAEEMiTg9lg1FanmbapVXcWqeaCVefv3VzX/LuQXwSrBaiGvb+aGAAIIIIAAAggggAACCCCAAAIIIJAhAYLVREiCVYLVDN1aNIMAAggggAACCCCAAAIIIIAAAgggUMgCBKsEqzIPs7p//74WvVDVfJ2fn5fZC2Jubk6jo6Pq6ekp5PuAuSGAAAIIIIAAAggggAACCCCAAAIIIJCWAMEqwSrBalq3DAcjgAACCCCAAAIIIIAAAggggAACCCAgEawSrBKs8psAAQQQQAABBBBAAAEEEEAAAQQQQACBNAUIVglWCVbTvGk4HAEEEEAAAQQQQAABBBBAAAEEEEAAAYJVglWCVX4PIIAAAggggAACCCCAAAIIIIAAAgggkKYAwSrBKsFqmjcNhyOAAAIIIIAAAggggAACCCCAAAIIIECwSrBKsMrvAQQQQAABBBBAAAEEEEAAAQQQQAABBNIUIFglWCVYTfOm4XAEEEAAAQQQQAABBBBAAAEEEEAAAQQIVglWCVb5PYAAAggggAACCCCAAAIIIIAAAggggECaAgSrBKsEq2neNByOAAIIIIAAAggggAACCCCAAAIIIIAAwSrBKsEqvwcQQAABBBBAAAEEEEAAAQQQQAABBBBIU4BglWCVYDXNm4bDEUAAAQQQQAABBBBAAAEEEEAAAQQQIFglWCVY5fcAAggggAACCCCAAAIIIIAAAggggAACaQoQrBKsEqymedNwOAIIIIAAAggggAACCCCAAAIIIIAAAgSrBKsEq/weQAABBBBAAAEEEEAAAQQQQAABBBBAIE0BglWCVYLVNG8aDkcAAQQQQAABBBBAAAEEEEAAAQQQQODfv/yyNm3apPVlZSo179JS+163bp1KSkpibyMVCATsOxuv0pKSbHTzQB+3pgcV+OnJHy01VLasyQCy0enS0pLtxnx17/v372txcTH2np+f18LCgubm5jQ6Oqqenp5sDI0+EEAAAQQQQAABBBBAAAEEEEAAAQQQyAuBdXvapY0bpHUlCqxbJ5lA074D0bcJUmNhqvl3dqb13w79u+x0lNQLwaoXrhKsrsn6o1MEEEAAAQQQQAABBBBAAAEEEEAAgTwRKNnTFgtWlUPB6n8/9OKaCBKsEqyuycKjUwQQQAABBBBAAAEEEEAAAQQQQACB/BI4/OJfqrahQevKvC0A3DYA3lYAgZKS6BYAplTVFq9mp2S1tapuTSAJVglW12Th0SkCCCCAAAIIIIAAAggggAACCCCAQH4JmIdXbdq8WWVlZfadco9VbzuAaMBqN1t94pMsyUIfqSZBsEqw+sQXNx0ggAACCCCAwMoFLk9e1pvn39SF8QtauL+w8hM5suAFSktKtatul36454dqq24r+PkyQQQQQAABBBDIPQETrDY2Nj40WHUPrcrmw6vWSopglWB1rdYe/SKAAAIIIIBAkoAJVU++d1JlpWVaX7o++idUvBDwBJa0pLmFOc0vzOuN428QrrIyEEAAAQQQQCDrAukGq+ZB8eZB8iUlJbG3GbR7oLz5t6l89W8ZYI43D503n5nz/C/Tnvl8ndnfNQdeBKsEqzmwDBkCAggggAACCBiBn73/M/Xf6Vd5aTkgCCwrMLswq/aqdv3yhV+ihAACCCCAAAIIZFUgnWA1Eono448/tuGoCUsPHz6sUCgkE45+9dUFjY9PaGFhXseOHVNFRaUNTE3gOjU1pd7eL3Tw4CFVVFTE5mfC1nPnzmr9+vXauXOn2WMgq3NP1RnBKsHqmi9CBoAAAggggAACUYFX3n5FlcFKKlVZEA8VMJWr05FpvfWdt5BCAAEEEEAAAQSyKrDSYNUEqX/605/03HPP2YrU3t5e1dfXq62tzYatW7duVU1NjYaGhjQ+PqYjR47aKtRr175Wf/9lO6dvfetbsUpW097c3Kw++OADHT58RJWVlVmd93KdEawSrObEQmQQCCCAAAIIICD9zVt/o+qKaigQeKTA5MykfvfK7x55HAcggAACCCCAAAKZFHDBqglBTeWo/6v7c39TeTozM6O5uTkbnprPv/zySxuwNjQ06PPPP9MLL/y5gsGgHdof/vAH/cVf/LlKS8t069Y3WlhYtBWtf/VXfx0b+r179/TRRx/pyJEj2rhxYyan9FhtEawSrD7WAuJkBBBAAAEEEMicAMFq5iwLvSWC1UK/wswPAQQQQACB3BQwwaoJRK9fv666ujrdunVLBw8ejAWoJkRNfnjV/Py8rVI11arSks6dO5cQmr777js6fvwvY3/2PzIyovPnE485depThcNhbdq02fZrql9z4UWwSrCaC+uQMSCAAAIIIICAqFhlEaxcgGB15VYciQACCCCAAAKZE3jppZc0MTGuAwcO2opVs1/qmTNn7D6pJnBNDlbNPqsffvih9u3bZwPRsbExW8m6ZcsWOygTup46dUqHDh1SaWmp/Wx0dFRXrlzR888/b7+/evWKLl++bKtcTbhqql93795t21vrF8Eqwepar0H6RwABBBBAAAFPgIpVlsJKBQhWVyrFcQgggAACCCCQSYFdu3bZitSKipBKStYpEJDdDuDYsedt0BoPVqWhoWH19X1lf2YeQmV+Zipczf6o7qFUAwPXNDw8EgtWzcOrTMVqbW2tPc48sOqdd3r00kvfsu2b18WLF3Xv3l0dOnQ4k1NbVVsEqwSrq1o4nIQAAggggAACmRdYTbC6reGYmsvSGMv8sD68NZDGCRyaiwIEq7l4VRgTAggggAAChS+wc+dOtbS02IdPmT1TTchqAk9TrWoCVhOempepML127ZoOHDhgQ1L3+c2bN/XNN99o7969Mg+kMn/y39y8RdXV1fYYU8364Ycf2NDUhK8mWP3d7/6vTpx42fZngtdLly7ZvVpzYTsAglWC1cK/65khAggggAACeSKwmmD1xy/8q46n9VDUGV24/D/1+hXC1TxZFimHSbCaz1ePsSOAAAIIIJC/AubP82dnI6qpqbVBqqscddsAmHDUhKHvvvuuamqq7XEmfC0rK1Vra5ump6dl9kttbGy0n9+9e1cHDx6ybZnX7Oys3n///+no0WM2WDXh6+nTn6u8PPqgq5KSgGZn52ww67YOWEtNglWC1bVcf/SNAAIIIIAAAj6B1Qer87ozNaOKDVXyF6/OR0Z0a6FM1ZUNqtCMbk1Pq3JD9N8X+n6i18lW83b9Eazm7aVj4AgggAACCOS1gHl4lQk7TUBqQtTOzk77J/ummtR8b97m5729X9h5mvDUvEpLy7Rnzx77c7Pv6oULF2xw2t7ebs91L7Nn61dffaWOjo7Yn/6bz86ePWMD2/r6BjU3Nyecs5agBKsEq2u5/ugbAQQQQAABBDISrI7ovX/rV/tfH1eTr72R4e/rtfMn9A8vvqpduqBf/fF1DXf/b/39pipFfwZ/vgoQrObrlWPcCCCAAAII5LeACVZNtakJQ83bVI2at9sGIPnhVS5Yze9ZLz96glWC1UJd28wLAQQQQACBvBNYfcXqyoPVd/b8k/61uSkpWP2x/ikplE3GK+wgNjp/5VHYTLCad7c3A0YAAQQQQKAgBAhWEy8jwSrBakHc2EwCAQQQQACBQhBY62D1SQeLZj/Yg7O/0k9OvZNjl+tRwar5+UFN5tD2CQSrObaEGA4CCCCAAAJFIkCwSrBq93ow+zKYJ4m59/z8vMyeDebpY6Ojo+rp6SmSW4JpIoAAAggggECuCGQ6WNX9ec0vSWXryqSF6FYAD6tYfdLBaq44PziORwWruTdygtXcuyaMCAEEEEAAgWIQIFglWCVYLYY7nTkigAACCCCQhwKPF6y+pn9ZyZwfshXASoLVEwf/Wa+Wn9J7Oq7jldEOZyaiVaj2Z7WTeu/ffGPZ9g/6585ndK3vJ7rVEq9YjR5bkTDi+HYDXoXo8DU907xL8tpPnF6K7QtceCxFxxIb54je65vUwc5divfof9GTeRAAABpiSURBVICXF6xOXFB1rTvGbK/g5uEqVt+W2l7Vrtn39P3349q2r43X9KvL0ncS+jAj9rXj2cfm4RvvSi6d/xiC1XTFOB4BBBBAAAEEMiFAsEqwSrCaiTuJNhBAAAEEEEAg4wJrHaz6H3yVMLnkwLK2Ir5Hqw1Od2nS7k/6YOWn+fP/44oGkf6tAE5sO6F3BnxbAth2qnXKhpleaPqw4HHbCZ0YeEf+TQUS2veC22hY67U3HQ9EE0PgB/uz4y73qnzteLytAJ4ye9QqKXQ1+7O+JzUfV5OvD8n34DAvdI06Gd1on9UpQ+NHLy2C1UcbcQQCCCCAAAIIZF6AYJVglWA18/cVLSKAAAIIIIBABgTWOlhdccWqqc402wrYOSeGqf4gNdXPEvdYTa46dVWkK//T/AcqX71gM1ZFaseZor0UQa5//g+e7/ZYTWrLVqGaoLVf7SkegBVv55aOZ/ABWQSrGbjhaAIBBBBAAAEE0hYgWCVYJVhN+7bhBAQQQAABBBDIhkAhBKuKBY2v6V/8/zYRbOzhVU22WrPJ/2fyvi0DXh94dLDqAlW3DYGNeH3VsY8MVhMu6IP9LR+sJvYT71N2TsnhdGI73rneFgoJ2wSkucAIVtME43AEEEAAAQQQyIgAwSrBKsFqRm4lGkEAAQQQQACBTAsURLDq/fl79c3vq786vqeqCz5txeo3XbF9V18f8BTTDFYTK2OjbaQVrK66YlVS7FxTpbpMJas3rViwerNar26a9FX6evvAJlT/rnxFEayu3IojEUAAAQQQQCBzAgSrBKsEq5m7n2gJAQQQQAABBDIoUBjBqntw1KRGKqs12fcTufA0VrFqg1X/Q6m8vUhLV74VgA1RK1M8GOohWwH49z9NtcfqyrYCMBc8Ot7q2RE1lbuw9MF9XBP2WDXBanO1LiR5xPdxTW8hEaym58XRCCCAAAIIIJAZAYJVglWC1czcS7SCAAIIIIAAAhkWWH2wKs0vzq9sNIEylZUo/vApe1byXqcPNhV9CFSqKstUf7afKmT0bwXwjqJbBrjHZZlA9W2p7VXtKjVhaer9ShNH5cJY71MTqE622zbN9gBv6zt61V8N6j1kqyLWiAtx4/NfebCq2Pidi232gT7Mh/HwNxoG+2fhC4ZXdvViRxGspgnG4QgggAACCCCQEQGC1UTGW9ODCvz05I+WGipbMgKci40sLS3ZYZmv7n3//n0tLi7G3vPz81pYWNDc3JxGR0fV09OTi1NhTAgggAACCCBQwAKrCVb/w9H/kxTWrQxoZORv9Y8XVnYsR+WeAMFq7l0TRoQAAggggEAxCBCsEqxSsVoMdzpzRAABBBBAIA8FVhOs5uE0GXIGBAhWM4BIEwgggAACCCCQtgDBKsEqwWratw0nIIAAAggggEA2BAhWs6FcGH0QrBbGdWQWCCCAAAII5JsAwSrBKsFqvt21jBcBBBBAAIEiESBYLZILnYFpEqxmAJEmEEAAAQQQQCBtAYJVglWC1bRvG05AAAEEEEAAgWwIEKxmQ7kw+iBYLYzryCwQQAABBBDINwGCVYJVgtV8u2sZLwIIIIAAAkUiQLBaJBc6A9MkWM0AIk0ggAACCCCAQNoCBKsEqwSrad82nIAAAggggAAC2RAgWM2GcmH0QbBaGNeRWSCAAAIIIJBvAgSrBKsEq/l21zJeBBBAAAEEikSAYLVILnQGpkmwmgFEmkAAAQQQQACBtAUIVglWCVbTvm04AQEEEEAAAQSyIfDK26+oMlipgALZ6I4+8lRgSUuajkzrre+8laczYNgIIIAAAgggkK8CBKsEqwSr+Xr3Mm4EEEAAAQQKXOBn7/9M/Xf6VV5aXuAzZXqPIzC7MKv2qnb98oVfPk4znIsAAggggAACCKQtQLBKsEqwmvZtwwkIIIAAAgggkA2By5OXdfK9kyorLdP60vVUrmYDPY/6MJWqcwtzml+Y1xvH31BbdVsejZ6hIoAAAggggEAhCBCsEqwSrBbCncwcEEAAAQQQKFABE66+ef5NXRi/oIX7CwU6S6a1GoHSklLtqtulH+75IaHqagA5BwEEEEAAAQQeW4BglWCVYPWxbyMaQAABBBBAAAEEEEAAAQQQQAABBBAoNgGCVYJVgtViu+uZLwIIIIAAAggggAACCCCAAAIIIIDAYwsQrBKsEqw+9m1EAwgggAACCCCAAAIIIIAAAggggAACxSZAsEqwSrBabHc980UAAQQQQAABBBBAAAEEEEAAAQQQeGwBglWCVYLVx76NaAABBBBAAAEEEEAAAQQQQAABBBBAoNgECFYJVglWi+2uZ74IIIAAAggggAACCCCAAAIIIIAAAo8tQLBKsPrQYHV+fl43btxQT0/PYy82GkAAAQQQQAABBBBAAAEEEEAAAQQQQKBQBAhWCVYJVgvlbmYeCCCAAAIIIIAAAggggAACCCCAAAJZEyBYJVhNGawuLCzIVKtSsZq1e5GOEEAAAQQQQAABBBBAAAEEEEAAAQTySIBglWA1Fqzev39fJlBdXFy0X12wOjo6qt///vd5tKwZKgIIIIAAAggggAACCCCAAAIIIIAAAk9W4Nvf/rY2b96ssrIy+y4tLbXvdevWqaSkxL4DgUDC+8mOaG1bvzU9qMB/PPnjpbrKJgVUsrajeUK9Ly0t2ZbNV/c2oap5u1CVYPUJ4dMsAggggAACCCCAAAIIIIAAAggggEBBCBCsxi/jku5rfHpEgf908u+WQusrFSrbUBAXOXkS6QarN2/e1G9+8xsFg8GC9GBSCCCAAAIIIIAAAggggAACCCCAAAIIpCMQDof1ve99L1ax6qpVi7ViNTw/pfDctAL/5e//89JcYEqV66sVLKsouMrVRwWrpmrVbAPgqlbHxsb085//XF1dXemsL45FAAEEEEAAAQQQQAABBBBAAAEEEECgIAV6e3v1i1/8QvX19QlbAZhtANw7eRsA832hvUylamR+RtNzk1q/tEGBkydPLi0uzWshENF9LWhJ0T+dL5SXC1bNfOJbASzZrQDuL0a3A4huCbCohfkFTU9Na9/uZ/W//scbhULAPBBAAAEEEEAAAQQQQAABBBBAAAEEEFi1wH/9x5M6++UXqtxQqdIys7eqF6iar25/1ZL4/qqmo0IMVgO2JLVUpUtBrQuUKfDaa68tmZDRhY6rFs7hE5OrVt0eq/59Vv2Vq7dv39arr76qH/zgBzk8K4aGAAIIIIAAAggggAACCCCAAAIIIIDAkxV488039etf/1o1NTX2YVXuwVWuUtU9uMr/8KpCDVbdvExobOdrglXzob+y88lejuy3/qhg1f8QK7MlwOzsrO7cuaPu7m5997vf1b59+1RRUZH9gdMjAggggAACCCCAAAIIIIAAAggggAACWRaYnp7WuXPn9Nvf/lZmG4CqqiqVl5fbYNW9/dsA+ENVV6laiBWr7jLE5uiC1Sxfn6x2t5J9Vk2gmvw2iygSidg9WE34al6FXt2b1QtDZwgggAACCCCAAAIIIIAAAggggAACayrgD0LdPqkmKF2/fr19uHtlZWVCoJocrLqKVf8eq2ZChRysxgLWYg9Wk7cD8Ierbv9V89VtH+C2TEjeu3VN7wA6RwABBBBAAAEEEEAAAQQQQAABBBBAYIUCyaGnPxR1Qam/ItVfqWr+/bBq1WKoWC2qYNVM1l+16qpOXVgaf4DVgvcgq+hX93bhqz9ULeQ9aVd4D3IYAggggAACCCCAAAIIIIAAAggggECeC/hDVX/Fqj88Nf9ebguA5IpVw1EM1ap2nsVQsZocrLpQ1B+sJleuJoeq/i0AUlWt5vk9xPARQAABBBBAAAEEEEAAAQQQQAABBIpQwF9h6vZKTVW16sJV89X83H0ttv1V/UukqINVE5CmCldTbQGQKlj1B7ZFeN8xZQQQQAABBBBAAAEEEEAAAQQQQACBPBXwV5UmV626YNUFqMnVq/6fJ59rOKhYzdNFsdywk/dETa5aTRWwus+S91f1B6r+dguMjOkggAACCCCAAAIIIIAAAggggAACCBSwQKpwNblq1V+d6q9SXe6hVQSrBbpg/PusJu+Xmhyi+vdVTbdalbC1QBcQ00IAAQQQQAABBBBAAAEEEEAAAQTyWCBVJal/K4Dkh1iZ71OFqcl//u/OK6ZQ1c61WPZYNZNdrmrVbQng3xog+d/J+6omh6eEqXn8W4WhI4AAAggggAACCCCAAAIILC9w55rOXLuT8uflmzvVuan8oXqzN/vUNzqrlRybuqE7unbmmu6UN6qz82k9vLdHXUivLVXpma5nVPWow9P4+Z2BM7o2mfl20xhCFg6d1Td9fboxW67Gzk49vcqLEbVKHm6i3QPrxq3Dh64DN77MXwc3nqpnuvRMbOGkt55S3wuuDb+H5xuJ3nurv3eWXxIuTL1zrVdf+65F9PNqtT7XqppAwO6l6q9MtYHq7cv6pH9CFVv3a1u4VxfHJdV36vmOOtvhk9kGIKyh06c1EI7Pqa7zeXVWDOn06QH5Ppb93A5lXH0f9GlcIW3bv19bQuajPn3QZwYcfYW27tf+FvOD1b2KKlg1RP6qVfe9PzR11anLPawq+fzVsXMWAggggAACCCCAAAIIIIAAAvkmMKmrp69qUtXavn+7qlc4/MiNL3XhxqzKG3dpd2NwhWf5D/P6LW/Srt2btZoW4q2tbg4rGfTk16d19XZ6NitpN7eOiWj0ywsamS1X067d2ryKi+HWg39e5eXlmp2dlXzX+IF1M3lVp69OJhyz9jbpradU90J03Sh+f2R5nq7/6u3PqbVGct8Hatt0sK3WhqTm7d8eIHC7Xx9fmlBo6049Pdan6W3H1FlnAtknFapK4cHTOn09HA1C68e9MLVaDaFJ3Qp7AWnFgBea1mn71hldve7iVhesuqBVquvslPpM6Gr+7YLY9FdU0QWrKwlXk7cJcN+nOjd9cs5AAAEEEEAAAQQQQAABBBBAIB8FbuvKZ1d0WzVqPdCqGjOF21f02ZXb8ckEm7VnT6M0cl7nRyIJkww2tatuol/Dvo9rWg+otca16w73tW8/8n4e3KRNuqmbqz0/YTQ1am2VriSPvU26fH5Yroua6EGKzzCo5j171BhMGnNNq1p1Rf7mJO/Y8MqMgk17tKfJSyojN3R+JeNIbrumVQfMkO11ci8zjmbNnI9/FqzdqMjEXUX9zWX8zI69ZnONbo/6rqe91s2KnD+fcN2ic0tsc9n52jHZ1SJ58wrV1Oj2bdNhqw40R3T+/IzqmsIaHonIOUS8NRRzcWvNrDF7ncalYESR+MXSgdaQbtixblRt8K4mFF2PQecZrNXGyITuPszmgXUavY41E9E1/eCaMI3VqHVPhYZ918x5uPP8y89/rR+Yp/9Ab87lT5Vr9t6s95OgmlvrNH7FrdOHrLNlnbzrYe6uq5/pyoRU03ZAbTUBufGEtuzTvuawLn96WbdtFasJTSu0tbtbWyKX9NHFaMVqZ6BPX1wPq6ahQpNj8ipDXXVpSA3VYd3yVyfXd6pTfeob86YT2qb9+7covZpR174LVpOD0zp1Pt+pOsXHEa1Y9X+/U/rKVMD6qllX8Wu5KINV47Rc5ar7WXKYmur4VXhzCgIIIIAAAggggAACCCCAAAJ5KnBblz/t14Rq1X6oTTVy34fUsm+vgsOfqn9cCm3aLN0cVdget0WRc2c1GJaCG4OK3I1Ide061BzRubOD9pjGugndMOdt2ae9TSbIGVLlvr2KF7d6/ZSVSfPzaZ9/+4o3LtN+aEif9k9I2qANmtKUHjb2NinVuaEWbasY1IAdc7vqx/vt/DZskKamTPlbuw7Vjkf7CdWrKjymO4/oJzRyTmfDW3TIF0A6H2OdehyJbTeGL+vToUrf2HzzTRpHYzCiG+a6VLTrUKui1zXUon17G6MVwbcve05SVV1Id8bDSe4h1VeFNXbHu27ONbkfb0yxdiM3dO7stLa0S/39E6ptP6Q2l/F5fUbXQVARYzIU9tZFMD4mM05zvl0/5vrZb+w1qG3fp8oh8+9atds+wnZt1kxE23LXyPaxzJjdsfY6mqD23FlNbzmkLeGHtBG7J6LhcfTaLX8vuDm6XwRurvFfDNF1aa9p/0T83gm1qKViUIOmzDLUova6MfUPmXLNR62zZKe4++0rp3TZ3BK+VyBgju9SaPgTXTLrvKVbz1YO2SpVhbbq2W3T6r1oKlaf1U716YvBSKwCdMZfUerbHmD84gdemFqn5vpxDY+t9s/w41sChLbu0tO3LvjCUVeRulywKsXH8TjBbhyr6IPV5ULW5M/ZUzVP/7vPsBFAAAEEEEAAAQQQQAABBDIkMKH+T7xg9XC7apX0/US/3Xcx6AWrkWCLurqapOEzOjMUUfnGcs3enVVwS5e6mqWRM2c0GKlV++F2VXjH2IF658X/ytzrxwtW0z1/4vInNvCtbT+s9lo3ZhesJtIkj33GOzfhqGCLnqkc1LVYm9GfpuwnWK+qiAlWo/OsdUbWYMbzjJ4fHZ/XU2REZ84MyhkuN46urlpNWMfoecamJXzGzjdxzEnjMPmfNa/wAsgJBbd0qGHsotdWrVq2zGhwKKKquqDujEeSrltQ9VURG6wmuNpr9+CYuppdJa6Z17RavGDVhJeHt0R05swtNWyp0OCQGYexCXrjc/0GJc/Oro8O6aLPx62x2vYuVQ66dVWn8U/6NbOlXQ1j/XatuRD/UTaxvqJXJmGNunA2cT352w6qxc1lmXvBzTH1jem7rzynhHsnNGjvs7idWSfLrLNl+vevtduXo+Fp7Y4j2mHWn1t7qlWT+Z8eEwHV7jiqjroJXfrooiYqtunZrdP64uK4/bP8nfrKC1afV8PYB+qb3qbOhm/Udz2suu3bNHPV2/+0fpu2TQ9oIBwPVlP9CX5C8OkLZo2V2w5AsT1TkytSHxGsznj7q3pVsjNe2Ps4+6wWbbDqFm/yA63M56n2UV3u4VQ8tCpD/32mGQQQQAABBBBAAAEEEEAAgRwXmNCljy/ZitUdR3bYYDX6fUhbu7sUHPw4Wt22uVEavWGrUc1x6o9+Hq9Y3aEjLRGd6b2usKpUH7qjsbBpw6RlvTLbIsZCHivi9ROrWE3v/Amvf1N111U34fX7lJ7SPd0zsZkLlExXJlQy4wptVXdXk2a8c1W3Q0diqafJ+Ly5tuxQw9glO+annpLu3XPteWP2VRImGNVXKWxSSdNu3VisEtD0aSPIlYzDf4ylM57RMGzEbhzpH3PytfP1YY0T/UO+ecUrVk17il3zWMWqcQ1dj84hWKVg5I4ixs83puh6ifcZ2tGtDYPRa21fdTvUXTGo3sGwrY50war53lRIGhcTnsa+d20n/aw21m7i2nN97NAluxYfZuPWq1kX9ePuOnerQxdt/+46J66nRHfXz3L3gptjbG1795DdCcJdV3P/7JAuXYpXrNrznLW5vu4+Wm6duXvxAScvRDV3l7eWo+Gp+eBS9Fr61pKpTH224rr983+ZUHLblE73RYPVXYE+u/epDUnlfzBUnTr3b9CAfbBUSNs6n9Y3febfDw9Wl/slmLDHauxhU/7q1f3a79tjNeVWAC5Ylalo3aaw9zAsgtXH/E/Pw6pRqVR9TFxORwABBBBAAAEEEEAAAQQQKBCBCV00FWuqVcfRjmhQNnExGra4lwlwupulod5oCOZ7hVp2qmHsq3iYZqKbjqM2sEpoo65DR23pnHt5/YYa1agbuuFrNq3zE0ZTqw4TzvnHbsbzZ1sV/toLVrubFZKbs+9kOz55Ft7ndR12Hubp6HZMtW7MW9W9dcr+2XSiUa0men3Bog3WutXsNpoMD6vXBbwPGYfr07Wd0Ld/vnVNqh0fSbx2NkP7KPpEd2fu+k2wcuF3wtXU1u6tmuo16yF28e0cQoNem97H0THFzw3H1kZ8HcU+89ZPlCGs4QQj85l3TpKPW2+1Hd3acN24Jh0X8011PZNskg2S1nRtdOH45u3G1aBb9v5IdGrcLN0YTb4XutVtH1Gf4h7yu3n3hvufEiZY7XYBp7lmLeH4Okm1zvwBtO++9F+T2BpIGLd5oNOx+Dr2XWO7V+lMnz60WwFEK1ZjwWpdUtDZEvJVmfo6WC9pLr2HRj3wJ/y2OX94G28/XgmbXNHKVgBJlzlz366mIpVq1cz50xICCCCAAAIIIIAAAggggAACCBSHQOowzxfYFwdDTswy4D2YarnBpPr5o87JiYllaRBFvxVAsvNKw9KVHpel60g3CCCAAAIIIIAAAggggAACCCCAAAIIrFrgUYHpo36+6o7z+ESC1UdcPALUPF7dDB0BBBBAAAEEEEAAAQQQQAABBBBA4LEECFSX5yNYTXNpEbSmCcbhCCCAAAIIIIAAAggggAACCCCAAAI5L0CAmv4lIlhN34wzEEAAAQQQQAABBBBAAAEEEEAAAQQQQKDIBQhWi3wBMH0EEEAAAQQQQAABBBBAAAEEEEAAAQQQSF+AYDV9M85AAAEEEEAAAQQQQAABBBBAAAEEEEAAgSIXIFgt8gXA9BFAAAEEEEAAAQQQQAABBBBAAAEEEEAgfQGC1fTNOAMBBBBAAAEEEEAAAQQQQAABBBBAAAEEilyAYLXIFwDTRwABBBBAAAEEEEAAAQQQQAABBBBAAIH0BQhW0zfjDAQQQAABBBBAAAEEEEAAAQQQQAABBBAocgGC1SJfAEwfAQQQQAABBBBAAAEEEEAAAQQQQAABBNIXIFhN34wzEEAAAQQQQAABBBBAAAEEEEAAAQQQQKDIBQhWi3wBMH0EEEAAAQQQQAABBBBAAAEEEEAAAQQQSF+AYDV9M85AAAEEEEAAAQQQQAABBBBAAAEEEEAAgSIXIFgt8gXA9BFAAAEEEEAAAQQQQAABBBBAAAEEEEAgfQGC1fTNOAMBBBBAAAEEEEAAAQQQQAABBBBAAAEEilyAYLXIFwDTRwABBBBAAAEEEEAAAQQQQAABBBBAAIH0BQhW0zfjDAQQQAABBBBAAAEEEEAAAQQQQAABBBAocoH/DyXRwXFJaIHcAAAAAElFTkSuQmCC"/>
          <p:cNvSpPr>
            <a:spLocks noChangeAspect="1" noChangeArrowheads="1"/>
          </p:cNvSpPr>
          <p:nvPr/>
        </p:nvSpPr>
        <p:spPr bwMode="auto">
          <a:xfrm>
            <a:off x="1831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dirty="0"/>
          </a:p>
        </p:txBody>
      </p:sp>
    </p:spTree>
    <p:extLst>
      <p:ext uri="{BB962C8B-B14F-4D97-AF65-F5344CB8AC3E}">
        <p14:creationId xmlns:p14="http://schemas.microsoft.com/office/powerpoint/2010/main" val="15858172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452762" y="1029865"/>
            <a:ext cx="10919529" cy="1323439"/>
          </a:xfrm>
          <a:prstGeom prst="rect">
            <a:avLst/>
          </a:prstGeom>
          <a:noFill/>
        </p:spPr>
        <p:txBody>
          <a:bodyPr wrap="square" rtlCol="0">
            <a:spAutoFit/>
          </a:bodyPr>
          <a:lstStyle/>
          <a:p>
            <a:pPr algn="just"/>
            <a:r>
              <a:rPr lang="es-CO" sz="1600" dirty="0">
                <a:latin typeface="Calibri" panose="020F0502020204030204" pitchFamily="34" charset="0"/>
                <a:cs typeface="Calibri" panose="020F0502020204030204" pitchFamily="34" charset="0"/>
              </a:rPr>
              <a:t>Una vez que se hayan aprobado los requisitos de matrícula (en los casos en que apliquen) y se hayan cancelado los respectivos volantes de pago. Se visualizará la encuesta poblacional. </a:t>
            </a:r>
          </a:p>
          <a:p>
            <a:pPr algn="just"/>
            <a:endParaRPr lang="es-CO" sz="1600" dirty="0">
              <a:latin typeface="Calibri" panose="020F0502020204030204" pitchFamily="34" charset="0"/>
              <a:cs typeface="Calibri" panose="020F0502020204030204" pitchFamily="34" charset="0"/>
            </a:endParaRPr>
          </a:p>
          <a:p>
            <a:pPr algn="just"/>
            <a:r>
              <a:rPr lang="es-CO" sz="1600" dirty="0">
                <a:latin typeface="Calibri" panose="020F0502020204030204" pitchFamily="34" charset="0"/>
                <a:cs typeface="Calibri" panose="020F0502020204030204" pitchFamily="34" charset="0"/>
              </a:rPr>
              <a:t>Complete su información para el proceso de caracterización de la institución, en este formulario se le solicitará información adicional a su hoja de vida. </a:t>
            </a:r>
          </a:p>
        </p:txBody>
      </p:sp>
      <p:grpSp>
        <p:nvGrpSpPr>
          <p:cNvPr id="5" name="Grupo 4">
            <a:extLst>
              <a:ext uri="{FF2B5EF4-FFF2-40B4-BE49-F238E27FC236}">
                <a16:creationId xmlns:a16="http://schemas.microsoft.com/office/drawing/2014/main" id="{3647AB9C-9EA3-45FE-9F8A-36DEC840510D}"/>
              </a:ext>
            </a:extLst>
          </p:cNvPr>
          <p:cNvGrpSpPr/>
          <p:nvPr/>
        </p:nvGrpSpPr>
        <p:grpSpPr>
          <a:xfrm>
            <a:off x="2304734" y="2683962"/>
            <a:ext cx="7442948" cy="3663587"/>
            <a:chOff x="2304734" y="2683962"/>
            <a:chExt cx="7442948" cy="3663587"/>
          </a:xfrm>
        </p:grpSpPr>
        <p:pic>
          <p:nvPicPr>
            <p:cNvPr id="9"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2470" b="6060"/>
            <a:stretch/>
          </p:blipFill>
          <p:spPr bwMode="auto">
            <a:xfrm>
              <a:off x="2304734" y="2683962"/>
              <a:ext cx="7442948" cy="3663587"/>
            </a:xfrm>
            <a:prstGeom prst="rect">
              <a:avLst/>
            </a:prstGeom>
            <a:solidFill>
              <a:srgbClr val="FFFFFF">
                <a:shade val="85000"/>
              </a:srgbClr>
            </a:solidFill>
            <a:ln w="88900" cap="sq">
              <a:solidFill>
                <a:srgbClr val="FFFFFF"/>
              </a:solidFill>
              <a:miter lim="800000"/>
            </a:ln>
            <a:effectLst/>
          </p:spPr>
        </p:pic>
        <p:sp>
          <p:nvSpPr>
            <p:cNvPr id="13" name="12 Rectángulo redondeado"/>
            <p:cNvSpPr/>
            <p:nvPr/>
          </p:nvSpPr>
          <p:spPr>
            <a:xfrm>
              <a:off x="2943749" y="2888164"/>
              <a:ext cx="6304502" cy="3459385"/>
            </a:xfrm>
            <a:prstGeom prst="roundRect">
              <a:avLst>
                <a:gd name="adj" fmla="val 4018"/>
              </a:avLst>
            </a:prstGeom>
            <a:noFill/>
            <a:ln w="57150">
              <a:solidFill>
                <a:schemeClr val="accent6"/>
              </a:solidFill>
            </a:ln>
            <a:effectLst>
              <a:outerShdw blurRad="50800" dist="381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s-CO" dirty="0"/>
            </a:p>
          </p:txBody>
        </p:sp>
      </p:grpSp>
      <p:sp>
        <p:nvSpPr>
          <p:cNvPr id="4" name="AutoShape 2" descr="data:image/png;base64,iVBORw0KGgoAAAANSUhEUgAABVYAAAKlCAYAAAAgmLcrAAAgAElEQVR4XuzdCZxU5Z3/+293082+KNgiItiCggtIEDCh1TGoacAENK4R1IAkV02ukMxEM3+Xf66YeydmJgHvxDgJQqJoFDUGjAqJQaM2UUEF3FhEdsJiK8jeLP1//U7VqT516tTWXdVdXfWpefXQdJ3znOd5P0+1M19+5zlFP/nJT+rECwEEEEAAAQQQQAABBBBAAAEEEEAAAQQQQCBlgSKC1ZStOBABBBBAAAEEEEAAAQQQQAABBBBAAAEEEHAECFZZCAgggAACCCCAAAIIIIAAAggggAACCCCAQJoCBKtpgnE4AggggAACCCCAAAIIIIAAAggggAACCCBAsMoaQAABBBBAAAEEEEAAAQQQQAABBBBAAAEE0hQgWE0TjMMRQAABBBBAAAEEEEAAAQQQQAABBBBAAAGCVdYAAggggAACCCCAAAIIIIAAAggggAACCCCQpgDBappgHI4AAggggAACmRfYuHGjOnfurE6dOmW+cVpEAAEEEEAAAQQQQAABBLIgQLCaBVSaRAABBFqiwNtvv61zzjmnJXadPrdwgQ8++EBLlizRtddeq9atW7fw0dB9BBBAAAEEEEAAAQQQKBQBgtVCmWnGiQACCCQRIFhliTSXwMcff6yTTjqJULW5JoDrIoAAAggggAACCCCAQIMECFYbxMZJCCCAQP4JpBus2q3bCxcu1NatWx2M/v37a+TIkZFw7Mknn9Q111zjvHfw4EH94x//0LJly3TgwAEdc8wxqqys1JlnnimrVnz//fcDQc866yyVl5c71wl6Wfs7duxw3j/11FM1ePDgqMMWLFignTt3Rvrhvml9Oe6449S3b9/Adt02vW/26tXLad+tqIzX7+OPP14XXnhhTLuvvPKKM167rp27adMmVVVVRR3nPca+37ZtW0w7rqm9YeN477339PnnnzumAwYM0Fe+8pXIOUFtWP/sGHccNk9dunSJ6cs777yj1atXa8SIEU6fU7Fz3datW6c2bdro7LPPjrLwjs/as+MXLVqkFStWRNbQ8OHDI9dz27vsssuiQlfzs5d58kIAAQQQQAABBBBAAAEEmkuAYLW55LkuAgggkGMC6QSrFpT+/ve/16hRo5xKQzc4tSDQDf5+9rOf6Y477nBGaQHgF1984YRsFuhZKPviiy8659u+mrt27XKO+/DDD50/zzjjDOdP9z0LTi3g87/s2tbWH//4R7Vt21bf/e53I4fY9WbNmuUEuW4/7E3r6xNPPOEcd+ONNwbOghsae69pQaOFtO7t6u6Y3L66DVmg6A0i3Z9bgGmhofXZzn311Vd1ySWXRIXB3mPsewuL/W3Z+faykHL9+vW6/PLLnX1JbbzPPvusevfuHQkzg9qwcZiJd56szxMmTIja3/Q3v/mN9u/fr29+85tOn5PZWQhq1zczC6zd/px22mmRsNc7Pnd+zj///IiB9e21116L9MXm4fHHH3dC+7Fjx0bmyvzs5Q2Rc+zjRHcQQAABBBBAAAEEEECgAAQIVgtgkhkiAgggkIpAOsGqBV5WaeitnrRrWODlhl3eYNUbqLl9sTbs5YZ27vn+wCzetbztWF8snLWQ0Q0iLaSzsG/p0qVRwar93MJdqxi1CtSgEDTeNefOneuEhlYpmW645w9WLVi0YNSCWveBTf5g1Q1i/fNn51o4bMGwd09SC40feuihSDAZ5G5teefGvh80aJDj4Fb8uiGpBdvePiSy89q4/bV+vvzyy5FQ1Nsfqyb2XtM9xw2srZrXnQcLgq3C2a0wTtc+lfXPMQgggAACCCCAAAIIIIBAugIEq+mKcTwCCCCQpwLpBKtugGeVhH369AncH9NfsWq3rA8ZMsQ5NijMbGyware4W0DphoMW9FkA+swzz0QFq1aJaYGkhXZr1qyJuQXe+hEvWLW9QO02dKueTDfc8werdh23etetxkw1WHVDY/9WAtamN7AMClbtXHtQlFvda/N0xRVXRMZlbdgxFopaBbI3WE1kN336dN18880J90n19seO91fJ2rXdStbJkydH5sGqYK0a1g2S07XP048sw0IAAQQQQAABBBBAAIFmFiBYbeYJ4PLJBRatWazte2qSHxg+4vw+w9S1w7Fxj6/Z85leW/NWyu2Vd+iq4X2Gpnw8ByLQUgXSCVZtjO7+mLafplUUWsjq3R/TG6y6oemqVaucPVmD9gN1j7E/vbd4u7eD+11PPvlkp2LWDUEtfHvhhRec8M0Nfi2c8/bDjrXtBtxA0g0K/U+ijxesen/u3s7v79cFF1wQeIt6ULBq47Sfn3POOU41pj9YNVvv67rrrotsJeB3co/zho7Wnr8Nc/Pum+r6eINR2+Zh9OjRzt61brCazM4/30GfA+/4Eh3vvuf3tnm17SQIVlvqbxn6jQACCCCAAAIIIIBAfgkQrObXfOblaP60bL4s3EwlXG1TWqazTzxDJ3TuHtfin7u2atnmD3XgUG1SL/e6l509MumxHIBASxdIN1j1jtdCVqvktIdTuVWL8YIzC8es8tOqJr37byYKVoO2HXCv7w3fLCi1W+vtZ+7Dobz9sGpOu/3ebnG3l4W8F198ccxDkBJVrJqTBbrphnvxglXvbf1/+tOfIkFmvNv44zm5Hrb3qgXFbmjrBqPu7f3e7RLsHNfHbHr27OkEt7bNgFW0+m/dT2SXqWDV1se0adOcKmP/PFjga6GwzW28YLmlfw7pPwIIIIAAAggggAACCLQcAYLVljNXBdtTC1bt9d6uLUkNBnTuoXNPHpQ0WH1z3dKU27OLEqwmpeeAPBBIJ1i1UNGtHvQOPV5FooVuU6ZMibpNPCi8DAorU91j1cJOCxVtOwA7x7YBsCpQN/Bzq1jtYUzuy0JNC3j9D7GKd03vbfaZClbdoHT79u1O5a8bhCYKVt2Q1PuwLndMFi674am/DQu0q6urIw/g8gar7jYHFqy6Dxpzzy8vL3f2bk1k52694O6D6vbHwlD3AVve/gTtyWrnWEBvfbHtEfzz4D70zAJ5NzzOg48eQ0AAAQQQQAABBBBAAIEWKkCw2kInrpC6bcFq57YdtG3PZ1q959PAoZ/UpqO6tO7ovJdKsLpg5WvaeGC3jmnVWp8fPhjTprVn77vtphqs2jYDtUeiK2Hd6lnve2UlZXG3K/Ae16F1B3Vs0yHSv9rDtarZ+1nk713bH6uyVmUx/d99YI/2HNwT9fOGHJvq9YLG7V480ViD+mltdWjTQR1bd0i4pYN3cNbO+poNOng4ZG9bQZzctVfcj4l/XM45cSyDjrXrWD97dAlVRieqkI7XCTt/Xc0GndN7UMofZ6u29r+27NzqrBH7ijeGVC+QTrDq7oNpt6a7+6Va2GdPcA+qWLVA0l7ePUHtZxaO2a3d7quxwar1wbYD2Llzp2wbAHu5waq7b6j3eva+e9u7d9/XoGDVfWK9O75MBqtuP6zfFl5auJkoWLXj7f0uXbrEmFob7kPFgtqwQNOC0qCHjNl2ANambQNgHu755uqGrd715LVzQ1s3RLXjzGjDhg2B/THjP/7xjwpaQ65B0DxYeG6V0cOGDQvcciHV9c5xCCCAAAIIIIAAAggggEBjBQhWGyvI+VkXcEO7v695S58e2B0YhFpA+rU+56YULrlB2YptH2vX/j2BlaunduimNiVlGtTzjLQCvlXbPtai9e9GQtuvnHhmJDiz997Z/KEzBuvracf3DbSz4/6y5k1nnBbsXjd4bCQ8tQCx+pO3tPjTdbroxAEacOLpUcGr26C73YEdZ69kx5qtG1qf1/00Dek1yGnXrrdkw1K9vnWVhnY7WZWnDAu8njs2a8Pmomf7rs51dx7c7QTe8YJp66e3etgqjg8cqY30ZXTvwUmDR7v2kytflc3ZqV17aePOrc6cXt7nyzrrxDMCjb2OdkCisXkN7Fh3bdj3m/bWOPNkY/56v/MThrn+jsz/cKEzj5POHp1yMPv2+qX6x+YPImvD/ccEc7Z/CHDnuqF7AqcTrNq1rLLwpZdecoK4Nm3axNxW77013KpF7TZ3u/W+e/fu2rVrl3M7/mWXXRZVxRovWLXANuhloZy9vFsFWMVm7969I4Gj2w9vJae3raAHQQXt6+rfQzbeHqvWtt3G7n/F2wrAPc7Cy5kzZzpBYyrBqmvqWgaZBgWrbuWu++CooK0S3EpY9/wXX3wxUgWbyM41sX1crT8WnLshrZ3n74+7hmxN2Mu/NUNQsGr9t0B3wIABBKtZ/y8wF0AAAQQQQAABBBBAAIFEAgSrrI8WI2Ch0gvr34nb37svmJjWWPyhnvfkVLYUiHcxt5/Whj9QtPcs+EtWAWtVuu7WBxb6jTxjRORyFvRNe2uOko3Xxjdj2QvOecmOddu0Y/2BpBv0fnfYVYHVsW7HgsZtfbAA+6unnRd3boL66YaOQYbehiwk/9mi2U4A/e1hV0XesvNT2WvX9Ukl3Jz66kynfe+xdv2Fq153AlILV28cPDYwePYP3uvtn99ki9hdG/7Q+f3NH+rZNW84p1/T74K4wX2i9tMNVt22LPyyl1VB+h8C5b+eVT1a4GZBrLdCNNm4eT++gGtqQbVtg9DcLws+bVuDdObYXUMWKPNCAAEEEEAAAQQQQAABBFqKAMFqS5kp+qlCC1bdakiben+IZiFfsrA0nWDVruGGmf6Q0n14WLIqyESBcqLlG9RPt61koaN7rlWRXjt4TOQy9nP/NgpBfQgKS+P1Nd6xbrgbNE/x2vJWntoxU4ZdnVIga8fGC1a97/k9Uv310dBgNdX2OQ4BBBBAAAEEEEAAAQQQQACBfBIgWM2n2czzsRRasHpSl+7asfczpxrSXt4qxGwEq7bf56MfvORcy63KdCsrUwn+goLVhvTTgsrH35nr3NqerJLUtol48J0/OX226lYzs31PU91rNBPBqjfQTFZh635Ef/fWU7qwz7n688rXnNv6bauGZMG1e26iYNX7GUkWvAf9uiBYzfNfogwPAQQQQAABBBBAAAEEEEAgowIEqxnlpLFsChRisDrgxDP0x+XznT1H7Vbzbw0c5TyYqSGBZSpzY4GfBZq2z6rdvm/mFu56tyKI1068+UkW8HkrVi1gfGfbKucSqd5W/8Q78wIfapbK7fDNEaxagG2B6veHj9OiNYv1t83vOXObbKsFgtVUVjDHIIAAAggggAACCCCAAAIIINB0AgSrTWfNlVIQsP08P6nZoJ0H9jgPefKGaw0NVq0C0h74ZE9y9waEub7HqlVf2hPjrSrzD8tfjDwkyUwyvceqOzXefTrvGD7eqRy1ysqTu/ZKOnv+ilX3Fvl0gtVbB18WqUBN9PApf2csrDQn98FV9r6FlRZeJnplOlhNpfLUtlywl+0BaxXB9uAte6USBNtxqVSs+rdzSDp54QMKrWLVHhZ14MAB50FRvBBAAAEEEEAAAQRyVGDvCr342KvaqIEa+90v6/gc7Wbju7VNb/xmrpafPVbfPTd/R9l4J1pAILcECFaTzEddXV1uzVge98ZCpvc2f6TdB/dEHgZ0w+Axkb0nLbh7cf27cQXuumBCzHsWtj2xfL4TStprVO8vObeKn9C5uyxYfWvdsshDorwn2y3dw04+O+WntXvPdftpbYw9uyqqT/bepp3bYn7u7/jcZQvUs8vxTrBqL+vrw8tedL63/TOtgjVovN52vOckO9Y9z8LQ+xc95vzV+m9Pm79x2JUprbqgcVsfzDrRy99Ptx0LRr3zH9SG9ddC1dOO7xt52+b81+/Mdf6ebNz3vTrLOe6ms0cl7We8Y71mydqxNT79raccW/dlxlYlbGFoKta2NuzBZraW3fXhtuW+V9n91IQPDIs3H4UUrNoDnx566CFdfPHFGjx4cEprnIMQQAABBBBAAIG8F9i7QvMff032aNKTLhinkf3aBQx5n1bMf0yvOQedr3Ej+yvoqERW2978reYtH6Ax30kelKZzbPrzs01v/Hae3hs4Rt9p9jAzl/qSvmRLPWPfyvl67FXp/OtGqn/7ljqK7Pe7qKgo+xdpoVcgWPVNXKIglZA186vcgqbV29fo/W2rtfHAHp3UpoN6dTlBJ3burt7HnhT1FPp3NixLGKzeef63ozpobb/w0cs6ePig07b7OqvzCRo7sEpbd23Tm+uX6v1d/4wZmB1zbu9B6t45/X8pdPt5TKsyTRp6ZdQY5i5f4OwDOrjX2Qkxg44zpzkrX4uc5x+vv0Eb38PLQ2FssmO9576yulrVW1c7P7LwLllf3XPdcbu+7s9tLOefMlTHdjg2cMz+flpQ+cS785w587cVNEabQ5tP92Xz/sDip521dMPQ+KHwZxbAvjvPOe2mgaOSzvVPX/td4LGu15BuvVV1+lcTzqsZra7ZoGu+9I3Icd55TaUf5mlr1j83bjtB6y7VT+4777xTMCHjG2+8IQtXv/a1r6XKw3EIIIAAAggggED+C+xdqfl/eE2bbKQ9z9d1I/vFhqapHJNEavtbM0LB6qRzVZ7oWOdaa1XxrZHql5XQa7venBEKVicNS9iT/J/7Ah3hvlXz9bgFq1lbY0GwoXX3+QXXaeRp/n+WCK/JoNP869T7WXSO7xk8jpSOS3xd9x8eogPWUJX15/8yXqMC/xHGHUSi48KV2kHj9VdvR6rX3YNP0gXjRjV7IE6wGp4Pf2iaLERN9n6B/k5Kedh7Du7V2xuWqXrbKg3perIqup7kVAx2aB3/v5YWSs3fEL9i9X+dFx2s2jVatyrTH96dp00HdjvXWVKzzrlFvE/nEzTwxNOditX3v9gS0++zOoUqVrt3Sj9Ytes+sPip0K+1Nh11VnmomvLjmo2qObhb139pTMJx2vkvfPiyju9wrIafMlSlJaWR/v199SLHzF7+8XoHcejIIb23+cOI17gzLnKC6lRen+39XA+9G6r4vG3oVQn76m3vjU/e1sIt76lv+266oM9QZ+sFqx59c8uHuuXL3wq8tL+fEy3g7HS81n+2UY99+DfnnJG94oe7W7/YppnLX3SOcatWF32y2JnnRGO269q2E3M/edO5xthTznXO91p7O+ydUzvW9rm1APejrWuc9WNr66unVcY939oy1z9/tFC9O5+gfzl1eKR5b9u27kad+dWE7cx598/6eO+nqjz+NPU7vo/jvK5mo7MubL19/fQROrb9MalMdcwxjQlWN23apDZt2qhbt24Jr/3pp59qzZo1zjEdO3ZU3759VVZWFvecRO3u3r1bu3btijm3vLw8sE1rK9HLPc9tN9F43Lbcc2pra7V9+3YFXdve+/jjj2Xt2qtPnz4JnfxGtlWBWTX05fatc+fOge3Y9WxLBP+rZ8+eMT9riI01Yl7e67vXDLqG3zKRra0la8tetvbMyl1P8daHd1Bun+IZJFvT7jX8855srVkfbOz+sfmd/BMQzyLTa6aha43zEEAAAQTyQGDfSi14/DXppJO0caNV8VXJn5fsX7XAqfA76aSN2qjzNa6qn9qmOfTti2do3rKBGjNpWOJgdd9+7W/XNu32U+/Odr01Y56Wnz1Gk4YSrKbulj9Huus5aK1nbZTb3tKM55Y7VeFVp/k+PeHPoBWEx7w86zTU741RbYQ+V9LAb0zSsHCUkepxCl93U1BlakBFtxOwbn1Dv5m3XCclC1YTHRcTlnpG7QlW9618UbP/vjHqWtve/I3m2njHfFdfTnyjbNam0homWJXkDUnjfe/OAoFq49ejBUxPvrdAfTp31/CKoerQJrV/enx3w/KEweq/n3djTOfsWv/z7jyn8rFP15M095O31KVVa+08fFATBo7U4vXL4lasDu3dsGDVOmGB3/LNH2nNrq3Otex1TtfeGtLr7KShlwWUO/bWOOf0P76PTi3vEzUue3/1Z+t1/ZBvxp0Mq15csS0UXrmvSqsaTTFwswC3dUlrffmUc1KacHOu/mRx3GO/MSC4KjBRP60PX4QrjeP1fc+BvXp74zJ9aPvyhp37duimYb0GJgySg/qbyMc7J95BHte+q07u1jOlAP659/4SOdU7r96f2wHWZjz3IC87p1ObDurR+fiYtZLS5HkOevfdd/WlL30p3dOcoPRPf/qTc973v/99tW7dOqaNgwcP6rnnntP69et1/PHHOyHs1q1bneNGjBihM844I+acZO2++eabev311wP727t3b33jG9+I6st//dd/JRzbNddc44Rd3naDxuPtl3uOBWJPPvmk3L+7F/rwww+1cGFoX93u3bs7Aea2bdsU1L8gIwuOd+7cqaFDh+qCCy5Ie27shFdffVWLFy923MePHx/TxtNPP+3MS9DLf92G2Fi7Zn/eeefp3HPPdS7jXvOyyy5zgmbvy28ZZGtB4ty5cx0bs7SXu56uvfZaJ2RNtD7c67l9SmRg69n6GRQCz54925lPv1OytWbX/9d//VcncPauG2vPXkHz5J1Ld11ma800aKFxEgIIIIBAfghYuPKH16Xzz9Mxr72uz8+/zhf87NfKBY/r9WPP03mfva7XdZ6u8wWrFuQ8/lr0P2gP+PpN4aBnu956+Dm959HqadfoucG57jFfv0knb3hYzy23gtnQtUPtSed9yxvyxrZTfw3JCYnC7bkBk3vJ7Ysf1nOfuf0OtzPwG7rJE6wmHkOcqY5c8zp1Xvq4XncJevqNQtc02wv0asjKub5CNm5fPGNwTUJXHqBv3DRM5eH3I9K+MYSO9TuFz40MIV5fgkNmx265d/z+9iLKvnlO4brOqT3D8+zrd4yhHRteixEA99z6/sXOo/cY//mKmofY+XFNkl834S+DbW/p4T+HPgHuGo863nlfoTmO21Dwuo2YRD6XqR4nyXPd4wPCVW+lqhuq/va50DgSBqvhUDXucc77SrJ/crz9h/dpxYuz9aou0PhR6W9Jkqlf2gUfrLpBaVCgmihkJWBt+BJ87O1ntenAHl1xaqXTyNrPNmr73s+cn1X1OluDThro/NxuCX9q2fMad87lzt+tsm/Pwfpb+v09CKouffXjf+ijmg0adWqlXlxdrYsqhmrplhVqU1KqC08b7mwH4La5Y+/nToVrp9bt1aF1B+fW8EQVtA0X4EwEclNg6dKlGjQotK9vOq+XXnpJFvBYOPfVr35Vp59+etTpVmVnwZW9LOx0qy/t5xb6vffee7r++utjqjiTtfvWW2+purpaP/jBD6Ku98knn+jvf/+7E6peeeWVkQrGX/7yl6qsrNSwYcMSDs9t184PGo/1a9WqVc6Yr776ap144onavHmz5syZE/m7XeCjjz7S/PnznTa8rnashYIWCF566aWRvjz++ONOUDh27FinTfdl8/Lyyy9ryJAhOv/889OZGufYWbNmOZWc5jxp0qSYqtVnnnnGOe6KK66ItG1zY6HwokWLdNpppzl70dqrITZ2nt/errlhwwZnjqxP3qplv2WQrZ1vWzmMGzcucq712cJ7CzpvvfXWGKegcboHxXvPKlKtTZsXf5v23owZMzRgwABt3LhREybE7vNt7Qf1372u/z13zQTNk3cu3fnI1ppJe5FxAgIIIIBA/gjsW6W/PlktnXetzt71hJ7/vFLXXnJafcVo+P0uo69V5+VPqFrR7+9f/Vc98bpUec0litzhvG2xZr3wvnqed60uOTVUnbd9ySw9/95ZunTC0FB4FG7XMjLvcfZWTJvusQMu1YQhoegpdMwmnTV6goZapV6kn+G/e2bIuXZkXNu1eNbzej+mreRjiJl0zxgi/dB+rfrrE6re5Bmrwte0BjzXtRA0qi+BJm57drKnzQBj18DmMq573L74Rxe+rm++Y+bRM5cNuW6oPWukZ/0aCpjvGKuAdRLUt6D1GfuzePPjrNzU1kvQbwTPfLpv+9e683Oby+Wdoz93/vY8n1N3bt1DQuMO+6n+85zwONuNYPtizVrWWdd+rX77j5gw1aoz99n2HK+HtgsJv6zydpR/g9qAStTAANaC1Xe7JA5Gw20poDI2VLXavFsCFHSw6g9VvX9P9F7+/FezeUby2zef0s4joSpOe53SvqvOOK5CB48c0uZd23TpWaH/B/6jLSucP4/pcIxWb1+rjk7g2V59y0/RZ3s+d957Z9N7urj/BU6FaIey9urQpkOkXfvZo+//VZecdLY+3L5GJ3XurlPLK5yfXX/WJVFVhq99/Ibe2P6xzujUPXL95tFp+qsu3fie475l7+e64syLdWyHht1G3vQ9b7orvrn2HX269zPH6MZzxkbtm9t0vcj+lRoSrFq4+Otf/1pVVVXasmWLczv8t74VvfXDsmXLnGDwpptuign17HwL/s466yynotF9pdKuhXwW/E2ZMiUGxyoarfpv+PDhkSB12rRpUX+PJ+q2a4GZ9WP06NFRh9pDr0499VQnqLzqqqsiwepTTz0V+bud4B530UUXxVzKvcYtt9zihIsWqC1YsMCpVAzaTsE9Psgw0cqwkHnevHmOvYWHtvWC19nO/eMf/+g08c1vxlbBu3PnjrMhNta2396uacGoVfD26tUrytjCRq+l/+9B7bkGdqxVqlp1r98x0TgTvecaugbutaxa2rZ4sED64Ycf1pgxY3TKKafETEdQ/7399Y413ufBjvf3I1trJvu/abgCAggggEBOC+xdpb8+tUiqvFqXdPpAv3txp4ZfdYlOc28y3LZYv3tRGv3tM7Xzr3O0SMN19SWnhfdh3adV9rNjRuvb4cAzNNbwzz3Hbl/yO73w/pka/e1wsBq+7uaz/OdK+1b/VXOqFelHzLlB1wi312XUt0NBq+flnP+52+/tWvy7F/RB5LqpjyFmHt0xnOg1keQ1PdVJsELX9B/n/tztS5z2Qh6bdWbU2OIYR8YZ7m3KffGNLp5nTHsWmnt9k1xXnjVghzrr6wOdaOvPsQq9/HMeMuhSv35CR3nmUs73O33tRB8TCuX96yv+/LjHJrpuittJBLi5Y3X6s+tsjdYLeuH9+nmImu8E54esTgx9XixYdSmW1f0AACAASURBVD/PHs96054afvXFzj+C7F/9kp784mxdquf1wvv1D6qyfyQY1j30dwta3bDV+TO8d2tRULDqXUIJglHnFv+dgzVWc53b+t1X1O39BKsxv25y4gfxQlT7ufu1d+9e7d+/X4cOHYr8LCc638I7Yftu2le71m11bLtjnT/ttenzzVr/2Rad1aOf3tn0gTbv36V+nbpr5Reh24XdV0X7rlq7t0YdSkrVuaydc5x9v+fIIY0fONI57NDhQ3p+5avO+x1K26r2yCFV9hmqBSv+rg6l7ZxrlBaXOtdeuul9vf/ZJp3YtrNO7Hic87Oex9RXiyXituts3rlZtYcPq6Jbb5W2qt8PtSVMk5m/svE9HVfWVl/u/SV1btupJXS7Sfu4auvHemv7x876OLfXoMh6bdJONNHFrArTqhPTea1evdoJGC2Us6o+q9AcOXKkunTpEmnmL3/5i1NVeOGFF6bcdCrtWkXl8uXLZbd+B70sdN2zZ0/kAVVPPPGEBg4cGLjtgPd8t12rDn3ttdecsbkVle4Y3fdsGwPbX9MCZbvl3/27hWl2rvv3ZAN/5ZVXnEPiGVk1poV/qfTfey0zsJcFzF5T7zHJrm3XtcDQqm4bYmPX8tu717TK3LffftupxHWrdP2W/r9be88//3zEq3371LaTSTTORO+tW7dO9rAz/7o2FwvfLWT3OvvnOqj/7jFB7y1ZssSpuvVWM9vx/p8nm7eGrplka5X3EUAAAQTyXODABr31t/ekgRdp2En79dHzi6SvXKrTw8+h/XzF806Yemn/ttrw1t/0ngboomG91CYhy4GYY5121pyi4ZeeLqesI+q60a0d2PiW/rZcGnDRMPVq87nTp0/6WB8SFISE2+vo6bvbRefaX7j9TrE9xY4hZshxx+C/Rrxr+n4ep71oj/pepDYu/zhSHH+4LzuOSzbf8dpL8bqffaTn//GJTvHNW2jMHcPrJf5c1K+r7tpq60SeNRZnjcZ6pjoGn713PSf7NZFgvYfGIB3nfAZDn4VQH3d4fpakjzuOS/J5CRtGjpPc65affZGG9mzjBKgHN72ll5bt0IlfvlyjB3SLBKuRgNXdOsSC1fBmzNEPtwpDJA1Go7cTiN1PNclWABupWE225DL+frJQ1YLUzz//XGeeeaZThWX/D2XQnoEZ7xgNIoAAAggggAACCCCAAAIIIIAAAggg0MwCdjfVymX/0M+mz9GO4kMadMIxKi0trQ9Y963Sgj+8Jv2LBauhYof0gtXwHqnHjtV3z40uLfff4p/o4VUSwWqTLpWgW/ztZ0ePHo1Upe7YscO5LTHotsgm7SwXQwABBBBAAAEEEEAAAQQQQAABBBBAoBkF/mf2M1r8yos67rjjIsFq8f7V+ottqnzBOI3s1y56mwBvXxNUrMYdUvihV1FbAngehGXn2Z6t/6K/a/bfj0ny8KvswhXUHqvJQlULV+1hFPaE4h/+8IfZlad1BBBAAAEEEEAAAQQQQAABBBBAAAEEWoDAL37xC61Zs8Z5bkZxcbGK9q92HnZXdMF1GumpWI2pWo0XrAaFp65DovciVuGKV12Q+OFXWbYt2GDVu5eqBarulz3wxEJVe5AKLwQQQAABBBBAAAEEEEAAAQQQQAABBApdwJ5vYQ+ltYfEWrBafOBjvTRnkXS+BauhitWoh1u5YHErVuPtnSqFtgIYGK5EjXNcQyphszCJBResulWr3lv/7fsjR4444eo///lP5+m+bdok3n47C3NBkwgggAACCCCAAAIIIIAAAggggAACCOScgD3cfdKkSTrhhBOcYLXkwBq99PQ/VHT+t5yKVW+oGlW1miAADdo71f2ZdxsA/56rUm5Uq9okFUyw6n9glbuvqrda1cJVC1b/8Ic/5NwCpkMIIIAAAggggAACCCCAAAIIIIAAAgg0l8C1116rHj16hILVg59oYThYrQoHq4FVq8kqS317p8Z7GJUbuEbGfnbsQ6+aw6WgglVvuOoNVN2K1cOHD2vr1q168sknm2MuuCYCCCCAAAIIIIAAAggggAACCCCAAAI5KXDNNdeoe/fuatWqlUpKSkJbAni+4m4HkJOjyUynCi5Y9e6t6t7+b3/alwWrVrH69NNPZ0aXVhBAAAEEEEAAAQQQQAABBBBAAAEEEMgDgSuvvNLZCsANVi1cdQNWN1QttHC1YINVt2LVG6q6FavPPPNMHix3hoAAAggggAACCCCAAAIIIIAAAggggEBmBK644opIxao3XHWrVr3hql0xaq/VzHQh51opiGDVv7+qf19Vt1r10KFDzlYAzz77bM5NFB1CAAEEEEAAAQQQQAABBBBAAAEEEECguQQuv/zySMVqsqpVgtXmmqUsXDdesOpWq9qfFqq6WwHMnTs3C72gSQQQQAABBBBAAAEEEEAAAQQQQAABBFqmwNixY51gtbS0NLIdgAWs/n1W3VCVitWWOc9RvfaGqvaGVavaz7wPrPIGq1axSrCaBxPPEBBAAAEEEEAAAQQQQAABBBBAAAEEMiZgwao9vMoNVuNtB0CwmjHy5m/IX63qhqpusOpuA2DVqu5WAPPmzWv+jtMDBBBAAAEEEEAAAQQQQAABBBBAAAEEckRgzJgxMcGqW7FqD7GyClWrXiVYzZEJy0Q3kgWrFqi6X26w+txzz2Xi0rSBAAIIIIAAAggggAACCCCAAAIIIIBAXgh84xvfiASr3u0ALFQNeoAVWwHkwbSnG6z+85//1J///Oc8GDlDQAABBBBAAAEEEEAAAQQQQAABBBBAIDMCX//616P2WLVqVXc7AILVzBjnXCupBqtWrepWrBKs5tw00iEEEEAAAQQQQAABBBBAAAEEEEAAgWYUsGDV3WPVv88qwWozTkw2Lx0vWLW9Vd0vd39VgtVszgRtI4AAAggggAACCCCAAAIIIIAAAgi0VIFLL700UrFKsBqaxaKf/OQndS11QlPpdyrBqgWqbrhqWwE8//zzqTTNMQgggAACCCCAAAIIIIAAAggggAACCBSEAMFq7DQTrB454mwBQLBaEL8DGCQCCCCAAAIIIIAAAggggAACCCCAQAMECFYJVmUVrEePHo1sA2DbAbjBam1trbZu3UrFagM+XJyCAAIIIIAAAggggAACCCCAAAIIIJC/AgSrBKsEq/n7+Y6MrGbeZFXdK939wnSNLc/sgBO3vVzThkzUbI3XzCVTNDCzl6Y1BBBAAAEEEEAAAQQQQAABBBBAoNkECFYJVpskWF3+wBBNfETSDTO15LaAeG3pNA2ZNFvjZyzRlEHN9nlo5IXDIWK8MTay9cac3lzBamjeCVUbM3eciwACCCCAAAIIIIAAAggggAACuSlAsEqw2rTBqhQcnhKs5uZviMb0avtcTR69UCOyUCXbmG5xLgIIIIAAAggggAACCCCAAAIIIJAJAYJVgtUmD1YVdFs4wWomPs+51cb2GtWUd1XX3OoVvUEAAQQQQAABBBBAAAEEEEAAAQQyIkCwSrDahMHqeM2cIU2cNFuV9yzQ9DGeyC0gWHVuI//4bi14YGx0OOdUQk5VhW/bgNDt7tWRGfVew30vaKuB2Nvk3X1BPYtjeEA/YtZO7FYA9WOo0KPOXqPuy3d7fHhM9b1XrJEk/xjl61fkendJ946equpwiH2ib4/VyHET16pqkqdXAVsxJLtmvG0Gos+rjNnfNWWbjPyqoxEEEEAAAQQQQAABBBBAAAEEEEAgswIEqwSrTRusLpkiOftu+oK2RgarMXt5hoNKuQGuG1zG7H9ao7m3VWmq3OA0aJ/U8DGLku0VGi9YrVTlogrdFHl4k6+9oGpdf/8lhcbodQtfzxOuRvay9VUF+8PPyHHeYDbcD28gnco1g4JV/3lBwXYoWE1ik9nfd7SGAAIIIIAAAggggAACCCCAAAIIZEyAYJVgtcmD1YFBIWdjgtU4FazRYWuccNQfYDr9WBtTXamUtiqIE6w+ErCvrKe9Ea8GV+ZG9T8gaHWWrq9fsUFoaIHHC1b9FbwNuWZMsBrYV3+A7QbFiW1a7oPMMvY7moYQQAABBBBAAAEEEEAAAQQQQCBHBQhWCVabPlj13NIeCfYaEazGfeK9v82Aa4TOrdDMSDVpnE9qo4LVgEpXTxjsBKtB4aunK3HH6OtuTOVu+P3gYDW2X97jznvDbBQbMvuu6W878dYA9e3F66viBOU5+juUbiGAAAIIIIAAAggggAACCCCAQIEKEKwSrDZLsCr5bmNvRLBaf/t78Ke4virTX1EarqLsO1NLbhsYdXK8NoP2aK0/MdEeqwn2ie0R2jPWu7+q/wFfcUPIoGA1YF/aVINVbwVsKPBNtv1BvGrYgPOCqmvT2EO3QH9HM2wEEEAAAQQQQAABBBBAAAEEEMhRAYJVgtVmClbrb2N39vTs9aiGTJotb3CZ6sOrUg0dbaqj2gyqjAyHf6Fl4dnPNKUqygYGq4PqF2G8B0VtdvZXTR5yxjMLDFaDQk3/FgUpXLMhoa3d4p/q/Obo7066hQACCCCAAAIIIIAAAggggAACBS5AsEqw2nzBqveBTPdUaOq9KQarvsrHVG+Td6bas4dq6FZ37zYAsfuARpZHEwWr3uXofeDT9Rvi3JafYhVoquFnSlsBJPFPaysAKlYL/D9BDB8BBBBAAAEEEEAAAQQQQACBlitAsEqw2qzBqrufpnsbfEzFakDFpHubvn9/Vu/T7G1ag/dPDVWVrr1npka8NFFTo7YBiK04dZdH0FPtY5dOQypWZ0qTJmr2DbHbEUTtNRreLqBixhJ5H+jkr9ZNq2L1EU9FbngwSSt6I2F4ffVsox5eRbDacv/rQc8RQAABBBBAAAEEEEAAAQQQKHABglWC1eYNVj0PsrKpiNrDNFwZ6Q1MvbfK1x8brjRd5LlVPvDJ9KHJ9u6f6t8zNfRedODovaY/vI1ePg0JVpcoVI1aHT12xVbPxmx5EOCTXrAqafjdWvBAeP/XePvcesPtuHMS/ZArv2NQMM1WAAX+Xx+GjwACCCCAAAIIIIAAAggggEALFyBYJVht9mBVboi4yBes2txE7XkaDgLvku4dPVXB1Zv1Exo3BA2HrtXeUDFymhvS+tuR5t5WpalBfYwc2rBg1alA9Y/T2gyoYvXvwRoYDKf68Co7buJaVU2aHRlB0MO5kl0z8a3/bi1ykupY7+cwpW0XWvhvXrqPAAIIIIAAAggggAACCCCAAAItXoBglWC1SYLVFv9JybMBxK0WzbNxMhwEEEAAAQQQQAABBBBAAAEEEEAgWwIEqwSrBKvZ+nTlcLsEqzk8OXQNAQQQQAABBBBAAAEEEEAAAQRahADBKsEqwWqL+KhmtpMEq5n1pDUEEEAAAQQQQAABBBBAAAEEECg8AYJVglWC1cL73Ice4BWwF2sBUjBkBBBAAAEEEEAAAQQQQAABBBBAoEECBKsEqwSrDfrocBICCCCAAAIIIIAAAggggAACCCCAQCELEKwGBKt3XjegLp8XRV14dHWqk31fV1eno3XS0aN1OnK0ToeP2NdR56v2cJ2279yvF9/anM8kjA0BBBBAAAEEEEAAAQQQQAABBBBAAIG0BEaf31fHd22v0tISlZYUq1WrYrUqKVZJcZGK3a+iIqmoSM7/FKXVfIs8uOjfL1Z+B6s2LRaohv5wwtVQsCodqZMOHw1/HZEOHZG27ZEWfJTXJC1yodJpBBBAAAEEEEAAAQQQQAABBBBAAIHmExg1pKOOP6ZEZSVFatWqSK3sz2KFg1WpuMi+3GC1rpHBaqZS2Uy1E+xe9O9fK6BgNRywxgSrR0LhqhOs7pYWfEiw2nwfU66MAAIIIIAAAggggAACCCCAAAIIIJBrAqOHdtbxx7RSaUmRSi1YLQ6FqyXFClWsRgWrTuFqA1+WyzX4ZN81M9VOnGD1JyMLM1g9YhWr4a9DVrV6RKo9Im3dLT3/AcFqA1c+pyGAAAIIIIAAAggggAACCCCAAAII5KHApcM66gQLVlsVOeGqU7Fa4las1qlYh50w1fmyaLRRmWajTvboWzvZy/mKup97bPZaz6VFFK5WDW20GtoSwP5X3dHQvqt1R6Q623N132HtWrs3l3pOXxBAAAEEEEAAAQQQQAABBBBAAAEEEGhWgbIze6uoYztLUlUUKlOVSkJJanFJqYrbD5PqDtcnqo1LVpt1rMkuXmrVuk6APPj4gglWI5utmo6z2ap301WFNl/df1h1G3Yl8+N9BBBAAAEEEEAAAQQQQAABBBBAAAEECkag6MxTpE6hYFUlJaFNVe17CxiLy1TWoVJ1smDVSMKlq3ms42xYUHxOeQEFq+Eg1QlWw0GqG7A6G6/WqW7/YR1d/0UeTztDQwABBBBAAAEEEEAAAQQQQAABBBBAID2B4jMrwsGqc/9/VLBaUlKm0vYWrB4qmGDViY8JVsOVqwSr6X2aOBoBBBBAAAEEEEAAAQQQQAABBBBAoGAECFZjp5pglYrVgvkFwEARQAABBBBAAAEEEEAAAQQQQAABBBomQLBKsBp+ahVbATTsI8RZCCCAAAIIIIAAAggggAACCCCAAAKFKECwSrBKsFqIn3zGjAACCCCAAAIIIIAAAggggAACCCDQKAGCVYJVgtVGfYQ4GQEEEEAAAQQQQAABBBBAAAEEEECgEAUIVglWCVYL8ZPPmBFAAAEEEEAAAQQQQAABBBBAAAEEGiVAsEqwSrDaqI8QJyOAAAIIIIAAAggggAACCCCAAAIIFKIAwSrBKsFqIX7yGTMCCCCAAAIIIIAAAggggAACCCCAQKMECFYJVglWG/UR4mQEEEAAAQQQQAABBBBAAAEEEEAAgUIUIFglWE0pWN30jxWF+PlgzAgggAACCCCAAAIIIIAAAggggAACCAQK9LykUurUTiopkUqKpeKi0J/2R0mZSttXqk6HnL87/6vI+SavX0XF55TX5fUI3cG5o6wLf2N/HK0LBa1Hw98frVPd/sM6uv6LgiBhkAgggAACCCCAAAIIIIAAAggggAACCKQiQMVqrBLBKsFqKp8djkEAAQQQQAABBBBAAAEEEEAAAQQQKGABglWC1ZS2AqBitYB/SzB0BBBAAAEEEEAAAQQQQAABBBBAAIEYAYLVgGD1jjvuyOutAOrCt/7bn+7X0aNHZV9Hjhxxvg4fPqxDhw45Xzt27NCCBQv4+CCAAAIIIIAAAggggAACCCCAAAIIIIBAWKCqqkrl5eUqLS1Vq1atnK+SkpLIV1FRkYqLi52j7Xv7yvdXEcEqwWq+L3LGhwACCCCAAAIIIIAAAggggAACCCDQOAGC1Vg/glUqVhv3qeJsBBBAAAEEEEAAAQQQQAABBBBAAIG8FyBYJVh1tgNgK4C8/6wzQAQQQAABBBBAAAEEEEAAAQQQQACBDAoQrBKsEqxm8ANFUwgggAACCCCAAAIIIIAAAggggAAChSFAsEqwSrBaGJ91RokAAggggAACCCCAAAIIIIAAAgggkEEBglWCVYLVDH6gaAoBBBBAAAEEEEAAAQQQQAABBBBAoDAECFYJVglWC+OzzigRQAABBBBAAAEEEEAAAQQQQAABBDIoQLBKsEqwmsEPFE0hgAACCCCAAAIIIIAAAggggAACCBSGAMEqwSrBamF81hklAggggAACCCCAAAIIIIAAAggggEAGBQhWCVYJVjP4gaIpBBBAAAEEEEAAAQQQQAABBBBAAIHCECBYJVglWC2MzzqjRAABBBBAAAEEEEAAAQQQQAABBBDIoADBKsEqwWoGP1A0hQACCCCAAAIIIIAAAggggAACCCCQfYEvvvii0Rfp1KlTo9ogWCVYJVht1EeIkxFAAAEEEEAAAQQQQAABBBBAAAEEmlogp4LVvZu0fMNutes5UL1qP9Saz4tU1K2fhvfrpuLiYoemqKjI+crca782vfOO1u+vb7Fr/0r1b7dJ77yzXp4fy/l5VzuuRiuqV6hGbdV78GD1bGs/WqHqFTWRRtr2GqzBJ9kbDXsV3XHHHXUNO7VlnFVXFxqe/el+HT16VPZ15MgR5+vw4cM6dOiQ87Vjxw4tWLCgZQyOXiKAAAIIIIAAAggggAACCCCAAAII5L1Abgar/VS+c4329/6y+ncrcYLUbAWr+ze+o3c27JcThHarCYepXXRc253asV+hn7dbHw5Nu+qUXvv0yQY3bnWDVTdolbr27y+tsNDVvneD2PSXEcEqwWr6q4YzEEAAAQQQQAABBBBAAAEEEEAAAQSaTCAXgtW+fU9Xn8FDdOLh+orVfiWf6P0tB3VMt3ba9VlRuDJ0vza/u1QbDrTVcV32a8dOD1O3/uqvFVrxafhnbXtr8OCeSq9m1K1edYNVf3DaVf0r+6ur3OPc971/P136yCpgPdWsDZhNglWC1QYsG05BAAEEEEAAAQQQQAABBBBAAAEEEGgqgdwIVvuq/bF9dGbPWq0KbwXgBqtd+/VT8erV2t9rsL7U7TO9u3SDDnTrr8p+zj35qllZHQ5Tu+rEbjXa/Gm4yjTt2/DrtwRo2+sMle/40BOOuhWp8YJVbz8aE+zWzzrBKsFqU/0O4DoIIIAAAggggAACCCCAAAIIIIAAAg0QyIVg9ey+faW4wepwlX/+hlbt663+x+3Qyo0H1PWU3tr3SXj/02691Xvveq3fXx+sBt2CXx/ASvIEs0bmbgegyJ6p/orUJMHqvvD+quEq2X3hsLcx+6wSrBKsNuDjzCkIIIAAAggggAACCCCAAAIIIIAAAk0lkAvBat++iSpWh6t/8Wq9seozh6SoqKv6D+6o9c6Dpdqqd/9ybV9h3ycOVuN5Ru2xGqly9VavRu+xGrgVgBusyipae2t/+GFYBKsJVjEPr2qqjzjXQQABBBBAAAEEEEAAAQQQQAABBBDIhkCyYHXevHkaM2ZMwkt36tSpUV1LtMdq137D1b/bQW1ZtlT2zCgLK8/p1c5TZeq5dJmk2vQeGhVVyRppysLbDuHwtr79+kpYf0UrWwGkvQAIVtMm4wQEEEAAAQQQQAABBBBAAAEEEEAAgRwSSBSsWqjqvhKFq40NVquqqlReXq7S0lK1atXK+SopKYl8FRUVqbi42OmKfW9f+f5iKwC2Asj3Nc74EEAAAQQQQAABBBBAAAEEEEAAgRYtEC9Y9YaqycJVgtXMLwGCVYLVzK8qWkQAAQQQQAABBBBAAAEEEEAAAQQQyJhAULAaFKomClcJVjM2HZGGCFYJVjO/qmgRAQQQQAABBBBAAAEEEEAAAQQQQCBjAsn2WE3lQgSrqSildwzBKsFqeiuGoxFAAAEEEEAAAQQQQAABBBBAAAEEmlSAYLVJuVO+GMEqwWrKi4UDEUAAAQQQQAABBBBAAAEEEEAAAQSaXoBgtenNU7kiwSrBairrhGMQQAABBBBAAAEEEEAAAQQQQAABBJpJgGC1meCTXJZglWA1N1cmvUIAAQQQQAABBBBAAAEEEEAAAQQQcAQIVnNzIRCsEqzm5sqkVwgggAACCCCAAAIIIIAAAggggAACBKs5vAYIVglWc3h50jUEEEAAAQQQQAABBBBAAAEEEEAAAbdidenSpWljDBo0yDmnU6dOaZ/rPaGqqkrl5eUqLS1Vq1atnK+SkpLIV1FRkYqLi51T7Hv7yvcXwSrBar6vccaHAAIIIIAAAggggAACCCCAAAIItGgBgtXcnD6CVYLV3FyZ9AoBBBBAAAEEEEAAAQQQQAABBBBAwBEgWM3NhUCwSrCamyuTXiGAAAIIIIAAAggggAACCCCAAAIIEKzm8BogWCVYzeHlSdcQQAABBBBAAAEEEEAAAQQQQAABBKhYzc01QLBKsJqbK5NeIYAAAggggAACCCCAAAIIIIAAAgg4AgSrubkQCFYJVnNzZdIrBBBAAAEEEEAAAQQQQAABBBBAAAGC1RxeAwSrBKvS0mkaMml2+sv0hplacttA1cybrKp7q6Xhd2vBA2PVNf2Wmu8Md+xZ7XuN5t5WpamLpMp7Fmj6mBYlFDM3zTnfyx8YoomPSAqvvcCFc2SL5v7oSk19VRr4vVl6aEI/lTXfCuPKCCCAAAIIIIAAAggggAACCDRagIrVRhNmpQGCVYJVglULlQlWU/4Fk+vB6pZnJ2vMTxer8keP6efXVBCqpjyzHIgAAggggAACCCCAAAIIIJCrAgSruTkzBKsEq3FXZnMGaE32caFitcmom+RCq2bqqutmqMedT2v65T2a5JJcBAEEEEAAAQQQQAABBBBAAIFsCxCsZlu4Ye0TrBKsEqxSsdqw3x6chQACCCCAAAIIIIAAAggggAACTSJAsNokzGlfhGCVYLXRwWqkstW776VbCWo/m9RR82f8Wg/PW6i1O6Wy8n46b+T1umnCSPXrGOfy2xdr9n/P1NxFi51z1KVCQ4eP1fiJY1V5cryT4q//mjdn65e/fVQLl9aotl1XDbzwet3y/fEauiW8v2zQVgBHarT42Yf11BMvauG63ZI6quLcSo294Qcaf246+6TG32PV3TN0/IwlmnLaWp/TQI249hb9YNxQdS3xjW3fFlU//aBmz6vWYqdvZeo6aITGXnW9rr+4nzr6j7fTA0xHjLkpdh62z9Xk0VNV7ZiM0hfzpmnqQ3/S8u1Xa+aSKTrR3VM3g/O9e9V8PfzbR/XimytVs8/WSPDYXa/AvWp3r9T8WQ/r0fmva+X2WqldV/U7d5SuHne9xg7yz9dyTRsyUbM13hlT/zXz9eBDD2vuy2u1O2x5/XfSnee0f/9yAgIIIIAAAggggAACCCCAAAIpCRCspsTU5AcRrBKsZjdYHTNe45fP1ux1AZfpMkL3PXK/Rvru2K5ZdL9uvm2O1gb2rKNG3PuY7h+d6m3etVr+wDhNfCSgtXaVuvsHFZr604A9Vmuqdf//NVlzgvotqeKGmXrstoEp7t+ZQrD6i5nSAxMDncouuFtP/3yserhh6b7lmnZD8LFGVjHmfj10uSkrggAAIABJREFUz4ioh4hteWmqJv94brCpOTwxXWNd0kiwOkV3952rqRG7UAiZMFhNe75rtXLWzZrwq+WqDZrvk8dr5iNTNLBd6M14wWrtmjn60YT7Vb0vqJEy9Zv0kGbd7J2v+mB1+gxp2qTZATZlqrznaU0fk+paa/Lf31wQAQQQQAABBBBAAAEEEECgQAQIVnNzoglWCVazG6xa6+0GauLP79OkIT1UViLVblmu2f95sx58tTb2oVHr5mjilfdruco0cNJ03XfDUPWwUK12ixY/MlW3P7RYu1WhibMe060Dkj/rvXbR/brwtjmqjenDYs24Z7JmLg3Hed6K1SNrNWfSVbr/PQsp79Z93xulfl3LpCO1qln5oh68Z6rmritT5b3PafroVCpXkwerZe3KVFs+SnffO0Vjz+joXGtL9TRN/qEFzGW6+lev6PZzQ+NdOWuMxv1qS6hvt41Vvy4K9+1P+tlt92vhzujj5TGt/N5DumPcQPUok2prVupPP79Z97+0Wxpwu56acbUqLLx1g1XnahUa++O7ddOY0Dn2SlihnOZ8R+ZHFbr6p/frlosrnGrb2o3VevCOH2n2qlqVXTldr/y40gmxA4PVfdW6f+Rkzdnnn6/dWvn8NN37n3O1cp9/vtxgtUxl7Wp14sUey9otqp4+WZOfXCu1u1q/ful2DU2+1HLzNzy9QgABBBBAAAEEEEAAAQQQyAsBgtXcnEaCVYLVrAerI376su6v8t2+HwnDeujWR+Zp4hnWjd1aeG+Vbp9Xqx7X/VpP/3BoTEXo2icn6qqfL3eCwHmzrlbiWsItmjNhjBOQJu6DogLe3S9PVdWP5kpV92vBT0coZuMBN6jscasee3ai+gXddh+lmjxYlSp19zxP1ahzfq2q/2O4Jj8t9fjeY5o3oZ/Fmpp7W5WmLhqqu+f9ur7KNHy92lenavgP56ps0kwtunmg08bin1+oW56MY3pkpWZePk4PbumhWx+fp4mnRQerA3/0lGZeUxE9mkRbASiZtXe+6+en8s55sQ+b2jlft198lxZqpO5/+T6N6BgcrK595Cpd9cBaZw7n/dJT2euaRMJ1b0jqBquhuY85r7Za9w+frDnyuOTm73B6hQACCCCAAAIIIIAAAgggUAACBKu5OckEqwSrWQ5W60Mx/4UW/2KIbnlc6vejp/SYhXeRMGugbn92pq4+KaBruxfqrq/ervkWRL4wXWPLE3ywauZrctVdqvYEc/6jV84Yo3EPbfEEq26YWabxMxZpyqCg9rdo7s1jNHVJqqFbCsHqldO1KFyV6b1ibHVofdha+cPHdM+V/WTFtHFfEdN+uv3px3T1ybFHLn9ouCbOqFXlvQtCFbiRitVg48QVq2nM97o5Gnfl/VqpqzV90e2qjBlHjeb/sEp3vVqmibMW6dYBQcHqWs254Srd/6GvSjdqmCs1c4yFx945rQ9Wr35gkW4f7r94/Zw5+98GroPc/KVOrxBAAAEEEEAAAQQQQAABBPJPgGA1N+eUYJVgNbvB6hm366lHrlZ0zWPokjEBXSRoC+3lafWWsS831JSSBl7vPajhE2aqtt1EzXz11sD27Fb04bfN8QSrbgiX2gc2OJTzn5s8WB165zz9+vLY+tugELP2vQc1bsLM8J6gZep62nm6aGSlKocM1cC+PdTRmxFGQtJEpr7+JjknYbCazny7DzgLenBYHP6YrQAiwXHioN0N8esfeuUGq8GVv/WVwSmss9SWCkchgAACCCCAAAIIIIAAAggg0GABgtUG02X1RIJVgtXsBqsJQrOYgC6loC2NSsJU2os5xnOLeAofvUiVZ8JjkwergU+5j7efqW2asK5aT/1qmh51nmLvfXXUwCun6O7bxqrC9qbdOEcTL7c9a5soWE1jvmND7eTgMcFqisFx7N6s7jzHC2TTWGfJu80RCCCAAAIIIIAAAggggAACCDRKgGC1UXxZO5lglWC12YLVLc/eojE/XSzdMFNLbhsoe8hS6NbwDFWsbpmrW8ZM1eJE7cUNVutvP2/8py/zwWqkT0dqtbtms9a+u1gLq+frxVeWq2afVObuD5ti8Bg1xsZUrCYIVmPmO5Xg24ef+YpVgtXGr29aQAABBBBAAAEEEEAAAQQQyLYAwWq2hRvWPsEqwWp2g9V24zXz5SkaGPOAJ89eoe7enpneYzWF28QjVbORQDB+CNqwj5idlcVg1d+pLXM1eczU+n1lW7sPYYp/q/zyB4Zr4iO1GvkfL+u+izt69lgNDrgTbgWQzny7QXrcc1y3+r1sYytPG7vHKsFqw9c1ZyKAAAIIIIAAAggggAACCDSVAMFqU0mndx2CVYLV7AarKtPVD7wS+3CgSFWk90FVSZ5gL2ntkxN11c+XSwNu17xZVyt2V1LvcOrbC3q6vY6s1MxrxunBdaEnwy94YKy6Stry9ESN+Y/QNZ6acbUq/KGw+7T6dt6nzCf64GUwWHXd4u1lGgmT3YdI7dbCO7+q2xdIgQY7F+quMbdr/j5PwNiYitW05rv+oVKBa2TVTF113YNa6wleY4NVz3wNv1vzfjlWPXzzZVsOXHjbHNVGzRdbAaT3nwqORgABBBBAAAEEEEAAAQQQaE4BgtXm1I9/bYJVgtUsB6uS2g3UxJ/fp0lDeqisRKrdWK0H7/iRZq+qVdmV0/XKjysVed5SpOKyTAMnTdd9NwxVD9srtHaLFj8yVbc/tFi7VaGJsx7TrQNiHiMfOxY3nFOFxt5zn6Zc2k8drQ9blmvOA5M17aXwDqXeW9gjYaNUMeZu3fe9UerXtUw6UqualS/qwXumau46qeJ7j+mpCf1S+GRnMFhVfRjp+Iw7Wz3CT6uqrVmrhTNv111Pro0OnuMaLNaMeyZr5lLfPDQqWE1vvne/dJeqfjxftb41svvDuZoWdvYGwkHBqvYt1rRrb9HsLf752q2Vz0/Tvf85Vyv3lany3uc0fbRF5/YiWE1h4XIIAggggAACCCCAAAIIIIBAjggQrObIRPi6QbBKsJrdYPWMSlXuq1a1VYX6XmWnTdRDM27VQAtOPa+aRffr5tvmhJ967z+ro0bc+5juH524VtV71pYXbte4exb6HvJkR5Sp8oarVfvIbC327Q1au/RBTbhtplbuC+bpePF9euynI2OqI4OPzmSwKtUunaZxk2bH8bFgs1J3PzFdYz1EW+ZN1pX3Vqs2qIMnj9fMR6bUz0NjgtW057tWyx8Yp4mPrA2kK7vgbj398/oq1MBg1XL3NXP0own3qzpwvsrUb9JDmnXzwPoAn2A1N/+LRK8QQAABBBBAAAEEEEAAAQQCBQhWc3NhEKwSrGY3WLXA8j8GavGMX+vheQu1dqfU8eShqhwzUT8YN1RdY/ZeDXdn+2LNmfmUnnopdI66VGjo8LEaP3GsKk/umPanafeq+Xr4tw9r7strtVtl6jpohK6/+Qca3+t1TR49VdVBD13avlxzn5itOfNf18rtFkl2VMW5lRp7zU0aW1nhVL6m9spssOpcM+wzd8lirVwXqrotK++n80Zer5smjFS/AKKQwaN68c2VzgOu4s5DY4LVBs53zZuz9ctH5qr6zfD8nHaeRt14k266OFRh7L7iBavO+7tXav5jj2rOvIVabvPVrqv6nTtKV4+7XmMHuZWqkZY0bchEzRZ7rKa2hjkKAQQQQAABBBBAAAEEEECgOQUIVptTP/61CVYJVrOzMhvwxPfsdIRWm0SA+W4SZi6CAAIIIIAAAggggAACCCBQmAIEq7k57wSrBKvZWZkEbdlxzdVWme9cnRn6hQACCCCAAAIIIIAAAgggkAcCBKu5OYkEqwSr2VmZBG3Zcc3VVpnvXJ0Z+oUAAggggAACCCCAAAIIIJAHAgSruTmJBKsEq9lZmQRt2XHN1VaZ71ydGfqFAAIIIIAAAggggAACCCCQBwIEq7k5iQSrBKvZWZkEbdlxzdVWme9cnRn6hQACCCCAAAIIIIAAAgggkAcCBKu5OYkEqwSrubky6RUCCCCAAAIIIIAAAggggAACCCCAgCNAsJqbC4FglWA1N1cmvUIAAQQQQAABBBBAAAEEEEAAAQQQIFjN4TVAsEqwmsPLk64hgAACCCCAAAIIIIAAAggggAACCFCxmptrgGCVYDU3Vya9QgABBBBAAAEEEEAAAQQQQAABBBBwBAhWc3MhEKwSrObmyqRXCCCAAAIIIIAAAggggAACCCCAAAIEqzm8BghWCVZzeHnSNQQQQAABBBBAAAEEEEAAAQQQQAABKlZzcw0QrBKs5ubKpFcIIIAAAggggAACCCCAAAIIIIAAAo4AwWpuLgSCVYLV3FyZ9AoBBBBAAAEEEEAAAQQQQAABBBBAgGA1h9cAwSrBag4vT7qGAAIIIIAAAggggAACCCCAAAIIIEDFam6uAYJVgtXcXJn0CgEEEEAAAQQQQAABBBBAAAEEEEDAESBYzc2FQLBKsJqbK5NeIYAAAggggAACCCCAAAIIIIAAAggQrObwGiBYJVjN4eVJ1xBAAAEEEEAAAQQQQAABBBBAAAEEqFjNzTVAsEqwKqlGc2+r0tRFAYv0hplactvAlFZvzbzJqlp3U8rHp9RoCzkod8cemtuFFy/Q9DFdW4hmtrq5XNOGTNTsNNZ0tnrSuHZD49CMJZoyqHEt5e7ZNsaHVfHCdI0tz91e0jMEEEAAAQQQQAABBBBAoKkECFabSjq96xCsEqxq+QNDNPGR8Zq5ZIqiItTtczV59FTpntRCuaYIF62vD5+cWn/S+yg07uiEY186TUMmKeLbtGNoeLDaFPMZq56hQM1Zu2t1k2dNN61749ZT4rMLLVjN0JrI5pTQNgIIIIAAAggggAACCCCQZQGC1SwDN7B5glWC1VCwqqDK1PRCueYJ4hq48jN8WjrBaoYvnaS59OawafvWlFerUc32ruqaF9WPhRasNuU64VoIIIAAAggggAACCCCAQG4KEKzm5rwQrBKsygkF762IrVj1r1mn8nJ29E+H360FD4yV3WTuDRdDVbDRh1ZGKl9jtx5I7T05IbBbsZr4Gu6xMzXipYmRbQ7Gu7dPh6txq6O6GFC1676fxtijmow6r1J3vzBdFU/UjyFkNkJ3fzw10sdEFtZ2ZAxBv1N846q8JzR+ZyuAXo8mnD9/c975dL+fqYmReU3Uz/o+Jppr3xzJ1lKFHo3cAh6uVLynQlPvddedZ45i5sTznrdiNdlcu8fOkCa669uzroOYvWvPNV47MXRrfsw/VDjtL9QIu61doSrwlNedXdw3zvEzZkqTQlsBjHg1vc9ZonmJXltB24Mk+Hz4DMfPWKCKmbHbi3jXbuj3jk8isr2Bt0rV8/2WgN9BCn2ubMuAlNqcMUILJ6VeiZ+b/+mmVwgggAACCCCAAAIIIFBoAgSruTnjBKsEq+GVGd5/0l2n/n0oA7cFiN6z0g3fFpz8sKruVSTscJoMh0MWrITCIH8INlUVSd5zQysLVu/RvQmvEQm4HqkPXUJ9WKu7X7hJa0f799oMB0lOuBcKiiOvNMYeuB9tgq0A3CAoEjglcnLDa79tpKOxe4i67VdO+YE07Ze+bR0S7zkaE6zeW10f6oZNInP2sS9gDwf18m8z4TkvcI7kD9QmanYk5PTM0V3Svb5tKpxA0+1HJFgdoYUx+6r65toNXiNrPvx+3+D9hUOm9evbP4fxg9U0153Na8Dac0PdKyZU6plZST5nqc5LzNqKrfBNWJXtMwzaXiTGbXuNupZ7PmlR2zfECVajKo5j56kmaZve9ZSb/1GmVwgggAACCCCAAAIIIIBAkADBam6uC4JVgtXglRmpkgsHk06lXbjqzhNueEOkqGD1pRG+gLL+9mUnWI3aeiAUkFjFX6L3YoLVBNdIXDkYCrj8D/9x+h/TphtupTb2BgWrUddM5BS/L6FJDLpFPLwVwDALVt8KVU3GmT//QogJVuP08/oNcdysRzHbTNTPdeAcBQSr3nmKzJETrPrmxNbszIrQuvMFqwnn2ltRGraJvz1GuCoyjkVG110kWPWvvdA877dgdWX8z1l68xJnbfmrguNV8voMA/0CnN01W18H7/5DSPJgNSpIj1q8vn8kilS0FsIWCrn5f2jQKwQQQAABBBBAAAEEEGi8AMFq4w2z0QLBKsFqwnUVCUiuXRtwC3P41HClX3TFavQtvu5FIhWrgXu6BgVx0d1ztwJwKlYbGaz6NjUIXSgoOAq8lTx47LkdrP7Sdwt69BgaGqw6T6aP2YIg9ICxRAGlEwXHBK+xFaspB6veAeRwsJryukslWJ0V/3OWdF58W3WE+MLBpnvLvadyPe4/PAT0M2ibjqj2y93w01+57obIiYNVf/VrqO1U2oz9B5Vs/IeVNhFAAAEEEEAAAQQQQACBTAsQrGZaNDPtEawSrGrakMmq8FUyussrOliNrdr0LsPEFav1RyaqYmzOitW4H6nASrvoo9N5eJV3n9jYsKppK1YT/RpJrWI1tJemu7+oN+CK7AEapzqZitUUfoknqPIMrlh124yuDE4+LwHr2fcPF2kHq3H+8cS5UtC4on6WIFj1bJfhhMfuK6U2CVZTWHUcggACCCCAAAIIIIAAAjkoQLCag5MiiWCVYFXThgzR2siDpaKiUucW/am212S4YlVRx0XfWpt8j1U5D8hKtO9mov1XG7THqjfciQQv8fe6dB7yNCZqh9XAfS79t903Klj17pma4T1W3b1tE+2x6r9NPhLNOQ/WuklWhRs/AA4/pMi7H6l//9U4++mmGqzO9u99avvgZnyP1eh/NEi6FUCyPVY9e5uGqjetEjTNdRcJIKMftOTu6Rp/j1X7nF2vte5n97aBoSlNNC/uHqvhMFW+fWQjFcnpbAXgnXdf+6GtGrzjch+WlWQrgPDDv6J/D4VXbEptEqzm5v8pQq8QQAABBBBAAAEEEEAgmQDBajKh5nmfYJVgNeY27qil6A1SYp7CHv2Eem+4GHsrsPeJ4omeFJ/KU+Q9t5n7bmeuf1J9+k9n954b83FMY+wx50Zukw+FRhVPDJE9gMsC3FBgWaHxmq3Zi0Jn1vcj6Mns0ebxrxV+54aZmqmJoev1elRD3Kfeh9/2PqXd31ZqFatLNKVH7JPuE40h4RwF7bF6w3jNfsS9gd6zjmLmxH9b+VrdtGSKBgZu5RDvFvSQQkpbGLhr74bxGm/9izzRPnrexs+YKU16OFQVHg4GvTfwJ1x31hnfOCvvmakRL02s35M46jMQ+1C44GsFrC1faBr1Gbb3wmF2tf/BdpHQ1htOJ28/elz22bhHuq9KUxfZGOyhY2EzZ9uA0Pf22ZkYsIWB/+Fv4U9SQJu+YDVe9Wvz/PeYqyKAAAIIIIAAAggggAACcQUIVnNzcRCsEqzm5soskF4lvL26QAziD7OlPGyopfSz4BcUAAgggAACCCCAAAIIIIBAixUgWM3NqSNYJVjNzZVZIL0iWE000S0lsGwp/SyQDxXDRAABBBBAAAEEEEAAAQTyUIBgNTcnlWCVYDU3V2aB9IpglWC1QJY6w0QAAQQQQAABBBBAAAEEEGiEAMFqI/CyeCrBKsFqFpcXTSOAAAIIIIAAAggggAACCCCAAAIINFaAYLWxgtk5n2CVYDU7K4tWEUAAAQQQQAABBBBAAAEEEEAAAQQyIkCwmhHGjDdCsEqwmvFFRYMIIIAAAggggAACCCCAAAIIIIAAApkTIFjNnGUmWyJYJVjN5HqiLQQQQAABBBBAAAEEEEAAAQQQQACBDAsQrGYYNEPNEawSrGZoKdEMAggggAACCCCAAAIIIIAAAggggEA2BAhWs6Ha+DYJVglWG7+KaAEBBBBAAAEEEEAAAQQQQAABBBBAIGsCBKtZo21UwwSrBKuNWkCcjAACCCCAAAIIIIAAAggggAACCCCQXQGC1ez6NrR1glWC1YauHc5DAAEEEEAAAQQQQAABBBBAAAEEEGgCAYLVJkBuwCUIVglWG7BsOAUBBBBAAAEEEEAAAQQQQAABBBBAoKkECFabSjq96xCsEqymt2I4GgEEEEAAAQQQQAABBBBAAAEEEECgSQUIVpuUO+WLEawSrKa8WDgQAQQQQAABBBBAAAEEEEAAAQQQQCA9ATcUTe+s4KOXLl2adjODBg1yzunUqVPa53pPqKqqUnl5uUpLS9WqVSvnq6SkJPJVVFSk4uJi5xT73r7y/UWwSrCa72uc8SGAAAIIIIAAAggggAACCCCAAALNJkCw2mz0Wb8wwSrBatYXGRdAAAEEEEAAAQQQQAABBBBAAAEEClWAYDV/Z55glWA1f1c3I0MAAQQQQAABBBBAAAEEEEAAAQSaWYBgtZknIIuXJ1glWM3i8qJpBBBAAAEEEEAAAQQQQAABBBBAoLAFCFbzd/4JVglW83d1MzIEEEAAAQQQQAABBBBAAAEEEECgmQUIVpt5ArJ4eYJVgtUsLi+aRgABBBBAAAEEEEAAAQQQQAABBApbgGA1f+efYJVgNX9XNyNDAAEEEEAAAQQQQAABBBBAAAEEmlkgWbB644036ve//31KvVy6dGlKx3kPGjRokPPXTp06pX2u94SqqiqVl5ertLRUrVq1cr5KSkoiX0VFRSouLnZOse/tK99fBKsEq/m+xhkfAggggAACCCCAAAIIIIAAAggg0GwCiYJVC1XdVyrhKsFqs01j4IUJVglWc2tF0psWJVB74ID279unbZs3a//evdr0ySfat2ePDh86pHWrVqn24MHIeLp07aoevXs7f+90zDHO98f16KEuxx6rNu3atahx01kEEEAAAQQQQAABBBBAAAEEUhWIF6x6Q9VUw1WC1VTVm+Y4glWC1aZZaVylxQrU1dVp965d2rpxo7asW6dPVqzQ+lWr9NmOHTpy+HBGxlXWurV6nHyyBgwdqnMuuEDHnXBCQdwykBE8GkEAAQQQQAABBBBAAAEEEMhpgaBgNShUTSVcJVjNrakmWCVYza0VSW+aVcBC1C8+/1xrPvxQH737rtZ88IF2bN2asQA11cG179hRF1x6qc4fNUpW6coLAQQQQAABBBBAAAEEEEAAgZYqkGyP1XTGRbCajlb2jyVYJVjN/irjCjkrYEHqzpoarVy2TG/87W9at3Jl1O37zd1x2/T6rGHD9M0JE1R+4onN3R2ujwACCCCAAAIIIIAAAggggEDaAgSraZO1mBMIVglWW8xipaOZEbAw9dOtW7XoL39xwtRdn32WmYaz2EpJq1a66LLLNPpb35JtG8ALAQQQQAABBBBAAAEEEEAAgZYiQLDaUmYq/X4SrBKspr9qOKNFCtiDpN56+WX99ZlntOOf/2yRY+h71lma8G//pmO6dWuR/afTCCCAAAIIIIAAAggggAAChSdAsJq/c06wSrCav6ubkTkC+/bs0V+eflqvPPdcTt3m39DpOb5nT33n3/9dPXr3bmgTnIcAAggggAACCCCAAAIIIIBAkwkQrDYZdZNfiGCVYLXJFx0XbFqBQ7W1Tqg679FHm/whVNka6bHHHaeb77lHPSsqsnUJ2kUAAQQQQAABBBBAAAEEEEAgIwIEqxlhzMlGCFYJVnNyYdKpzAts+uQT/e4Xv9CWdesy33gztEi42gzoXBIBBBBAAAEEEEAAAQQQQCBtAYLVtMlazAkEqwSrLWax0tHGC+z89FP9z30/1fqPVze+sRxo4bgTumvCv/6bTujdS63btsuBHtEFBBBAAAEEEEAAAQQQQAABBKIFCFbzd0UQrBKs5u/qZmRRAlvWb9Cvpt6nz7duySuZ0pJitS0rUedjj9WQERfpKyNHq0PnLnk1RgaDAAIIIIAAAggggAACCCDQcgUIVlvu3CXrOcEqwWqyNcL7eSCw9I039N9T/1+V1B1RSXFRHowoegitS4vVprTE+WGbdu30tWvHadglVSopCf2MFwIIIIAAAggggAACCCCAAALNJUCw2lzy2b8uwSrBavZXGVdoVoFFf31Jv/n5L1VcdDQSPjZrh7Jw8aIiqX3rVlGh8bCLv6av3zhRpa1bZ+GKNIkAAggggAACCCCAAAIIIIBAagIEq6k5tcSjCFYJVlviuqXPKQq4oeqRI0fUvnWJivOwWtWlsC0B2rWOrlAdPupSjRp/o1qVlqYoxmEIIIAAAggggAACCCCAAAIIZFaAYDWznrnUGsEqwWourUf6kkGB95e8rf+68x7VHjqsslahfUjz+VVcVBQYHleO/rpGXf9ttgXI58lnbAgggAACCCCAAAIIIIBADgsQrObw5DSyawSrBKuNXEKcnosCWzdu1E++P0W7d+9xume3ybcqyb+9Vf32QeMsLi7WNyZM0perRuXiVNEnBBBAAAEEEEAAAQQQQACBPBcgWM3fCSZYJVjN39VdoCPbv2ev/vf3/m9t3rjZEbCHVVngaPuQ5vvLqnKtOtf/6nTMsbrxx3eqR8Up+U7A+BBAAAEEEEAAAQQQQAABBHJMgGA1xyYkg90hWCVYzeByoqnmFqirq9OjD/y3/jL3z6oLd6Z1aXHePrTK7x0vWLXjzhg6TNfc9gOVtW7T3NPE9RFAAAEEEEAAAQQQQAABBApIgGA1fyebYJVgNX9XdwGObMWyZfrZ7Xeq9tChyOgLZRsAG7A9vMoeYhX0si0Brp38rxrwleEFuDIYMgIIIIAAAggggAACCCCAQHMJEKw2l3z2r0uwSrCa/VXGFZpE4PChQ7pvyg+1+qNVkes5D3RqUyL7sxBeyULkk/qeqhv//S6179ipEDgYIwIIIIAAAggggAACCCCAQA4IEKzmwCRkqQsEqwSrWVpaNNvUAov//qr+/6n/n44cPRq5tD2wqp3tr9rUnWmG66USIlvV6jdv/p7OuXBEM/SQSyKAAAIIIIAAAggggAACCBSiAMFq/s46wSrBav6u7gIa2dEjR5xq1ZUfrIgatT3IyfYdLYSXEyKXJX9IV5+zBuj6H/1Yrdv25651AAAgAElEQVS2KwQWxogAAggggAACCCCAAAIIINDMAm6wunTp0rR7MmjQoKhzGtNGp06Nu3uzqqpK5eXlKi0tVatWrZyvkpKSyFdRUZGsoMle9r195fuLYJVgNd/XeEGM76Nly/UfP/qxDh8+EjXeRA9zyjeYNqUlsgd1JXu1ad9eN931E/Xs0zfZobyPAAIIIIAAAggggAACCCCAQKMFCFYbTZizDRCsEqzm7OKkY6kL/GrqT7Xo5VdjTki252jqV8jtI51tAFqXqLg4tX8Nu+Sa6zTiiqtye1D0DgEEEEAAAQQQQAABBBBAIC8ECFbzYhoDB0GwSrCav6u7QEZWs2277vzuLdq9e09ssNqmlVqlGDa2ZK5Uq1XdMVacfqZuuON/qU07tgNoyfNO3xFAAAEEEEAAAQQQQACBliBAsNoSZqlhfSRYJVht2MrhrJwR+NvceZr1wK9UVxfdJdvKxCpWS/I8WLXx2TjT2bqlfcdOuume/0cn9D45Z+aRjiCAAAIIIIAAAggggAACCOSnAMFqfs6rjYpglWA1f1d3AYws3kOrnA93GsGqhbJH6+qcL/d7Cyztf2zfabvVPhdf1q92rUsaFB5f9b3bNPhfvpqLw6JPCCCAAAIIIIAAAggggAACeSRAsJpHk+kbCsEqwWr+ru4CGNn2LVt053dv1b59+2NGa6FjhzbxKzmPHK1T7eGjOnTkaEy1q78xi1VblRQ7D4fKlQpY61O71q3UqqRhoe+Xq0ZpzMTvFMRTCgvgo8AQEUAAAQQQQAABBBBAAIGcFSBYzdmpaXTHCFYJVhu9iGig+QRefu7Penjaf6vOvw+A5DzIqYPvFnmrSLUw1b4CTklpIBas2p6mDQ00U7pIkoOsgLZdWcNDVWuefVYzMRO0gQACCCCAAAIIIIAAAgggkEyAYDWZUMt9n2CVYLXlrl56rl/de58WvfJaoIQ3WLVA9eChUKCaqZcFrFbBWlpSnKkmU2qnW5c2shrV2tojKR0f76DOXbtp0j33qtsJJzSqHU5GAAEEEEAAAQQQQAABBBBAIJEAwWr+rg+CVYLV/F3deT6ygwcO6M7v3Kx/bv5ncLBaVKS2rUt0+PBRHcxgoOq/mFWPWrjaulWxUyWbrdcJ3drq4i/31On9j9f+A4f019fW66PVNQ2+XHFxsSbe+b/VZ8DABrfBiQgggAACCCCAAAIIIIAAAggkEyBYTSbUct8nWCVYbbmrt8B7nmh/1eaicUNW2ybAKlob+9Crju1KdcYpnXXO6ceqvGt7te7QLvRULklHj9apevFmLXp7S+BWCKkY8ACrVJQ4BgEEEEAAAQQQQAABBBBAoDECBKuN0cvtcwlWCVZze4XSu//D3r3A2VnXd+L/nrkmQxKBcKmxWqJIrK0sbcELca1m2QYvJb0AXoi0BnQRXIK2RFuB9k9iF3H/CqwC20KoEKxFu5rYCtmlwarBKmzFaK3xFuolKhCIDOQy1309Z+bMnHPmzMw5J2dmfufkffrKCyTP8/t9n/fznVP45Pf8nkkF/u2rX41r1r03BgYP7ZH46YizVaid7bk4elF3dHa2xd7evth/cDAGB4cj22Jguk92fkdbLp+HZmFr9n9tbZH/69gnFzGvqz2OPao7nn1cTyx91oJYcmxPfsVt9uno7oqunvkTpsrC1W33/yAe/NpPpyuj4u//5qrfizPPe3Nd5zqJAAECBAgQIECAAAECBAhUIyBYrUapOY8RrApWm7NzVR3/uHlL3HbDR+p+CdVkhFkAuuSYnjj9RcfGySceGfPnjYSbk3169w3EvgMD+aD1ez/qjQP90we9nR1t8cyj58fiI7vz4/eUvWSrMFeurS0fqLZ3dkw6//4DA3HX3++Mn/zsqZq74iX/eWX8zlsvqvk8JxAgQIAAAQIECBAgQIAAgWoFBKvVSjXfcYJVwWrzda2K8wJ3/I8Pxz2f+kzDNLIXUb3i146LV/768dHdNXWY2rBJJxkoC1Q753XnV6pW8/nev++NT939nRgYrO3lXMt+7TfiTe/64+jqnlfNNI4hQIAAAQIECBAgQIAAAQI1CwhWayZrmhMEq4LVpmlWhZYKXPNH6+LrX/3aIbO0t+di5UueGa/89V/IP6I/V59cLpdfmdrR3R1tHbUFu1mg+pn//b3Y+f3HaypfsFoTl4MJECBAgAABAgQIECBAoA4BwWodaE1yimBVsNokrarMcoG/eOcfxb9+7RuHBPPcJQviD1733Dhi3uSP2h/SBFOcnAWpWYDa3tmZD1SzVaqH8vn295+IT93znZpeZHX8s58Tb/2z9XHEokWHMrVzCRAgQIAAAQIECBAgQIDApAKC1dZtDsGqYLV1u7uFr2ygvz/+9ML/Ej/+4Y/rvsqXveiY+L1XPif/UqkZ/eSyF1floq29LdraR4LU7O8bPfGTvX3x8S3/Fo/vPVD15Rz7rGfF2/58Qyx4xpFVn+NAAgQIECBAgAABAgQIECBQi4BgtRat5jpWsCpYba6OVW1eoO/AgfiTC94WP/3Jz+oSOenZC+OCVSdGe1t9qWoWlOba2yIXo+fnIh+a5j/ZI/0dHfm/5gPUWfoMDQ3HZ7d9P76x87GqZxSsVk3lQAIECBAgQIAAAQIECBCoU0CwWidcE5wmWBWsNkGbKrFcYGhwMN771oviBw//oGacoxd1xWVveEH01PH4f/a4flfP/Pyj+yl+vvqNn8XWf3q46tIEq1VTOZAAAQIECBAgQIAAAQIE6hQQrNYJ1wSnCVYFq03QpkqsJFDPHqttuVysfvXSOPnE2h99z/ZD7T7iiMjVucp1Nu7i7p89FR/f/K3o6x+sajrBalVMDiJAgAABAgQIECBAgACBQxAQrB4CXuKnClYFq4m3qPImE6gnWH3O8UfEJeecVPMWANlK1e4FPeOP+yd6W57a1x8f+9Q3q95nVbCa6I1UFgECBAgQIECAAAECBFpIQLDaQjez7FIEq4LV1u3uFr+yWoPV7CVVb/jPJ8RvvODommU658+LznndNZ832yf0DwzF5q3fje8+/ERVUwtWq2JyEAECBAgQIECAAAECBAgcgoBg9RDwEj9VsCpYTbxFlTeZwI0b/iK2b/unqoGOXNAV73pT7XurZi+l6l54RGQvrGqGz+e+9MP453/ZXVWpxz/7OfHWP1sfRyxaVNXxDiJAgAABAgQIECBAgAABArUKCFZrFWue4wWrgtXm6VaVlgj07v15XHnRJfHoI49WJZOtVH3jb51Q1bHFB2UrVbMVq83y+db3Ho9P3/Odacvt7O6ON132x/GC3zh12mMdQIAAAQIECBAgQIAAAQIE6hUQrNYrl/55glXBavpdqsJJBf5l+/1x3Z+vj8HBoSmVssWm561cGqecdFRtmrmIrp6e6OjqrO28OTz6Z4/ti49v/rfYf2Bgyipe+bu/H7/1hvOaZiXuHJKamgABAgQIECBAgAABAgQOQUCwegh4iZ8qWBWsJt6iyptKYGhwMP7bH62Lb+74xpRQ87ra451vfEEsfkaN+6TmctHdMz/amyhY3be/P/7m0/8Wjz6+f1KTZ/7SCfGHf3JFLDp6sQYjQIAAAQIECBAgQIAAAQIzKiBYnVHeOR1csCpYndMGNPmhC3zty1+JD17xZzEwxarV44+eF+984y9HR3uN+6Q2YbCard79zL3fi2999/FJcX//okvi1BVnHDq+EQgQIECAAAECBAgQIECAwDQCgtXWbRHBqmC1dbv7MLmyA/v3x3vfelH8dPdPJ73iX3nuM+Itr3te7SJNGKxmFznVC6yOeeaSuODKP48jjzm2dg9nECBAgAABAgQIECBAgACBGgUEqzWCNdHhglXBahO1q1InE7jjhg/HPZ/+zKRA/+m0X4hXv2xJ7YBNGqx+/VuPxT/84/cqXu9LV746zlrzVnur1t4NziBAgAABAgQIECBAgACBOgQEq3WgNckpglXBapO0qjKnEvj6g/83/vufXBkDg4MVDzv3jF+KF7+wjv1EmzRY/eHu3vjbLd+asD1CW1tb/MF7roiTTvk1DUWAAAECBAgQIECAAAECBGZFQLA6K8xzMolgVbA6J41n0sYK/Pzxx+NPLvwv8fO9T04YuL0tF2/7nefH835xQe2TNmmw+tjj++NvNv9bPL2vv+Sajz7++HjrVevjyGNtA1B7MziDAAECBAgQIECAAAECBOoREKzWo9Yc5whWBavN0amqnFJgeHg4rv6va+Pb39w54bjOjra49Nxl8cxj5teu2KTBahaofuzT/xZ7nthfcs2//BunxRsv+6Po7O6u3cIZBAgQIECAAAECBAgQIECgDgHBah1oTXKKYFWw2iStqszpBDZ9+CNx9//aErlcxLFHzossUN1/cCD2HRiMP3rTL8dRi7qmG2Li7zdpsHqwbzD+/t7vRX//YH4v1d6n+yJbxfqbq34vzjzvzbU7OIMAAQIECBAgQIAAAQIECNQpIFitE64JThOsClaboE2VWI3AF7dujZ3/+LFYcerxMa+rfeyUvb190dnZFkfM66hmmNJjmjRYzS5iaHg42rKUefTzxN4DcfDIF8Wy3/z92h2cQYAAAQIECBAgQIAAAQIE6hQQrNYJ1wSnCVYFq03QpkqcVmB4OH70uduibe938itWG/Zp4mC1ksFwrj3mP/eV0f2LpzWMyEAECBAgQIAAAQIECBAgQGAqAcFq6/aHYFWw2rrdfRhd2b6HvxI/37ElYmiwsVfdYsFqhtPWtSB6fuV3o33RsxprZTQCBAgQIECAAAECBAgQIFBBQLDaum0hWBWstm53Hy5XNjwce774l9G35+HGX3ELBqsZUteSX4v5z1/ZeC8jEiBAgAABAgQIECBAgACBMgHBauu2hGBVsNq63X2YXNnggSfj8S/+VQw89Vjjr7hFg9XOxc+Pnl+112rjG8aIBAgQIECAAAECBAgQIFAuIFht3Z4QrApWW7e7D5MrE6zWfqMFq7WbOYMAAQIECBAgQIAAAQIE6hMQrNbn1gxnCVYFq83Qp2qcRmDPF7KtAHY13qlFV6x2/+KLY97zVjTey4gECBAgQIAAAQIECBAgQKBMQLDaui0hWBWstm53H0ZX1vuv98RT3/mnxl9xCwarufaumL/sNdF57Asa72VEAgQIECBAgAABAgQIECAgWI1cLpf/1eofwapgtdV7/LC4vv0/+lr8/Kt/F8OD/Y293hYMVtvmPSN6fvWcaD/imMZaGY0AAQIECBAgQIAAAQIECFQQsGK1ddtCsCpYbd3uPoyubKD3kdiz/ZYYOtDb2KtuwWC146gT4oiT39BYJ6MRIECAAAECBAgQIECAAIFJBASrrdsaglXBaut29+F0ZcPD8dgXbo7+x3/Q2KtuwWDV/qqNbRGjESBAgAABAgQIECBAgMDUAoLV1u0QwapgtXW7+zC7sid3bImnv/+lxl51iwWr9ldtbHsYjQABAgQIECBAgAABAgSmFxCsTm/UrEcIVgWrzdq76i4T2PfwA/Hkjs0xPDTYOJsWC1btr9q41jASAQIECBAgQIAAAQIECFQnIFitzqkZjxKsClabsW/VXEGg/8mfxuPZPqsHn26cT4sFq/ZXbVxrGIkAAQIECBAgQIAAAQIEqhMQrFbn1IxHCVYFq83Yt2quIDA82B97vvA/o3/vjxvn02LBqv1VG9caRiJAgAABAgQIECBAgACB6gQEq9U5NeNRglXBajP2rZonEdj7f++K/T/8auN8WihYtb9q49rCSAQIECBAgAABAgQIECBQvYBgtXqrZjtSsCpYbbaeVe8UAk9/7/548hv/EDE81BinFgpW7a/amJYwCgECBAgQIECAAAECBAjUJiBYrc2rmY4WrApWm6lf1TqNQP8TP4zH778thvr3N8aqhYJV+6s2piWMQoAAAQIECBAgQIAAAQK1CQhWa/NqpqMFq4LVZupXtU4jkN9n9Yt/FVnA2pBPqwSrubbofvZLY97SVzSExSAECBAgQIAAAQIECBAgQKBaAcFqtVLNd5xgVbDafF2r4ikF+n/+k9j74N/EQO+jo8flImK4PrWmDlZHrzvXFp3HLIueX/7tiFxbfQ7OIkCAAAECBAgQIECAAAECdQoIVuuEa4LTBKuC1SZoUyXWLDA8HANPPRYxPBiPb//LGDxY59YATRysdhy1NLqf/eLIdS2M9iOOqZnQCQQIECBAgAABAgQIECBAoBECgtVGKKY5hmBVsJpmZ6qqYQKP3H31YRmsdi5+fvT86u83zNFABAgQIECAAAECBAgQIECgHgHBaj1qzXGOYFWw2hydqsq6BQSrddM5kQABAgQIECBAgAABAgQIHLKAYPWQCZMdQLAqWE22ORXWGIFH/881MfD0z+sbrIm3Auh61qkx/8Qz6rtuZxEgQIAAAQIECBAgQIAAgQYJCFYbBJngMIJVwWqCbamkRgo89o//Pfp799Q3ZBMHq92/+OKY97wV9V23swgQIECAAAECBAgQIECAQIMEBKsNgkxwGMGqYDXBtlRSIwX2fvmvY/9PdtY9ZOf8edE5r7vu8+fkxLaOmP+8FdG15NfnZHqTEiBAgAABAgQIECBAgACBgoBgtXV7QbAqWG3d7nZleYGnvnVPPLXz8zE8PFyXSDMGq7nOnuj5ld+Njmc8u65rdhIBAgQIECBAgAABAgQIEGiUgGC1UZLpjSNYFaym15UqaqjAQO9PYs8/3RRDA/11jdvR1RldR/TUde5cndS+6Fmx4JTzInJtc1WCeQkQIECAAAECBAgQIECAQF5AsNq6jSBYFay2bne7sjGBJ7bfHAce/fe6RNo62mPewgV1nTsnJ2X7wj77JTFv6SvnZHqTEiBAgAABAgQIECBAgACBYgHBauv2g2BVsNq63e3KxgQO/Oj/xt5/+V8xPDRUs0quLRfdCxZEW3tzrP5sm/eM6PnVc6L9iGNqvlYnECBAgAABAgQIECBAgACBRgsIVhstms54glXBajrdqJIZFdjzueujb+9Pa58jWwHaMz/auzprP3e2z8i1RfezXxrzlr5itmc2HwECBAgQIECAAAECBAgQqCggWG3dxhCsClZbt7tdWYlA/94fxuPbb4mh/r6aZZpln9X2RUviiF89J3Kd82u+RicQIECAAAECBAgQIECAAIGZEBCszoRqGmMKVgWraXSiKmZFYN/3vxBPfuOemrcEyLW1xbyFR0T211Q/bfOOjJ5f+Z1oX/ALqZaoLgIECBAgQIAAAQIECBA4DAUEq6170wWrgtXW7W5XVlHg6W/dE73f/kLN4WrX/HnRMa87SdW2rgUx/6RXR8fi5yVZn6IIECBAgAABAgQIECBA4PAVEKy27r0XrApWW7e7XdmkAvsf/lI8+Y27Y2igv2qltvb26M5WreZyVZ8zGwe29RwTPcteE9k2AD4ECBAgQIAAAQIECBAgQCA1AcFqanekcfUIVgWrjesmIzWVwODTj8QTX7ot+p/aW3XdXT3zoqM7nVWrnce+IOYve03k2ruqvgYHEiBAgAABAgQIECBAgACB2RQQrM6m9uzOJVgVrM5ux5ktLYHhodj9938ebUMDMTw8PG1t+b1WFxwRufa53Wt1aHAohnt+IY5+6Zppa3YAAQIECBAgQIAAAQIECBCYSwHB6lzqz+zcglXB6sx2mNGTF9h553uis2M4eno6YnhwaNp62zs7o3tBz7THzdQBfQf740DvvjjqRStjwUmvnKlpjEuAAAECBAgQIECAAAECBBoiIFhtCGOSgwhWBatJNqaiZk8gC1b79u+Pjs72OOronhgeHJx28s7586Jzll9kla2offrJ/XHgqX3R09MZC18oWJ32RjmAAAECBAgQIECAAAECBOZcQLA657dgxgoQrApWZ6y5DNwcAoVgNV9tLuKooxdER9vw1FsD5HLR1TM/Oro6Z+UiBwcG44lHn4z+g/2xaFF3ZO/PEqzOCr1JCBAgQIAAAQIECBAgQOAQBQSrhwiY8OmCVcFqwu2ptNkQKAlWRyfsWTAvjjiic8rVq7m2XHQd0RPtHR0zWuaB/X3x+M/2xvDQcD5UbW/P5ecTrM4ou8EJECBAgAABAgQIECBAoEECgtUGQSY4jGBVsJpgWyppNgUqBavZ/O3tbXHUMQsiBgcmLWcmw9UsSO3d+3Tsfbw32ttysXBhd3R0jL80S7A6m11iLgIECBAgQIAAAQIECBCoV0CwWq9c+ucJVgWr6XepCmdUYLJgtTDpkYuPiM62mHRrgFy2LUC2crWzcStXB/pHHv3f//SBaGvL5VeqFoeqWW2C1RltC4MTIECAAAECBAgQIECAQIMEBKsNgkxwGMGqYDXBtlTSbApMF6xmtcyf3xULFnVPujVAFq52zu+Oju7uQyp9eDjiwNMH4vFHfh6Dg0P5x/7LV6oWJhCsHhK1kwkQIECAAAECBAgQIEBglgQEq7MEPQfTCFYFq3PQdqacS4EsvHz6wED0DwxFV2db/Ojvroi+/furKmnRkfOju6s9hoeGKh6frVrNXmqVaxt/ZL+agYeHh+Pggf74+WO9cfBAX/6Uzs62fKiarVit9FnwK6+JeNbLYmBwKOZ1tcf87vZqpnIMAQIECBAgQIAAAQIECBCYVQHB6qxyz+pkglXB6qw2nMnmViALVfc8eTAO9o0HowM/2RG9//J3MTxwsOriOjvbY8Gi+dGRf5HUcLZPwPi5uYi2jo786tWpAtahwaEY6B+I/U8fjH29+/MrVAufefM6YsGCrsnr6Tk22l60OgY6FuaPyaromd8RRy7orPoaHEiAAAECBAgQIECAAAECBGZDQLA6G8pzM4dgVbA6N51n1jkR2PtUfzy9v+xlVMPD0f/Iznjqwb+pKVydiQvIVqf29HRGFqxO+ln4izH0vNdGHHF8ySFtuVw8Y0Fn9MyzcnUm7o0xCRAgQIAAAQIECBAgQKA+AcFqfW7NcJZgVbDaDH2qxgYI7D84GHt7+2OoeHXp2LjDMbDn4Xj6a5+Kwd5HGjBb7UNkq2AXLuya9NH/bMTho06M4aVnRsw/uuIEnR1tcfSirtGVtLXX4AwCBAgQIECAAAECBAgQINBoAcFqo0XTGU+wKlhNpxtVMmMCWZb62N6D0TdQeW/UkYmHY/DnP82HqwNP/GDGaikfuKpVqll1x74ohk84I6Jr5PH/yT7ZitWjFk6xjcCsXZmJCBAgQIAAAQIECBAgQIBAhGC1dbtAsCpYbd3udmVjAhW3AJjEZ/Dpx2Lf1z8T/T/bOaOCuVzkH/nvmd8ZuUleUFUoYPiZL47h5/xmRMf8aWuyJcC0RA4gQIAAAQIECBAgQIAAgVkUEKzOIvYsTyVYFazOcsuZbrYFpt4CoHI1QweejH3/enf0/eirDS83l8vFvHntVQWq2eTDz/7NGH7WyyLaq1+FakuAht82AxIgQIAAAQIECBAgQIBAnQKC1TrhmuA0wapgtQnaVImHItC7byB69/VHxa1Vpxh4uG9f7N/5j3Hg+9sPZfqxc9vb22L+/I6pX0xVNtPwc18dw8f/WkTbFC+zqlBde3sujl7YFV2dbQ2p3SAECBAgQIAAAQIECBAgQKBeAcFqvXLpnydYFaym36UqrFsgC1P7+ofiid6+GBwarnmc4YGDceC7X4j9O++t+dzshGz/1O7ukTA1Czur/rR3xfDzXhvDx/xKRK72cLS7sy2OXOglVlV7O5AAAQIECBAgQIAAAQIEZkxAsDpjtHM+sGBVsDrnTaiAxgkMDQ9Hf/9wDAwOx+DgcGT/O/tkL63qn/LFVZPXMDw0EAf//YHYt2PztIVmj/l3drZFZ2d7/nH/7H/X/MlC1WW/H8NHnhhRx/nZKd2d7dHelsufnu25moW6HR256Gxvq2fImi/BCQQIECBAgAABAgQIECBAoCAgWG3dXhCsClZbt7sPgyvLwtMsMM0HqUPDkz7unwWsB/uGxoLWmmmGh2L4kW/EwLc+E4N9B0pO7+hoy69Mzf56yJ+eY2Poea+NWPScuofqaM/lg9XJPmNBa3sWAufywasPAQIECBAgQIAAAQIECBCYKQHB6kzJzv24glXB6tx3oQqqFshC1P6B8dWoteybmm0J0D84VPVcEw4cHo7c3u9GbuffRQz21T/OJGcOP+OEGH7eayLmH1P32FlG2tXRHlm4Wu0nOydb3Zqdk730qqYtC6qdxHEECBAgQIAAAQIECBAgcNgKCFZb99YLVgWrrdvdTX5l2SrTgYFsRerIatShOvZILSbIzj/QP1jzS6wmMD75g2j73j9E7Hu0YcLDRy+L4eeeGdH9jEMaMwtI53VNvlq1msHz2wdkQevoKtzOjupD2mrGdwwBAgQIECBAgAABAgQIHF4CgtXWvd+CVcFq63Z3k11ZFp5mIerAwNCUj/UfymUd7B/MbxtwyJ+nfzYSrvb+6JCHGj7+lBj+pf8U0XnEIY2VxZ/5/V3bG7AlQVklWdCahbZZyJqtarV7wCHdKicTIECAAAECBAgQIEDgsBIQrLbu7RasClZbt7sTv7Is4OzvH4qB0dWotTzWX++lZeFtFq42ZK79j0du1z2Re+K79ZYTw886PYaf/R8j2rvrHqNwYhZ+ZqtVZ2N96dj2AR1t+bA1C119CBAgQIAAAQIECBAgQIBAJQHBauv2hWBVsNq63Z3YlRVeIJU93p/9fUPCzTqu8UDfYH5FbEM+fb2Re/jeyD369ZqHy1apDi95SURbR83nVjqhKx9yNn61ajXFFYLWrs62yH75ECBAgAABAgQIECBAgACBgoBgtXV7QbAqWG3d7k7kyrIANQszs5dHzVWYWkyRrZTtG2jQqtVs4IH9kfvBP0XuJ1+pWnz4xN+O4eNOjsgd2n6ohQnbcrno7mqL7K9z/RlZOStgnev7YH4CBAgQIECAAAECBAikIiBYTeVONL4OwapgtfFdZcQxgWxl6r79DdrXtIGuDV21mqHoejQAACAASURBVNU12Be5H38pcj/8p6mrbO+K4eeviuGjXxCN3Kg0W6marVhN5ZPFu11dbTG/uzHBcSrXpQ4CBAgQIECAAAECBAgQqF1AsFq7WbOcIVgVrDZLrzZdndnK0H37B6JRT903EqB/cCi/grahn+HByP30XyL3/bsrD9u1KIaff1YMH/nchk6bLVKd19ke2UrRlD5ZNe3tuVjQ05itDlK6NrUQIECAAAECBAgQIECAQPUCgtXqrZrtSMGqYLXZerZp6n1078HoHxjK7/s5E2+qPxSIbIfVbNXqUMNT3+HIPfqNyH3vH/KrWMc+C38xhp57ZsSCJYdSdsVzO9rbojuxfU0z377+kb1sF8zviEVHdDb8ug1IgAABAgQIECBAgAABAs0hIFhtjvtUT5WCVcFqPX3jnGkEevcNRO++/rE9VVN7VD0rv29gKB/8zsQn99TuyH3j9ny4OnzUiRHZnqpdCxs+VbZatbuzPdoTWq2ahaoHi14Q1tGei+OOmtfInQ8a7mhAAgQIECBAgAABAgQIEJg5AcHqzNnO9ciCVcHqXPdgS86frVYtf9Q+tZWV2f6vB/uGIvvrTHza+p+K2LMzho8/JYYb9JKq8jqz0DILVlP5ZJbZfc9WqhY+Wfi7YH5nLDrClgCp3Cd1ECBAgAABAgQIECBAYDYFBKuzqT27cwlWBauz23GHwWxDQxE/e+JAxcfssyCwq7M9UtkNNAsBs/1WG/0ZHh6Of9/zg/jOz74bL33ei2PhvJlZrdrV0R6ZaQqfbFuFg/2Vg+psq4JjjuxOoUw1ECBAgAABAgQIECBAgMAsCwhWZxl8FqcTrApWZ7HdDo+p9u0fjL1P941tA1B+1dlj69kqy2wl41x/sjDwQP/gpLXWU1/vgd745IOfivff/cF46uDT8eu/dEpcfuY742XPe0l0tDVudWnmOK+rcePVc62Fc7IVqllIPdnq3yz8Pf7oeYcyhXMJECBAgAABAgQIECBAoEkFBKtNeuOqKFuwKlitok0cUovAk0/3x1P7BmKqB+yzN9hnqxjbEkhXD/YPxsDgoW8HkK1SfeiHO+LPNm+If/n3hyaQvfHF58R//U9vj+csfnYtnBWPzTLpzs40Xgo2MDiU3692qh0Vsvv9zMWC1UO+8QYgQIAAAQIECBAgQIBAEwoIVpvwplVZsmBVsFplqzisWoFqgtVsrCxU7epsm/MXL2WrLbNw9VC2Wn386Sfi5s/dEjfe95dTMj3zGb8QV/z2u+O1LzozOtrr33M0v+q3a+63VMhe/pX9mi6WFqxW+9PjOAIECBAgQIAAAQIECLSegGC19e5p4YoEq4LV1u3uObqyaoPVrLxU3mp/oOgt9rWy7e/fF2/76Dvivm99oepTP3ze/x+/9+ur6n5xVldHW3R2tFU930wcmK1SzULVaj6C1WqUHEOAAAECBAgQIECAAIHWFBCstuZ9zec67373u6dbbNXUV589npx9sr8Wfg0NDUX2a3BwMP9rYGAg+vv7878effTR2Lp1a1Nfs+LnVqCWYLUQrmZBYUf73AWF2VYAfQO1rVrNQuHO9rb4wRM/iFU3vCl+/MRPqoZ/22/+QVxz9p/n56x1G4JspW9319xuo5C9pCrbAqDaj2C1WinHESBAgAABAgQIECBAoPUEBKutd08LVyRYFay2bnfP0ZXVGqzmw9Vsz9A5XoVZy6rV/B6xHW2R/bV/cCCu+tRfxM2fu60q8Xmd3fHJiz8ay5//kvzx/YOjj9NX+Uc8mVMWRM/FJyuxr449aQWrc3G3zEmAAAECBAgQIECAAIE0BASradyHmahCsCpYnYm+OqzHrCdYLYDNZWiYBZzZm+2n+2SrVLMXR2VhcOGzv29//OEtb47P7fznGB4u/p3S0TrahuIvfv/P4g//49tKfmNoKFsxOxTZfq9TfXK5XMzLXvrVNvkc09Vf7+9ni9+zvWinq7HS+ILVetWdR4AAAQIECBAgQIAAgeYXEKw2/z2c7AoEq4LV1u3uObqyQwlWs5I72rOXWs3+i5mySDNbtZqFnJU+2aP/U21Z8Beb3xGf/MrUL6/Kxv3IH/59vOz5v1VxjizYzQLeyT7ZdgndnbO/WnVoOHvBV7aFSJXLassuQLA6Rz+MpiVAgAABAgQIECBAgEACAoLVBG7CDJUgWBWszlBrHb7DHmqwmsnN1Vvvs5cxZStHyz/Fj/5PdmerDVavfePH44xf/b1JG2SyrQHm6kVf2QrVLPDNwtV6P4LVeuWcR4AAAQIECBAgQIAAgeYXEKw2/z2c7AoEq4LV1u3uObqyRgSrhXC1K3vsPUsUZ/GTBavZi5myHDGbub2KFbT7+56Od3/8TfHFnXdPW+nlr/tgvPFl75jyuHyYOTC+QjQzyLZJyFbzzuYnqyN7/P8QMtV8uYLV2bxr5iJAgAABAgQIECBAgEBaAoLVtO5HI6sRrApWG9lPxoqIRgWr+UAul8s/+j4Xe4rWcjMbHazWMvdMHZuFy1m4e6ihqmB1pu6QcQkQIECAAAECBAgQINAcAoLV5rhP9VQpWBWs1tM3zplCoJHB6li42jX7K1druck/3/94vOOvXxf/+qMHpz3tDS+7JNa97kPTHjeXBzQyVBWszuWdNDcBAgQIECBAgAABAgTmXkCwOvf3YKYqEKwKVmeqtw7bcRsdrGaQc7XnarU3cc9TP4u33nJGPPzozmlPOfvFb4s/XfXhaY+bqwMa9fh/cf22Apiru2leAgQIECBAgAABAgQIzL2AYHXu78FMVSBYFazOVG8dtuPORLCaYWZ7jHZ1tCXp+ljvT/LB6r8/9p1p63vdr62OP/u9v4z2to5pj52LAw70DUYWrjbyI1htpKaxCBAgQIAAAQIECBAg0FwCgtXmul+1VCtYFazW0i+OrUJgpoLV/H6riW4J8O2f7IiLNp4Ze/c9Nq3Qy5e9Ot7/ho/F/K4jpj12tg9o9BYAhfoFq7N9J81HgAABAgQIECBAgACBdAQEq+nci0ZXIlgVrDa6pw778WYqWM1gsxWr2crV1D6tEqzOxGrV7F4JVlPrWPUQIECAAAECBAgQIEBg9gQEq7NnPdszCVYFq7Pdcy0/30wGq9leq/O62pMz/Mr3tsXFf/3aGBoanLa2E45dFn914b2xeMHx0x47mwcMDQ3Hgf6hGB5u7DYAgtXZvIvmIkCAAAECBAgQIECAQHoCgtX07kmjKhKsClYb1UvGGRWYyWA11e0AvvSd/x2X/PXrquqBVIPV/DYAWbBa1VXUdpAVq7V5OZoAAQIECBAgQIAAAQKtJCBYbaW7WXotglXBaut29xxd2UwGq7lcRHdne2QrV1P63PuN/xXr/uYNVZV0/DN+Mf7nBf87nrP4xKqOn62D+gaGon9gaEamE6zOCKtBCRAgQIAAAQIECBAg0BQCgtWmuE11FSlYFazW1ThOmlxgRoPVbJ/VzvboaE8rWP2bL304PvD376qqLY7sOSZuXnNPnPTMk6s6frYOOtg/FNmq1Zn4CFZnQtWYBAgQIECAAAECBAgQaA4BwWpz3Kd6qhSsClbr6RvnTCEgWJ26PZ7RszgfrC575n9Iqo8Eq0ndDsUQIECAAAECBAgQIECgZQQEqy1zKydciGBVsNq63T1HV3Y4Bqt/sfkd8cmv/GXV4h/5w7+Plz3/t6o+fjYOFKzOhrI5CBAgQIAAAQIECBAgcPgJFILVRlz5Qw89VPMwp5xySv6cRYsW1Xxu8QkrV66M4447Ljo7O6OjoyP/q729fexXLpeLtra2/CnZ32e/Wv0jWBWstnqPz/r1CVanJ58qWB0cGo5sv9Phoca9Rir7Mu/qbJtyb1rB6vT3zREECBAgQIAAAQIECBAgULuAYLV2s2Y5Q7AqWG2WXm2aOvcdHIy9vf0xPNy4YLBw8dmf9aS2x2rfwMG48hN/GP/nG39X9T36k7P+R5zzkv8y4fhM7EDfYAw1MFQds8vlYl5nW2T7nVb6zGSwmu2Je/zR86r2cSABAgQIECBAgAABAgQItI6AYLV17mX5lQhWBaut291zeGWPPHFwRt4wn2Kwur/v6Xj3x98UX9x5d9Xil7/ug/HGl71jwvEDg9lq1cGYgUw6prObyWC1Z15HHLWws2ofBxIgQIAAAQIECBAgQIBA6wgIVlvnXgpWh4djaGgo/2twcDD/a2BgIPr7+/O/Hn300di6dWvr3nFXNisCWUj3xJN9kT3W3sjPdOFgI+eqdqx9fU/F5R97fXzpO/+n2lPi4jP+PC581Z9WDlb7B6OxaiPTTGc3U8FqtgXBsUd2V23jQAIECBAgQIAAAQIECBBoLQHBamvdz+KrsWJVsNq63T3HV5YFdXt7+yJbhdmoz3ThYKPmqWWcPU/9LN56yxnx8KM7qz7t7Be/Lf501YdbOljN9uju7myPoxZ2xeje3VX7OJAAAQIECBAgQIAAAQIEWkdAsNo697L8SgSrgtXW7e5EriwLWPv6hmK4Aeswc5GLzo7sLXvpvFlvaHgofr7v8RgaGqxavLtzfiyYN/FthNneqv0DmVTjwuhCUdPZZQH4wOBQ1dcw1YFtuVxkj/8LVBvCaRACBAgQIECAAAECBAg0tYBgtalv35TFC1YFq63b3a6MAAECBAgQIECAAAECBAgQIDDHAoLVOb4BMzi9YFWwOoPtZWgCBAgQIECAAAECBAgQIECAwOEtIFht3fsvWBWstm53uzICBAgQIECAAAECBAgQIECAwBwLCFbn+AbM4PSCVcHqDLaXoQkQIECAAAECBAgQIECAAAECh7eAYLV1779gVbDaut3tysYE9mxZGyuv3h7Lr9oa15+1uERmxw2nxprYGA9eevKE48sJV9/yYFx2ysg/LYxZibl4nrHjzi+dY+S8HXHdqWtiUyyPKz97faw6rny0PbH50pWx/v7VsfHBy6JQYX7Me1fE1htWRenVuOkECBAgQIAAAQIECBAgQCAtAcFqWvejkdUIVgWrjewnYyUqMB6CTgwwy4PV/P++vULQ+dB1ceqFm8bC2UnDzUrHXb09IkrD0TzV6LExWbA69vtREgoLVhNtNGURIECAAAECBAgQIECAwAQBwWrrNoVgVbDaut3tysYECkHklSeuj/XfvbJkpWdxsDoSwMYkq0fHg9Bs5eqbfzDZqtGRVai7RlfHjsy9NFbHpog14ytes+KyuW+N1RG374oVFVasFmrbGGtiTVHdglXNTYAAAQIECBAgQIAAAQLNIiBYbZY7VXudglXBau1d44ymExgPIpfGHUWhZyHcLGwFMBKsLi157L70YkdC06giWM2OybYNKMy98YxtsebhC4q2HMjGujWW3rIitl24rUKwOj7XZUs2x9rXjB8jWG26FlQwAQIECBAgQIAAAQIEDlsBwWrr3nrBqmC1dbvblY0JFAeRUbYqdeKK1UMMVvOP78dYODs29xURV79mV1xQ2Cs1O27j0tia/+cVgtWScUb2Wt12xsgesYJVzU2AAAECBAgQIECAAAECzSIgWG2WO1V7nYJVwWrtXeOMphMoDSJHXwgVI1sC/Ljo5VU1r1jN751a/indn3V87pfHFy9dGbtGtwPIbwNwwta4/qVfLFmNOjJaaZCa/ydFL6zKh8NeXtV0fahgAgQIECBAgAABAgQIHI4CgtXWveuCVcFq63a3KxsTmLDC85Hs0fr1EVdtjQseXhkN3Qogv9J019g+rRMC0fx2ADGyDUC2r2qUPuafL3q0vomx7Uho+/J/FqxqbwIECBAgQIAAAQIECBBoDgHBanPcp3qqFKwKVuvpG+c0mUClR+cLL6pafvr22H7ixvzep418eVX5HqvZ6tjF+cB0V1xwS8SabBuAsX9WuhVA5Uf9R1fanrgxtp5wqxWrTdaDyiVAgAABAgQIECBAgMDhKiBYbd07L1gVrLZud7uyMYEpg8r7I+L8kWA1++T3XL299HH+/G/kV6JuiuVXTbfPadFLp4peXpUPUUcf8V9/f4yNM7I6tThYnbgNQOFCClsVfOiqXfFOWwHocAIECBAgQIAAAQIECBBoAgHBahPcpDpLFKwKVutsHac1k8CkL3sqPHJfFKxm1zUSYE58EH/1LQ/GZaeMXPnkL5AaCVY3nT6yh2v5fqgTVsWWB6tlWwmUOI/W+wtvWR5/d1ul/V0jimtspnukVgIECBAgQIAAAQIECBBoTQHBamve1+yqBKuC1dbtbldGgAABAgQIECBAgAABAgQIEJhjAcHqHN+AGZxesCpYncH2MjQBAgQIECBAgAABAgQIECBA4PAWqBSs/sEf/MGkKB/96Ecn/b2HHnqoZsxTThl59HTRokU1n1t8wsqVK+O4446Lzs7O6OjoyP9qb28f+5XL5aKtrS1/Svb32a9W/whWBaut3uOujwABAgQIECBAgAABAgQIECAwZwKTrVitFK5OFapmFyBYnbPbWHFiwapgNa2OVA0BAgQIECBAgAABAgQIECBAoIUEptoKoDhcnS5UFaym1xSCVcFqel2pIgIECBAgQIAAAQIECBAgQIBAiwhMt8dqFq5WE6oKVtNrCMGqYDW9rlQRAQIECBAgQIAAAQIECBAgQKBFBKYLVmu5TFsB1KI188cKVgWrM99lZiBAgAABAgQIECBAgAABAgQIHKYCgtXWvfGCVcFq63a3KyNAgAABAgQIECBAgAABAgQIzLGAYHWOb8AMTi9YFazOYHsZmgABAgQIECBAgAABAgQIECBweAsIVlv3/gtWBaut292ujAABAgQIECBAgAABAgQIECAwxwKC1Tm+ATM4vWBVsDqD7WVoAgQIECBAgAABAgQIECBAgMDhLSBYbd37L1gVrLZud7syAgQIECBAgAABAgQIECBAgMAcCwhW5/gGzOD0glXB6gy2l6EJECBAgAABAgQIECBAgAABAgQOVaAQzj700EM1D3XKKafkz1m0aFHN5xafsHLlyjjuuOOis7MzOjo68r/a29vHfuVyuWhra8ufkv199qvVP4JVwWqr97jrI0CAAAECBAgQIECAAAECBAg0tYBgNc3bJ1gVrKbZmaoiQIAAAQIECBAgQIAAAQIECBDICwhW02wEwapgNc3OVBUBAgQIECBAgAABAgQIECBAgIBgNeEeEKwKVsfac8cNp8aa26fu1oUnnBbLz1oT7zzvtFjcnnBnK612gcGdsfF3z4sbd2ennhvX378ulnfVPsxkZxT6a/lVW+P6sxaPHbZny9pYefX2iNOvjK03rIrx32nc3EYiQIAAAQIECBAgQIAAAQLNLGDFapp3T7AqWK0pWB07+IRVce0NV8aKJWk2tqpqF+j78rXxykvuir7RU1e87764duXC2gea5AzBasMoDUSAAAECBAgQIECAAAECh5mAYDXNGy5YFaxODFbP3xgPXnryxI7t643dX70jrrh8Y+zYF9G18trY+r4V0bjoLc0fksOjqr7Yfs3psfaTEUtPWBq7Ht4VccaGuO+aMxt2fycLVg8PX1dJgAABAgQIECBAgAABAgTqFxCs1m83k2cKVgWr1Qero0f2fX59nP6uzRGxPDZsvT7O9Oz2TP6Mzs7Ye++JdWdcEdt6zo2bbjkhbnrTtbEjlseVn70+Vh3XmBIEq41xNAoBAgQIECBAgAABAgQIHH4CgtU077lgVbBac7Aaj2yOta9ZH9ujK9bcdn9c/KJsiD2x+dKVsf7+kTDu1b2b47r/dmN8+qE9ce4tD8Zlp4xOM9gbO++9NW796N3xxW/vib7oisUnvTxe/YbV8ebXnjzpvq29374nbv2rW2PzfbuiNzvnFefGOy+5OM5cePdILcX7cxbqy/+zV8eTW66L9Td/OnY8cm5sfPCyKKzF3fP1zXHH7XfF9q/ujF17s/oWxtKXLI9Vr784zn3FkijZXrR8zK03xk1/tTm2Pdwb0bM4lp/9zrjswjNjaU/E7s9fF++/5q7Y/kjE4lN+Jy7+k8ti1fMm2ax0z47YfOemuOvzD8TObKysivw+tqvj4rOXx5KeCl8chXPu+WLsfCR7cH9hLH3Vq+Ocsy+Ic19SX8q9+5Nr4qxrdkTX62+Kz13+3Lg7fy8jTn7Plth49hT7PQzuiQfu/FBs3LI9HsjXn9WyKi546wVx5kmja5kfui5OvXDThAsp7LU6tsdqYaX0NzfGWeffGLtjRWy499o488gKBg9dF6dfuCn6llwcd35qTSwr7PdbT3/NgGeaX/eqIkCAAAECBAgQIECAAIFmFRCspnnnBKuC1dqD1d2b4+1nrY8HYlms++Sdce4JpcHqZVctjc1Xb4pdoyOvLgSr+3bFXVecF9d+vrCLZ+kPRddJa+LmWy6Ok8vCxN1b1sbZV28f2/tz/KylsfqqVbHr6usmCVYviytP3Bzrbx+rZCxYnXzMkdGXnr8x7rz05PFwtRCsnro6Ll6yPW7cUhhzvJquV1wZ1//HbbH2feW1Lo8rt1wfq8rzyd2bY+0b1sf2fZN8OZywOjbeflmpx5TndMXJl94WN5+/rDQUnva7Z3fc9Zaz4tqvL4mLb98Sa14Y0bt1XbzqvdsiXrguPnH7ubG00hi7t8X6S9fF5ocr/WZXLL/qk3H9WUsiag1WY2dsPGvkJVpnXnNfbDhj4mYTO244Pdbc3hdLLroztly4bKSAevprRjynBXcAAQIECBAgQIAAAQIECBCoSUCwWhPXrB0sWBWsjjVb4VHtmGyP1dEjx1YYlrw5vrBidTSYPGtdXHnh78TJSworNbM9PF8Zaz/ZF3HCqrjy6ovj1csWR1d7RO83N8d1G94fm7/dF12v2BCf+eCZ42+G//bGOOdNN8auWBqrrtoQF5+5LBZnQ+7dGZtvuCLWFwLOSitWRyLSWPWeK+OCs06OsVLGHns/OdZ8YENceOqSfB3Rtyd23XdrrHvvXbGr/DH4sVW62ZhdcfKF18eGNaflx+z98nWx5pJCkNwVyy+/LTacvSwW7nsgrnvL22PTwxFLLrkztrxlNADM19Ub97znVXHFvaNjnX/ayOrUwb7Y88NtcesfXxF3PRxRWNU5otob2977qli3tXT+7Jzd22+My6/YFDv3nRzrPrUxzn12Dd8hhRWixas/C0axJC7+2JZYc1LZeIO74q4Lz4lrvx7R9YqL4+Y/Xj1yr/v2xM4t74+LrtkWvXFyrPvkxtHgPWLal1cV9d2uvz0vzvnAzoiV18Z95fv4Du6I6161JjbtKw726+mvGfKsgd6hBAgQIECAAAECBAgQIECgGgHBajVKs3+MYFWwWn2wmg8e74gr3pcFeBFLzt8Ynxxb1VkUrL5oXXzilnNjaeHx7GyG722Kc15/3UhgWWn15r7tce2Za+OufV1x7kc+F+tekqWnffHAB14Zb//bvjj58k/ExteXrZssCvdikmC10nm9914Rr3rPPZM85j5+HWMrbbP6i4LVrrOvj8+9Z3nRqtBCQBcRZddemKukvnxGui2ueNW6uOdF62LLbedG+WLWCY/H5+/Sjrju1DWxKVbHTV++LE4r9o2IXR87L8754M5YfvXWuP411W8JsPOWs+K8m3eXhb/j11SyKnS0W/q+fG288pK7om/J6rjp45fFaWWrjCuNWUuwGj+8K9b8brbP65lx7X0bYkXxotXCNgDFdnX118x4zv7XuBkJECBAgAABAgQIECBAoNUFBKtp3mHBqmB1YrBaRa92nXJx3HbDmlg2FqiNB5KlqyxHBiusQBzZw/O0io+q77ztrDjvI7uj6/yNcf+l2U6oheCreGViaXFjAWTFYLWGly/t643evt7Y/eVPx/vftzF27IuoHKxWXsFZCA0nrEwtPAZfXN9kvoN90dt7MHp3b49Pf/Dq2PhQX5SuHt4Vd51/Tlz7zSVx7gdujsuyfWDLwtUqbl3pIX0PxLVnvD3uqrDSdSwU7lkdG++7LE4emytbHXp6rP1kxLLLPxF3lgfe2QxfvzFOf8vG6HvFhtg6ugK5pmA1CtsTRJx7w/2x7vTxPWoL2wAU7/9aX3/NgGfNN8AJBAgQIECAAAECBAgQIEBgegHB6vRGc3GEYFWwWkOwujCWvvC0WH7eBXHBGctiYUmoN8lKz/zo40FcpdB1rIAHr4tTL9oUY6s7x1aJVl6hmT+vEOBVDFZXl7ysquQHrHdn3HPnHbH58w/E1/Iv0Zr4qRysnhvX378ulpe9i2rSN95PFazmX7R0R9yRvfjp6ztjT6W9Vsu2Zdjz2bXx21cV9nAdednW8le9PFacelq84NkjWyvU8hkLTyutnO3bHteevjbuiuJVxNnoU93ryWevLViNGAvNz74+7i+sEB7bBqA4NK+zv7IrabBnLfaOJUCAAAECBAgQIECAAAEC1QoIVquVmt3jBKuC1YnB6jR7rFZu0anCtiqDuPIQsihY3fjgZZGtYZ3wKRxTS7Ba/MKinsWx7EWnxWkvekEsfeGyeMHSY+JrHzgnrr1/shWrlcPamoPVwd2x+fKzY33+RV5dsfik/xCnnfqieMGJ/yGWnbg0jvnm++Oca7aXrVgdufo9D90Vt3741vj0Q2WBcM/iWH7+hrjqLafF4qoC1sI+r9N/6ZSuNB5fTVoSPk8zTK3Baozt81oUZhe2AThjQ9x3zZkxskNAnf01Wm/jPKd3dAQBAgQIECBAgAABAgQIEKhHQLBaj9rMnyNYFazOQrBa54rCwj6kJS/JKvuhqDlYHQ8Tl55/U2y85LTqVt5OE/LWGqz2bl0Xr3rvtogTVsdNt1wWpx1Zel2V91gtu/Zs64Ddu2LHVx+I7V/YHHfftyt6s9d1XXJnfKLkRVmTfJGM7WNazRdN8UrdKoPMsmFrDlaLXvBV2He3sA3AivfdF9euLGy8Wmd/lV/2oXpWw+gYAgQIECBAgAABAgQIECBQh4BgtQ60WThFsCpYnYVgtd49VnfGxrPOixt3T/Jm+myTgfuvjdMvvWt8+4Dsd2hLpgAAIABJREFUaqYKQcceb6/8SH/E7th80Vmx/sGZXLE6HgSW7x9auBm7P/X2OOt9D1RcsTrZ90Lfg9fF2Rdtit1LLo47t6yJZdN8gRT2JY2V18Z971sxuvqz7KSxPVgjxsPMKoLMwsrSorFrD1bH729+xey7uuPGV62JTfsmvtCqvj1Wpwaq1XMWvq9NQYAAAQIECBAgQIAAAQKHqYBgNc0bL1gVrM5KsDr+lvflceWW62PVkrIfiH3b49oz18Zd+0r38yy8Xb7r7Ovjc4V9NgunZo/Tv/OsWH9/VB+s7rkn1q68IrZH5Rdb9T10XZx34abYFTMZrO6Je961Mq74fETFPWf37Yjrzl8Tmx6O0mC1sFVC8Z6jxYwP3xXnnX1t7KwmWB3cGRt/Nwuty/dPnfhFVVglGkWP3xfvzfqJW86NpSVbD/TGtveujHVb+0qur55gNQrBbqyOmz6yKNa/5cbYXen6x1bf1tBfjfRM8/tdVQQIECBAgAABAgQIECDQIgKC1TRvpGBVsDo7wWr0xQMfPDve/rHdESesiiuvvjhevWzkZUu939wc1214f2z+dl90vWJDfGb0LfL5wh65J9aefUVs39cVJ194fWxYc1osyV4ctXdnbL7hili/JYtAawhWo7AKNmLp66+P69cuHxlv3+7Y8dlbY/01m/Ohavap/PKqxuyxuvO2s+K8j2QW58b1N1wWy7MiBvti99c/HbduuDY2Z6Fq9ine73Zsa4SlseqqDXHxGcticc/IYX0/3BGbPnRR3Pj5vijdD3WSL57CitKec+Ome9fFaWUv4yo565sb46zzb4zdxWF0Fsy+/ry48eGIpWddGRsuXRXLsu0M+nbHAxuviLW37Ii+nnPj+nvWxfLRGnfcfHqsuaUvlrzpprhz7fgWDFNve9AXD3zglfH2v41YesIxsevhx6KwLUDpldXRX430TPP7XVUECBAgQIAAAQIECBAg0CICgtU0b6RgVbA61pmFFYUlYV7VfVvFvpv7dsVdV5wX1+Zf2DTx03XSmrj5lovj5NEgrnBE8SrS0rO6YvkrTovtn99e/YrVCW+CLx1x4Rkb4t0n3hhX3Lw7uk46M1YsXxHvvGRFLG7wHqvjgXEFiCNXxIbLXxA3vvfG2N2zLM585fJYsfbiWLE4YveWtXH21dujsmDk92zdePtlEwwnhJD5sLIvus7fGPdfWvG1YOOnjK1ujTj5PVti49mjy42LXwI24TKWxupb7ozLThlPbPd8dm2svGr72JGF1brT7idbCIGzM6cKguvor8Z4Vv1D4kACBAgQIECAAAECBAgQIFCXgGC1LrYZP0mwKlgda7IZD1azmQZ7Y+e9d8Qdn9gc2/Jvte+KxSe9PF79htXx5teePPnb7B95IDZ9+Ka443M7Ys++iIUnrIg3X/7uWNN9R5x64aaagtWsjD0PbooP3XzHaA0LY+lLlseq898Zq1+yOGLfjth4ydq48esHY/FrNsTHrp6BYDVfxAOx6friazotlp+1Jt553mmxuL0vdtxyUay9eUccPO7M2HDHhnywmn16v31P3LFpc2x/8Gux85GRiHXhCcXnTvO9sfeeWHfGFbEtlsTFt2+JNS+c/numsCVDvHBdfOL2c2Np4ZTenXHPbbfGHfd8caSWI5fGaaevijXvWB2nHVc2bt/O2PTeK+LW0ZdsVR2sFgW7Sy66M7ZcOMXusXX01yF7Ts/nCAIECBAgQIAAAQIECBAgcEgCgtVD4puxkwWrgtUZa67ZGHhsteObbooH33XabExpDgIECBAgQIAAAQIECBAgQIDArAoIVmeVu+rJBKuC1aqbZfYPzF6C9KpYt7X4jfRFVRTt83nmNffFhjMWzn6JZiRAgAABAgQIECBAgAABAgQIzLCAYHWGgescXrAqWK2zdWbntOzt8yvfc0/09Zwcaz6wIS48dUn+hVd9P3wgbvn/1sbGh/ry+24WvyRpdiozCwECBAgQIECAAAECBAgQIEBgdgQEq7PjXOssglXBaq09M7vHD+6OzZefHesneeFVxMSXJM1ugWYjQIAAAQIECBAgQIAAAQIECMysgGB1Zn3rHV2wKlitt3dm77z8C4lujVs/end88dvZC68iuo5bFi8/89xY/YZVcXL5S5JmrzIzESBAgAABAgQIECBAgAABAgRmXECwOuPEdU0gWBWs1tU4TiJAgAABAgQIECBAgAABAgQIEJgdAcHq7DjXOotgVbBaa884ngABAgQIECBAgAABAgQIECBAYBYFBKuziF3DVIJVwWoN7eJQAgQIECBAgAABAgQIECBAgACB2RYQrM62eHXzCVYFq9V1iqMIECBAgAABAgQIECBAgAABAgTmRECwOifs004qWBWsTtskDiBAgAABAgQIECBAgAABAgQIEJg7AcHq3NlPNbNgVbCaZmeqigABAgQIECBAgAABAgQIECBAIC8gWE2zEQSrgtU0O1NVBAgQIECAAAECBAgQIECAAAECgtWEe0CwKlhNuD2VRoAAAQIECBAgQIAAAQIECBAgYMVqmj0gWBWsptmZqiJAgAABAgQIECBAgAABAgQIEMgLCFbTbATBqmA1zc5UFQECBAgQIECAAAECBAgQIECAgGA14R4QrApWE25PpREgQIAAAQIECBAgQIAAAQIECFixmmYPCFYFq2l2pqoIECBAgAABAgQIECBAgAABAgTyAoLVNBtBsCpYjYg9sfnSlbH+/gpNev7GePDSk6vq3j1b1sbKhy+o+viqBm2Sgw7na0/rFu2I605dE3HLg3HZKaOVPbI51r5mfcRVW+P6sxanVe5hWs2OG06NW0+Yi/sx8l237Yy5mDvhm53/GdkWKz57faw6LuE6lUaAAAECBAgQIEDgMBYQrKZ58wWrgtXIQo41t6+OjQ9eFiURao2B1GyEi3MXyEz9Azwb157mV0hqVZUHqyNB2q41RUFrXSVn494aSwVPdemVnzR3P8cpBqtz1Fv57/ddcUH2vT9NsOr7rSFtbxACBAgQIECAAAEChyQgWD0kvhk7WbAqWB0JVqPSytTaQojD+T++D+drn7Fvp7oGnhis7nlkcSy2Cq8uzZk6SbA6U7J1jmvFap1wTiNAgAABAgQIECAwewKC1dmzrmUmwapgNfKh4NVLJ65YLe+kh66LUy/cVPpPT78ytt6wKrIHrIvDxZFVsKWHLh97FHvi1gPV/V7kQ+DCI8RTz1E4dmOsuHfN2DYHqwuPiI+uxt1eUmKFVbuF36/h2svZRlxWxJXfXT9Wx/j1ltUZV8bWKyKufs36mLK24npOvzI2nrEt1oxuw1C4DxtjzdhK5Gfl73HZiGOPy4+umLtlRWy7cGTekfp+nH+sPn/Hi+5zVLAovp6K1z/Z3BPuw/K4cmxVaKUtKsruUVktq2/ZGHHh6FYAUV2/jjhlVY+MXWw11i9RvKqwtv7Nj1y8NUEx0DR9FYVVhbdErCn87BXfixLsylt6TLiGovtcuOaKm31MqK3IvkIQV/IHNNP0yOTB6sRrGK9/uuur8P/6yvpr+VUj3wf5rQCec8eU32fl3y/lP7OTf79F1PYzUrpidcSm2u+t8ntS/L1R/LNU+jOe3xbjpV+csGI1Tt8e2wtbwkzy3V7ek5P2di3/JuJYAgQIECBAgAABAgSmFRCsTks0JwcIVgWro403stJvLDYt31u14rYAo+eMHlsI9LaecGusvDqKArLxoCH7j/AVny/bemB07KXT/F62Z2YhkLkqrp5yjsKxa24vChfyYc+uuPKzF8Su16yJTSXXOBraZMHmaFA89hNZw7VX2o92JLjePh6ujYZOhUBiJMAp1FlqOlJDWW3l9RTCo+L7UDxfNsIje2LxcUX7ixY/BpwPDdfEprEgpdALhdBmdP4TR1Y1TxirJHSc+D02+dwrYls2b9F9KA3590T5atOSlcEV7kshDFv9gStj1+Xl+6pW6Ncip8J9GgvQxvol23dyPPxa+vEa+rfwBw7lPw8ZUxV9VThm+5hR6b0o1q60pcfINRV+Fsvv88jP05rvVtfzJcdOE6xO1yOTBavl9RT3Q1TYsqT0+sp7b+LP0tg9vuydEdd9qGzf3fHjR77Div6wqagXXv7Pxaajc5b9TE93/aWVTgxWp/re2lX+B1T5n8sY+Rme9Gdp4r0fC0jHtgJYH+N9Vvm7Pf/9VvZ9Myf/5mJSAgQIECBAgAABAoehgGA1zZsuWBWsVu7MsRVno4FfVH65SfEqtZJg9d4VZQHl+CPa+WC1ZOuB8X0wp/q9CcHqFHOMBavF84yFQSPBaskLjgoB2IQxCwHYxBe7VLr2SYPVknFLH1cv3YqhwsuXymubLtTKwrRK11EIUMfueGmYO+4xcQuIiVsdTLWysFJLlQX3kc1d4T6UBL6lodXYqIUAuOLjy6N++WC1intW7JTv+ShauV0ceJUFq1X37+T9MxJQTV1jpWMm27qj4j8vmWNib+Xva7U9n/lsXDrycz3ditXiPxAoeile8R8mVHp51aT1xGgIXL5lyZSPsFf6WRrt7RdnwepXJrysaczwFdvKemG8pyvXOPlcxS8FrLy6s0KwWvF766qIDZO9eKvC/BX+8GTiS90m32N10u832wak+W9zqiJAgAABAgQIEGh5AcFqmrdYsCpYnbIzx/7j+g278m9WL32YfPTUiitWKx6ZX7U5MTwdL2Hy/V5HjilZsXqIwWrZpgYjE1R6zLritgGVr32ugtXi4HNi8FO+ArU87Ju4L2n5m9PHx39W/mVQ6+8vf8x4YlA9esdGV0JXeoy8csA91g2FcL98FV7hvk8brFbRrw0JVqfp38mCqCr6quZgtWz7jZHKJgvQR7fvqDZYLf6mmDJYnb5HptxjdcLj+9m2FItHX7JX6euquBeLf3+6YPVDU36fRfkfRJStCK9UyUhwWvhDh1p+RsZfjDbhO7DMurDqdrp7W1rfNMFrNX9YM7rVyGR/IJDmv+KoigABAgQIECBAgEDrCAhW07yXglXBalx36tpJ33ZeGqxOXF1X3NZTr1idKnxKY8XqpD+iVazQmurlVZMFnYXVYzO+YrVS/VOuZJxqxerII8elq30rr7LNe04599QrVvN7nZaFfiWW0warVfRrQ4LVqfq39hWrJX1Y1crQ0Qh70pfQFUacrRWr0/dI5WB13DFbcT56VWP9NtUfyFT+2Z0uWJ24YnVs1qK9nEf+2fjPRH4bkoorwid3LoS05avkx6+ximD19hWx7fzRFaaFqcZWWY9sqzHpitTRkNiK1TT/RUxVBAgQIECAAAECBKoREKxWozT7xwhWBatx3amnxvi+fcVNWLSf4+iK1fxLT84q7NVZGlxMv8fqyGPWE/ZKHF2hNiN7rE6xFUClPVbzL7UZu75Riyn2wiwEFdMGq8V7bFbaY3Wszjr2WC2srCteUVcc/Eyov3xFXS0rVifu5Ti2r2mlFzRNOffEvW6L99QceYlU0V69hZWMJVsBlO6jOraf7RR7rJbcs3qD1dsnvjSoYv/WucfqWABWa7BaXNeE7S1qDVZLbSfusbo+smvOh6Al+25O3yNTBavrR/fyHQ/mR+aZsDfzVNt35E+u8LM0+rO3fIo9VjP7/Fwle8+OjJV9T06+v3NhG4mJ8075M1K2R/GkK1bzwWqR+VhvZXvBTrdfcTUrVovv93R7rE79hxaz/68yZiRAgAABAgQIECDQ+gKC1TTvsWBVsDoeilTq0WneBl+8Z2BxuFj+Ru3St4/X9lb18rdxF/ZmnDhH4W32I8HvlI/U5veMLX1UfKo321d6y/dk117OOLLKcmmsjk2xaXS/yQlvGJ8QAJc/xl4U5GUTlLx1fXWsPn9TbBodo+IekCXHZ48oj+zXuP7+bNzy1W7T7LFa9qj2+AvJJnkke6q5P7s0bi25D6VjlNzjrBeviLg6O76wPUDZ2+cLb33ftebBuCyyPVNLN3yYcM/qCFZXHVdb/2a3a9I3p5fVP+HYGoLVsZecFe1pWrq1RQ3B6oQey1dWtP9sWQ+efmVsPGNbrCl5XHy8h8t7JHsBWKU9VscC2qIfovGflYnuFbfuKP4BLN9u4fyNsTHWjMz9nDum6I/yPYEjomhLiqm/34qC5tFapv4ZqXaP1etj5MVZxdusFP28TNhaYpqtCIr3YB39+6XZ90hhO4mi7/6JL40rDVanfolYmv/yoyoCBAgQIECAAAECzSYgWE3zjglWBatpdmYLVTXVC3kadZlT7lnZqEmMQ4AAAQIECBAgQIAAAQIECMyJgGB1TtinnVSwKlidtkkccGgCjQ9Wy1aUFm2lML435aHV7GwCBAgQIECAAAECBAgQIEAgHQHBajr3orgSwapgNc3ObKGqGh+sTnzUeMptDFrI0qUQIECAAAECBAgQIECAAIHDUUCwmuZdF6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Hx+yhlAAAWcElEQVQ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gZJg9VA4Fi1adCinx8qVK+O4446Lzs7O6OjoyP9qb28f+5XL5aKtrS0/R/b32a9W/whWBaut3uOujwABAgQIECBAgAABAgQIECDQ1AKFFauHchGC1UPRq3yuYFWw2viuMiIBAgQIECBAgAABAgQIECBAgEDDBASrDaNs6ECCVcFqQxvKYAQIECBAgAABAgQIECBAgAABAo0VEKw21rNRowlWBauN6iXjECBAgAABAgQIECBAgAABAgQIzICAYHUGUBswpGBVsNqANjIEAQIECBAgQIAAgf/X3t2sNtX8ARyf9EVEUUGhNyEoXkXXunLXy+jKlV6ILt2I296EIOJNWBRERLFvfyb9j8wzPWkyfUnGM59CqM/Tk+acT37J4st0QoAAAQIECBC4LgFh9bpkL/d7hVVh9XIT5N4ECBAgQIAAAQIECBAgQIAAAQLXKiCsXivvhX+5sCqsXnh43JEAAQIECBAgQIAAAQIECBAgQOD6BYTV6ze+yCMIq8LqRebGfQgQIECAAAECBAgQIECAAAECBJYkIKwuCbryYYRVYbVyZBxOgAABAgQIECBAgAABAgQIECCwTAFhdZnaiz+WsCqsLj4tjiRAgAABAgQIECBAgAABAgQIEFi6gLC6dPKFHlBYFVYXGhQHESBAgAABAgQIECBAgAABAgQIrEZAWF2N+7xHFVaF1Xkz4ucECBAgQIAAAQIECBAgQIAAAQIrFBBWV4h/zkMLq8Jqm5PprAgQIECAAAECBAgQIECAAAECBKYCwmqbgyCsCqttTqazIkCAAAECBAgQIECAAAECBAgQEFYbngFhVVhteDydGgECBAgQIECAAAECBAgQIECAgBWrbc6AsCqstjmZzooAAQIECBAgQIAAAQIECBAgQGAqIKy2OQjCqrDa5mQ6KwIECBAgQIAAAQIECBAgQIAAAWG14RkQVoXVhsfTqREgQIAAAQIECBAgQIAAAQIECFix2uYMCKvCapuT6awIECBAgAABAgQIECBAgAABAgSmAsJqm4MgrAqrbU6msyJAgAABAgQIECBAgAABAgQIEBBWG54BYVVYbXg8nRoBAgQIECBAgAABAgQIECBAgIAVq23OgLAqrLY5mc6KAAECBAgQIECAAAECBAgQIEBgKiCstjkIwqqw2uZkOisCBAgQIECAAAECBAgQIECAAAFhteEZEFaF1YbH06kRIECAAAECBAgQIECAAAECBAhYsdrmDAirwmqbk+msCBAgQIAAAQIECBAgQIAAAQIEpgLCapuDIKwKq21OprMiQIAAAQIECBAgQIAAAQIECBAQVhueAWFVWG14PJ0aAQIECBAgQIAAAQIECBAgQICAFattzoCwKqy2OZnOigABAgQIECBAgAABAgQIECBAYCogrLY5CMKqsNrmZDorAgQIECBAgAABAgQIECBAgAABYbXhGRBWhdWGx9OpESBAgAABAgQIECBAgAABAgQIWLHa5gwIq8Jqm5PprAgQIECAAAECBAgQIECAAAECBKYCwmqbgyCsCqttTqazIkCAAAECBAgQIECAAAECBAgQEFYbngFhVVhteDydGgECBAgQIECAAAECBAgQIECAgBWrbc6AsCqstjmZzooAAQIECBAgQIAAAQIECBAgQGAqIKy2OQjCqrDa5mQ6KwIECBAgQIAAAQIECBAgQIAAAWG14RkQVoXVhsfTqREgQIAAAQIECBAgQIAAAQIECFix2uYMCKvCapuT6awIECBAgAABAgQIECBAgAABAgSmAsJqm4MgrAqrbU6msyJAgAABAgQIECBAgAABAgQIEJgZVnd2dmbqvHnz5szP7t69eynN7e3tsLW1FTY3N8PGxsb0tr6+/vc2mUzC2tra9DHiv+Nt7F/CqrA69hl3fQQIECBAgAABAgQIECBAgACBf1pg1orVobg6FFXjxQurVz8CwqqwevVT5TcSIECAAAECBAgQIECAAAECBAhcmcB5WwHkcXVWVBVWr+yp+M8vElaF1euZLL+VAAECBAgQIECAAAECBAgQIEDgSgTm7bEa4+p5UVVYvZKn4cwvEVaF1euZLL+VAAECBAgQIECAAAECBAgQIEDgSgTmhdVFHsRWAIso1R0jrAqrdRPjaAIECBAgQIAAAQIECBAgQIAAgaUKCKtL5V74wYRVYXXhYXEgAQIECBAgQIAAAQIECBAgQIDA8gWE1eWbL/KIwqqwusicOIYAAQIECBAgQIAAAQIECBAgQGBFAsLqiuDnPKywKqy2OZnOigABAgQIECBAgAABAgQIECBAYCogrLY5CMKqsNrmZDorAgQIECBAgAABAgQIECBAgAABYbXhGRBWhdWGx9OpESBAgAABAgQIECBAgAABAgQIWLHa5gwIq8Jqm5PprAgQIECAAAECBAgQIECAAAECBJoR2N7eDltbW2FzczNsbGxMb+vr639vk8kkrK2tTc83/jvexv4lrAqrY59x10eAAAECBAgQIECAAAECBAgQIHBJAWH1LKCwKqxe8mXl7gQIECBAgAABAgQIECBAgAABAmMXEFaF1XBychKOj4+nt6Ojo+nt8PAwHBwcTG/7+/thb29v7K8F10eAAAECBAgQIECAAAECBAgQIEBgYQFhVVgVVhd+uTiQAAECBAgQIECAAAECBAgQIECAwKmAsCqsCqveDQgQIECAAAECBAgQIECAAAECBAhUCgirwqqwWvmicTgBAgQIECBAgAABAgQIECBAgAABYVVYFVa9DxAgQIAAAQIECBAgQIAAAQIECBCoFBBWhVVhtfJF43ACBAgQIECAAAECBAgQIECAAAECwqqwKqx6HyBAgAABAgQIECBAgAABAgQIECBQKSCsCqvCauWLxuEECBAgQIAAAQIECBAgQIAAAQIEhFVhVVj1PkCAAAECBAgQIECAAAECBAgQIECgUkBYFVaF1coXjcMJECBAgAABAgQIECBAgAABAgQICKvCqrDqfYAAAQIECBAgQIAAAQIECBAgQIBApYCwKqwKq5UvGocTIECAAAECBAgQIECAAAECBAgQEFaFVWHV+wABAgQIECBAgAABAgQIECBAgACBSgFhVVgVVitfNA4nQIAAAQIECBAgQIAAAQIECBAgIKwKq8Kq9wECBAgQIECAAAECBAgQIECAAAEClQLCqrAqrFa+aBxOgAABAgQIECBAgAABAgQIECBAQFgVVoVV7wMECBAgQIAAAQIECBAgQIAAAQIEKgWEVWH13LB6eHgYvnz5Evb29ipHy+EECBAgQIAAAQIECBAgQIAAAQIExisgrAqrM8NqjKoHBwfC6nhf/66MAAECBAgQIECAAAECBAgQIEDgggLCqrAqrF7wxeNuBAgQIECAAAECBAgQIECAAAEC/QoIq8KqsNrv69+VEyBAgAABAgQIECBAgAABAgQIXFBgVljd2NgIa2trYTKZTL/Hr/jveBv712R3d/dkzBd5cnJ6efF7fjs6OgrpFrcBsBXAmKfAtREgQIAAAQIECBAgQIAAAQIECFxGYCisxqi6vr4urF4GtuX75mE1nufx8fHfVasxrKaomsLq/v5+eP/+fbh582bLl+XcCBAgQIAAAQIECBAgQIAAAQIECCxF4NevX+Hp06dha2srxJia34TVpTwFq3mQFFbjo8d/l2E1xdX4wVUxrn79+jW8evUqPHnyZDUn7FEJECBAgAABAgQIECBAgAABAgQINCTw4cOH8OLFi/DgwYOwubn5N6zGqJrCatoOIJ62rQAaevIucyqLhtW0cvXHjx/h4cOH4eXLl5d5WPclQIAAAQIECBAgQIAAAQIECBAgMAqBGFU/f/4c7ty5c2a1ahlW096q9lgdxVN/ulI1fqU9VuOq1XQb2g7g27dv4fnz52FnZ2ckAi6DAAECBAgQIECAAAECBAgQIECAQL3A69evw9u3b8P9+/f/s1o13181rlZNK1aF1Xrjpu8xL6zmcTVuCfDnz5/w/fv38Pjx4/Ds2bPw6NGjcOvWraav0ckRIECAAAECBAgQIECAAAECBAgQuAqBnz9/hk+fPoV3796Fjx8/hnv37oUbN24MbgOQ77GabwFgxepVPBMN/I4yrKa9VuOq1RhVy1WraVuAOES/f/8OMbbGY+JX2qM132KggUt0CgQIECBAgAABAgQIECBAgAABAgSqBfIVpimMxtWnMaTGD3e/ffv2mQ+sSqtVh7YBsGK1+ilo+w7nhdUUV2NMLQNriq7xe9o6IG0nUO7d2raAsyNAgAABAgQIECBAgAABAgQIECBwKlCuJk1BNX5Pf9afPpgqfo8hNb/lP8u3ALBidaQTlsfVtOo032c1RdX8ewqrKb7mUTX9e6RcLosAAQIECBAgQIAAAQIECBAgQKADgTyq5itW83iax9Uyqva6v+o0UO/u7p5+stPIv+ZtB1CuXC2jar4FwNCq1ZHzuTwCBAgQIECAAAECBAgQIECAAIERCuR/up9Wnw6tWk1xNf35f+/bAHQfVsu9VvM9V/OwOrQNQB5qR/iackkECBAgQIAAAQIECBAgQIAAAQIjFsi3AyhXraawGr+XK1fzoNrzNgBdhtV40fmK0xRN820BUmAtf5b/+b+wOuJ3FpdGgAABAgQIECBAgAABAgQIEOhAYCiulqtWU1zNv+fhNY+yiazcw3WslN1sBZCCahlWUywtI2q+r+rQNgD57yuHI/9gq7EOjusiQIAAAQIECBAgQIAAAQIECBD4twSGgme+FUD5IVbxv8sVquWeqmVY7SWqxme+y7A6FFfLD7TKtwkoP7RqKKqKqf/WG4mzJUCAAAECBAgQIECAAAECBAj0KjArsJ63JUD8Wb6atTw2WQqrI56q8k/4y2iaB9byZ0NbAYyYyqURIECAAAECBAgQIECAAAECBAh0IDBr1WqKp/OCan7/Drj+XmJXK1bTVc+Lq4sEVStUe3qZuFYCBAgQIECAAAECBAgQIECAwLgF5sXVcoVqGVN7WqmaJqHLsBovflZcTT8rV6cOHT/ul5OrI0CAAAECBAgQIECAAAECBAgQ6EFg6EOs4nUP/bl/+n/p5/n3Hqzya+w+rM6KrOX/L1eoWrHa20vF9RIgQIAAAQIECBAgQIAAAQIExilQrjYtV68ORdRe//xfWM0E8kB63qrUWSFVYB3nG4qrIkCAAAECBAgQIECAAAECBAiMXWDWn++XK1iHwmr+/8buNOv6ul2xmoOctxrVStVeXxqumwABAgQIECBAgAABAgQIECDQn8BQVB2KqD3uqVpOg7D6f5GLrEi1WrW/NxdXTIAAAQIECBAgQIAAAQIECBAYi8C8ODr083n3GYvNItchrBZKi8bSRY9b5ElwDAECBAgQIECAAAECBAgQIECAAIFVCswLpvN+vspzX9VjC6tz5AXUVY2mxyVAgAABAgQIECBAgAABAgQIEFi1gKA6+xkQViunU2itBHM4AQIECBAgQIAAAQIECBAgQIBA8wICav1TJKzWm7kHAQIECBAgQIAAAQIECBAgQIAAAQKdCwirnQ+AyydAgAABAgQIECBAgAABAgQIECBAoF5AWK03cw8CBAgQIECAAAECBAgQIECAAAECBDoXEFY7HwCXT4AAAQIECBAgQIAAAQIECBAgQIBAvYCwWm/mHgQIECBAgAABAgQIECBAgAABAgQIdC4grHY+AC6fAAECBAgQIECAAAECBAgQIECAAIF6AWG13sw9CBAgQIAAAQIECBAgQIAAAQIECBDoXEBY7XwAXD4BAgQIECBAgAABAgQIECBAgAABAvUCwmq9mXsQIECAAAECBAgQIECAAAECBAgQINC5gLDa+QC4fAIECBAgQIAAAQIECBAgQIAAAQIE6gWE1Xoz9yBAgAABAgQIECBAgAABAgQIECBAoHMBYbXzAXD5BAgQIECAAAECBAgQIECAAAECBAjUCwir9WbuQYAAAQIECBAgQIAAAQIECBAgQIBA5wLCaucD4PIJECBAgAABAgQIECBAgAABAgQIEKgXEFbrzdyDAAECBAgQIECAAAECBAgQIECAAIHOBYTVzgfA5RMgQIAAAQIECBAgQIAAAQIECBAgUC8grNabuQcBAgQIECBAgAABAgQIECBAgAABAp0LCKudD4DLJ0CAAAECBAgQIECAAAECBAgQIECgXkBYrTdzDwIECBAgQIAAAQIECBAgQIAAAQIEOhcQVjsfAJdPgAABAgQIECBAgAABAgQIECBAgEC9wP8A22vsdN15c/IAAAAASUVORK5CYII="/>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dirty="0"/>
          </a:p>
        </p:txBody>
      </p:sp>
    </p:spTree>
    <p:extLst>
      <p:ext uri="{BB962C8B-B14F-4D97-AF65-F5344CB8AC3E}">
        <p14:creationId xmlns:p14="http://schemas.microsoft.com/office/powerpoint/2010/main" val="31454355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77F46CFD-770C-4999-A249-092A626D46BD}"/>
              </a:ext>
            </a:extLst>
          </p:cNvPr>
          <p:cNvSpPr txBox="1"/>
          <p:nvPr/>
        </p:nvSpPr>
        <p:spPr>
          <a:xfrm>
            <a:off x="452762" y="1003231"/>
            <a:ext cx="10919529" cy="338554"/>
          </a:xfrm>
          <a:prstGeom prst="rect">
            <a:avLst/>
          </a:prstGeom>
          <a:noFill/>
        </p:spPr>
        <p:txBody>
          <a:bodyPr wrap="square" rtlCol="0">
            <a:spAutoFit/>
          </a:bodyPr>
          <a:lstStyle/>
          <a:p>
            <a:pPr algn="just"/>
            <a:r>
              <a:rPr lang="es-CO" sz="1600" dirty="0">
                <a:latin typeface="Calibri" panose="020F0502020204030204" pitchFamily="34" charset="0"/>
                <a:cs typeface="Calibri" panose="020F0502020204030204" pitchFamily="34" charset="0"/>
              </a:rPr>
              <a:t>Para diligenciar correctamente la encuesta poblacional, tenga en cuenta las siguientes indicaciones.</a:t>
            </a:r>
          </a:p>
        </p:txBody>
      </p:sp>
      <p:sp>
        <p:nvSpPr>
          <p:cNvPr id="6" name="CuadroTexto 5">
            <a:extLst>
              <a:ext uri="{FF2B5EF4-FFF2-40B4-BE49-F238E27FC236}">
                <a16:creationId xmlns:a16="http://schemas.microsoft.com/office/drawing/2014/main" id="{060CC363-5ADF-4E8E-9C5C-2DDBCD3EE708}"/>
              </a:ext>
            </a:extLst>
          </p:cNvPr>
          <p:cNvSpPr txBox="1"/>
          <p:nvPr/>
        </p:nvSpPr>
        <p:spPr>
          <a:xfrm>
            <a:off x="452761" y="1732319"/>
            <a:ext cx="11017189" cy="3539430"/>
          </a:xfrm>
          <a:prstGeom prst="rect">
            <a:avLst/>
          </a:prstGeom>
          <a:noFill/>
        </p:spPr>
        <p:txBody>
          <a:bodyPr wrap="square">
            <a:spAutoFit/>
          </a:bodyPr>
          <a:lstStyle/>
          <a:p>
            <a:pPr algn="just" defTabSz="914400">
              <a:buFontTx/>
              <a:buChar char="•"/>
            </a:pPr>
            <a:r>
              <a:rPr lang="es-CO" altLang="es-CO" sz="1400" dirty="0">
                <a:ea typeface="Calibri" panose="020F0502020204030204" pitchFamily="34" charset="0"/>
                <a:cs typeface="Arial" panose="020B0604020202020204" pitchFamily="34" charset="0"/>
              </a:rPr>
              <a:t>Todos los campos son obligatorios, por tanto, el formulario solo permitirá guardar la información una vez que no existan campos vacíos.</a:t>
            </a:r>
          </a:p>
          <a:p>
            <a:pPr algn="just" defTabSz="914400">
              <a:buFontTx/>
              <a:buChar char="•"/>
            </a:pPr>
            <a:endParaRPr lang="es-CO" altLang="es-CO" sz="1400" dirty="0">
              <a:cs typeface="Arial" panose="020B0604020202020204" pitchFamily="34" charset="0"/>
            </a:endParaRPr>
          </a:p>
          <a:p>
            <a:pPr algn="just" defTabSz="914400">
              <a:buFontTx/>
              <a:buChar char="•"/>
            </a:pPr>
            <a:r>
              <a:rPr lang="es-CO" altLang="es-CO" sz="1400" dirty="0">
                <a:ea typeface="Calibri" panose="020F0502020204030204" pitchFamily="34" charset="0"/>
                <a:cs typeface="Arial" panose="020B0604020202020204" pitchFamily="34" charset="0"/>
              </a:rPr>
              <a:t> Haga clic en el botón “Guardar”, solo después de haber diligenciado los campos de todas las pestañas.</a:t>
            </a:r>
          </a:p>
          <a:p>
            <a:pPr algn="just" defTabSz="914400">
              <a:buFontTx/>
              <a:buChar char="•"/>
            </a:pPr>
            <a:endParaRPr lang="es-CO" altLang="es-CO" sz="1400" dirty="0">
              <a:cs typeface="Arial" panose="020B0604020202020204" pitchFamily="34" charset="0"/>
            </a:endParaRPr>
          </a:p>
          <a:p>
            <a:pPr algn="just" defTabSz="914400">
              <a:buFontTx/>
              <a:buChar char="•"/>
            </a:pPr>
            <a:r>
              <a:rPr lang="es-CO" altLang="es-CO" sz="1400" dirty="0">
                <a:ea typeface="Calibri" panose="020F0502020204030204" pitchFamily="34" charset="0"/>
                <a:cs typeface="Arial" panose="020B0604020202020204" pitchFamily="34" charset="0"/>
              </a:rPr>
              <a:t> Algunas secciones cuentan con campos inhabilitados (ej. Datos de Identificación, Datos Académicos, entre otras), en el caso en que requiera corrección de alguno de esos datos, deberá comunicarse con la Oficina de Matrículas. </a:t>
            </a:r>
          </a:p>
          <a:p>
            <a:pPr algn="just" defTabSz="914400">
              <a:buFontTx/>
              <a:buChar char="•"/>
            </a:pPr>
            <a:endParaRPr lang="es-CO" altLang="es-CO" sz="1400" dirty="0">
              <a:ea typeface="Calibri" panose="020F0502020204030204" pitchFamily="34" charset="0"/>
              <a:cs typeface="Arial" panose="020B0604020202020204" pitchFamily="34" charset="0"/>
            </a:endParaRPr>
          </a:p>
          <a:p>
            <a:pPr algn="just" defTabSz="914400">
              <a:buFontTx/>
              <a:buChar char="•"/>
            </a:pPr>
            <a:r>
              <a:rPr lang="es-CO" altLang="es-CO" sz="1400" dirty="0">
                <a:latin typeface="Arial" panose="020B0604020202020204" pitchFamily="34" charset="0"/>
                <a:ea typeface="Calibri" panose="020F0502020204030204" pitchFamily="34" charset="0"/>
                <a:cs typeface="Arial" panose="020B0604020202020204" pitchFamily="34" charset="0"/>
              </a:rPr>
              <a:t> </a:t>
            </a:r>
            <a:r>
              <a:rPr lang="es-CO" altLang="es-CO" sz="1400" dirty="0">
                <a:ea typeface="Calibri" panose="020F0502020204030204" pitchFamily="34" charset="0"/>
                <a:cs typeface="Arial" panose="020B0604020202020204" pitchFamily="34" charset="0"/>
              </a:rPr>
              <a:t>Todos los campos de tipo lista desplegable (ej. País de Procedencia, Estrato, EPS, entre otros.) para su diligenciamiento deberá ser seleccionada una de las opciones de la lista, no se podrán ingresar datos que no pertenezcan a ellas, en caso de que la opción que busca no se encuentre, deberá reportarlo a través del correo </a:t>
            </a:r>
            <a:r>
              <a:rPr lang="es-CO" altLang="es-CO" sz="1400" dirty="0">
                <a:ea typeface="Calibri" panose="020F0502020204030204" pitchFamily="34" charset="0"/>
                <a:cs typeface="Arial" panose="020B0604020202020204" pitchFamily="34" charset="0"/>
                <a:hlinkClick r:id="rId2"/>
              </a:rPr>
              <a:t>trabajodesdecasa@unisimonbolivar.edu.co</a:t>
            </a:r>
            <a:endParaRPr lang="es-CO" altLang="es-CO" sz="1400" dirty="0">
              <a:ea typeface="Calibri" panose="020F0502020204030204" pitchFamily="34" charset="0"/>
              <a:cs typeface="Arial" panose="020B0604020202020204" pitchFamily="34" charset="0"/>
            </a:endParaRPr>
          </a:p>
          <a:p>
            <a:pPr algn="just" defTabSz="914400">
              <a:buFontTx/>
              <a:buChar char="•"/>
            </a:pPr>
            <a:endParaRPr lang="es-CO" altLang="es-CO" sz="1400" dirty="0">
              <a:ea typeface="Calibri" panose="020F0502020204030204" pitchFamily="34" charset="0"/>
              <a:cs typeface="Arial" panose="020B0604020202020204" pitchFamily="34" charset="0"/>
            </a:endParaRPr>
          </a:p>
          <a:p>
            <a:pPr algn="just" defTabSz="914400">
              <a:lnSpc>
                <a:spcPct val="150000"/>
              </a:lnSpc>
              <a:buFontTx/>
              <a:buChar char="•"/>
            </a:pPr>
            <a:r>
              <a:rPr lang="es-MX" altLang="es-CO" sz="1400" dirty="0">
                <a:latin typeface="Arial" panose="020B0604020202020204" pitchFamily="34" charset="0"/>
                <a:cs typeface="Arial" panose="020B0604020202020204" pitchFamily="34" charset="0"/>
              </a:rPr>
              <a:t>Si observa que los componentes del formulario no cargan de forma completa o algunas de las opciones de las listas desplegables demoran en cargar, esto puede deberse a la conexión de internet.</a:t>
            </a:r>
            <a:endParaRPr lang="es-CO" altLang="es-CO" sz="1400" dirty="0">
              <a:latin typeface="Arial" panose="020B0604020202020204" pitchFamily="34" charset="0"/>
              <a:cs typeface="Arial" panose="020B0604020202020204" pitchFamily="34" charset="0"/>
            </a:endParaRPr>
          </a:p>
          <a:p>
            <a:pPr algn="just" defTabSz="914400" eaLnBrk="0" fontAlgn="base" hangingPunct="0">
              <a:spcBef>
                <a:spcPct val="0"/>
              </a:spcBef>
              <a:spcAft>
                <a:spcPct val="0"/>
              </a:spcAft>
              <a:buFontTx/>
              <a:buChar char="•"/>
            </a:pPr>
            <a:endParaRPr lang="es-CO" altLang="es-CO" sz="1400" dirty="0">
              <a:latin typeface="Arial" panose="020B0604020202020204" pitchFamily="34" charset="0"/>
              <a:cs typeface="Arial" panose="020B0604020202020204" pitchFamily="34" charset="0"/>
            </a:endParaRPr>
          </a:p>
          <a:p>
            <a:pPr algn="just" defTabSz="914400">
              <a:buFontTx/>
              <a:buChar char="•"/>
            </a:pPr>
            <a:endParaRPr lang="es-CO" altLang="es-CO" sz="1400" dirty="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8733054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77F46CFD-770C-4999-A249-092A626D46BD}"/>
              </a:ext>
            </a:extLst>
          </p:cNvPr>
          <p:cNvSpPr txBox="1"/>
          <p:nvPr/>
        </p:nvSpPr>
        <p:spPr>
          <a:xfrm>
            <a:off x="452762" y="1003231"/>
            <a:ext cx="10919529" cy="338554"/>
          </a:xfrm>
          <a:prstGeom prst="rect">
            <a:avLst/>
          </a:prstGeom>
          <a:noFill/>
        </p:spPr>
        <p:txBody>
          <a:bodyPr wrap="square" rtlCol="0">
            <a:spAutoFit/>
          </a:bodyPr>
          <a:lstStyle/>
          <a:p>
            <a:pPr algn="just"/>
            <a:r>
              <a:rPr lang="es-ES" sz="1600" dirty="0">
                <a:latin typeface="Calibri" panose="020F0502020204030204" pitchFamily="34" charset="0"/>
                <a:cs typeface="Calibri" panose="020F0502020204030204" pitchFamily="34" charset="0"/>
              </a:rPr>
              <a:t> A lo largo del formulario se encuentran preguntas de los siguientes tipos:</a:t>
            </a:r>
          </a:p>
        </p:txBody>
      </p:sp>
      <p:pic>
        <p:nvPicPr>
          <p:cNvPr id="5" name="Imagen 4">
            <a:extLst>
              <a:ext uri="{FF2B5EF4-FFF2-40B4-BE49-F238E27FC236}">
                <a16:creationId xmlns:a16="http://schemas.microsoft.com/office/drawing/2014/main" id="{158FC5EA-11E2-4357-86EC-8E3CC22C6B7F}"/>
              </a:ext>
            </a:extLst>
          </p:cNvPr>
          <p:cNvPicPr>
            <a:picLocks noChangeAspect="1"/>
          </p:cNvPicPr>
          <p:nvPr/>
        </p:nvPicPr>
        <p:blipFill>
          <a:blip r:embed="rId2"/>
          <a:stretch>
            <a:fillRect/>
          </a:stretch>
        </p:blipFill>
        <p:spPr>
          <a:xfrm>
            <a:off x="2774611" y="1585912"/>
            <a:ext cx="6275829" cy="3686175"/>
          </a:xfrm>
          <a:prstGeom prst="rect">
            <a:avLst/>
          </a:prstGeom>
        </p:spPr>
      </p:pic>
    </p:spTree>
    <p:extLst>
      <p:ext uri="{BB962C8B-B14F-4D97-AF65-F5344CB8AC3E}">
        <p14:creationId xmlns:p14="http://schemas.microsoft.com/office/powerpoint/2010/main" val="41421734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452762" y="1056499"/>
            <a:ext cx="10919529" cy="1323439"/>
          </a:xfrm>
          <a:prstGeom prst="rect">
            <a:avLst/>
          </a:prstGeom>
          <a:noFill/>
        </p:spPr>
        <p:txBody>
          <a:bodyPr wrap="square" rtlCol="0">
            <a:spAutoFit/>
          </a:bodyPr>
          <a:lstStyle/>
          <a:p>
            <a:pPr algn="just"/>
            <a:r>
              <a:rPr lang="es-CO" sz="1600" dirty="0">
                <a:latin typeface="Calibri" panose="020F0502020204030204" pitchFamily="34" charset="0"/>
                <a:cs typeface="Calibri" panose="020F0502020204030204" pitchFamily="34" charset="0"/>
              </a:rPr>
              <a:t>Luego de culminar la encuesta poblacional, confirme la oficialización de su matrícula.</a:t>
            </a:r>
          </a:p>
          <a:p>
            <a:pPr algn="just"/>
            <a:endParaRPr lang="es-CO" sz="1600" dirty="0">
              <a:latin typeface="Calibri" panose="020F0502020204030204" pitchFamily="34" charset="0"/>
              <a:cs typeface="Calibri" panose="020F0502020204030204" pitchFamily="34" charset="0"/>
            </a:endParaRPr>
          </a:p>
          <a:p>
            <a:pPr algn="just"/>
            <a:r>
              <a:rPr lang="es-CO" sz="1600" dirty="0">
                <a:latin typeface="Calibri" panose="020F0502020204030204" pitchFamily="34" charset="0"/>
                <a:cs typeface="Calibri" panose="020F0502020204030204" pitchFamily="34" charset="0"/>
              </a:rPr>
              <a:t>En caso de que ya posea una inscripción o matrícula anterior, el sistema le recordará su correo institucional. De lo contrario además de notificarle su nuevo correo estudiantil, le pedirá que establezca una contraseña, para continuar, seleccione el botón </a:t>
            </a:r>
            <a:r>
              <a:rPr lang="es-CO" sz="1600" b="1" dirty="0">
                <a:latin typeface="Calibri" pitchFamily="34" charset="0"/>
              </a:rPr>
              <a:t>«Confirmar»</a:t>
            </a:r>
            <a:endParaRPr lang="es-CO" sz="1600" dirty="0">
              <a:latin typeface="Calibri" panose="020F0502020204030204" pitchFamily="34" charset="0"/>
              <a:cs typeface="Calibri" panose="020F0502020204030204" pitchFamily="34" charset="0"/>
            </a:endParaRPr>
          </a:p>
        </p:txBody>
      </p:sp>
      <p:sp>
        <p:nvSpPr>
          <p:cNvPr id="4" name="AutoShape 2" descr="data:image/png;base64,iVBORw0KGgoAAAANSUhEUgAABVYAAAKlCAYAAAAgmLcrAAAgAElEQVR4XuzdCZxU5Z3/+293082+KNgiItiCggtIEDCh1TGoacAENK4R1IAkV02ukMxEM3+Xf66YeydmJgHvxDgJQqJoFDUGjAqJQaM2UUEF3FhEdsJiK8jeLP1//U7VqT516tTWXdVdXfWpefXQdJ3znOd5P0+1M19+5zlFP/nJT+rECwEEEEAAAQQQQAABBBBAAAEEEEAAAQQQQCBlgSKC1ZStOBABBBBAAAEEEEAAAQQQQAABBBBAAAEEEHAECFZZCAgggAACCCCAAAIIIIAAAggggAACCCCAQJoCBKtpgnE4AggggAACCCCAAAIIIIAAAggggAACCCBAsMoaQAABBBBAAAEEEEAAAQQQQAABBBBAAAEE0hQgWE0TjMMRQAABBBBAAAEEEEAAAQQQQAABBBBAAAGCVdYAAggggAACCCCAAAIIIIAAAggggAACCCCQpgDBappgHI4AAggggAACmRfYuHGjOnfurE6dOmW+cVpEAAEEEEAAAQQQQAABBLIgQLCaBVSaRAABBFqiwNtvv61zzjmnJXadPrdwgQ8++EBLlizRtddeq9atW7fw0dB9BBBAAAEEEEAAAQQQKBQBgtVCmWnGiQACCCQRIFhliTSXwMcff6yTTjqJULW5JoDrIoAAAggggAACCCCAQIMECFYbxMZJCCCAQP4JpBus2q3bCxcu1NatWx2M/v37a+TIkZFw7Mknn9Q111zjvHfw4EH94x//0LJly3TgwAEdc8wxqqys1JlnnimrVnz//fcDQc866yyVl5c71wl6Wfs7duxw3j/11FM1ePDgqMMWLFignTt3Rvrhvml9Oe6449S3b9/Adt02vW/26tXLad+tqIzX7+OPP14XXnhhTLuvvPKKM167rp27adMmVVVVRR3nPca+37ZtW0w7rqm9YeN477339PnnnzumAwYM0Fe+8pXIOUFtWP/sGHccNk9dunSJ6cs777yj1atXa8SIEU6fU7Fz3datW6c2bdro7LPPjrLwjs/as+MXLVqkFStWRNbQ8OHDI9dz27vsssuiQlfzs5d58kIAAQQQQAABBBBAAAEEmkuAYLW55LkuAgggkGMC6QSrFpT+/ve/16hRo5xKQzc4tSDQDf5+9rOf6Y477nBGaQHgF1984YRsFuhZKPviiy8659u+mrt27XKO+/DDD50/zzjjDOdP9z0LTi3g87/s2tbWH//4R7Vt21bf/e53I4fY9WbNmuUEuW4/7E3r6xNPPOEcd+ONNwbOghsae69pQaOFtO7t6u6Y3L66DVmg6A0i3Z9bgGmhofXZzn311Vd1ySWXRIXB3mPsewuL/W3Z+faykHL9+vW6/PLLnX1JbbzPPvusevfuHQkzg9qwcZiJd56szxMmTIja3/Q3v/mN9u/fr29+85tOn5PZWQhq1zczC6zd/px22mmRsNc7Pnd+zj///IiB9e21116L9MXm4fHHH3dC+7Fjx0bmyvzs5Q2Rc+zjRHcQQAABBBBAAAEEEECgAAQIVgtgkhkiAgggkIpAOsGqBV5WaeitnrRrWODlhl3eYNUbqLl9sTbs5YZ27vn+wCzetbztWF8snLWQ0Q0iLaSzsG/p0qVRwar93MJdqxi1CtSgEDTeNefOneuEhlYpmW645w9WLVi0YNSCWveBTf5g1Q1i/fNn51o4bMGwd09SC40feuihSDAZ5G5teefGvh80aJDj4Fb8uiGpBdvePiSy89q4/bV+vvzyy5FQ1Nsfqyb2XtM9xw2srZrXnQcLgq3C2a0wTtc+lfXPMQgggAACCCCAAAIIIIBAugIEq+mKcTwCCCCQpwLpBKtugGeVhH369AncH9NfsWq3rA8ZMsQ5NijMbGyware4W0DphoMW9FkA+swzz0QFq1aJaYGkhXZr1qyJuQXe+hEvWLW9QO02dKueTDfc8werdh23etetxkw1WHVDY/9WAtamN7AMClbtXHtQlFvda/N0xRVXRMZlbdgxFopaBbI3WE1kN336dN18880J90n19seO91fJ2rXdStbJkydH5sGqYK0a1g2S07XP048sw0IAAQQQQAABBBBAAIFmFiBYbeYJ4PLJBRatWazte2qSHxg+4vw+w9S1w7Fxj6/Z85leW/NWyu2Vd+iq4X2Gpnw8ByLQUgXSCVZtjO7+mLafplUUWsjq3R/TG6y6oemqVaucPVmD9gN1j7E/vbd4u7eD+11PPvlkp2LWDUEtfHvhhRec8M0Nfi2c8/bDjrXtBtxA0g0K/U+ijxesen/u3s7v79cFF1wQeIt6ULBq47Sfn3POOU41pj9YNVvv67rrrotsJeB3co/zho7Wnr8Nc/Pum+r6eINR2+Zh9OjRzt61brCazM4/30GfA+/4Eh3vvuf3tnm17SQIVlvqbxn6jQACCCCAAAIIIIBAfgkQrObXfOblaP60bL4s3EwlXG1TWqazTzxDJ3TuHtfin7u2atnmD3XgUG1SL/e6l509MumxHIBASxdIN1j1jtdCVqvktIdTuVWL8YIzC8es8tOqJr37byYKVoO2HXCv7w3fLCi1W+vtZ+7Dobz9sGpOu/3ebnG3l4W8F198ccxDkBJVrJqTBbrphnvxglXvbf1/+tOfIkFmvNv44zm5Hrb3qgXFbmjrBqPu7f3e7RLsHNfHbHr27OkEt7bNgFW0+m/dT2SXqWDV1se0adOcKmP/PFjga6GwzW28YLmlfw7pPwIIIIAAAggggAACCLQcAYLVljNXBdtTC1bt9d6uLUkNBnTuoXNPHpQ0WH1z3dKU27OLEqwmpeeAPBBIJ1i1UNGtHvQOPV5FooVuU6ZMibpNPCi8DAorU91j1cJOCxVtOwA7x7YBsCpQN/Bzq1jtYUzuy0JNC3j9D7GKd03vbfaZClbdoHT79u1O5a8bhCYKVt2Q1PuwLndMFi674am/DQu0q6urIw/g8gar7jYHFqy6Dxpzzy8vL3f2bk1k52694O6D6vbHwlD3AVve/gTtyWrnWEBvfbHtEfzz4D70zAJ5NzzOg48eQ0AAAQQQQAABBBBAAIEWKkCw2kInrpC6bcFq57YdtG3PZ1q959PAoZ/UpqO6tO7ovJdKsLpg5WvaeGC3jmnVWp8fPhjTprVn77vtphqs2jYDtUeiK2Hd6lnve2UlZXG3K/Ae16F1B3Vs0yHSv9rDtarZ+1nk713bH6uyVmUx/d99YI/2HNwT9fOGHJvq9YLG7V480ViD+mltdWjTQR1bd0i4pYN3cNbO+poNOng4ZG9bQZzctVfcj4l/XM45cSyDjrXrWD97dAlVRieqkI7XCTt/Xc0GndN7UMofZ6u29r+27NzqrBH7ijeGVC+QTrDq7oNpt6a7+6Va2GdPcA+qWLVA0l7ePUHtZxaO2a3d7quxwar1wbYD2Llzp2wbAHu5waq7b6j3eva+e9u7d9/XoGDVfWK9O75MBqtuP6zfFl5auJkoWLXj7f0uXbrEmFob7kPFgtqwQNOC0qCHjNl2ANambQNgHu755uqGrd715LVzQ1s3RLXjzGjDhg2B/THjP/7xjwpaQ65B0DxYeG6V0cOGDQvcciHV9c5xCCCAAAIIIIAAAggggEBjBQhWGyvI+VkXcEO7v695S58e2B0YhFpA+rU+56YULrlB2YptH2vX/j2BlaunduimNiVlGtTzjLQCvlXbPtai9e9GQtuvnHhmJDiz997Z/KEzBuvracf3DbSz4/6y5k1nnBbsXjd4bCQ8tQCx+pO3tPjTdbroxAEacOLpUcGr26C73YEdZ69kx5qtG1qf1/00Dek1yGnXrrdkw1K9vnWVhnY7WZWnDAu8njs2a8Pmomf7rs51dx7c7QTe8YJp66e3etgqjg8cqY30ZXTvwUmDR7v2kytflc3ZqV17aePOrc6cXt7nyzrrxDMCjb2OdkCisXkN7Fh3bdj3m/bWOPNkY/56v/MThrn+jsz/cKEzj5POHp1yMPv2+qX6x+YPImvD/ccEc7Z/CHDnuqF7AqcTrNq1rLLwpZdecoK4Nm3axNxW77013KpF7TZ3u/W+e/fu2rVrl3M7/mWXXRZVxRovWLXANuhloZy9vFsFWMVm7969I4Gj2w9vJae3raAHQQXt6+rfQzbeHqvWtt3G7n/F2wrAPc7Cy5kzZzpBYyrBqmvqWgaZBgWrbuWu++CooK0S3EpY9/wXX3wxUgWbyM41sX1crT8WnLshrZ3n74+7hmxN2Mu/NUNQsGr9t0B3wIABBKtZ/y8wF0AAAQQQQAABBBBAAIFEAgSrrI8WI2Ch0gvr34nb37svmJjWWPyhnvfkVLYUiHcxt5/Whj9QtPcs+EtWAWtVuu7WBxb6jTxjRORyFvRNe2uOko3Xxjdj2QvOecmOddu0Y/2BpBv0fnfYVYHVsW7HgsZtfbAA+6unnRd3boL66YaOQYbehiwk/9mi2U4A/e1hV0XesvNT2WvX9Ukl3Jz66kynfe+xdv2Fq153AlILV28cPDYwePYP3uvtn99ki9hdG/7Q+f3NH+rZNW84p1/T74K4wX2i9tMNVt22LPyyl1VB+h8C5b+eVT1a4GZBrLdCNNm4eT++gGtqQbVtg9DcLws+bVuDdObYXUMWKPNCAAEEEEAAAQQQQAABBFqKAMFqS5kp+qlCC1bdakiben+IZiFfsrA0nWDVruGGmf6Q0n14WLIqyESBcqLlG9RPt61koaN7rlWRXjt4TOQy9nP/NgpBfQgKS+P1Nd6xbrgbNE/x2vJWntoxU4ZdnVIga8fGC1a97/k9Uv310dBgNdX2OQ4BBBBAAAEEEEAAAQQQQACBfBIgWM2n2czzsRRasHpSl+7asfczpxrSXt4qxGwEq7bf56MfvORcy63KdCsrUwn+goLVhvTTgsrH35nr3NqerJLUtol48J0/OX226lYzs31PU91rNBPBqjfQTFZh635Ef/fWU7qwz7n688rXnNv6bauGZMG1e26iYNX7GUkWvAf9uiBYzfNfogwPAQQQQAABBBBAAAEEEEAgowIEqxnlpLFsChRisDrgxDP0x+XznT1H7Vbzbw0c5TyYqSGBZSpzY4GfBZq2z6rdvm/mFu56tyKI1068+UkW8HkrVi1gfGfbKucSqd5W/8Q78wIfapbK7fDNEaxagG2B6veHj9OiNYv1t83vOXObbKsFgtVUVjDHIIAAAggggAACCCCAAAIIINB0AgSrTWfNlVIQsP08P6nZoJ0H9jgPefKGaw0NVq0C0h74ZE9y9waEub7HqlVf2hPjrSrzD8tfjDwkyUwyvceqOzXefTrvGD7eqRy1ysqTu/ZKOnv+ilX3Fvl0gtVbB18WqUBN9PApf2csrDQn98FV9r6FlRZeJnplOlhNpfLUtlywl+0BaxXB9uAte6USBNtxqVSs+rdzSDp54QMKrWLVHhZ14MAB50FRvBBAAAEEEEAAAQRyVGDvCr342KvaqIEa+90v6/gc7Wbju7VNb/xmrpafPVbfPTd/R9l4J1pAILcECFaTzEddXV1uzVge98ZCpvc2f6TdB/dEHgZ0w+Axkb0nLbh7cf27cQXuumBCzHsWtj2xfL4TStprVO8vObeKn9C5uyxYfWvdsshDorwn2y3dw04+O+WntXvPdftpbYw9uyqqT/bepp3bYn7u7/jcZQvUs8vxTrBqL+vrw8tedL63/TOtgjVovN52vOckO9Y9z8LQ+xc95vzV+m9Pm79x2JUprbqgcVsfzDrRy99Ptx0LRr3zH9SG9ddC1dOO7xt52+b81+/Mdf6ebNz3vTrLOe6ms0cl7We8Y71mydqxNT79raccW/dlxlYlbGFoKta2NuzBZraW3fXhtuW+V9n91IQPDIs3H4UUrNoDnx566CFdfPHFGjx4cEprnIMQQAABBBBAAIG8F9i7QvMff032aNKTLhinkf3aBQx5n1bMf0yvOQedr3Ej+yvoqERW2978reYtH6Ax30kelKZzbPrzs01v/Hae3hs4Rt9p9jAzl/qSvmRLPWPfyvl67FXp/OtGqn/7ljqK7Pe7qKgo+xdpoVcgWPVNXKIglZA186vcgqbV29fo/W2rtfHAHp3UpoN6dTlBJ3burt7HnhT1FPp3NixLGKzeef63ozpobb/w0cs6ePig07b7OqvzCRo7sEpbd23Tm+uX6v1d/4wZmB1zbu9B6t45/X8pdPt5TKsyTRp6ZdQY5i5f4OwDOrjX2Qkxg44zpzkrX4uc5x+vv0Eb38PLQ2FssmO9576yulrVW1c7P7LwLllf3XPdcbu+7s9tLOefMlTHdjg2cMz+flpQ+cS785w587cVNEabQ5tP92Xz/sDip521dMPQ+KHwZxbAvjvPOe2mgaOSzvVPX/td4LGu15BuvVV1+lcTzqsZra7ZoGu+9I3Icd55TaUf5mlr1j83bjtB6y7VT+4777xTMCHjG2+8IQtXv/a1r6XKw3EIIIAAAggggED+C+xdqfl/eE2bbKQ9z9d1I/vFhqapHJNEavtbM0LB6qRzVZ7oWOdaa1XxrZHql5XQa7venBEKVicNS9iT/J/7Ah3hvlXz9bgFq1lbY0GwoXX3+QXXaeRp/n+WCK/JoNP869T7WXSO7xk8jpSOS3xd9x8eogPWUJX15/8yXqMC/xHGHUSi48KV2kHj9VdvR6rX3YNP0gXjRjV7IE6wGp4Pf2iaLERN9n6B/k5Kedh7Du7V2xuWqXrbKg3perIqup7kVAx2aB3/v5YWSs3fEL9i9X+dFx2s2jVatyrTH96dp00HdjvXWVKzzrlFvE/nEzTwxNOditX3v9gS0++zOoUqVrt3Sj9Ytes+sPip0K+1Nh11VnmomvLjmo2qObhb139pTMJx2vkvfPiyju9wrIafMlSlJaWR/v199SLHzF7+8XoHcejIIb23+cOI17gzLnKC6lRen+39XA+9G6r4vG3oVQn76m3vjU/e1sIt76lv+266oM9QZ+sFqx59c8uHuuXL3wq8tL+fEy3g7HS81n+2UY99+DfnnJG94oe7W7/YppnLX3SOcatWF32y2JnnRGO269q2E3M/edO5xthTznXO91p7O+ydUzvW9rm1APejrWuc9WNr66unVcY939oy1z9/tFC9O5+gfzl1eKR5b9u27kad+dWE7cx598/6eO+nqjz+NPU7vo/jvK5mo7MubL19/fQROrb9MalMdcwxjQlWN23apDZt2qhbt24Jr/3pp59qzZo1zjEdO3ZU3759VVZWFvecRO3u3r1bu3btijm3vLw8sE1rK9HLPc9tN9F43Lbcc2pra7V9+3YFXdve+/jjj2Xt2qtPnz4JnfxGtlWBWTX05fatc+fOge3Y9WxLBP+rZ8+eMT9riI01Yl7e67vXDLqG3zKRra0la8tetvbMyl1P8daHd1Bun+IZJFvT7jX8855srVkfbOz+sfmd/BMQzyLTa6aha43zEEAAAQTyQGDfSi14/DXppJO0caNV8VXJn5fsX7XAqfA76aSN2qjzNa6qn9qmOfTti2do3rKBGjNpWOJgdd9+7W/XNu32U+/Odr01Y56Wnz1Gk4YSrKbulj9Huus5aK1nbZTb3tKM55Y7VeFVp/k+PeHPoBWEx7w86zTU741RbYQ+V9LAb0zSsHCUkepxCl93U1BlakBFtxOwbn1Dv5m3XCclC1YTHRcTlnpG7QlW9618UbP/vjHqWtve/I3m2njHfFdfTnyjbNam0homWJXkDUnjfe/OAoFq49ejBUxPvrdAfTp31/CKoerQJrV/enx3w/KEweq/n3djTOfsWv/z7jyn8rFP15M095O31KVVa+08fFATBo7U4vXL4lasDu3dsGDVOmGB3/LNH2nNrq3Otex1TtfeGtLr7KShlwWUO/bWOOf0P76PTi3vEzUue3/1Z+t1/ZBvxp0Mq15csS0UXrmvSqsaTTFwswC3dUlrffmUc1KacHOu/mRx3GO/MSC4KjBRP60PX4QrjeP1fc+BvXp74zJ9aPvyhp37duimYb0GJgySg/qbyMc7J95BHte+q07u1jOlAP659/4SOdU7r96f2wHWZjz3IC87p1ObDurR+fiYtZLS5HkOevfdd/WlL30p3dOcoPRPf/qTc973v/99tW7dOqaNgwcP6rnnntP69et1/PHHOyHs1q1bneNGjBihM844I+acZO2++eabev311wP727t3b33jG9+I6st//dd/JRzbNddc44Rd3naDxuPtl3uOBWJPPvmk3L+7F/rwww+1cGFoX93u3bs7Aea2bdsU1L8gIwuOd+7cqaFDh+qCCy5Ie27shFdffVWLFy923MePHx/TxtNPP+3MS9DLf92G2Fi7Zn/eeefp3HPPdS7jXvOyyy5zgmbvy28ZZGtB4ty5cx0bs7SXu56uvfZaJ2RNtD7c67l9SmRg69n6GRQCz54925lPv1OytWbX/9d//VcncPauG2vPXkHz5J1Ld11ma800aKFxEgIIIIBAfghYuPKH16Xzz9Mxr72uz8+/zhf87NfKBY/r9WPP03mfva7XdZ6u8wWrFuQ8/lr0P2gP+PpN4aBnu956+Dm959HqadfoucG57jFfv0knb3hYzy23gtnQtUPtSed9yxvyxrZTfw3JCYnC7bkBk3vJ7Ysf1nOfuf0OtzPwG7rJE6wmHkOcqY5c8zp1Xvq4XncJevqNQtc02wv0asjKub5CNm5fPGNwTUJXHqBv3DRM5eH3I9K+MYSO9TuFz40MIV5fgkNmx265d/z+9iLKvnlO4brOqT3D8+zrd4yhHRteixEA99z6/sXOo/cY//mKmofY+XFNkl834S+DbW/p4T+HPgHuGo863nlfoTmO21Dwuo2YRD6XqR4nyXPd4wPCVW+lqhuq/va50DgSBqvhUDXucc77SrJ/crz9h/dpxYuz9aou0PhR6W9Jkqlf2gUfrLpBaVCgmihkJWBt+BJ87O1ntenAHl1xaqXTyNrPNmr73s+cn1X1OluDThro/NxuCX9q2fMad87lzt+tsm/Pwfpb+v09CKouffXjf+ijmg0adWqlXlxdrYsqhmrplhVqU1KqC08b7mwH4La5Y+/nToVrp9bt1aF1B+fW8EQVtA0X4EwEclNg6dKlGjQotK9vOq+XXnpJFvBYOPfVr35Vp59+etTpVmVnwZW9LOx0qy/t5xb6vffee7r++utjqjiTtfvWW2+purpaP/jBD6Ku98knn+jvf/+7E6peeeWVkQrGX/7yl6qsrNSwYcMSDs9t184PGo/1a9WqVc6Yr776ap144onavHmz5syZE/m7XeCjjz7S/PnznTa8rnashYIWCF566aWRvjz++ONOUDh27FinTfdl8/Lyyy9ryJAhOv/889OZGufYWbNmOZWc5jxp0qSYqtVnnnnGOe6KK66ItG1zY6HwokWLdNpppzl70dqrITZ2nt/errlhwwZnjqxP3qplv2WQrZ1vWzmMGzcucq712cJ7CzpvvfXWGKegcboHxXvPKlKtTZsXf5v23owZMzRgwABt3LhREybE7vNt7Qf1372u/z13zQTNk3cu3fnI1ppJe5FxAgIIIIBA/gjsW6W/PlktnXetzt71hJ7/vFLXXnJafcVo+P0uo69V5+VPqFrR7+9f/Vc98bpUec0litzhvG2xZr3wvnqed60uOTVUnbd9ySw9/95ZunTC0FB4FG7XMjLvcfZWTJvusQMu1YQhoegpdMwmnTV6goZapV6kn+G/e2bIuXZkXNu1eNbzej+mreRjiJl0zxgi/dB+rfrrE6re5Bmrwte0BjzXtRA0qi+BJm57drKnzQBj18DmMq573L74Rxe+rm++Y+bRM5cNuW6oPWukZ/0aCpjvGKuAdRLUt6D1GfuzePPjrNzU1kvQbwTPfLpv+9e683Oby+Wdoz93/vY8n1N3bt1DQuMO+6n+85zwONuNYPtizVrWWdd+rX77j5gw1aoz99n2HK+HtgsJv6zydpR/g9qAStTAANaC1Xe7JA5Gw20poDI2VLXavFsCFHSw6g9VvX9P9F7+/FezeUby2zef0s4joSpOe53SvqvOOK5CB48c0uZd23TpWaH/B/6jLSucP4/pcIxWb1+rjk7g2V59y0/RZ3s+d957Z9N7urj/BU6FaIey9urQpkOkXfvZo+//VZecdLY+3L5GJ3XurlPLK5yfXX/WJVFVhq99/Ibe2P6xzujUPXL95tFp+qsu3fie475l7+e64syLdWyHht1G3vQ9b7orvrn2HX269zPH6MZzxkbtm9t0vcj+lRoSrFq4+Otf/1pVVVXasmWLczv8t74VvfXDsmXLnGDwpptuign17HwL/s466yynotF9pdKuhXwW/E2ZMiUGxyoarfpv+PDhkSB12rRpUX+PJ+q2a4GZ9WP06NFRh9pDr0499VQnqLzqqqsiwepTTz0V+bud4B530UUXxVzKvcYtt9zihIsWqC1YsMCpVAzaTsE9Psgw0cqwkHnevHmOvYWHtvWC19nO/eMf/+g08c1vxlbBu3PnjrMhNta2396uacGoVfD26tUrytjCRq+l/+9B7bkGdqxVqlp1r98x0TgTvecaugbutaxa2rZ4sED64Ycf1pgxY3TKKafETEdQ/7399Y413ufBjvf3I1trJvu/abgCAggggEBOC+xdpb8+tUiqvFqXdPpAv3txp4ZfdYlOc28y3LZYv3tRGv3tM7Xzr3O0SMN19SWnhfdh3adV9rNjRuvb4cAzNNbwzz3Hbl/yO73w/pka/e1wsBq+7uaz/OdK+1b/VXOqFelHzLlB1wi312XUt0NBq+flnP+52+/tWvy7F/RB5LqpjyFmHt0xnOg1keQ1PdVJsELX9B/n/tztS5z2Qh6bdWbU2OIYR8YZ7m3KffGNLp5nTHsWmnt9k1xXnjVghzrr6wOdaOvPsQq9/HMeMuhSv35CR3nmUs73O33tRB8TCuX96yv+/LjHJrpuittJBLi5Y3X6s+tsjdYLeuH9+nmImu8E54esTgx9XixYdSmW1f0AACAASURBVD/PHs96054afvXFzj+C7F/9kp784mxdquf1wvv1D6qyfyQY1j30dwta3bDV+TO8d2tRULDqXUIJglHnFv+dgzVWc53b+t1X1O39BKsxv25y4gfxQlT7ufu1d+9e7d+/X4cOHYr8LCc638I7Yftu2le71m11bLtjnT/ttenzzVr/2Rad1aOf3tn0gTbv36V+nbpr5Reh24XdV0X7rlq7t0YdSkrVuaydc5x9v+fIIY0fONI57NDhQ3p+5avO+x1K26r2yCFV9hmqBSv+rg6l7ZxrlBaXOtdeuul9vf/ZJp3YtrNO7Hic87Oex9RXiyXituts3rlZtYcPq6Jbb5W2qt8PtSVMk5m/svE9HVfWVl/u/SV1btupJXS7Sfu4auvHemv7x876OLfXoMh6bdJONNHFrArTqhPTea1evdoJGC2Us6o+q9AcOXKkunTpEmnmL3/5i1NVeOGFF6bcdCrtWkXl8uXLZbd+B70sdN2zZ0/kAVVPPPGEBg4cGLjtgPd8t12rDn3ttdecsbkVle4Y3fdsGwPbX9MCZbvl3/27hWl2rvv3ZAN/5ZVXnEPiGVk1poV/qfTfey0zsJcFzF5T7zHJrm3XtcDQqm4bYmPX8tu717TK3LffftupxHWrdP2W/r9be88//3zEq3371LaTSTTORO+tW7dO9rAz/7o2FwvfLWT3OvvnOqj/7jFB7y1ZssSpuvVWM9vx/p8nm7eGrplka5X3EUAAAQTyXODABr31t/ekgRdp2En79dHzi6SvXKrTw8+h/XzF806Yemn/ttrw1t/0ngboomG91CYhy4GYY5121pyi4ZeeLqesI+q60a0d2PiW/rZcGnDRMPVq87nTp0/6WB8SFISE2+vo6bvbRefaX7j9TrE9xY4hZshxx+C/Rrxr+n4ep71oj/pepDYu/zhSHH+4LzuOSzbf8dpL8bqffaTn//GJTvHNW2jMHcPrJf5c1K+r7tpq60SeNRZnjcZ6pjoGn713PSf7NZFgvYfGIB3nfAZDn4VQH3d4fpakjzuOS/J5CRtGjpPc65affZGG9mzjBKgHN72ll5bt0IlfvlyjB3SLBKuRgNXdOsSC1fBmzNEPtwpDJA1Go7cTiN1PNclWABupWE225DL+frJQ1YLUzz//XGeeeaZThWX/D2XQnoEZ7xgNIoAAAggggAACCCCAAAIIIIAAAggg0MwCdjfVymX/0M+mz9GO4kMadMIxKi0trQ9Y963Sgj+8Jv2LBauhYof0gtXwHqnHjtV3z40uLfff4p/o4VUSwWqTLpWgW/ztZ0ePHo1Upe7YscO5LTHotsgm7SwXQwABBBBAAAEEEEAAAQQQQAABBBBAoBkF/mf2M1r8yos67rjjIsFq8f7V+ottqnzBOI3s1y56mwBvXxNUrMYdUvihV1FbAngehGXn2Z6t/6K/a/bfj0ny8KvswhXUHqvJQlULV+1hFPaE4h/+8IfZlad1BBBAAAEEEEAAAQQQQAABBBBAAAEEWoDAL37xC61Zs8Z5bkZxcbGK9q92HnZXdMF1GumpWI2pWo0XrAaFp65DovciVuGKV12Q+OFXWbYt2GDVu5eqBarulz3wxEJVe5AKLwQQQAABBBBAAAEEEEAAAQQQQAABBApdwJ5vYQ+ltYfEWrBafOBjvTRnkXS+BauhitWoh1u5YHErVuPtnSqFtgIYGK5EjXNcQyphszCJBResulWr3lv/7fsjR4444eo///lP5+m+bdok3n47C3NBkwgggAACCCCAAAIIIIAAAggggAACCOScgD3cfdKkSTrhhBOcYLXkwBq99PQ/VHT+t5yKVW+oGlW1miAADdo71f2ZdxsA/56rUm5Uq9okFUyw6n9glbuvqrda1cJVC1b/8Ic/5NwCpkMIIIAAAggggAACCCCAAAIIIIAAAgg0l8C1116rHj16hILVg59oYThYrQoHq4FVq8kqS317p8Z7GJUbuEbGfnbsQ6+aw6WgglVvuOoNVN2K1cOHD2vr1q168sknm2MuuCYCCCCAAAIIIIAAAggggAACCCCAAAI5KXDNNdeoe/fuatWqlUpKSkJbAni+4m4HkJOjyUynCi5Y9e6t6t7+b3/alwWrVrH69NNPZ0aXVhBAAAEEEEAAAQQQQAABBBBAAAEEEMgDgSuvvNLZCsANVi1cdQNWN1QttHC1YINVt2LVG6q6FavPPPNMHix3hoAAAggggAACCCCAAAIIIIAAAggggEBmBK644opIxao3XHWrVr3hql0xaq/VzHQh51opiGDVv7+qf19Vt1r10KFDzlYAzz77bM5NFB1CAAEEEEAAAQQQQAABBBBAAAEEEECguQQuv/zySMVqsqpVgtXmmqUsXDdesOpWq9qfFqq6WwHMnTs3C72gSQQQQAABBBBAAAEEEEAAAQQQQAABBFqmwNixY51gtbS0NLIdgAWs/n1W3VCVitWWOc9RvfaGqvaGVavaz7wPrPIGq1axSrCaBxPPEBBAAAEEEEAAAQQQQAABBBBAAAEEMiZgwao9vMoNVuNtB0CwmjHy5m/IX63qhqpusOpuA2DVqu5WAPPmzWv+jtMDBBBAAAEEEEAAAQQQQAABBBBAAAEEckRgzJgxMcGqW7FqD7GyClWrXiVYzZEJy0Q3kgWrFqi6X26w+txzz2Xi0rSBAAIIIIAAAggggAACCCCAAAIIIIBAXgh84xvfiASr3u0ALFQNeoAVWwHkwbSnG6z+85//1J///Oc8GDlDQAABBBBAAAEEEEAAAQQQQAABBBBAIDMCX//616P2WLVqVXc7AILVzBjnXCupBqtWrepWrBKs5tw00iEEEEAAAQQQQAABBBBAAAEEEEAAgWYUsGDV3WPVv88qwWozTkw2Lx0vWLW9Vd0vd39VgtVszgRtI4AAAggggAACCCCAAAIIIIAAAgi0VIFLL700UrFKsBqaxaKf/OQndS11QlPpdyrBqgWqbrhqWwE8//zzqTTNMQgggAACCCCAAAIIIIAAAggggAACCBSEAMFq7DQTrB454mwBQLBaEL8DGCQCCCCAAAIIIIAAAggggAACCCCAQAMECFYJVmUVrEePHo1sA2DbAbjBam1trbZu3UrFagM+XJyCAAIIIIAAAggggAACCCCAAAIIIJC/AgSrBKsEq/n7+Y6MrGbeZFXdK939wnSNLc/sgBO3vVzThkzUbI3XzCVTNDCzl6Y1BBBAAAEEEEAAAQQQQAABBBBAoNkECFYJVpskWF3+wBBNfETSDTO15LaAeG3pNA2ZNFvjZyzRlEHN9nlo5IXDIWK8MTay9cac3lzBamjeCVUbM3eciwACCCCAAAIIIIAAAggggAACuSlAsEqw2rTBqhQcnhKs5uZviMb0avtcTR69UCOyUCXbmG5xLgIIIIAAAggggAACCCCAAAIIIJAJAYJVgtUmD1YVdFs4wWomPs+51cb2GtWUd1XX3OoVvUEAAQQQQAABBBBAAAEEEEAAAQQyIkCwSrDahMHqeM2cIU2cNFuV9yzQ9DGeyC0gWHVuI//4bi14YGx0OOdUQk5VhW/bgNDt7tWRGfVew30vaKuB2Nvk3X1BPYtjeEA/YtZO7FYA9WOo0KPOXqPuy3d7fHhM9b1XrJEk/xjl61fkendJ946equpwiH2ib4/VyHET16pqkqdXAVsxJLtmvG0Gos+rjNnfNWWbjPyqoxEEEEAAAQQQQAABBBBAAAEEEEAgswIEqwSrTRusLpkiOftu+oK2RgarMXt5hoNKuQGuG1zG7H9ao7m3VWmq3OA0aJ/U8DGLku0VGi9YrVTlogrdFHl4k6+9oGpdf/8lhcbodQtfzxOuRvay9VUF+8PPyHHeYDbcD28gnco1g4JV/3lBwXYoWE1ik9nfd7SGAAIIIIAAAggggAACCCCAAAIIZEyAYJVgtcmD1YFBIWdjgtU4FazRYWuccNQfYDr9WBtTXamUtiqIE6w+ErCvrKe9Ea8GV+ZG9T8gaHWWrq9fsUFoaIHHC1b9FbwNuWZMsBrYV3+A7QbFiW1a7oPMMvY7moYQQAABBBBAAAEEEEAAAQQQQCBHBQhWCVabPlj13NIeCfYaEazGfeK9v82Aa4TOrdDMSDVpnE9qo4LVgEpXTxjsBKtB4aunK3HH6OtuTOVu+P3gYDW2X97jznvDbBQbMvuu6W878dYA9e3F66viBOU5+juUbiGAAAIIIIAAAggggAACCCCAQIEKEKwSrDZLsCr5bmNvRLBaf/t78Ke4virTX1EarqLsO1NLbhsYdXK8NoP2aK0/MdEeqwn2ie0R2jPWu7+q/wFfcUPIoGA1YF/aVINVbwVsKPBNtv1BvGrYgPOCqmvT2EO3QH9HM2wEEEAAAQQQQAABBBBAAAEEEMhRAYJVgtVmClbrb2N39vTs9aiGTJotb3CZ6sOrUg0dbaqj2gyqjAyHf6Fl4dnPNKUqygYGq4PqF2G8B0VtdvZXTR5yxjMLDFaDQk3/FgUpXLMhoa3d4p/q/Obo7066hQACCCCAAAIIIIAAAggggAACBS5AsEqw2nzBqveBTPdUaOq9KQarvsrHVG+Td6bas4dq6FZ37zYAsfuARpZHEwWr3uXofeDT9Rvi3JafYhVoquFnSlsBJPFPaysAKlYL/D9BDB8BBBBAAAEEEEAAAQQQQACBlitAsEqw2qzBqrufpnsbfEzFakDFpHubvn9/Vu/T7G1ag/dPDVWVrr1npka8NFFTo7YBiK04dZdH0FPtY5dOQypWZ0qTJmr2DbHbEUTtNRreLqBixhJ5H+jkr9ZNq2L1EU9FbngwSSt6I2F4ffVsox5eRbDacv/rQc8RQAABBBBAAAEEEEAAAQQQKHABglWC1eYNVj0PsrKpiNrDNFwZ6Q1MvbfK1x8brjRd5LlVPvDJ9KHJ9u6f6t8zNfRedODovaY/vI1ePg0JVpcoVI1aHT12xVbPxmx5EOCTXrAqafjdWvBAeP/XePvcesPtuHMS/ZArv2NQMM1WAAX+Xx+GjwACCCCAAAIIIIAAAggggEALFyBYJVht9mBVboi4yBes2txE7XkaDgLvku4dPVXB1Zv1Exo3BA2HrtXeUDFymhvS+tuR5t5WpalBfYwc2rBg1alA9Y/T2gyoYvXvwRoYDKf68Co7buJaVU2aHRlB0MO5kl0z8a3/bi1ykupY7+cwpW0XWvhvXrqPAAIIIIAAAggggAACCCCAAAItXoBglWC1SYLVFv9JybMBxK0WzbNxMhwEEEAAAQQQQAABBBBAAAEEEEAgWwIEqwSrBKvZ+nTlcLsEqzk8OXQNAQQQQAABBBBAAAEEEEAAAQRahADBKsEqwWqL+KhmtpMEq5n1pDUEEEAAAQQQQAABBBBAAAEEECg8AYJVglWC1cL73Ice4BWwF2sBUjBkBBBAAAEEEEAAAQQQQAABBBBAoEECBKsEqwSrDfrocBICCCCAAAIIIIAAAggggAACCCCAQCELEKwGBKt3XjegLp8XRV14dHWqk31fV1eno3XS0aN1OnK0ToeP2NdR56v2cJ2279yvF9/anM8kjA0BBBBAAAEEEEAAAQQQQAABBBBAAIG0BEaf31fHd22v0tISlZYUq1WrYrUqKVZJcZGK3a+iIqmoSM7/FKXVfIs8uOjfL1Z+B6s2LRaohv5wwtVQsCodqZMOHw1/HZEOHZG27ZEWfJTXJC1yodJpBBBAAAEEEEAAAQQQQAABBBBAAIHmExg1pKOOP6ZEZSVFatWqSK3sz2KFg1WpuMi+3GC1rpHBaqZS2Uy1E+xe9O9fK6BgNRywxgSrR0LhqhOs7pYWfEiw2nwfU66MAAIIIIAAAggggAACCCCAAAIIIJBrAqOHdtbxx7RSaUmRSi1YLQ6FqyXFClWsRgWrTuFqA1+WyzX4ZN81M9VOnGD1JyMLM1g9YhWr4a9DVrV6RKo9Im3dLT3/AcFqA1c+pyGAAAIIIIAAAggggAACCCCAAAII5KHApcM66gQLVlsVOeGqU7Fa4las1qlYh50w1fmyaLRRmWajTvboWzvZy/mKup97bPZaz6VFFK5WDW20GtoSwP5X3dHQvqt1R6Q623N132HtWrs3l3pOXxBAAAEEEEAAAQQQQAABBBBAAAEEEGhWgbIze6uoYztLUlUUKlOVSkJJanFJqYrbD5PqDtcnqo1LVpt1rMkuXmrVuk6APPj4gglWI5utmo6z2ap301WFNl/df1h1G3Yl8+N9BBBAAAEEEEAAAQQQQAABBBBAAAEECkag6MxTpE6hYFUlJaFNVe17CxiLy1TWoVJ1smDVSMKlq3ms42xYUHxOeQEFq+Eg1QlWw0GqG7A6G6/WqW7/YR1d/0UeTztDQwABBBBAAAEEEEAAAQQQQAABBBBAID2B4jMrwsGqc/9/VLBaUlKm0vYWrB4qmGDViY8JVsOVqwSr6X2aOBoBBBBAAAEEEEAAAQQQQAABBBBAoGAECFZjp5pglYrVgvkFwEARQAABBBBAAAEEEEAAAQQQQAABBBomQLBKsBp+ahVbATTsI8RZCCCAAAIIIIAAAggggAACCCCAAAKFKECwSrBKsFqIn3zGjAACCCCAAAIIIIAAAggggAACCCDQKAGCVYJVgtVGfYQ4GQEEEEAAAQQQQAABBBBAAAEEEECgEAUIVglWCVYL8ZPPmBFAAAEEEEAAAQQQQAABBBBAAAEEGiVAsEqwSrDaqI8QJyOAAAIIIIAAAggggAACCCCAAAIIFKIAwSrBKsFqIX7yGTMCCCCAAAIIIIAAAggggAACCCCAQKMECFYJVglWG/UR4mQEEEAAAQQQQAABBBBAAAEEEEAAgUIUIFglWE0pWN30jxWF+PlgzAgggAACCCCAAAIIIIAAAggggAACCAQK9LykUurUTiopkUqKpeKi0J/2R0mZSttXqk6HnL87/6vI+SavX0XF55TX5fUI3cG5o6wLf2N/HK0LBa1Hw98frVPd/sM6uv6LgiBhkAgggAACCCCAAAIIIIAAAggggAACCKQiQMVqrBLBKsFqKp8djkEAAQQQQAABBBBAAAEEEEAAAQQQKGABglWC1ZS2AqBitYB/SzB0BBBAAAEEEEAAAQQQQAABBBBAAIEYAYLVgGD1jjvuyOutAOrCt/7bn+7X0aNHZV9Hjhxxvg4fPqxDhw45Xzt27NCCBQv4+CCAAAIIIIAAAggggAACCCCAAAIIIIBAWKCqqkrl5eUqLS1Vq1atnK+SkpLIV1FRkYqLi52j7Xv7yvdXEcEqwWq+L3LGhwACCCCAAAIIIIAAAggggAACCCDQOAGC1Vg/glUqVhv3qeJsBBBAAAEEEEAAAQQQQAABBBBAAIG8FyBYJVh1tgNgK4C8/6wzQAQQQAABBBBAAAEEEEAAAQQQQACBDAoQrBKsEqxm8ANFUwgggAACCCCAAAIIIIAAAggggAAChSFAsEqwSrBaGJ91RokAAggggAACCCCAAAIIIIAAAgggkEEBglWCVYLVDH6gaAoBBBBAAAEEEEAAAQQQQAABBBBAoDAECFYJVglWC+OzzigRQAABBBBAAAEEEEAAAQQQQAABBDIoQLBKsEqwmsEPFE0hgAACCCCAAAIIIIAAAggggAACCBSGAMEqwSrBamF81hklAggggAACCCCAAAIIIIAAAggggEAGBQhWCVYJVjP4gaIpBBBAAAEEEEAAAQQQQAABBBBAAIHCECBYJVglWC2MzzqjRAABBBBAAAEEEEAAAQQQQAABBBDIoADBKsEqwWoGP1A0hQACCCCAAAIIIIAAAggggAACCCCQfYEvvvii0Rfp1KlTo9ogWCVYJVht1EeIkxFAAAEEEEAAAQQQQAABBBBAAAEEmlogp4LVvZu0fMNutes5UL1qP9Saz4tU1K2fhvfrpuLiYoemqKjI+crca782vfOO1u+vb7Fr/0r1b7dJ77yzXp4fy/l5VzuuRiuqV6hGbdV78GD1bGs/WqHqFTWRRtr2GqzBJ9kbDXsV3XHHHXUNO7VlnFVXFxqe/el+HT16VPZ15MgR5+vw4cM6dOiQ87Vjxw4tWLCgZQyOXiKAAAIIIIAAAggggAACCCCAAAII5L1Abgar/VS+c4329/6y+ncrcYLUbAWr+ze+o3c27JcThHarCYepXXRc253asV+hn7dbHw5Nu+qUXvv0yQY3bnWDVTdolbr27y+tsNDVvneD2PSXEcEqwWr6q4YzEEAAAQQQQAABBBBAAAEEEEAAAQSaTCAXgtW+fU9Xn8FDdOLh+orVfiWf6P0tB3VMt3ba9VlRuDJ0vza/u1QbDrTVcV32a8dOD1O3/uqvFVrxafhnbXtr8OCeSq9m1K1edYNVf3DaVf0r+6ur3OPc971/P136yCpgPdWsDZhNglWC1QYsG05BAAEEEEAAAQQQQAABBBBAAAEEEGgqgdwIVvuq/bF9dGbPWq0KbwXgBqtd+/VT8erV2t9rsL7U7TO9u3SDDnTrr8p+zj35qllZHQ5Tu+rEbjXa/Gm4yjTt2/DrtwRo2+sMle/40BOOuhWp8YJVbz8aE+zWzzrBKsFqU/0O4DoIIIAAAggggAACCCCAAAIIIIAAAg0QyIVg9ey+faW4wepwlX/+hlbt663+x+3Qyo0H1PWU3tr3SXj/02691Xvveq3fXx+sBt2CXx/ASvIEs0bmbgegyJ6p/orUJMHqvvD+quEq2X3hsLcx+6wSrBKsNuDjzCkIIIAAAggggAACCCCAAAIIIIAAAk0lkAvBat++iSpWh6t/8Wq9seozh6SoqKv6D+6o9c6Dpdqqd/9ybV9h3ycOVuN5Ru2xGqly9VavRu+xGrgVgBusyipae2t/+GFYBKsJVjEPr2qqjzjXQQABBBBAAAEEEEAAAQQQQAABBBDIhkCyYHXevHkaM2ZMwkt36tSpUV1LtMdq137D1b/bQW1ZtlT2zCgLK8/p1c5TZeq5dJmk2vQeGhVVyRppysLbDuHwtr79+kpYf0UrWwGkvQAIVtMm4wQEEEAAAQQQQAABBBBAAAEEEEAAgRwSSBSsWqjqvhKFq40NVquqqlReXq7S0lK1atXK+SopKYl8FRUVqbi42OmKfW9f+f5iKwC2Asj3Nc74EEAAAQQQQAABBBBAAAEEEEAAgRYtEC9Y9YaqycJVgtXMLwGCVYLVzK8qWkQAAQQQQAABBBBAAAEEEEAAAQQQyJhAULAaFKomClcJVjM2HZGGCFYJVjO/qmgRAQQQQAABBBBAAAEEEEAAAQQQQCBjAsn2WE3lQgSrqSildwzBKsFqeiuGoxFAAAEEEEAAAQQQQAABBBBAAAEEmlSAYLVJuVO+GMEqwWrKi4UDEUAAAQQQQAABBBBAAAEEEEAAAQSaXoBgtenNU7kiwSrBairrhGMQQAABBBBAAAEEEEAAAQQQQAABBJpJgGC1meCTXJZglWA1N1cmvUIAAQQQQAABBBBAAAEEEEAAAQQQcAQIVnNzIRCsEqzm5sqkVwgggAACCCCAAAIIIIAAAggggAACBKs5vAYIVglWc3h50jUEEEAAAQQQQAABBBBAAAEEEEAAAbdidenSpWljDBo0yDmnU6dOaZ/rPaGqqkrl5eUqLS1Vq1atnK+SkpLIV1FRkYqLi51T7Hv7yvcXwSrBar6vccaHAAIIIIAAAggggAACCCCAAAIItGgBgtXcnD6CVYLV3FyZ9AoBBBBAAAEEEEAAAQQQQAABBBBAwBEgWM3NhUCwSrCamyuTXiGAAAIIIIAAAggggAACCCCAAAIIEKzm8BogWCVYzeHlSdcQQAABBBBAAAEEEEAAAQQQQAABBKhYzc01QLBKsJqbK5NeIYAAAggggAACCCCAAAIIIIAAAgg4AgSrubkQCFYJVnNzZdIrBBBAAAEEEEAAAQQQQAABBBBAAAGC1RxeAwSrBKvS0mkaMml2+sv0hplacttA1cybrKp7q6Xhd2vBA2PVNf2Wmu8Md+xZ7XuN5t5WpamLpMp7Fmj6mBYlFDM3zTnfyx8YoomPSAqvvcCFc2SL5v7oSk19VRr4vVl6aEI/lTXfCuPKCCCAAAIIIIAAAggggAACCDRagIrVRhNmpQGCVYJVglULlQlWU/4Fk+vB6pZnJ2vMTxer8keP6efXVBCqpjyzHIgAAggggAACCCCAAAIIIJCrAgSruTkzBKsEq3FXZnMGaE32caFitcmom+RCq2bqqutmqMedT2v65T2a5JJcBAEEEEAAAQQQQAABBBBAAIFsCxCsZlu4Ye0TrBKsEqxSsdqw3x6chQACCCCAAAIIIIAAAggggAACTSJAsNokzGlfhGCVYLXRwWqkstW776VbCWo/m9RR82f8Wg/PW6i1O6Wy8n46b+T1umnCSPXrGOfy2xdr9n/P1NxFi51z1KVCQ4eP1fiJY1V5cryT4q//mjdn65e/fVQLl9aotl1XDbzwet3y/fEauiW8v2zQVgBHarT42Yf11BMvauG63ZI6quLcSo294Qcaf246+6TG32PV3TN0/IwlmnLaWp/TQI249hb9YNxQdS3xjW3fFlU//aBmz6vWYqdvZeo6aITGXnW9rr+4nzr6j7fTA0xHjLkpdh62z9Xk0VNV7ZiM0hfzpmnqQ3/S8u1Xa+aSKTrR3VM3g/O9e9V8PfzbR/XimytVs8/WSPDYXa/AvWp3r9T8WQ/r0fmva+X2WqldV/U7d5SuHne9xg7yz9dyTRsyUbM13hlT/zXz9eBDD2vuy2u1O2x5/XfSnee0f/9yAgIIIIAAAggggAACCCCAAAIpCRCspsTU5AcRrBKsZjdYHTNe45fP1ux1AZfpMkL3PXK/Rvru2K5ZdL9uvm2O1gb2rKNG3PuY7h+d6m3etVr+wDhNfCSgtXaVuvsHFZr604A9Vmuqdf//NVlzgvotqeKGmXrstoEp7t+ZQrD6i5nSAxMDncouuFtP/3yserhh6b7lmnZD8LFGVjHmfj10uSkrggAAIABJREFUz4ioh4hteWmqJv94brCpOTwxXWNd0kiwOkV3952rqRG7UAiZMFhNe75rtXLWzZrwq+WqDZrvk8dr5iNTNLBd6M14wWrtmjn60YT7Vb0vqJEy9Zv0kGbd7J2v+mB1+gxp2qTZATZlqrznaU0fk+paa/Lf31wQAQQQQAABBBBAAAEEEECgQAQIVnNzoglWCVazG6xa6+0GauLP79OkIT1UViLVblmu2f95sx58tTb2oVHr5mjilfdruco0cNJ03XfDUPWwUK12ixY/MlW3P7RYu1WhibMe060Dkj/rvXbR/brwtjmqjenDYs24Z7JmLg3Hed6K1SNrNWfSVbr/PQsp79Z93xulfl3LpCO1qln5oh68Z6rmritT5b3PafroVCpXkwerZe3KVFs+SnffO0Vjz+joXGtL9TRN/qEFzGW6+lev6PZzQ+NdOWuMxv1qS6hvt41Vvy4K9+1P+tlt92vhzujj5TGt/N5DumPcQPUok2prVupPP79Z97+0Wxpwu56acbUqLLx1g1XnahUa++O7ddOY0Dn2SlihnOZ8R+ZHFbr6p/frlosrnGrb2o3VevCOH2n2qlqVXTldr/y40gmxA4PVfdW6f+Rkzdnnn6/dWvn8NN37n3O1cp9/vtxgtUxl7Wp14sUey9otqp4+WZOfXCu1u1q/ful2DU2+1HLzNzy9QgABBBBAAAEEEEAAAQQQyAsBgtXcnEaCVYLVrAerI376su6v8t2+HwnDeujWR+Zp4hnWjd1aeG+Vbp9Xqx7X/VpP/3BoTEXo2icn6qqfL3eCwHmzrlbiWsItmjNhjBOQJu6DogLe3S9PVdWP5kpV92vBT0coZuMBN6jscasee3ai+gXddh+lmjxYlSp19zxP1ahzfq2q/2O4Jj8t9fjeY5o3oZ/Fmpp7W5WmLhqqu+f9ur7KNHy92lenavgP56ps0kwtunmg08bin1+oW56MY3pkpWZePk4PbumhWx+fp4mnRQerA3/0lGZeUxE9mkRbASiZtXe+6+en8s55sQ+b2jlft198lxZqpO5/+T6N6BgcrK595Cpd9cBaZw7n/dJT2euaRMJ1b0jqBquhuY85r7Za9w+frDnyuOTm73B6hQACCCCAAAIIIIAAAgggUAACBKu5OckEqwSrWQ5W60Mx/4UW/2KIbnlc6vejp/SYhXeRMGugbn92pq4+KaBruxfqrq/ervkWRL4wXWPLE3ywauZrctVdqvYEc/6jV84Yo3EPbfEEq26YWabxMxZpyqCg9rdo7s1jNHVJqqFbCsHqldO1KFyV6b1ibHVofdha+cPHdM+V/WTFtHFfEdN+uv3px3T1ybFHLn9ouCbOqFXlvQtCFbiRitVg48QVq2nM97o5Gnfl/VqpqzV90e2qjBlHjeb/sEp3vVqmibMW6dYBQcHqWs254Srd/6GvSjdqmCs1c4yFx945rQ9Wr35gkW4f7r94/Zw5+98GroPc/KVOrxBAAAEEEEAAAQQQQAABBPJPgGA1N+eUYJVgNbvB6hm366lHrlZ0zWPokjEBXSRoC+3lafWWsS831JSSBl7vPajhE2aqtt1EzXz11sD27Fb04bfN8QSrbgiX2gc2OJTzn5s8WB165zz9+vLY+tugELP2vQc1bsLM8J6gZep62nm6aGSlKocM1cC+PdTRmxFGQtJEpr7+JjknYbCazny7DzgLenBYHP6YrQAiwXHioN0N8esfeuUGq8GVv/WVwSmss9SWCkchgAACCCCAAAIIIIAAAggg0GABgtUG02X1RIJVgtXsBqsJQrOYgC6loC2NSsJU2os5xnOLeAofvUiVZ8JjkwergU+5j7efqW2asK5aT/1qmh51nmLvfXXUwCun6O7bxqrC9qbdOEcTL7c9a5soWE1jvmND7eTgMcFqisFx7N6s7jzHC2TTWGfJu80RCCCAAAIIIIAAAggggAACCDRKgGC1UXxZO5lglWC12YLVLc/eojE/XSzdMFNLbhsoe8hS6NbwDFWsbpmrW8ZM1eJE7cUNVutvP2/8py/zwWqkT0dqtbtms9a+u1gLq+frxVeWq2afVObuD5ti8Bg1xsZUrCYIVmPmO5Xg24ef+YpVgtXGr29aQAABBBBAAAEEEEAAAQQQyLYAwWq2hRvWPsEqwWp2g9V24zXz5SkaGPOAJ89eoe7enpneYzWF28QjVbORQDB+CNqwj5idlcVg1d+pLXM1eczU+n1lW7sPYYp/q/zyB4Zr4iO1GvkfL+u+izt69lgNDrgTbgWQzny7QXrcc1y3+r1sYytPG7vHKsFqw9c1ZyKAAAIIIIAAAggggAACCDSVAMFqU0mndx2CVYLV7AarKtPVD7wS+3CgSFWk90FVSZ5gL2ntkxN11c+XSwNu17xZVyt2V1LvcOrbC3q6vY6s1MxrxunBdaEnwy94YKy6Stry9ESN+Y/QNZ6acbUq/KGw+7T6dt6nzCf64GUwWHXd4u1lGgmT3YdI7dbCO7+q2xdIgQY7F+quMbdr/j5PwNiYitW05rv+oVKBa2TVTF113YNa6wleY4NVz3wNv1vzfjlWPXzzZVsOXHjbHNVGzRdbAaT3nwqORgABBBBAAAEEEEAAAQQQaE4BgtXm1I9/bYJVgtUsB6uS2g3UxJ/fp0lDeqisRKrdWK0H7/iRZq+qVdmV0/XKjysVed5SpOKyTAMnTdd9NwxVD9srtHaLFj8yVbc/tFi7VaGJsx7TrQNiHiMfOxY3nFOFxt5zn6Zc2k8drQ9blmvOA5M17aXwDqXeW9gjYaNUMeZu3fe9UerXtUw6UqualS/qwXumau46qeJ7j+mpCf1S+GRnMFhVfRjp+Iw7Wz3CT6uqrVmrhTNv111Pro0OnuMaLNaMeyZr5lLfPDQqWE1vvne/dJeqfjxftb41svvDuZoWdvYGwkHBqvYt1rRrb9HsLf752q2Vz0/Tvf85Vyv3lany3uc0fbRF5/YiWE1h4XIIAggggAACCCCAAAIIIIBAjggQrObIRPi6QbBKsJrdYPWMSlXuq1a1VYX6XmWnTdRDM27VQAtOPa+aRffr5tvmhJ967z+ro0bc+5juH524VtV71pYXbte4exb6HvJkR5Sp8oarVfvIbC327Q1au/RBTbhtplbuC+bpePF9euynI2OqI4OPzmSwKtUunaZxk2bH8bFgs1J3PzFdYz1EW+ZN1pX3Vqs2qIMnj9fMR6bUz0NjgtW057tWyx8Yp4mPrA2kK7vgbj398/oq1MBg1XL3NXP0own3qzpwvsrUb9JDmnXzwPoAn2A1N/+LRK8QQAABBBBAAAEEEEAAAQQCBQhWc3NhEKwSrGY3WLXA8j8GavGMX+vheQu1dqfU8eShqhwzUT8YN1RdY/ZeDXdn+2LNmfmUnnopdI66VGjo8LEaP3GsKk/umPanafeq+Xr4tw9r7strtVtl6jpohK6/+Qca3+t1TR49VdVBD13avlxzn5itOfNf18rtFkl2VMW5lRp7zU0aW1nhVL6m9spssOpcM+wzd8lirVwXqrotK++n80Zer5smjFS/AKKQwaN68c2VzgOu4s5DY4LVBs53zZuz9ctH5qr6zfD8nHaeRt14k266OFRh7L7iBavO+7tXav5jj2rOvIVabvPVrqv6nTtKV4+7XmMHuZWqkZY0bchEzRZ7rKa2hjkKAQQQQAABBBBAAAEEEECgOQUIVptTP/61CVYJVrOzMhvwxPfsdIRWm0SA+W4SZi6CAAIIIIAAAggggAACCCBQmAIEq7k57wSrBKvZWZkEbdlxzdVWme9cnRn6hQACCCCAAAIIIIAAAgggkAcCBKu5OYkEqwSr2VmZBG3Zcc3VVpnvXJ0Z+oUAAggggAACCCCAAAIIIJAHAgSruTmJBKsEq9lZmQRt2XHN1VaZ71ydGfqFAAIIIIAAAggggAACCCCQBwIEq7k5iQSrBKvZWZkEbdlxzdVWme9cnRn6hQACCCCAAAIIIIAAAgggkAcCBKu5OYkEqwSrubky6RUCCCCAAAIIIIAAAggggAACCCCAgCNAsJqbC4FglWA1N1cmvUIAAQQQQAABBBBAAAEEEEAAAQQQIFjN4TVAsEqwmsPLk64hgAACCCCAAAIIIIAAAggggAACCFCxmptrgGCVYDU3Vya9QgABBBBAAAEEEEAAAQQQQAABBBBwBAhWc3MhEKwSrObmyqRXCCCAAAIIIIAAAggggAACCCCAAAIEqzm8BghWCVZzeHnSNQQQQAABBBBAAAEEEEAAAQQQQAABKlZzcw0QrBKs5ubKpFcIIIAAAggggAACCCCAAAIIIIAAAo4AwWpuLgSCVYLV3FyZ9AoBBBBAAAEEEEAAAQQQQAABBBBAgGA1h9cAwSrBag4vT7qGAAIIIIAAAggggAACCCCAAAIIIEDFam6uAYJVgtXcXJn0CgEEEEAAAQQQQAABBBBAAAEEEEDAESBYzc2FQLBKsJqbK5NeIYAAAggggAACCCCAAAIIIIAAAggQrObwGiBYJVjN4eVJ1xBAAAEEEEAAAQQQQAABBBBAAAEEqFjNzTVAsEqwKqlGc2+r0tRFAYv0hplactvAlFZvzbzJqlp3U8rHp9RoCzkod8cemtuFFy/Q9DFdW4hmtrq5XNOGTNTsNNZ0tnrSuHZD49CMJZoyqHEt5e7ZNsaHVfHCdI0tz91e0jMEEEAAAQQQQAABBBBAoKkECFabSjq96xCsEqxq+QNDNPGR8Zq5ZIqiItTtczV59FTpntRCuaYIF62vD5+cWn/S+yg07uiEY186TUMmKeLbtGNoeLDaFPMZq56hQM1Zu2t1k2dNN61749ZT4rMLLVjN0JrI5pTQNgIIIIAAAggggAACCCCQZQGC1SwDN7B5glWC1VCwqqDK1PRCueYJ4hq48jN8WjrBaoYvnaS59OawafvWlFerUc32ruqaF9WPhRasNuU64VoIIIAAAggggAACCCCAQG4KEKzm5rwQrBKsygkF762IrVj1r1mn8nJ29E+H360FD4yV3WTuDRdDVbDRh1ZGKl9jtx5I7T05IbBbsZr4Gu6xMzXipYmRbQ7Gu7dPh6txq6O6GFC1676fxtijmow6r1J3vzBdFU/UjyFkNkJ3fzw10sdEFtZ2ZAxBv1N846q8JzR+ZyuAXo8mnD9/c975dL+fqYmReU3Uz/o+Jppr3xzJ1lKFHo3cAh6uVLynQlPvddedZ45i5sTznrdiNdlcu8fOkCa669uzroOYvWvPNV47MXRrfsw/VDjtL9QIu61doSrwlNedXdw3zvEzZkqTQlsBjHg1vc9ZonmJXltB24Mk+Hz4DMfPWKCKmbHbi3jXbuj3jk8isr2Bt0rV8/2WgN9BCn2ubMuAlNqcMUILJ6VeiZ+b/+mmVwgggAACCCCAAAIIIFBoAgSruTnjBKsEq+GVGd5/0l2n/n0oA7cFiN6z0g3fFpz8sKruVSTscJoMh0MWrITCIH8INlUVSd5zQysLVu/RvQmvEQm4HqkPXUJ9WKu7X7hJa0f799oMB0lOuBcKiiOvNMYeuB9tgq0A3CAoEjglcnLDa79tpKOxe4i67VdO+YE07Ze+bR0S7zkaE6zeW10f6oZNInP2sS9gDwf18m8z4TkvcI7kD9QmanYk5PTM0V3Svb5tKpxA0+1HJFgdoYUx+6r65toNXiNrPvx+3+D9hUOm9evbP4fxg9U0153Na8Dac0PdKyZU6plZST5nqc5LzNqKrfBNWJXtMwzaXiTGbXuNupZ7PmlR2zfECVajKo5j56kmaZve9ZSb/1GmVwgggAACCCCAAAIIIIBAkADBam6uC4JVgtXglRmpkgsHk06lXbjqzhNueEOkqGD1pRG+gLL+9mUnWI3aeiAUkFjFX6L3YoLVBNdIXDkYCrj8D/9x+h/TphtupTb2BgWrUddM5BS/L6FJDLpFPLwVwDALVt8KVU3GmT//QogJVuP08/oNcdysRzHbTNTPdeAcBQSr3nmKzJETrPrmxNbszIrQuvMFqwnn2ltRGraJvz1GuCoyjkVG110kWPWvvdA877dgdWX8z1l68xJnbfmrguNV8voMA/0CnN01W18H7/5DSPJgNSpIj1q8vn8kilS0FsIWCrn5f2jQKwQQQAABBBBAAAEEEGi8AMFq4w2z0QLBKsFqwnUVCUiuXRtwC3P41HClX3TFavQtvu5FIhWrgXu6BgVx0d1ztwJwKlYbGaz6NjUIXSgoOAq8lTx47LkdrP7Sdwt69BgaGqw6T6aP2YIg9ICxRAGlEwXHBK+xFaspB6veAeRwsJryukslWJ0V/3OWdF58W3WE+MLBpnvLvadyPe4/PAT0M2ibjqj2y93w01+57obIiYNVf/VrqO1U2oz9B5Vs/IeVNhFAAAEEEEAAAQQQQACBTAsQrGZaNDPtEawSrGrakMmq8FUyussrOliNrdr0LsPEFav1RyaqYmzOitW4H6nASrvoo9N5eJV3n9jYsKppK1YT/RpJrWI1tJemu7+oN+CK7AEapzqZitUUfoknqPIMrlh124yuDE4+LwHr2fcPF2kHq3H+8cS5UtC4on6WIFj1bJfhhMfuK6U2CVZTWHUcggACCCCAAAIIIIAAAjkoQLCag5MiiWCVYFXThgzR2siDpaKiUucW/am212S4YlVRx0XfWpt8j1U5D8hKtO9mov1XG7THqjfciQQv8fe6dB7yNCZqh9XAfS79t903Klj17pma4T1W3b1tE+2x6r9NPhLNOQ/WuklWhRs/AA4/pMi7H6l//9U4++mmGqzO9u99avvgZnyP1eh/NEi6FUCyPVY9e5uGqjetEjTNdRcJIKMftOTu6Rp/j1X7nF2vte5n97aBoSlNNC/uHqvhMFW+fWQjFcnpbAXgnXdf+6GtGrzjch+WlWQrgPDDv6J/D4VXbEptEqzm5v8pQq8QQAABBBBAAAEEEEAgmQDBajKh5nmfYJVgNeY27qil6A1SYp7CHv2Eem+4GHsrsPeJ4omeFJ/KU+Q9t5n7bmeuf1J9+k9n954b83FMY+wx50Zukw+FRhVPDJE9gMsC3FBgWaHxmq3Zi0Jn1vcj6Mns0ebxrxV+54aZmqmJoev1elRD3Kfeh9/2PqXd31ZqFatLNKVH7JPuE40h4RwF7bF6w3jNfsS9gd6zjmLmxH9b+VrdtGSKBgZu5RDvFvSQQkpbGLhr74bxGm/9izzRPnrexs+YKU16OFQVHg4GvTfwJ1x31hnfOCvvmakRL02s35M46jMQ+1C44GsFrC1faBr1Gbb3wmF2tf/BdpHQ1htOJ28/elz22bhHuq9KUxfZGOyhY2EzZ9uA0Pf22ZkYsIWB/+Fv4U9SQJu+YDVe9Wvz/PeYqyKAAAIIIIAAAggggAACcQUIVnNzcRCsEqzm5soskF4lvL26QAziD7OlPGyopfSz4BcUAAgggAACCCCAAAIIIIBAixUgWM3NqSNYJVjNzZVZIL0iWE000S0lsGwp/SyQDxXDRAABBBBAAAEEEEAAAQTyUIBgNTcnlWCVYDU3V2aB9IpglWC1QJY6w0QAAQQQQAABBBBAAAEEEGiEAMFqI/CyeCrBKsFqFpcXTSOAAAIIIIAAAggggAACCCCAAAIINFaAYLWxgtk5n2CVYDU7K4tWEUAAAQQQQAABBBBAAAEEEEAAAQQyIkCwmhHGjDdCsEqwmvFFRYMIIIAAAggggAACCCCAAAIIIIAAApkTIFjNnGUmWyJYJVjN5HqiLQQQQAABBBBAAAEEEEAAAQQQQACBDAsQrGYYNEPNEawSrGZoKdEMAggggAACCCCAAAIIIIAAAggggEA2BAhWs6Ha+DYJVglWG7+KaAEBBBBAAAEEEEAAAQQQQAABBBBAIGsCBKtZo21UwwSrBKuNWkCcjAACCCCAAAIIIIAAAggggAACCCCQXQGC1ez6NrR1glWC1YauHc5DAAEEEEAAAQQQQAABBBBAAAEEEGgCAYLVJkBuwCUIVglWG7BsOAUBBBBAAAEEEEAAAQQQQAABBBBAoKkECFabSjq96xCsEqymt2I4GgEEEEAAAQQQQAABBBBAAAEEEECgSQUIVpuUO+WLEawSrKa8WDgQAQQQQAABBBBAAAEEEEAAAQQQQCA9ATcUTe+s4KOXLl2adjODBg1yzunUqVPa53pPqKqqUnl5uUpLS9WqVSvnq6SkJPJVVFSk4uJi5xT73r7y/UWwSrCa72uc8SGAAAIIIIAAAggggAACCCCAAALNJkCw2mz0Wb8wwSrBatYXGRdAAAEEEEAAAQQQQAABBBBAAAEEClWAYDV/Z55glWA1f1c3I0MAAQQQQAABBBBAAAEEEEAAAQSaWYBgtZknIIuXJ1glWM3i8qJpBBBAAAEEEEAAAQQQQAABBBBAoLAFCFbzd/4JVglW83d1MzIEEEAAAQQQQAABBBBAAAEEEECgmQUIVpt5ArJ4eYJVgtUsLi+aRgABBBBAAAEEEEAAAQQQQAABBApbgGA1f+efYJVgNX9XNyNDAAEEEEAAAQQQQAABBBBAAAEEmlkgWbB644036ve//31KvVy6dGlKx3kPGjRokPPXTp06pX2u94SqqiqVl5ertLRUrVq1cr5KSkoiX0VFRSouLnZOse/tK99fBKsEq/m+xhkfAggggAACCCCAAAIIIIAAAggg0GwCiYJVC1XdVyrhKsFqs01j4IUJVglWc2tF0psWJVB74ID279unbZs3a//evdr0ySfat2ePDh86pHWrVqn24MHIeLp07aoevXs7f+90zDHO98f16KEuxx6rNu3atahx01kEEEAAAQQQQAABBBBAAAEEUhWIF6x6Q9VUw1WC1VTVm+Y4glWC1aZZaVylxQrU1dVp965d2rpxo7asW6dPVqzQ+lWr9NmOHTpy+HBGxlXWurV6nHyyBgwdqnMuuEDHnXBCQdwykBE8GkEAAQQQQAABBBBAAAEEEMhpgaBgNShUTSVcJVjNrakmWCVYza0VSW+aVcBC1C8+/1xrPvxQH737rtZ88IF2bN2asQA11cG179hRF1x6qc4fNUpW6coLAQQQQAABBBBAAAEEEEAAgZYqkGyP1XTGRbCajlb2jyVYJVjN/irjCjkrYEHqzpoarVy2TG/87W9at3Jl1O37zd1x2/T6rGHD9M0JE1R+4onN3R2ujwACCCCAAAIIIIAAAggggEDaAgSraZO1mBMIVglWW8xipaOZEbAw9dOtW7XoL39xwtRdn32WmYaz2EpJq1a66LLLNPpb35JtG8ALAQQQQAABBBBAAAEEEEAAgZYiQLDaUmYq/X4SrBKspr9qOKNFCtiDpN56+WX99ZlntOOf/2yRY+h71lma8G//pmO6dWuR/afTCCCAAAIIIIAAAggggAAChSdAsJq/c06wSrCav6ubkTkC+/bs0V+eflqvPPdcTt3m39DpOb5nT33n3/9dPXr3bmgTnIcAAggggAACCCCAAAIIIIBAkwkQrDYZdZNfiGCVYLXJFx0XbFqBQ7W1Tqg679FHm/whVNka6bHHHaeb77lHPSsqsnUJ2kUAAQQQQAABBBBAAAEEEEAgIwIEqxlhzMlGCFYJVnNyYdKpzAts+uQT/e4Xv9CWdesy33gztEi42gzoXBIBBBBAAAEEEEAAAQQQQCBtAYLVtMlazAkEqwSrLWax0tHGC+z89FP9z30/1fqPVze+sRxo4bgTumvCv/6bTujdS63btsuBHtEFBBBAAAEEEEAAAQQQQAABBKIFCFbzd0UQrBKs5u/qZmRRAlvWb9Cvpt6nz7duySuZ0pJitS0rUedjj9WQERfpKyNHq0PnLnk1RgaDAAIIIIAAAggggAACCCDQcgUIVlvu3CXrOcEqwWqyNcL7eSCw9I039N9T/1+V1B1RSXFRHowoegitS4vVprTE+WGbdu30tWvHadglVSopCf2MFwIIIIAAAggggAACCCCAAALNJUCw2lzy2b8uwSrBavZXGVdoVoFFf31Jv/n5L1VcdDQSPjZrh7Jw8aIiqX3rVlGh8bCLv6av3zhRpa1bZ+GKNIkAAggggAACCCCAAAIIIIBAagIEq6k5tcSjCFYJVlviuqXPKQq4oeqRI0fUvnWJivOwWtWlsC0B2rWOrlAdPupSjRp/o1qVlqYoxmEIIIAAAggggAACCCCAAAIIZFaAYDWznrnUGsEqwWourUf6kkGB95e8rf+68x7VHjqsslahfUjz+VVcVBQYHleO/rpGXf9ttgXI58lnbAgggAACCCCAAAIIIIBADgsQrObw5DSyawSrBKuNXEKcnosCWzdu1E++P0W7d+9xume3ybcqyb+9Vf32QeMsLi7WNyZM0perRuXiVNEnBBBAAAEEEEAAAQQQQACBPBcgWM3fCSZYJVjN39VdoCPbv2ev/vf3/m9t3rjZEbCHVVngaPuQ5vvLqnKtOtf/6nTMsbrxx3eqR8Up+U7A+BBAAAEEEEAAAQQQQAABBHJMgGA1xyYkg90hWCVYzeByoqnmFqirq9OjD/y3/jL3z6oLd6Z1aXHePrTK7x0vWLXjzhg6TNfc9gOVtW7T3NPE9RFAAAEEEEAAAQQQQAABBApIgGA1fyebYJVgNX9XdwGObMWyZfrZ7Xeq9tChyOgLZRsAG7A9vMoeYhX0si0Brp38rxrwleEFuDIYMgIIIIAAAggggAACCCCAQHMJEKw2l3z2r0uwSrCa/VXGFZpE4PChQ7pvyg+1+qNVkes5D3RqUyL7sxBeyULkk/qeqhv//S6179ipEDgYIwIIIIAAAggggAACCCCAQA4IEKzmwCRkqQsEqwSrWVpaNNvUAov//qr+/6n/n44cPRq5tD2wqp3tr9rUnWmG66USIlvV6jdv/p7OuXBEM/SQSyKAAAIIIIAAAggggAACCBSiAMFq/s46wSrBav6u7gIa2dEjR5xq1ZUfrIgatT3IyfYdLYSXEyKXJX9IV5+zBuj6H/1Yrdv25651AAAgAElEQVS2KwQWxogAAggggAACCCCAAAIIINDMAm6wunTp0rR7MmjQoKhzGtNGp06Nu3uzqqpK5eXlKi0tVatWrZyvkpKSyFdRUZGsoMle9r195fuLYJVgNd/XeEGM76Nly/UfP/qxDh8+EjXeRA9zyjeYNqUlsgd1JXu1ad9eN931E/Xs0zfZobyPAAIIIIAAAggggAACCCCAQKMFCFYbTZizDRCsEqzm7OKkY6kL/GrqT7Xo5VdjTki252jqV8jtI51tAFqXqLg4tX8Nu+Sa6zTiiqtye1D0DgEEEEAAAQQQQAABBBBAIC8ECFbzYhoDB0GwSrCav6u7QEZWs2277vzuLdq9e09ssNqmlVqlGDa2ZK5Uq1XdMVacfqZuuON/qU07tgNoyfNO3xFAAAEEEEAAAQQQQACBliBAsNoSZqlhfSRYJVht2MrhrJwR+NvceZr1wK9UVxfdJdvKxCpWS/I8WLXx2TjT2bqlfcdOuume/0cn9D45Z+aRjiCAAAIIIIAAAggggAACCOSnAMFqfs6rjYpglWA1f1d3AYws3kOrnA93GsGqhbJH6+qcL/d7Cyztf2zfabvVPhdf1q92rUsaFB5f9b3bNPhfvpqLw6JPCCCAAAIIIIAAAggggAACeSRAsJpHk+kbCsEqwWr+ru4CGNn2LVt053dv1b59+2NGa6FjhzbxKzmPHK1T7eGjOnTkaEy1q78xi1VblRQ7D4fKlQpY61O71q3UqqRhoe+Xq0ZpzMTvFMRTCgvgo8AQEUAAAQQQQAABBBBAAIGcFSBYzdmpaXTHCFYJVhu9iGig+QRefu7Penjaf6vOvw+A5DzIqYPvFnmrSLUw1b4CTklpIBas2p6mDQ00U7pIkoOsgLZdWcNDVWuefVYzMRO0gQACCCCAAAIIIIAAAgggkEyAYDWZUMt9n2CVYLXlrl56rl/de58WvfJaoIQ3WLVA9eChUKCaqZcFrFbBWlpSnKkmU2qnW5c2shrV2tojKR0f76DOXbtp0j33qtsJJzSqHU5GAAEEEEAAAQQQQAABBBBAIJEAwWr+rg+CVYLV/F3deT6ygwcO6M7v3Kx/bv5ncLBaVKS2rUt0+PBRHcxgoOq/mFWPWrjaulWxUyWbrdcJ3drq4i/31On9j9f+A4f019fW66PVNQ2+XHFxsSbe+b/VZ8DABrfBiQgggAACCCCAAAIIIIAAAggkEyBYTSbUct8nWCVYbbmrt8B7nmh/1eaicUNW2ybAKlob+9Crju1KdcYpnXXO6ceqvGt7te7QLvRULklHj9apevFmLXp7S+BWCKkY8ACrVJQ4BgEEEEAAAQQQQAABBBBAoDECBKuN0cvtcwlWCVZze4XSu//D3r3A2VnXd+L/nrkmQxKBcKmxWqJIrK0sbcELca1m2QYvJb0AXoi0BnQRXIK2RFuB9k9iF3H/CqwC20KoEKxFu5rYCtmlwarBKmzFaK3xFuolKhCIDOQy1309Z+bMnHPmzMw5J2dmfufkffrKCyTP8/t9n/fznVP45Pf8nkkF/u2rX41r1r03BgYP7ZH46YizVaid7bk4elF3dHa2xd7evth/cDAGB4cj22Jguk92fkdbLp+HZmFr9n9tbZH/69gnFzGvqz2OPao7nn1cTyx91oJYcmxPfsVt9uno7oqunvkTpsrC1W33/yAe/NpPpyuj4u//5qrfizPPe3Nd5zqJAAECBAgQIECAAAECBAhUIyBYrUapOY8RrApWm7NzVR3/uHlL3HbDR+p+CdVkhFkAuuSYnjj9RcfGySceGfPnjYSbk3169w3EvgMD+aD1ez/qjQP90we9nR1t8cyj58fiI7vz4/eUvWSrMFeurS0fqLZ3dkw6//4DA3HX3++Mn/zsqZq74iX/eWX8zlsvqvk8JxAgQIAAAQIECBAgQIAAgWoFBKvVSjXfcYJVwWrzda2K8wJ3/I8Pxz2f+kzDNLIXUb3i146LV/768dHdNXWY2rBJJxkoC1Q753XnV6pW8/nev++NT939nRgYrO3lXMt+7TfiTe/64+jqnlfNNI4hQIAAAQIECBAgQIAAAQI1CwhWayZrmhMEq4LVpmlWhZYKXPNH6+LrX/3aIbO0t+di5UueGa/89V/IP6I/V59cLpdfmdrR3R1tHbUFu1mg+pn//b3Y+f3HaypfsFoTl4MJECBAgAABAgQIECBAoA4BwWodaE1yimBVsNokrarMcoG/eOcfxb9+7RuHBPPcJQviD1733Dhi3uSP2h/SBFOcnAWpWYDa3tmZD1SzVaqH8vn295+IT93znZpeZHX8s58Tb/2z9XHEokWHMrVzCRAgQIAAAQIECBAgQIDApAKC1dZtDsGqYLV1u7uFr2ygvz/+9ML/Ej/+4Y/rvsqXveiY+L1XPif/UqkZ/eSyF1floq29LdraR4LU7O8bPfGTvX3x8S3/Fo/vPVD15Rz7rGfF2/58Qyx4xpFVn+NAAgQIECBAgAABAgQIECBQi4BgtRat5jpWsCpYba6OVW1eoO/AgfiTC94WP/3Jz+oSOenZC+OCVSdGe1t9qWoWlOba2yIXo+fnIh+a5j/ZI/0dHfm/5gPUWfoMDQ3HZ7d9P76x87GqZxSsVk3lQAIECBAgQIAAAQIECBCoU0CwWidcE5wmWBWsNkGbKrFcYGhwMN771oviBw//oGacoxd1xWVveEH01PH4f/a4flfP/Pyj+yl+vvqNn8XWf3q46tIEq1VTOZAAAQIECBAgQIAAAQIE6hQQrNYJ1wSnCVYFq03QpkqsJFDPHqttuVysfvXSOPnE2h99z/ZD7T7iiMjVucp1Nu7i7p89FR/f/K3o6x+sajrBalVMDiJAgAABAgQIECBAgACBQxAQrB4CXuKnClYFq4m3qPImE6gnWH3O8UfEJeecVPMWANlK1e4FPeOP+yd6W57a1x8f+9Q3q95nVbCa6I1UFgECBAgQIECAAAECBFpIQLDaQjez7FIEq4LV1u3uFr+yWoPV7CVVb/jPJ8RvvODommU658+LznndNZ832yf0DwzF5q3fje8+/ERVUwtWq2JyEAECBAgQIECAAAECBAgcgoBg9RDwEj9VsCpYTbxFlTeZwI0b/iK2b/unqoGOXNAV73pT7XurZi+l6l54RGQvrGqGz+e+9MP453/ZXVWpxz/7OfHWP1sfRyxaVNXxDiJAgAABAgQIECBAgAABArUKCFZrFWue4wWrgtXm6VaVlgj07v15XHnRJfHoI49WJZOtVH3jb51Q1bHFB2UrVbMVq83y+db3Ho9P3/Odacvt7O6ON132x/GC3zh12mMdQIAAAQIECBAgQIAAAQIE6hUQrNYrl/55glXBavpdqsJJBf5l+/1x3Z+vj8HBoSmVssWm561cGqecdFRtmrmIrp6e6OjqrO28OTz6Z4/ti49v/rfYf2Bgyipe+bu/H7/1hvOaZiXuHJKamgABAgQIECBAgAABAgQOQUCwegh4iZ8qWBWsJt6iyptKYGhwMP7bH62Lb+74xpRQ87ra451vfEEsfkaN+6TmctHdMz/amyhY3be/P/7m0/8Wjz6+f1KTZ/7SCfGHf3JFLDp6sQYjQIAAAQIECBAgQIAAAQIzKiBYnVHeOR1csCpYndMGNPmhC3zty1+JD17xZzEwxarV44+eF+984y9HR3uN+6Q2YbCard79zL3fi2999/FJcX//okvi1BVnHDq+EQgQIECAAAECBAgQIECAwDQCgtXWbRHBqmC1dbv7MLmyA/v3x3vfelH8dPdPJ73iX3nuM+Itr3te7SJNGKxmFznVC6yOeeaSuODKP48jjzm2dg9nECBAgAABAgQIECBAgACBGgUEqzWCNdHhglXBahO1q1InE7jjhg/HPZ/+zKRA/+m0X4hXv2xJ7YBNGqx+/VuPxT/84/cqXu9LV746zlrzVnur1t4NziBAgAABAgQIECBAgACBOgQEq3WgNckpglXBapO0qjKnEvj6g/83/vufXBkDg4MVDzv3jF+KF7+wjv1EmzRY/eHu3vjbLd+asD1CW1tb/MF7roiTTvk1DUWAAAECBAgQIECAAAECBGZFQLA6K8xzMolgVbA6J41n0sYK/Pzxx+NPLvwv8fO9T04YuL0tF2/7nefH835xQe2TNmmw+tjj++NvNv9bPL2vv+Sajz7++HjrVevjyGNtA1B7MziDAAECBAgQIECAAAECBOoREKzWo9Yc5whWBavN0amqnFJgeHg4rv6va+Pb39w54bjOjra49Nxl8cxj5teu2KTBahaofuzT/xZ7nthfcs2//BunxRsv+6Po7O6u3cIZBAgQIECAAAECBAgQIECgDgHBah1oTXKKYFWw2iStqszpBDZ9+CNx9//aErlcxLFHzossUN1/cCD2HRiMP3rTL8dRi7qmG2Li7zdpsHqwbzD+/t7vRX//YH4v1d6n+yJbxfqbq34vzjzvzbU7OIMAAQIECBAgQIAAAQIECNQpIFitE64JThOsClaboE2VWI3AF7dujZ3/+LFYcerxMa+rfeyUvb190dnZFkfM66hmmNJjmjRYzS5iaHg42rKUefTzxN4DcfDIF8Wy3/z92h2cQYAAAQIECBAgQIAAAQIE6hQQrNYJ1wSnCVYFq03QpkqcVmB4OH70uduibe938itWG/Zp4mC1ksFwrj3mP/eV0f2LpzWMyEAECBAgQIAAAQIECBAgQGAqAcFq6/aHYFWw2rrdfRhd2b6HvxI/37ElYmiwsVfdYsFqhtPWtSB6fuV3o33RsxprZTQCBAgQIECAAAECBAgQIFBBQLDaum0hWBWstm53Hy5XNjwce774l9G35+HGX3ELBqsZUteSX4v5z1/ZeC8jEiBAgAABAgQIECBAgACBMgHBauu2hGBVsNq63X2YXNnggSfj8S/+VQw89Vjjr7hFg9XOxc+Pnl+112rjG8aIBAgQIECAAAECBAgQIFAuIFht3Z4QrApWW7e7D5MrE6zWfqMFq7WbOYMAAQIECBAgQIAAAQIE6hMQrNbn1gxnCVYFq83Qp2qcRmDPF7KtAHY13qlFV6x2/+KLY97zVjTey4gECBAgQIAAAQIECBAgQKBMQLDaui0hWBWstm53H0ZX1vuv98RT3/mnxl9xCwarufaumL/sNdF57Asa72VEAgQIECBAgAABAgQIECAgWI1cLpf/1eofwapgtdV7/LC4vv0/+lr8/Kt/F8OD/Y293hYMVtvmPSN6fvWcaD/imMZaGY0AAQIECBAgQIAAAQIECFQQsGK1ddtCsCpYbd3uPoyubKD3kdiz/ZYYOtDb2KtuwWC146gT4oiT39BYJ6MRIECAAAECBAgQIECAAIFJBASrrdsaglXBaut29+F0ZcPD8dgXbo7+x3/Q2KtuwWDV/qqNbRGjESBAgAABAgQIECBAgMDUAoLV1u0QwapgtXW7+zC7sid3bImnv/+lxl51iwWr9ldtbHsYjQABAgQIECBAgAABAgSmFxCsTm/UrEcIVgWrzdq76i4T2PfwA/Hkjs0xPDTYOJsWC1btr9q41jASAQIECBAgQIAAAQIECFQnIFitzqkZjxKsClabsW/VXEGg/8mfxuPZPqsHn26cT4sFq/ZXbVxrGIkAAQIECBAgQIAAAQIEqhMQrFbn1IxHCVYFq83Yt2quIDA82B97vvA/o3/vjxvn02LBqv1VG9caRiJAgAABAgQIECBAgACB6gQEq9U5NeNRglXBajP2rZonEdj7f++K/T/8auN8WihYtb9q49rCSAQIECBAgAABAgQIECBQvYBgtXqrZjtSsCpYbbaeVe8UAk9/7/548hv/EDE81BinFgpW7a/amJYwCgECBAgQIECAAAECBAjUJiBYrc2rmY4WrApWm6lf1TqNQP8TP4zH778thvr3N8aqhYJV+6s2piWMQoAAAQIECBAgQIAAAQK1CQhWa/NqpqMFq4LVZupXtU4jkN9n9Yt/FVnA2pBPqwSrubbofvZLY97SVzSExSAECBAgQIAAAQIECBAgQKBaAcFqtVLNd5xgVbDafF2r4ikF+n/+k9j74N/EQO+jo8flImK4PrWmDlZHrzvXFp3HLIueX/7tiFxbfQ7OIkCAAAECBAgQIECAAAECdQoIVuuEa4LTBKuC1SZoUyXWLDA8HANPPRYxPBiPb//LGDxY59YATRysdhy1NLqf/eLIdS2M9iOOqZnQCQQIECBAgAABAgQIECBAoBECgtVGKKY5hmBVsJpmZ6qqYQKP3H31YRmsdi5+fvT86u83zNFABAgQIECAAAECBAgQIECgHgHBaj1qzXGOYFWw2hydqsq6BQSrddM5kQABAgQIECBAgAABAgQIHLKAYPWQCZMdQLAqWE22ORXWGIFH/881MfD0z+sbrIm3Auh61qkx/8Qz6rtuZxEgQIAAAQIECBAgQIAAgQYJCFYbBJngMIJVwWqCbamkRgo89o//Pfp799Q3ZBMHq92/+OKY97wV9V23swgQIECAAAECBAgQIECAQIMEBKsNgkxwGMGqYDXBtlRSIwX2fvmvY/9PdtY9ZOf8edE5r7vu8+fkxLaOmP+8FdG15NfnZHqTEiBAgAABAgQIECBAgACBgoBgtXV7QbAqWG3d7nZleYGnvnVPPLXz8zE8PFyXSDMGq7nOnuj5ld+Njmc8u65rdhIBAgQIECBAgAABAgQIEGiUgGC1UZLpjSNYFaym15UqaqjAQO9PYs8/3RRDA/11jdvR1RldR/TUde5cndS+6Fmx4JTzInJtc1WCeQkQIECAAAECBAgQIECAQF5AsNq6jSBYFay2bne7sjGBJ7bfHAce/fe6RNo62mPewgV1nTsnJ2X7wj77JTFv6SvnZHqTEiBAgAABAgQIECBAgACBYgHBauv2g2BVsNq63e3KxgQO/Oj/xt5/+V8xPDRUs0quLRfdCxZEW3tzrP5sm/eM6PnVc6L9iGNqvlYnECBAgAABAgQIECBAgACBRgsIVhstms54glXBajrdqJIZFdjzueujb+9Pa58jWwHaMz/auzprP3e2z8i1RfezXxrzlr5itmc2HwECBAgQIECAAAECBAgQqCggWG3dxhCsClZbt7tdWYlA/94fxuPbb4mh/r6aZZpln9X2RUviiF89J3Kd82u+RicQIECAAAECBAgQIECAAIGZEBCszoRqGmMKVgWraXSiKmZFYN/3vxBPfuOemrcEyLW1xbyFR0T211Q/bfOOjJ5f+Z1oX/ALqZaoLgIECBAgQIAAAQIECBA4DAUEq6170wWrgtXW7W5XVlHg6W/dE73f/kLN4WrX/HnRMa87SdW2rgUx/6RXR8fi5yVZn6IIECBAgAABAgQIECBA4PAVEKy27r0XrApWW7e7XdmkAvsf/lI8+Y27Y2igv2qltvb26M5WreZyVZ8zGwe29RwTPcteE9k2AD4ECBAgQIAAAQIECBAgQCA1AcFqanekcfUIVgWrjesmIzWVwODTj8QTX7ot+p/aW3XdXT3zoqM7nVWrnce+IOYve03k2ruqvgYHEiBAgAABAgQIECBAgACB2RQQrM6m9uzOJVgVrM5ux5ktLYHhodj9938ebUMDMTw8PG1t+b1WFxwRufa53Wt1aHAohnt+IY5+6Zppa3YAAQIECBAgQIAAAQIECBCYSwHB6lzqz+zcglXB6sx2mNGTF9h553uis2M4eno6YnhwaNp62zs7o3tBz7THzdQBfQf740DvvjjqRStjwUmvnKlpjEuAAAECBAgQIECAAAECBBoiIFhtCGOSgwhWBatJNqaiZk8gC1b79u+Pjs72OOronhgeHJx28s7586Jzll9kla2offrJ/XHgqX3R09MZC18oWJ32RjmAAAECBAgQIECAAAECBOZcQLA657dgxgoQrApWZ6y5DNwcAoVgNV9tLuKooxdER9vw1FsD5HLR1TM/Oro6Z+UiBwcG44lHn4z+g/2xaFF3ZO/PEqzOCr1JCBAgQIAAAQIECBAgQOAQBQSrhwiY8OmCVcFqwu2ptNkQKAlWRyfsWTAvjjiic8rVq7m2XHQd0RPtHR0zWuaB/X3x+M/2xvDQcD5UbW/P5ecTrM4ou8EJECBAgAABAgQIECBAoEECgtUGQSY4jGBVsJpgWyppNgUqBavZ/O3tbXHUMQsiBgcmLWcmw9UsSO3d+3Tsfbw32ttysXBhd3R0jL80S7A6m11iLgIECBAgQIAAAQIECBCoV0CwWq9c+ucJVgWr6XepCmdUYLJgtTDpkYuPiM62mHRrgFy2LUC2crWzcStXB/pHHv3f//SBaGvL5VeqFoeqWW2C1RltC4MTIECAAAECBAgQIECAQIMEBKsNgkxwGMGqYDXBtlTSbApMF6xmtcyf3xULFnVPujVAFq52zu+Oju7uQyp9eDjiwNMH4vFHfh6Dg0P5x/7LV6oWJhCsHhK1kwkQIECAAAECBAgQIEBglgQEq7MEPQfTCFYFq3PQdqacS4EsvHz6wED0DwxFV2db/Ojvroi+/furKmnRkfOju6s9hoeGKh6frVrNXmqVaxt/ZL+agYeHh+Pggf74+WO9cfBAX/6Uzs62fKiarVit9FnwK6+JeNbLYmBwKOZ1tcf87vZqpnIMAQIECBAgQIAAAQIECBCYVQHB6qxyz+pkglXB6qw2nMnmViALVfc8eTAO9o0HowM/2RG9//J3MTxwsOriOjvbY8Gi+dGRf5HUcLZPwPi5uYi2jo786tWpAtahwaEY6B+I/U8fjH29+/MrVAufefM6YsGCrsnr6Tk22l60OgY6FuaPyaromd8RRy7orPoaHEiAAAECBAgQIECAAAECBGZDQLA6G8pzM4dgVbA6N51n1jkR2PtUfzy9v+xlVMPD0f/Iznjqwb+pKVydiQvIVqf29HRGFqxO+ln4izH0vNdGHHF8ySFtuVw8Y0Fn9MyzcnUm7o0xCRAgQIAAAQIECBAgQKA+AcFqfW7NcJZgVbDaDH2qxgYI7D84GHt7+2OoeHXp2LjDMbDn4Xj6a5+Kwd5HGjBb7UNkq2AXLuya9NH/bMTho06M4aVnRsw/uuIEnR1tcfSirtGVtLXX4AwCBAgQIECAAAECBAgQINBoAcFqo0XTGU+wKlhNpxtVMmMCWZb62N6D0TdQeW/UkYmHY/DnP82HqwNP/GDGaikfuKpVqll1x74ohk84I6Jr5PH/yT7ZitWjFk6xjcCsXZmJCBAgQIAAAQIECBAgQIBAhGC1dbtAsCpYbd3udmVjAhW3AJjEZ/Dpx2Lf1z8T/T/bOaOCuVzkH/nvmd8ZuUleUFUoYPiZL47h5/xmRMf8aWuyJcC0RA4gQIAAAQIECBAgQIAAgVkUEKzOIvYsTyVYFazOcsuZbrYFpt4CoHI1QweejH3/enf0/eirDS83l8vFvHntVQWq2eTDz/7NGH7WyyLaq1+FakuAht82AxIgQIAAAQIECBAgQIBAnQKC1TrhmuA0wapgtQnaVImHItC7byB69/VHxa1Vpxh4uG9f7N/5j3Hg+9sPZfqxc9vb22L+/I6pX0xVNtPwc18dw8f/WkTbFC+zqlBde3sujl7YFV2dbQ2p3SAECBAgQIAAAQIECBAgQKBeAcFqvXLpnydYFaym36UqrFsgC1P7+ofiid6+GBwarnmc4YGDceC7X4j9O++t+dzshGz/1O7ukTA1Czur/rR3xfDzXhvDx/xKRK72cLS7sy2OXOglVlV7O5AAAQIECBAgQIAAAQIEZkxAsDpjtHM+sGBVsDrnTaiAxgkMDQ9Hf/9wDAwOx+DgcGT/O/tkL63qn/LFVZPXMDw0EAf//YHYt2PztIVmj/l3drZFZ2d7/nH/7H/X/MlC1WW/H8NHnhhRx/nZKd2d7dHelsufnu25moW6HR256Gxvq2fImi/BCQQIECBAgAABAgQIECBAoCAgWG3dXhCsClZbt7sPgyvLwtMsMM0HqUPDkz7unwWsB/uGxoLWmmmGh2L4kW/EwLc+E4N9B0pO7+hoy69Mzf56yJ+eY2Poea+NWPScuofqaM/lg9XJPmNBa3sWAufywasPAQIECBAgQIAAAQIECBCYKQHB6kzJzv24glXB6tx3oQqqFshC1P6B8dWoteybmm0J0D84VPVcEw4cHo7c3u9GbuffRQz21T/OJGcOP+OEGH7eayLmH1P32FlG2tXRHlm4Wu0nOydb3Zqdk730qqYtC6qdxHEECBAgQIAAAQIECBAgcNgKCFZb99YLVgWrrdvdTX5l2SrTgYFsRerIatShOvZILSbIzj/QP1jzS6wmMD75g2j73j9E7Hu0YcLDRy+L4eeeGdH9jEMaMwtI53VNvlq1msHz2wdkQevoKtzOjupD2mrGdwwBAgQIECBAgAABAgQIHF4CgtXWvd+CVcFq63Z3k11ZFp5mIerAwNCUj/UfymUd7B/MbxtwyJ+nfzYSrvb+6JCHGj7+lBj+pf8U0XnEIY2VxZ/5/V3bG7AlQVklWdCahbZZyJqtarV7wCHdKicTIECAAAECBAgQIEDgsBIQrLbu7RasClZbt7sTv7Is4OzvH4qB0dWotTzWX++lZeFtFq42ZK79j0du1z2Re+K79ZYTw886PYaf/R8j2rvrHqNwYhZ+ZqtVZ2N96dj2AR1t+bA1C119CBAgQIAAAQIECBAgQIBAJQHBauv2hWBVsNq63Z3YlRVeIJU93p/9fUPCzTqu8UDfYH5FbEM+fb2Re/jeyD369ZqHy1apDi95SURbR83nVjqhKx9yNn61ajXFFYLWrs62yH75ECBAgAABAgQIECBAgACBgoBgtXV7QbAqWG3d7k7kyrIANQszs5dHzVWYWkyRrZTtG2jQqtVs4IH9kfvBP0XuJ1+pWnz4xN+O4eNOjsgd2n6ohQnbcrno7mqL7K9z/RlZOStgnev7YH4CBAgQIECAAAECBAikIiBYTeVONL4OwapgtfFdZcQxgWxl6r79DdrXtIGuDV21mqHoejQAACAASURBVNU12Be5H38pcj/8p6mrbO+K4eeviuGjXxCN3Kg0W6marVhN5ZPFu11dbTG/uzHBcSrXpQ4CBAgQIECAAAECBAgQqF1AsFq7WbOcIVgVrDZLrzZdndnK0H37B6JRT903EqB/cCi/grahn+HByP30XyL3/bsrD9u1KIaff1YMH/nchk6bLVKd19ke2UrRlD5ZNe3tuVjQ05itDlK6NrUQIECAAAECBAgQIECAQPUCgtXqrZrtSMGqYLXZerZp6n1078HoHxjK7/s5E2+qPxSIbIfVbNXqUMNT3+HIPfqNyH3vH/KrWMc+C38xhp57ZsSCJYdSdsVzO9rbojuxfU0z377+kb1sF8zviEVHdDb8ug1IgAABAgQIECBAgAABAs0hIFhtjvtUT5WCVcFqPX3jnGkEevcNRO++/rE9VVN7VD0rv29gKB/8zsQn99TuyH3j9ny4OnzUiRHZnqpdCxs+VbZatbuzPdoTWq2ahaoHi14Q1tGei+OOmtfInQ8a7mhAAgQIECBAgAABAgQIEJg5AcHqzNnO9ciCVcHqXPdgS86frVYtf9Q+tZWV2f6vB/uGIvvrTHza+p+K2LMzho8/JYYb9JKq8jqz0DILVlP5ZJbZfc9WqhY+Wfi7YH5nLDrClgCp3Cd1ECBAgAABAgQIECBAYDYFBKuzqT27cwlWBauz23GHwWxDQxE/e+JAxcfssyCwq7M9UtkNNAsBs/1WG/0ZHh6Of9/zg/jOz74bL33ei2PhvJlZrdrV0R6ZaQqfbFuFg/2Vg+psq4JjjuxOoUw1ECBAgAABAgQIECBAgMAsCwhWZxl8FqcTrApWZ7HdDo+p9u0fjL1P941tA1B+1dlj69kqy2wl41x/sjDwQP/gpLXWU1/vgd745IOfivff/cF46uDT8eu/dEpcfuY742XPe0l0tDVudWnmOK+rcePVc62Fc7IVqllIPdnq3yz8Pf7oeYcyhXMJECBAgAABAgQIECBAoEkFBKtNeuOqKFuwKlitok0cUovAk0/3x1P7BmKqB+yzN9hnqxjbEkhXD/YPxsDgoW8HkK1SfeiHO+LPNm+If/n3hyaQvfHF58R//U9vj+csfnYtnBWPzTLpzs40Xgo2MDiU3692qh0Vsvv9zMWC1UO+8QYgQIAAAQIECBAgQIBAEwoIVpvwplVZsmBVsFplqzisWoFqgtVsrCxU7epsm/MXL2WrLbNw9VC2Wn386Sfi5s/dEjfe95dTMj3zGb8QV/z2u+O1LzozOtrr33M0v+q3a+63VMhe/pX9mi6WFqxW+9PjOAIECBAgQIAAAQIECLSegGC19e5p4YoEq4LV1u3uObqyaoPVrLxU3mp/oOgt9rWy7e/fF2/76Dvivm99oepTP3ze/x+/9+ur6n5xVldHW3R2tFU930wcmK1SzULVaj6C1WqUHEOAAAECBAgQIECAAIHWFBCstuZ9zec67373u6dbbNXUV589npx9sr8Wfg0NDUX2a3BwMP9rYGAg+vv7878effTR2Lp1a1Nfs+LnVqCWYLUQrmZBYUf73AWF2VYAfQO1rVrNQuHO9rb4wRM/iFU3vCl+/MRPqoZ/22/+QVxz9p/n56x1G4JspW9319xuo5C9pCrbAqDaj2C1WinHESBAgAABAgQIECBAoPUEBKutd08LVyRYFay2bnfP0ZXVGqzmw9Vsz9A5XoVZy6rV/B6xHW2R/bV/cCCu+tRfxM2fu60q8Xmd3fHJiz8ay5//kvzx/YOjj9NX+Uc8mVMWRM/FJyuxr449aQWrc3G3zEmAAAECBAgQIECAAIE0BASradyHmahCsCpYnYm+OqzHrCdYLYDNZWiYBZzZm+2n+2SrVLMXR2VhcOGzv29//OEtb47P7fznGB4u/p3S0TrahuIvfv/P4g//49tKfmNoKFsxOxTZfq9TfXK5XMzLXvrVNvkc09Vf7+9ni9+zvWinq7HS+ILVetWdR4AAAQIECBAgQIAAgeYXEKw2/z2c7AoEq4LV1u3uObqyQwlWs5I72rOXWs3+i5mySDNbtZqFnJU+2aP/U21Z8Beb3xGf/MrUL6/Kxv3IH/59vOz5v1VxjizYzQLeyT7ZdgndnbO/WnVoOHvBV7aFSJXLassuQLA6Rz+MpiVAgAABAgQIECBAgEACAoLVBG7CDJUgWBWszlBrHb7DHmqwmsnN1Vvvs5cxZStHyz/Fj/5PdmerDVavfePH44xf/b1JG2SyrQHm6kVf2QrVLPDNwtV6P4LVeuWcR4AAAQIECBAgQIAAgeYXEKw2/z2c7AoEq4LV1u3uObqyRgSrhXC1K3vsPUsUZ/GTBavZi5myHDGbub2KFbT7+56Od3/8TfHFnXdPW+nlr/tgvPFl75jyuHyYOTC+QjQzyLZJyFbzzuYnqyN7/P8QMtV8uYLV2bxr5iJAgAABAgQIECBAgEBaAoLVtO5HI6sRrApWG9lPxoqIRgWr+UAul8s/+j4Xe4rWcjMbHazWMvdMHZuFy1m4e6ihqmB1pu6QcQkQIECAAAECBAgQINAcAoLV5rhP9VQpWBWs1tM3zplCoJHB6li42jX7K1druck/3/94vOOvXxf/+qMHpz3tDS+7JNa97kPTHjeXBzQyVBWszuWdNDcBAgQIECBAgAABAgTmXkCwOvf3YKYqEKwKVmeqtw7bcRsdrGaQc7XnarU3cc9TP4u33nJGPPzozmlPOfvFb4s/XfXhaY+bqwMa9fh/cf22Apiru2leAgQIECBAgAABAgQIzL2AYHXu78FMVSBYFazOVG8dtuPORLCaYWZ7jHZ1tCXp+ljvT/LB6r8/9p1p63vdr62OP/u9v4z2to5pj52LAw70DUYWrjbyI1htpKaxCBAgQIAAAQIECBAg0FwCgtXmul+1VCtYFazW0i+OrUJgpoLV/H6riW4J8O2f7IiLNp4Ze/c9Nq3Qy5e9Ot7/ho/F/K4jpj12tg9o9BYAhfoFq7N9J81HgAABAgQIECBAgACBdAQEq+nci0ZXIlgVrDa6pw778WYqWM1gsxWr2crV1D6tEqzOxGrV7F4JVlPrWPUQIECAAAECBAgQIEBg9gQEq7NnPdszCVYFq7Pdcy0/30wGq9leq/O62pMz/Mr3tsXFf/3aGBoanLa2E45dFn914b2xeMHx0x47mwcMDQ3Hgf6hGB5u7DYAgtXZvIvmIkCAAAECBAgQIECAQHoCgtX07kmjKhKsClYb1UvGGRWYyWA11e0AvvSd/x2X/PXrquqBVIPV/DYAWbBa1VXUdpAVq7V5OZoAAQIECBAgQIAAAQKtJCBYbaW7WXotglXBaut29xxd2UwGq7lcRHdne2QrV1P63PuN/xXr/uYNVZV0/DN+Mf7nBf87nrP4xKqOn62D+gaGon9gaEamE6zOCKtBCRAgQIAAAQIECBAg0BQCgtWmuE11FSlYFazW1ThOmlxgRoPVbJ/VzvboaE8rWP2bL304PvD376qqLY7sOSZuXnNPnPTMk6s6frYOOtg/FNmq1Zn4CFZnQtWYBAgQIECAAAECBAgQaA4BwWpz3Kd6qhSsClbr6RvnTCEgWJ26PZ7RszgfrC575n9Iqo8Eq0ndDsUQIECAAAECBAgQIECgZQQEqy1zKydciGBVsNq63T1HV3Y4Bqt/sfkd8cmv/GXV4h/5w7+Plz3/t6o+fjYOFKzOhrI5CBAgQIAAAQIECBAgcPgJFILVRlz5Qw89VPMwp5xySv6cRYsW1Xxu8QkrV66M4447Ljo7O6OjoyP/q729fexXLpeLtra2/CnZ32e/Wv0jWBWstnqPz/r1CVanJ58qWB0cGo5sv9Phoca9Rir7Mu/qbJtyb1rB6vT3zREECBAgQIAAAQIECBAgULuAYLV2s2Y5Q7AqWG2WXm2aOvcdHIy9vf0xPNy4YLBw8dmf9aS2x2rfwMG48hN/GP/nG39X9T36k7P+R5zzkv8y4fhM7EDfYAw1MFQds8vlYl5nW2T7nVb6zGSwmu2Je/zR86r2cSABAgQIECBAgAABAgQItI6AYLV17mX5lQhWBaut291zeGWPPHFwRt4wn2Kwur/v6Xj3x98UX9x5d9Xil7/ug/HGl71jwvEDg9lq1cGYgUw6prObyWC1Z15HHLWws2ofBxIgQIAAAQIECBAgQIBA6wgIVlvnXgpWh4djaGgo/2twcDD/a2BgIPr7+/O/Hn300di6dWvr3nFXNisCWUj3xJN9kT3W3sjPdOFgI+eqdqx9fU/F5R97fXzpO/+n2lPi4jP+PC581Z9WDlb7B6OxaiPTTGc3U8FqtgXBsUd2V23jQAIECBAgQIAAAQIECBBoLQHBamvdz+KrsWJVsNq63T3HV5YFdXt7+yJbhdmoz3ThYKPmqWWcPU/9LN56yxnx8KM7qz7t7Be/Lf501YdbOljN9uju7myPoxZ2xeje3VX7OJAAAQIECBAgQIAAAQIEWkdAsNo697L8SgSrgtXW7e5EriwLWPv6hmK4Aeswc5GLzo7sLXvpvFlvaHgofr7v8RgaGqxavLtzfiyYN/FthNneqv0DmVTjwuhCUdPZZQH4wOBQ1dcw1YFtuVxkj/8LVBvCaRACBAgQIECAAAECBAg0tYBgtalv35TFC1YFq63b3a6MAAECBAgQIECAAAECBAgQIDDHAoLVOb4BMzi9YFWwOoPtZWgCBAgQIECAAAECBAgQIECAwOEtIFht3fsvWBWstm53uzICBAgQIECAAAECBAgQIECAwBwLCFbn+AbM4PSCVcHqDLaXoQkQIECAAAECBAgQIECAAAECh7eAYLV1779gVbDaut3tysYE9mxZGyuv3h7Lr9oa15+1uERmxw2nxprYGA9eevKE48sJV9/yYFx2ysg/LYxZibl4nrHjzi+dY+S8HXHdqWtiUyyPKz97faw6rny0PbH50pWx/v7VsfHBy6JQYX7Me1fE1htWRenVuOkECBAgQIAAAQIECBAgQCAtAcFqWvejkdUIVgWrjewnYyUqMB6CTgwwy4PV/P++vULQ+dB1ceqFm8bC2UnDzUrHXb09IkrD0TzV6LExWbA69vtREgoLVhNtNGURIECAAAECBAgQIECAwAQBwWrrNoVgVbDaut3tysYECkHklSeuj/XfvbJkpWdxsDoSwMYkq0fHg9Bs5eqbfzDZqtGRVai7RlfHjsy9NFbHpog14ytes+KyuW+N1RG374oVFVasFmrbGGtiTVHdglXNTYAAAQIECBAgQIAAAQLNIiBYbZY7VXudglXBau1d44ymExgPIpfGHUWhZyHcLGwFMBKsLi157L70YkdC06giWM2OybYNKMy98YxtsebhC4q2HMjGujWW3rIitl24rUKwOj7XZUs2x9rXjB8jWG26FlQwAQIECBAgQIAAAQIEDlsBwWrr3nrBqmC1dbvblY0JFAeRUbYqdeKK1UMMVvOP78dYODs29xURV79mV1xQ2Cs1O27j0tia/+cVgtWScUb2Wt12xsgesYJVzU2AAAECBAgQIECAAAECzSIgWG2WO1V7nYJVwWrtXeOMphMoDSJHXwgVI1sC/Ljo5VU1r1jN751a/indn3V87pfHFy9dGbtGtwPIbwNwwta4/qVfLFmNOjJaaZCa/ydFL6zKh8NeXtV0fahgAgQIECBAgAABAgQIHI4CgtXWveuCVcFq63a3KxsTmLDC85Hs0fr1EVdtjQseXhkN3Qogv9J019g+rRMC0fx2ADGyDUC2r2qUPuafL3q0vomx7Uho+/J/FqxqbwIECBAgQIAAAQIECBBoDgHBanPcp3qqFKwKVuvpG+c0mUClR+cLL6pafvr22H7ixvzep418eVX5HqvZ6tjF+cB0V1xwS8SabBuAsX9WuhVA5Uf9R1fanrgxtp5wqxWrTdaDyiVAgAABAgQIECBAgMDhKiBYbd07L1gVrLZud7uyMYEpg8r7I+L8kWA1++T3XL299HH+/G/kV6JuiuVXTbfPadFLp4peXpUPUUcf8V9/f4yNM7I6tThYnbgNQOFCClsVfOiqXfFOWwHocAIECBAgQIAAAQIECBBoAgHBahPcpDpLFKwKVutsHac1k8CkL3sqPHJfFKxm1zUSYE58EH/1LQ/GZaeMXPnkL5AaCVY3nT6yh2v5fqgTVsWWB6tlWwmUOI/W+wtvWR5/d1ul/V0jimtspnukVgIECBAgQIAAAQIECBBoTQHBamve1+yqBKuC1dbtbldGgAABAgQIECBAgAABAgQIEJhjAcHqHN+AGZxesCpYncH2MjQBAgQIECBAgAABAgQIECBA4PAWqBSs/sEf/MGkKB/96Ecn/b2HHnqoZsxTThl59HTRokU1n1t8wsqVK+O4446Lzs7O6OjoyP9qb28f+5XL5aKtrS1/Svb32a9W/whWBaut3uOujwABAgQIECBAgAABAgQIECAwZwKTrVitFK5OFapmFyBYnbPbWHFiwapgNa2OVA0BAgQIECBAgAABAgQIECBAoIUEptoKoDhcnS5UFaym1xSCVcFqel2pIgIECBAgQIAAAQIECBAgQIBAiwhMt8dqFq5WE6oKVtNrCMGqYDW9rlQRAQIECBAgQIAAAQIECBAgQKBFBKYLVmu5TFsB1KI188cKVgWrM99lZiBAgAABAgQIECBAgAABAgQIHKYCgtXWvfGCVcFq63a3KyNAgAABAgQIECBAgAABAgQIzLGAYHWOb8AMTi9YFazOYHsZmgABAgQIECBAgAABAgQIECBweAsIVlv3/gtWBaut292ujAABAgQIECBAgAABAgQIECAwxwKC1Tm+ATM4vWBVsDqD7WVoAgQIECBAgAABAgQIECBAgMDhLSBYbd37L1gVrLZud7syAgQIECBAgAABAgQIECBAgMAcCwhW5/gGzOD0glXB6gy2l6EJECBAgAABAgQIECBAgAABAgQOVaAQzj700EM1D3XKKafkz1m0aFHN5xafsHLlyjjuuOOis7MzOjo68r/a29vHfuVyuWhra8ufkv199qvVP4JVwWqr97jrI0CAAAECBAgQIECAAAECBAg0tYBgNc3bJ1gVrKbZmaoiQIAAAQIECBAgQIAAAQIECBDICwhW02wEwapgNc3OVBUBAgQIECBAgAABAgQIECBAgIBgNeEeEKwKVsfac8cNp8aa26fu1oUnnBbLz1oT7zzvtFjcnnBnK612gcGdsfF3z4sbd2ennhvX378ulnfVPsxkZxT6a/lVW+P6sxaPHbZny9pYefX2iNOvjK03rIrx32nc3EYiQIAAAQIECBAgQIAAAQLNLGDFapp3T7AqWK0pWB07+IRVce0NV8aKJWk2tqpqF+j78rXxykvuir7RU1e87764duXC2gea5AzBasMoDUSAAAECBAgQIECAAAECh5mAYDXNGy5YFaxODFbP3xgPXnryxI7t643dX70jrrh8Y+zYF9G18trY+r4V0bjoLc0fksOjqr7Yfs3psfaTEUtPWBq7Ht4VccaGuO+aMxt2fycLVg8PX1dJgAABAgQIECBAgAABAgTqFxCs1m83k2cKVgWr1Qero0f2fX59nP6uzRGxPDZsvT7O9Oz2TP6Mzs7Ye++JdWdcEdt6zo2bbjkhbnrTtbEjlseVn70+Vh3XmBIEq41xNAoBAgQIECBAgAABAgQIHH4CgtU077lgVbBac7Aaj2yOta9ZH9ujK9bcdn9c/KJsiD2x+dKVsf7+kTDu1b2b47r/dmN8+qE9ce4tD8Zlp4xOM9gbO++9NW796N3xxW/vib7oisUnvTxe/YbV8ebXnjzpvq29374nbv2rW2PzfbuiNzvnFefGOy+5OM5cePdILcX7cxbqy/+zV8eTW66L9Td/OnY8cm5sfPCyKKzF3fP1zXHH7XfF9q/ujF17s/oWxtKXLI9Vr784zn3FkijZXrR8zK03xk1/tTm2Pdwb0bM4lp/9zrjswjNjaU/E7s9fF++/5q7Y/kjE4lN+Jy7+k8ti1fMm2ax0z47YfOemuOvzD8TObKysivw+tqvj4rOXx5KeCl8chXPu+WLsfCR7cH9hLH3Vq+Ocsy+Ic19SX8q9+5Nr4qxrdkTX62+Kz13+3Lg7fy8jTn7Plth49hT7PQzuiQfu/FBs3LI9HsjXn9WyKi546wVx5kmja5kfui5OvXDThAsp7LU6tsdqYaX0NzfGWeffGLtjRWy499o488gKBg9dF6dfuCn6llwcd35qTSwr7PdbT3/NgGeaX/eqIkCAAAECBAgQIECAAIFmFRCspnnnBKuC1dqD1d2b4+1nrY8HYlms++Sdce4JpcHqZVctjc1Xb4pdoyOvLgSr+3bFXVecF9d+vrCLZ+kPRddJa+LmWy6Ok8vCxN1b1sbZV28f2/tz/KylsfqqVbHr6usmCVYviytP3Bzrbx+rZCxYnXzMkdGXnr8x7rz05PFwtRCsnro6Ll6yPW7cUhhzvJquV1wZ1//HbbH2feW1Lo8rt1wfq8rzyd2bY+0b1sf2fZN8OZywOjbeflmpx5TndMXJl94WN5+/rDQUnva7Z3fc9Zaz4tqvL4mLb98Sa14Y0bt1XbzqvdsiXrguPnH7ubG00hi7t8X6S9fF5ocr/WZXLL/qk3H9WUsiag1WY2dsPGvkJVpnXnNfbDhj4mYTO244Pdbc3hdLLroztly4bKSAevprRjynBXcAAQIECBAgQIAAAQIECBCoSUCwWhPXrB0sWBWsjjVb4VHtmGyP1dEjx1YYlrw5vrBidTSYPGtdXHnh78TJSworNbM9PF8Zaz/ZF3HCqrjy6ovj1csWR1d7RO83N8d1G94fm7/dF12v2BCf+eCZ42+G//bGOOdNN8auWBqrrtoQF5+5LBZnQ+7dGZtvuCLWFwLOSitWRyLSWPWeK+OCs06OsVLGHns/OdZ8YENceOqSfB3Rtyd23XdrrHvvXbGr/DH4sVW62ZhdcfKF18eGNaflx+z98nWx5pJCkNwVyy+/LTacvSwW7nsgrnvL22PTwxFLLrkztrxlNADM19Ub97znVXHFvaNjnX/ayOrUwb7Y88NtcesfXxF3PRxRWNU5otob2977qli3tXT+7Jzd22+My6/YFDv3nRzrPrUxzn12Dd8hhRWixas/C0axJC7+2JZYc1LZeIO74q4Lz4lrvx7R9YqL4+Y/Xj1yr/v2xM4t74+LrtkWvXFyrPvkxtHgPWLal1cV9d2uvz0vzvnAzoiV18Z95fv4Du6I6161JjbtKw726+mvGfKsgd6hBAgQIECAAAECBAgQIECgGgHBajVKs3+MYFWwWn2wmg8e74gr3pcFeBFLzt8Ynxxb1VkUrL5oXXzilnNjaeHx7GyG722Kc15/3UhgWWn15r7tce2Za+OufV1x7kc+F+tekqWnffHAB14Zb//bvjj58k/ExteXrZssCvdikmC10nm9914Rr3rPPZM85j5+HWMrbbP6i4LVrrOvj8+9Z3nRqtBCQBcRZddemKukvnxGui2ueNW6uOdF62LLbedG+WLWCY/H5+/Sjrju1DWxKVbHTV++LE4r9o2IXR87L8754M5YfvXWuP411W8JsPOWs+K8m3eXhb/j11SyKnS0W/q+fG288pK7om/J6rjp45fFaWWrjCuNWUuwGj+8K9b8brbP65lx7X0bYkXxotXCNgDFdnX118x4zv7XuBkJECBAgAABAgQIECBAoNUFBKtp3mHBqmB1YrBaRa92nXJx3HbDmlg2FqiNB5KlqyxHBiusQBzZw/O0io+q77ztrDjvI7uj6/yNcf+l2U6oheCreGViaXFjAWTFYLWGly/t643evt7Y/eVPx/vftzF27IuoHKxWXsFZCA0nrEwtPAZfXN9kvoN90dt7MHp3b49Pf/Dq2PhQX5SuHt4Vd51/Tlz7zSVx7gdujsuyfWDLwtUqbl3pIX0PxLVnvD3uqrDSdSwU7lkdG++7LE4emytbHXp6rP1kxLLLPxF3lgfe2QxfvzFOf8vG6HvFhtg6ugK5pmA1CtsTRJx7w/2x7vTxPWoL2wAU7/9aX3/NgGfNN8AJBAgQIECAAAECBAgQIEBgegHB6vRGc3GEYFWwWkOwujCWvvC0WH7eBXHBGctiYUmoN8lKz/zo40FcpdB1rIAHr4tTL9oUY6s7x1aJVl6hmT+vEOBVDFZXl7ysquQHrHdn3HPnHbH58w/E1/Iv0Zr4qRysnhvX378ulpe9i2rSN95PFazmX7R0R9yRvfjp6ztjT6W9Vsu2Zdjz2bXx21cV9nAdednW8le9PFacelq84NkjWyvU8hkLTyutnO3bHteevjbuiuJVxNnoU93ryWevLViNGAvNz74+7i+sEB7bBqA4NK+zv7IrabBnLfaOJUCAAAECBAgQIECAAAEC1QoIVquVmt3jBKuC1YnB6jR7rFZu0anCtiqDuPIQsihY3fjgZZGtYZ3wKRxTS7Ba/MKinsWx7EWnxWkvekEsfeGyeMHSY+JrHzgnrr1/shWrlcPamoPVwd2x+fKzY33+RV5dsfik/xCnnfqieMGJ/yGWnbg0jvnm++Oca7aXrVgdufo9D90Vt3741vj0Q2WBcM/iWH7+hrjqLafF4qoC1sI+r9N/6ZSuNB5fTVoSPk8zTK3Baozt81oUZhe2AThjQ9x3zZkxskNAnf01Wm/jPKd3dAQBAgQIECBAgAABAgQIEKhHQLBaj9rMnyNYFazOQrBa54rCwj6kJS/JKvuhqDlYHQ8Tl55/U2y85LTqVt5OE/LWGqz2bl0Xr3rvtogTVsdNt1wWpx1Zel2V91gtu/Zs64Ddu2LHVx+I7V/YHHfftyt6s9d1XXJnfKLkRVmTfJGM7WNazRdN8UrdKoPMsmFrDlaLXvBV2He3sA3AivfdF9euLGy8Wmd/lV/2oXpWw+gYAgQIECBAgAABAgQIECBQh4BgtQ60WThFsCpYnYVgtd49VnfGxrPOixt3T/Jm+myTgfuvjdMvvWt8+4Dsd2hLpgAAIABJREFUaqYKQcceb6/8SH/E7th80Vmx/sGZXLE6HgSW7x9auBm7P/X2OOt9D1RcsTrZ90Lfg9fF2Rdtit1LLo47t6yJZdN8gRT2JY2V18Z971sxuvqz7KSxPVgjxsPMKoLMwsrSorFrD1bH729+xey7uuPGV62JTfsmvtCqvj1Wpwaq1XMWvq9NQYAAAQIECBAgQIAAAQKHqYBgNc0bL1gVrM5KsDr+lvflceWW62PVkrIfiH3b49oz18Zd+0r38yy8Xb7r7Ovjc4V9NgunZo/Tv/OsWH9/VB+s7rkn1q68IrZH5Rdb9T10XZx34abYFTMZrO6Je961Mq74fETFPWf37Yjrzl8Tmx6O0mC1sFVC8Z6jxYwP3xXnnX1t7KwmWB3cGRt/Nwuty/dPnfhFVVglGkWP3xfvzfqJW86NpSVbD/TGtveujHVb+0qur55gNQrBbqyOmz6yKNa/5cbYXen6x1bf1tBfjfRM8/tdVQQIECBAgAABAgQIECDQIgKC1TRvpGBVsDo7wWr0xQMfPDve/rHdESesiiuvvjhevWzkZUu939wc1214f2z+dl90vWJDfGb0LfL5wh65J9aefUVs39cVJ194fWxYc1osyV4ctXdnbL7hili/JYtAawhWo7AKNmLp66+P69cuHxlv3+7Y8dlbY/01m/Ohavap/PKqxuyxuvO2s+K8j2QW58b1N1wWy7MiBvti99c/HbduuDY2Z6Fq9ine73Zsa4SlseqqDXHxGcticc/IYX0/3BGbPnRR3Pj5vijdD3WSL57CitKec+Ome9fFaWUv4yo565sb46zzb4zdxWF0Fsy+/ry48eGIpWddGRsuXRXLsu0M+nbHAxuviLW37Ii+nnPj+nvWxfLRGnfcfHqsuaUvlrzpprhz7fgWDFNve9AXD3zglfH2v41YesIxsevhx6KwLUDpldXRX430TPP7XVUECBAgQIAAAQIECBAg0CICgtU0b6RgVbA61pmFFYUlYV7VfVvFvpv7dsVdV5wX1+Zf2DTx03XSmrj5lovj5NEgrnBE8SrS0rO6YvkrTovtn99e/YrVCW+CLx1x4Rkb4t0n3hhX3Lw7uk46M1YsXxHvvGRFLG7wHqvjgXEFiCNXxIbLXxA3vvfG2N2zLM585fJYsfbiWLE4YveWtXH21dujsmDk92zdePtlEwwnhJD5sLIvus7fGPdfWvG1YOOnjK1ujTj5PVti49mjy42LXwI24TKWxupb7ozLThlPbPd8dm2svGr72JGF1brT7idbCIGzM6cKguvor8Z4Vv1D4kACBAgQIECAAAECBAgQIFCXgGC1LrYZP0mwKlgda7IZD1azmQZ7Y+e9d8Qdn9gc2/Jvte+KxSe9PF79htXx5teePPnb7B95IDZ9+Ka443M7Ys++iIUnrIg3X/7uWNN9R5x64aaagtWsjD0PbooP3XzHaA0LY+lLlseq898Zq1+yOGLfjth4ydq48esHY/FrNsTHrp6BYDVfxAOx6friazotlp+1Jt553mmxuL0vdtxyUay9eUccPO7M2HDHhnywmn16v31P3LFpc2x/8Gux85GRiHXhCcXnTvO9sfeeWHfGFbEtlsTFt2+JNS+c/numsCVDvHBdfOL2c2Np4ZTenXHPbbfGHfd8caSWI5fGaaevijXvWB2nHVc2bt/O2PTeK+LW0ZdsVR2sFgW7Sy66M7ZcOMXusXX01yF7Ts/nCAIECBAgQIAAAQIECBAgcEgCgtVD4puxkwWrgtUZa67ZGHhsteObbooH33XabExpDgIECBAgQIAAAQIECBAgQIDArAoIVmeVu+rJBKuC1aqbZfYPzF6C9KpYt7X4jfRFVRTt83nmNffFhjMWzn6JZiRAgAABAgQIECBAgAABAgQIzLCAYHWGgescXrAqWK2zdWbntOzt8yvfc0/09Zwcaz6wIS48dUn+hVd9P3wgbvn/1sbGh/ry+24WvyRpdiozCwECBAgQIECAAAECBAgQIEBgdgQEq7PjXOssglXBaq09M7vHD+6OzZefHesneeFVxMSXJM1ugWYjQIAAAQIECBAgQIAAAQIECMysgGB1Zn3rHV2wKlitt3dm77z8C4lujVs/end88dvZC68iuo5bFi8/89xY/YZVcXL5S5JmrzIzESBAgAABAgQIECBAgAABAgRmXECwOuPEdU0gWBWs1tU4TiJAgAABAgQIECBAgAABAgQIEJgdAcHq7DjXOotgVbBaa884ngABAgQIECBAgAABAgQIECBAYBYFBKuziF3DVIJVwWoN7eJQAgQIECBAgAABAgQIECBAgACB2RYQrM62eHXzCVYFq9V1iqMIECBAgAABAgQIECBAgAABAgTmRECwOifs004qWBWsTtskDiBAgAABAgQIECBAgAABAgQIEJg7AcHq3NlPNbNgVbCaZmeqigABAgQIECBAgAABAgQIECBAIC8gWE2zEQSrgtU0O1NVBAgQIECAAAECBAgQIECAAAECgtWEe0CwKlhNuD2VRoAAAQIECBAgQIAAAQIECBAgYMVqmj0gWBWsptmZqiJAgAABAgQIECBAgAABAgQIEMgLCFbTbATBqmA1zc5UFQECBAgQIECAAAECBAgQIECAgGA14R4QrApWE25PpREgQIAAAQIECBAgQIAAAQIECFixmmYPCFYFq2l2pqoIECBAgAABAgQIECBAgAABAgTyAoLVNBtBsCpYjYg9sfnSlbH+/gpNev7GePDSk6vq3j1b1sbKhy+o+viqBm2Sgw7na0/rFu2I605dE3HLg3HZKaOVPbI51r5mfcRVW+P6sxanVe5hWs2OG06NW0+Yi/sx8l237Yy5mDvhm53/GdkWKz57faw6LuE6lUaAAAECBAgQIEDgMBYQrKZ58wWrgtXIQo41t6+OjQ9eFiURao2B1GyEi3MXyEz9Azwb157mV0hqVZUHqyNB2q41RUFrXSVn494aSwVPdemVnzR3P8cpBqtz1Fv57/ddcUH2vT9NsOr7rSFtbxACBAgQIECAAAEChyQgWD0kvhk7WbAqWB0JVqPSytTaQojD+T++D+drn7Fvp7oGnhis7nlkcSy2Cq8uzZk6SbA6U7J1jmvFap1wTiNAgAABAgQIECAwewKC1dmzrmUmwapgNfKh4NVLJ65YLe+kh66LUy/cVPpPT78ytt6wKrIHrIvDxZFVsKWHLh97FHvi1gPV/V7kQ+DCI8RTz1E4dmOsuHfN2DYHqwuPiI+uxt1eUmKFVbuF36/h2svZRlxWxJXfXT9Wx/j1ltUZV8bWKyKufs36mLK24npOvzI2nrEt1oxuw1C4DxtjzdhK5Gfl73HZiGOPy4+umLtlRWy7cGTekfp+nH+sPn/Hi+5zVLAovp6K1z/Z3BPuw/K4cmxVaKUtKsruUVktq2/ZGHHh6FYAUV2/jjhlVY+MXWw11i9RvKqwtv7Nj1y8NUEx0DR9FYVVhbdErCn87BXfixLsylt6TLiGovtcuOaKm31MqK3IvkIQV/IHNNP0yOTB6sRrGK9/uuur8P/6yvpr+VUj3wf5rQCec8eU32fl3y/lP7OTf79F1PYzUrpidcSm2u+t8ntS/L1R/LNU+jOe3xbjpV+csGI1Tt8e2wtbwkzy3V7ek5P2di3/JuJYAgQIECBAgAABAgSmFRCsTks0JwcIVgWro403stJvLDYt31u14rYAo+eMHlsI9LaecGusvDqKArLxoCH7j/AVny/bemB07KXT/F62Z2YhkLkqrp5yjsKxa24vChfyYc+uuPKzF8Su16yJTSXXOBraZMHmaFA89hNZw7VX2o92JLjePh6ujYZOhUBiJMAp1FlqOlJDWW3l9RTCo+L7UDxfNsIje2LxcUX7ixY/BpwPDdfEprEgpdALhdBmdP4TR1Y1TxirJHSc+D02+dwrYls2b9F9KA3590T5atOSlcEV7kshDFv9gStj1+Xl+6pW6Ncip8J9GgvQxvol23dyPPxa+vEa+rfwBw7lPw8ZUxV9VThm+5hR6b0o1q60pcfINRV+Fsvv88jP05rvVtfzJcdOE6xO1yOTBavl9RT3Q1TYsqT0+sp7b+LP0tg9vuydEdd9qGzf3fHjR77Div6wqagXXv7Pxaajc5b9TE93/aWVTgxWp/re2lX+B1T5n8sY+Rme9Gdp4r0fC0jHtgJYH+N9Vvm7Pf/9VvZ9Myf/5mJSAgQIECBAgAABAoehgGA1zZsuWBWsVu7MsRVno4FfVH65SfEqtZJg9d4VZQHl+CPa+WC1ZOuB8X0wp/q9CcHqFHOMBavF84yFQSPBaskLjgoB2IQxCwHYxBe7VLr2SYPVknFLH1cv3YqhwsuXymubLtTKwrRK11EIUMfueGmYO+4xcQuIiVsdTLWysFJLlQX3kc1d4T6UBL6lodXYqIUAuOLjy6N++WC1intW7JTv+ShauV0ceJUFq1X37+T9MxJQTV1jpWMm27qj4j8vmWNib+Xva7U9n/lsXDrycz3ditXiPxAoeile8R8mVHp51aT1xGgIXL5lyZSPsFf6WRrt7RdnwepXJrysaczwFdvKemG8pyvXOPlcxS8FrLy6s0KwWvF766qIDZO9eKvC/BX+8GTiS90m32N10u832wak+W9zqiJAgAABAgQIEGh5AcFqmrdYsCpYnbIzx/7j+g278m9WL32YfPTUiitWKx6ZX7U5MTwdL2Hy/V5HjilZsXqIwWrZpgYjE1R6zLritgGVr32ugtXi4HNi8FO+ArU87Ju4L2n5m9PHx39W/mVQ6+8vf8x4YlA9esdGV0JXeoy8csA91g2FcL98FV7hvk8brFbRrw0JVqfp38mCqCr6quZgtWz7jZHKJgvQR7fvqDZYLf6mmDJYnb5HptxjdcLj+9m2FItHX7JX6euquBeLf3+6YPVDU36fRfkfRJStCK9UyUhwWvhDh1p+RsZfjDbhO7DMurDqdrp7W1rfNMFrNX9YM7rVyGR/IJDmv+KoigABAgQIECBAgEDrCAhW07yXglXBalx36tpJ33ZeGqxOXF1X3NZTr1idKnxKY8XqpD+iVazQmurlVZMFnYXVYzO+YrVS/VOuZJxqxerII8elq30rr7LNe04599QrVvN7nZaFfiWW0warVfRrQ4LVqfq39hWrJX1Y1crQ0Qh70pfQFUacrRWr0/dI5WB13DFbcT56VWP9NtUfyFT+2Z0uWJ24YnVs1qK9nEf+2fjPRH4bkoorwid3LoS05avkx6+ximD19hWx7fzRFaaFqcZWWY9sqzHpitTRkNiK1TT/RUxVBAgQIECAAAECBKoREKxWozT7xwhWBatx3amnxvi+fcVNWLSf4+iK1fxLT84q7NVZGlxMv8fqyGPWE/ZKHF2hNiN7rE6xFUClPVbzL7UZu75Riyn2wiwEFdMGq8V7bFbaY3Wszjr2WC2srCteUVcc/Eyov3xFXS0rVifu5Ti2r2mlFzRNOffEvW6L99QceYlU0V69hZWMJVsBlO6jOraf7RR7rJbcs3qD1dsnvjSoYv/WucfqWABWa7BaXNeE7S1qDVZLbSfusbo+smvOh6Al+25O3yNTBavrR/fyHQ/mR+aZsDfzVNt35E+u8LM0+rO3fIo9VjP7/Fwle8+OjJV9T06+v3NhG4mJ8075M1K2R/GkK1bzwWqR+VhvZXvBTrdfcTUrVovv93R7rE79hxaz/68yZiRAgAABAgQIECDQ+gKC1TTvsWBVsDoeilTq0WneBl+8Z2BxuFj+Ru3St4/X9lb18rdxF/ZmnDhH4W32I8HvlI/U5veMLX1UfKo321d6y/dk117OOLLKcmmsjk2xaXS/yQlvGJ8QAJc/xl4U5GUTlLx1fXWsPn9TbBodo+IekCXHZ48oj+zXuP7+bNzy1W7T7LFa9qj2+AvJJnkke6q5P7s0bi25D6VjlNzjrBeviLg6O76wPUDZ2+cLb33ftebBuCyyPVNLN3yYcM/qCFZXHVdb/2a3a9I3p5fVP+HYGoLVsZecFe1pWrq1RQ3B6oQey1dWtP9sWQ+efmVsPGNbrCl5XHy8h8t7JHsBWKU9VscC2qIfovGflYnuFbfuKP4BLN9u4fyNsTHWjMz9nDum6I/yPYEjomhLiqm/34qC5tFapv4ZqXaP1etj5MVZxdusFP28TNhaYpqtCIr3YB39+6XZ90hhO4mi7/6JL40rDVanfolYmv/yoyoCBAgQIECAAAECzSYgWE3zjglWBatpdmYLVTXVC3kadZlT7lnZqEmMQ4AAAQIECBAgQIAAAQIECMyJgGB1TtinnVSwKlidtkkccGgCjQ9Wy1aUFm2lML435aHV7GwCBAgQIECAAAECBAgQIEAgHQHBajr3orgSwapgNc3ObKGqGh+sTnzUeMptDFrI0qUQIECAAAECBAgQIECAAIHDUUCwmuZdF6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Hx+yhlAAAWcElEQVQ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gZJg9VA4Fi1adCinx8qVK+O4446Lzs7O6OjoyP9qb28f+5XL5aKtrS0/R/b32a9W/whWBaut3uOujwABAgQIECBAgAABAgQIECDQ1AKFFauHchGC1UPRq3yuYFWw2viuMiIBAgQIECBAgAABAgQIECBAgEDDBASrDaNs6ECCVcFqQxvKYAQIECBAgAABAgQIECBAgAABAo0VEKw21rNRowlWBauN6iXjECBAgAABAgQIECBAgAABAgQIzICAYHUGUBswpGBVsNqANjIEAQIECBAgQIAAgf/X3t2sNtX8ARyf9EVEUUGhNyEoXkXXunLXy+jKlV6ILt2I296EIOJNWBRERLFvfyb9j8wzPWkyfUnGM59CqM/Tk+acT37J4st0QoAAAQIECBC4LgFh9bpkL/d7hVVh9XIT5N4ECBAgQIAAAQIECBAgQIAAAQLXKiCsXivvhX+5sCqsXnh43JEAAQIECBAgQIAAAQIECBAgQOD6BYTV6ze+yCMIq8LqRebGfQgQIECAAAECBAgQIECAAAECBJYkIKwuCbryYYRVYbVyZBxOgAABAgQIECBAgAABAgQIECCwTAFhdZnaiz+WsCqsLj4tjiRAgAABAgQIECBAgAABAgQIEFi6gLC6dPKFHlBYFVYXGhQHESBAgAABAgQIECBAgAABAgQIrEZAWF2N+7xHFVaF1Xkz4ucECBAgQIAAAQIECBAgQIAAAQIrFBBWV4h/zkMLq8Jqm5PprAgQIECAAAECBAgQIECAAAECBKYCwmqbgyCsCqttTqazIkCAAAECBAgQIECAAAECBAgQEFYbngFhVVhteDydGgECBAgQIECAAAECBAgQIECAgBWrbc6AsCqstjmZzooAAQIECBAgQIAAAQIECBAgQGAqIKy2OQjCqrDa5mQ6KwIECBAgQIAAAQIECBAgQIAAAWG14RkQVoXVhsfTqREgQIAAAQIECBAgQIAAAQIECFix2uYMCKvCapuT6awIECBAgAABAgQIECBAgAABAgSmAsJqm4MgrAqrbU6msyJAgAABAgQIECBAgAABAgQIEBBWG54BYVVYbXg8nRoBAgQIECBAgAABAgQIECBAgIAVq23OgLAqrLY5mc6KAAECBAgQIECAAAECBAgQIEBgKiCstjkIwqqw2uZkOisCBAgQIECAAAECBAgQIECAAAFhteEZEFaF1YbH06kRIECAAAECBAgQIECAAAECBAhYsdrmDAirwmqbk+msCBAgQIAAAQIECBAgQIAAAQIEpgLCapuDIKwKq21OprMiQIAAAQIECBAgQIAAAQIECBAQVhueAWFVWG14PJ0aAQIECBAgQIAAAQIECBAgQICAFattzoCwKqy2OZnOigABAgQIECBAgAABAgQIECBAYCogrLY5CMKqsNrmZDorAgQIECBAgAABAgQIECBAgAABYbXhGRBWhdWGx9OpESBAgAABAgQIECBAgAABAgQIWLHa5gwIq8Jqm5PprAgQIECAAAECBAgQIECAAAECBKYCwmqbgyCsCqttTqazIkCAAAECBAgQIECAAAECBAgQEFYbngFhVVhteDydGgECBAgQIECAAAECBAgQIECAgBWrbc6AsCqstjmZzooAAQIECBAgQIAAAQIECBAgQGAqIKy2OQjCqrDa5mQ6KwIECBAgQIAAAQIECBAgQIAAAWG14RkQVoXVhsfTqREgQIAAAQIECBAgQIAAAQIECFix2uYMCKvCapuT6awIECBAgAABAgQIECBAgAABAgSmAsJqm4MgrAqrbU6msyJAgAABAgQIECBAgAABAgQIEJgZVnd2dmbqvHnz5szP7t69eynN7e3tsLW1FTY3N8PGxsb0tr6+/vc2mUzC2tra9DHiv+Nt7F/CqrA69hl3fQQIECBAgAABAgQIECBAgACBf1pg1orVobg6FFXjxQurVz8CwqqwevVT5TcSIECAAAECBAgQIECAAAECBAhcmcB5WwHkcXVWVBVWr+yp+M8vElaF1euZLL+VAAECBAgQIECAAAECBAgQIEDgSgTm7bEa4+p5UVVYvZKn4cwvEVaF1euZLL+VAAECBAgQIECAAAECBAgQIEDgSgTmhdVFHsRWAIso1R0jrAqrdRPjaAIECBAgQIAAAQIECBAgQIAAgaUKCKtL5V74wYRVYXXhYXEgAQIECBAgQIAAAQIECBAgQIDA8gWE1eWbL/KIwqqwusicOIYAAQIECBAgQIAAAQIECBAgQGBFAsLqiuDnPKywKqy2OZnOigABAgQIECBAgAABAgQIECBAYCogrLY5CMKqsNrmZDorAgQIECBAgAABAgQIECBAgAABYbXhGRBWhdWGx9OpESBAgAABAgQIECBAgAABAgQIWLHa5gwIq8Jqm5PprAgQIECAAAECBAgQIECAAAECBJoR2N7eDltbW2FzczNsbGxMb+vr639vk8kkrK2tTc83/jvexv4lrAqrY59x10eAAAECBAgQIECAAAECBAgQIHBJAWH1LKCwKqxe8mXl7gQIECBAgAABAgQIECBAgAABAmMXEFaF1XBychKOj4+nt6Ojo+nt8PAwHBwcTG/7+/thb29v7K8F10eAAAECBAgQIECAAAECBAgQIEBgYQFhVVgVVhd+uTiQAAECBAgQIECAAAECBAgQIECAwKmAsCqsCqveDQgQIECAAAECBAgQIECAAAECBAhUCgirwqqwWvmicTgBAgQIECBAgAABAgQIECBAgAABYVVYFVa9DxAgQIAAAQIECBAgQIAAAQIECBCoFBBWhVVhtfJF43ACBAgQIECAAAECBAgQIECAAAECwqqwKqx6HyBAgAABAgQIECBAgAABAgQIECBQKSCsCqvCauWLxuEECBAgQIAAAQIECBAgQIAAAQIEhFVhVVj1PkCAAAECBAgQIECAAAECBAgQIECgUkBYFVaF1coXjcMJECBAgAABAgQIECBAgAABAgQICKvCqrDqfYAAAQIECBAgQIAAAQIECBAgQIBApYCwKqwKq5UvGocTIECAAAECBAgQIECAAAECBAgQEFaFVWHV+wABAgQIECBAgAABAgQIECBAgACBSgFhVVgVVitfNA4nQIAAAQIECBAgQIAAAQIECBAgIKwKq8Kq9wECBAgQIECAAAECBAgQIECAAAEClQLCqrAqrFa+aBxOgAABAgQIECBAgAABAgQIECBAQFgVVoVV7wMECBAgQIAAAQIECBAgQIAAAQIEKgWEVWH13LB6eHgYvnz5Evb29ipHy+EECBAgQIAAAQIECBAgQIAAAQIExisgrAqrM8NqjKoHBwfC6nhf/66MAAECBAgQIECAAAECBAgQIEDgggLCqrAqrF7wxeNuBAgQIECAAAECBAgQIECAAAEC/QoIq8KqsNrv69+VEyBAgAABAgQIECBAgAABAgQIXFBgVljd2NgIa2trYTKZTL/Hr/jveBv712R3d/dkzBd5cnJ6efF7fjs6OgrpFrcBsBXAmKfAtREgQIAAAQIECBAgQIAAAQIECFxGYCisxqi6vr4urF4GtuX75mE1nufx8fHfVasxrKaomsLq/v5+eP/+fbh582bLl+XcCBAgQIAAAQIECBAgQIAAAQIECCxF4NevX+Hp06dha2srxJia34TVpTwFq3mQFFbjo8d/l2E1xdX4wVUxrn79+jW8evUqPHnyZDUn7FEJECBAgAABAgQIECBAgAABAgQINCTw4cOH8OLFi/DgwYOwubn5N6zGqJrCatoOIJ62rQAaevIucyqLhtW0cvXHjx/h4cOH4eXLl5d5WPclQIAAAQIECBAgQIAAAQIECBAgMAqBGFU/f/4c7ty5c2a1ahlW096q9lgdxVN/ulI1fqU9VuOq1XQb2g7g27dv4fnz52FnZ2ckAi6DAAECBAgQIECAAAECBAgQIECAQL3A69evw9u3b8P9+/f/s1o13181rlZNK1aF1Xrjpu8xL6zmcTVuCfDnz5/w/fv38Pjx4/Ds2bPw6NGjcOvWraav0ckRIECAAAECBAgQIECAAAECBAgQuAqBnz9/hk+fPoV3796Fjx8/hnv37oUbN24MbgOQ77GabwFgxepVPBMN/I4yrKa9VuOq1RhVy1WraVuAOES/f/8OMbbGY+JX2qM132KggUt0CgQIECBAgAABAgQIECBAgAABAgSqBfIVpimMxtWnMaTGD3e/ffv2mQ+sSqtVh7YBsGK1+ilo+w7nhdUUV2NMLQNriq7xe9o6IG0nUO7d2raAsyNAgAABAgQIECBAgAABAgQIECBwKlCuJk1BNX5Pf9afPpgqfo8hNb/lP8u3ALBidaQTlsfVtOo032c1RdX8ewqrKb7mUTX9e6RcLosAAQIECBAgQIAAAQIECBAgQKADgTyq5itW83iax9Uyqva6v+o0UO/u7p5+stPIv+ZtB1CuXC2jar4FwNCq1ZHzuTwCBAgQIECAAAECBAgQIECAAIERCuR/up9Wnw6tWk1xNf35f+/bAHQfVsu9VvM9V/OwOrQNQB5qR/iackkECBAgQIAAAQIECBAgQIAAAQIjFsi3AyhXraawGr+XK1fzoNrzNgBdhtV40fmK0xRN820BUmAtf5b/+b+wOuJ3FpdGgAABAgQIECBAgAABAgQIEOhAYCiulqtWU1zNv+fhNY+yiazcw3WslN1sBZCCahlWUywtI2q+r+rQNgD57yuHI/9gq7EOjusiQIAAAQIECBAgQIAAAQIECBD4twSGgme+FUD5IVbxv8sVquWeqmVY7SWqxme+y7A6FFfLD7TKtwkoP7RqKKqKqf/WG4mzJUCAAAECBAgQIECAAAECBAj0KjArsJ63JUD8Wb6atTw2WQqrI56q8k/4y2iaB9byZ0NbAYyYyqURIECAAAECBAgQIECAAAECBAh0IDBr1WqKp/OCan7/Drj+XmJXK1bTVc+Lq4sEVStUe3qZuFYCBAgQIECAAAECBAgQIECAwLgF5sXVcoVqGVN7WqmaJqHLsBovflZcTT8rV6cOHT/ul5OrI0CAAAECBAgQIECAAAECBAgQ6EFg6EOs4nUP/bl/+n/p5/n3Hqzya+w+rM6KrOX/L1eoWrHa20vF9RIgQIAAAQIECBAgQIAAAQIExilQrjYtV68ORdRe//xfWM0E8kB63qrUWSFVYB3nG4qrIkCAAAECBAgQIECAAAECBAiMXWDWn++XK1iHwmr+/8buNOv6ul2xmoOctxrVStVeXxqumwABAgQIECBAgAABAgQIECDQn8BQVB2KqD3uqVpOg7D6f5GLrEi1WrW/NxdXTIAAAQIECBAgQIAAAQIECBAYi8C8ODr083n3GYvNItchrBZKi8bSRY9b5ElwDAECBAgQIECAAAECBAgQIECAAIFVCswLpvN+vspzX9VjC6tz5AXUVY2mxyVAgAABAgQIECBAgAABAgQIEFi1gKA6+xkQViunU2itBHM4AQIECBAgQIAAAQIECBAgQIBA8wICav1TJKzWm7kHAQIECBAgQIAAAQIECBAgQIAAAQKdCwirnQ+AyydAgAABAgQIECBAgAABAgQIECBAoF5AWK03cw8CBAgQIECAAAECBAgQIECAAAECBDoXEFY7HwCXT4AAAQIECBAgQIAAAQIECBAgQIBAvYCwWm/mHgQIECBAgAABAgQIECBAgAABAgQIdC4grHY+AC6fAAECBAgQIECAAAECBAgQIECAAIF6AWG13sw9CBAgQIAAAQIECBAgQIAAAQIECBDoXEBY7XwAXD4BAgQIECBAgAABAgQIECBAgAABAvUCwmq9mXsQIECAAAECBAgQIECAAAECBAgQINC5gLDa+QC4fAIECBAgQIAAAQIECBAgQIAAAQIE6gWE1Xoz9yBAgAABAgQIECBAgAABAgQIECBAoHMBYbXzAXD5BAgQIECAAAECBAgQIECAAAECBAjUCwir9WbuQYAAAQIECBAgQIAAAQIECBAgQIBA5wLCaucD4PIJECBAgAABAgQIECBAgAABAgQIEKgXEFbrzdyDAAECBAgQIECAAAECBAgQIECAAIHOBYTVzgfA5RMgQIAAAQIECBAgQIAAAQIECBAgUC8grNabuQcBAgQIECBAgAABAgQIECBAgAABAp0LCKudD4DLJ0CAAAECBAgQIECAAAECBAgQIECgXkBYrTdzDwIECBAgQIAAAQIECBAgQIAAAQIEOhcQVjsfAJdPgAABAgQIECBAgAABAgQIECBAgEC9wP8A22vsdN15c/IAAAAASUVORK5CYII="/>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dirty="0"/>
          </a:p>
        </p:txBody>
      </p:sp>
      <p:pic>
        <p:nvPicPr>
          <p:cNvPr id="7" name="Imagen 6">
            <a:extLst>
              <a:ext uri="{FF2B5EF4-FFF2-40B4-BE49-F238E27FC236}">
                <a16:creationId xmlns:a16="http://schemas.microsoft.com/office/drawing/2014/main" id="{245FE223-92C1-44F6-AF80-F38062C1A89E}"/>
              </a:ext>
            </a:extLst>
          </p:cNvPr>
          <p:cNvPicPr>
            <a:picLocks noChangeAspect="1"/>
          </p:cNvPicPr>
          <p:nvPr/>
        </p:nvPicPr>
        <p:blipFill>
          <a:blip r:embed="rId2"/>
          <a:stretch>
            <a:fillRect/>
          </a:stretch>
        </p:blipFill>
        <p:spPr>
          <a:xfrm>
            <a:off x="4229053" y="2574502"/>
            <a:ext cx="3872815" cy="3213738"/>
          </a:xfrm>
          <a:prstGeom prst="rect">
            <a:avLst/>
          </a:prstGeom>
        </p:spPr>
      </p:pic>
    </p:spTree>
    <p:extLst>
      <p:ext uri="{BB962C8B-B14F-4D97-AF65-F5344CB8AC3E}">
        <p14:creationId xmlns:p14="http://schemas.microsoft.com/office/powerpoint/2010/main" val="4249595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4767" y="2147237"/>
            <a:ext cx="8601954" cy="42506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p:spPr>
      </p:pic>
      <p:sp>
        <p:nvSpPr>
          <p:cNvPr id="3" name="CuadroTexto 2"/>
          <p:cNvSpPr txBox="1"/>
          <p:nvPr/>
        </p:nvSpPr>
        <p:spPr>
          <a:xfrm>
            <a:off x="612559" y="1252907"/>
            <a:ext cx="10999433" cy="584775"/>
          </a:xfrm>
          <a:prstGeom prst="rect">
            <a:avLst/>
          </a:prstGeom>
          <a:noFill/>
        </p:spPr>
        <p:txBody>
          <a:bodyPr wrap="square" rtlCol="0">
            <a:spAutoFit/>
          </a:bodyPr>
          <a:lstStyle/>
          <a:p>
            <a:pPr algn="ctr"/>
            <a:r>
              <a:rPr lang="es-CO" sz="1600" dirty="0">
                <a:latin typeface="Calibri" panose="020F0502020204030204" pitchFamily="34" charset="0"/>
                <a:cs typeface="Calibri" panose="020F0502020204030204" pitchFamily="34" charset="0"/>
              </a:rPr>
              <a:t>Finalizado el proceso se le indicará su usuario y correo institucional y podrá descargar el recibo de matrícula generado. Para primer ingreso en los programas de pregrado, se visualizará también el horario de clases. </a:t>
            </a:r>
          </a:p>
        </p:txBody>
      </p:sp>
      <p:sp>
        <p:nvSpPr>
          <p:cNvPr id="13" name="12 Rectángulo redondeado"/>
          <p:cNvSpPr/>
          <p:nvPr/>
        </p:nvSpPr>
        <p:spPr>
          <a:xfrm>
            <a:off x="2176531" y="2723322"/>
            <a:ext cx="7843478" cy="1441174"/>
          </a:xfrm>
          <a:prstGeom prst="roundRect">
            <a:avLst>
              <a:gd name="adj" fmla="val 4018"/>
            </a:avLst>
          </a:prstGeom>
          <a:noFill/>
          <a:ln w="57150">
            <a:solidFill>
              <a:schemeClr val="accent6"/>
            </a:solidFill>
          </a:ln>
          <a:effectLst>
            <a:outerShdw blurRad="50800" dist="381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s-CO" dirty="0"/>
          </a:p>
        </p:txBody>
      </p:sp>
      <p:sp>
        <p:nvSpPr>
          <p:cNvPr id="4" name="AutoShape 2" descr="data:image/png;base64,iVBORw0KGgoAAAANSUhEUgAABVYAAAKlCAYAAAAgmLcrAAAgAElEQVR4XuzdCZxU5Z3/+293082+KNgiItiCggtIEDCh1TGoacAENK4R1IAkV02ukMxEM3+Xf66YeydmJgHvxDgJQqJoFDUGjAqJQaM2UUEF3FhEdsJiK8jeLP1//U7VqT516tTWXdVdXfWpefXQdJ3znOd5P0+1M19+5zlFP/nJT+rECwEEEEAAAQQQQAABBBBAAAEEEEAAAQQQQCBlgSKC1ZStOBABBBBAAAEEEEAAAQQQQAABBBBAAAEEEHAECFZZCAgggAACCCCAAAIIIIAAAggggAACCCCAQJoCBKtpgnE4AggggAACCCCAAAIIIIAAAggggAACCCBAsMoaQAABBBBAAAEEEEAAAQQQQAABBBBAAAEE0hQgWE0TjMMRQAABBBBAAAEEEEAAAQQQQAABBBBAAAGCVdYAAggggAACCCCAAAIIIIAAAggggAACCCCQpgDBappgHI4AAggggAACmRfYuHGjOnfurE6dOmW+cVpEAAEEEEAAAQQQQAABBLIgQLCaBVSaRAABBFqiwNtvv61zzjmnJXadPrdwgQ8++EBLlizRtddeq9atW7fw0dB9BBBAAAEEEEAAAQQQKBQBgtVCmWnGiQACCCQRIFhliTSXwMcff6yTTjqJULW5JoDrIoAAAggggAACCCCAQIMECFYbxMZJCCCAQP4JpBus2q3bCxcu1NatWx2M/v37a+TIkZFw7Mknn9Q111zjvHfw4EH94x//0LJly3TgwAEdc8wxqqys1JlnnimrVnz//fcDQc866yyVl5c71wl6Wfs7duxw3j/11FM1ePDgqMMWLFignTt3Rvrhvml9Oe6449S3b9/Adt02vW/26tXLad+tqIzX7+OPP14XXnhhTLuvvPKKM167rp27adMmVVVVRR3nPca+37ZtW0w7rqm9YeN477339PnnnzumAwYM0Fe+8pXIOUFtWP/sGHccNk9dunSJ6cs777yj1atXa8SIEU6fU7Fz3datW6c2bdro7LPPjrLwjs/as+MXLVqkFStWRNbQ8OHDI9dz27vsssuiQlfzs5d58kIAAQQQQAABBBBAAAEEmkuAYLW55LkuAgggkGMC6QSrFpT+/ve/16hRo5xKQzc4tSDQDf5+9rOf6Y477nBGaQHgF1984YRsFuhZKPviiy8659u+mrt27XKO+/DDD50/zzjjDOdP9z0LTi3g87/s2tbWH//4R7Vt21bf/e53I4fY9WbNmuUEuW4/7E3r6xNPPOEcd+ONNwbOghsae69pQaOFtO7t6u6Y3L66DVmg6A0i3Z9bgGmhofXZzn311Vd1ySWXRIXB3mPsewuL/W3Z+faykHL9+vW6/PLLnX1JbbzPPvusevfuHQkzg9qwcZiJd56szxMmTIja3/Q3v/mN9u/fr29+85tOn5PZWQhq1zczC6zd/px22mmRsNc7Pnd+zj///IiB9e21116L9MXm4fHHH3dC+7Fjx0bmyvzs5Q2Rc+zjRHcQQAABBBBAAAEEEECgAAQIVgtgkhkiAgggkIpAOsGqBV5WaeitnrRrWODlhl3eYNUbqLl9sTbs5YZ27vn+wCzetbztWF8snLWQ0Q0iLaSzsG/p0qVRwar93MJdqxi1CtSgEDTeNefOneuEhlYpmW645w9WLVi0YNSCWveBTf5g1Q1i/fNn51o4bMGwd09SC40feuihSDAZ5G5teefGvh80aJDj4Fb8uiGpBdvePiSy89q4/bV+vvzyy5FQ1Nsfqyb2XtM9xw2srZrXnQcLgq3C2a0wTtc+lfXPMQgggAACCCCAAAIIIIBAugIEq+mKcTwCCCCQpwLpBKtugGeVhH369AncH9NfsWq3rA8ZMsQ5NijMbGyware4W0DphoMW9FkA+swzz0QFq1aJaYGkhXZr1qyJuQXe+hEvWLW9QO02dKueTDfc8werdh23etetxkw1WHVDY/9WAtamN7AMClbtXHtQlFvda/N0xRVXRMZlbdgxFopaBbI3WE1kN336dN18880J90n19seO91fJ2rXdStbJkydH5sGqYK0a1g2S07XP048sw0IAAQQQQAABBBBAAIFmFiBYbeYJ4PLJBRatWazte2qSHxg+4vw+w9S1w7Fxj6/Z85leW/NWyu2Vd+iq4X2Gpnw8ByLQUgXSCVZtjO7+mLafplUUWsjq3R/TG6y6oemqVaucPVmD9gN1j7E/vbd4u7eD+11PPvlkp2LWDUEtfHvhhRec8M0Nfi2c8/bDjrXtBtxA0g0K/U+ijxesen/u3s7v79cFF1wQeIt6ULBq47Sfn3POOU41pj9YNVvv67rrrotsJeB3co/zho7Wnr8Nc/Pum+r6eINR2+Zh9OjRzt61brCazM4/30GfA+/4Eh3vvuf3tnm17SQIVlvqbxn6jQACCCCAAAIIIIBAfgkQrObXfOblaP60bL4s3EwlXG1TWqazTzxDJ3TuHtfin7u2atnmD3XgUG1SL/e6l509MumxHIBASxdIN1j1jtdCVqvktIdTuVWL8YIzC8es8tOqJr37byYKVoO2HXCv7w3fLCi1W+vtZ+7Dobz9sGpOu/3ebnG3l4W8F198ccxDkBJVrJqTBbrphnvxglXvbf1/+tOfIkFmvNv44zm5Hrb3qgXFbmjrBqPu7f3e7RLsHNfHbHr27OkEt7bNgFW0+m/dT2SXqWDV1se0adOcKmP/PFjga6GwzW28YLmlfw7pPwIIIIAAAggggAACCLQcAYLVljNXBdtTC1bt9d6uLUkNBnTuoXNPHpQ0WH1z3dKU27OLEqwmpeeAPBBIJ1i1UNGtHvQOPV5FooVuU6ZMibpNPCi8DAorU91j1cJOCxVtOwA7x7YBsCpQN/Bzq1jtYUzuy0JNC3j9D7GKd03vbfaZClbdoHT79u1O5a8bhCYKVt2Q1PuwLndMFi674am/DQu0q6urIw/g8gar7jYHFqy6Dxpzzy8vL3f2bk1k52694O6D6vbHwlD3AVve/gTtyWrnWEBvfbHtEfzz4D70zAJ5NzzOg48eQ0AAAQQQQAABBBBAAIEWKkCw2kInrpC6bcFq57YdtG3PZ1q959PAoZ/UpqO6tO7ovJdKsLpg5WvaeGC3jmnVWp8fPhjTprVn77vtphqs2jYDtUeiK2Hd6lnve2UlZXG3K/Ae16F1B3Vs0yHSv9rDtarZ+1nk713bH6uyVmUx/d99YI/2HNwT9fOGHJvq9YLG7V480ViD+mltdWjTQR1bd0i4pYN3cNbO+poNOng4ZG9bQZzctVfcj4l/XM45cSyDjrXrWD97dAlVRieqkI7XCTt/Xc0GndN7UMofZ6u29r+27NzqrBH7ijeGVC+QTrDq7oNpt6a7+6Va2GdPcA+qWLVA0l7ePUHtZxaO2a3d7quxwar1wbYD2Llzp2wbAHu5waq7b6j3eva+e9u7d9/XoGDVfWK9O75MBqtuP6zfFl5auJkoWLXj7f0uXbrEmFob7kPFgtqwQNOC0qCHjNl2ANambQNgHu755uqGrd715LVzQ1s3RLXjzGjDhg2B/THjP/7xjwpaQ65B0DxYeG6V0cOGDQvcciHV9c5xCCCAAAIIIIAAAggggEBjBQhWGyvI+VkXcEO7v695S58e2B0YhFpA+rU+56YULrlB2YptH2vX/j2BlaunduimNiVlGtTzjLQCvlXbPtai9e9GQtuvnHhmJDiz997Z/KEzBuvracf3DbSz4/6y5k1nnBbsXjd4bCQ8tQCx+pO3tPjTdbroxAEacOLpUcGr26C73YEdZ69kx5qtG1qf1/00Dek1yGnXrrdkw1K9vnWVhnY7WZWnDAu8njs2a8Pmomf7rs51dx7c7QTe8YJp66e3etgqjg8cqY30ZXTvwUmDR7v2kytflc3ZqV17aePOrc6cXt7nyzrrxDMCjb2OdkCisXkN7Fh3bdj3m/bWOPNkY/56v/MThrn+jsz/cKEzj5POHp1yMPv2+qX6x+YPImvD/ccEc7Z/CHDnuqF7AqcTrNq1rLLwpZdecoK4Nm3axNxW77013KpF7TZ3u/W+e/fu2rVrl3M7/mWXXRZVxRovWLXANuhloZy9vFsFWMVm7969I4Gj2w9vJae3raAHQQXt6+rfQzbeHqvWtt3G7n/F2wrAPc7Cy5kzZzpBYyrBqmvqWgaZBgWrbuWu++CooK0S3EpY9/wXX3wxUgWbyM41sX1crT8WnLshrZ3n74+7hmxN2Mu/NUNQsGr9t0B3wIABBKtZ/y8wF0AAAQQQQAABBBBAAIFEAgSrrI8WI2Ch0gvr34nb37svmJjWWPyhnvfkVLYUiHcxt5/Whj9QtPcs+EtWAWtVuu7WBxb6jTxjRORyFvRNe2uOko3Xxjdj2QvOecmOddu0Y/2BpBv0fnfYVYHVsW7HgsZtfbAA+6unnRd3boL66YaOQYbehiwk/9mi2U4A/e1hV0XesvNT2WvX9Ukl3Jz66kynfe+xdv2Fq153AlILV28cPDYwePYP3uvtn99ki9hdG/7Q+f3NH+rZNW84p1/T74K4wX2i9tMNVt22LPyyl1VB+h8C5b+eVT1a4GZBrLdCNNm4eT++gGtqQbVtg9DcLws+bVuDdObYXUMWKPNCAAEEEEAAAQQQQAABBFqKAMFqS5kp+qlCC1bdakiben+IZiFfsrA0nWDVruGGmf6Q0n14WLIqyESBcqLlG9RPt61koaN7rlWRXjt4TOQy9nP/NgpBfQgKS+P1Nd6xbrgbNE/x2vJWntoxU4ZdnVIga8fGC1a97/k9Uv310dBgNdX2OQ4BBBBAAAEEEEAAAQQQQACBfBIgWM2n2czzsRRasHpSl+7asfczpxrSXt4qxGwEq7bf56MfvORcy63KdCsrUwn+goLVhvTTgsrH35nr3NqerJLUtol48J0/OX226lYzs31PU91rNBPBqjfQTFZh635Ef/fWU7qwz7n688rXnNv6bauGZMG1e26iYNX7GUkWvAf9uiBYzfNfogwPAQQQQAABBBBAAAEEEEAgowIEqxnlpLFsChRisDrgxDP0x+XznT1H7Vbzbw0c5TyYqSGBZSpzY4GfBZq2z6rdvm/mFu56tyKI1068+UkW8HkrVi1gfGfbKucSqd5W/8Q78wIfapbK7fDNEaxagG2B6veHj9OiNYv1t83vOXObbKsFgtVUVjDHIIAAAggggAACCCCAAAIIINB0AgSrTWfNlVIQsP08P6nZoJ0H9jgPefKGaw0NVq0C0h74ZE9y9waEub7HqlVf2hPjrSrzD8tfjDwkyUwyvceqOzXefTrvGD7eqRy1ysqTu/ZKOnv+ilX3Fvl0gtVbB18WqUBN9PApf2csrDQn98FV9r6FlRZeJnplOlhNpfLUtlywl+0BaxXB9uAte6USBNtxqVSs+rdzSDp54QMKrWLVHhZ14MAB50FRvBBAAAEEEEAAAQRyVGDvCr342KvaqIEa+90v6/gc7Wbju7VNb/xmrpafPVbfPTd/R9l4J1pAILcECFaTzEddXV1uzVge98ZCpvc2f6TdB/dEHgZ0w+Axkb0nLbh7cf27cQXuumBCzHsWtj2xfL4TStprVO8vObeKn9C5uyxYfWvdsshDorwn2y3dw04+O+WntXvPdftpbYw9uyqqT/bepp3bYn7u7/jcZQvUs8vxTrBqL+vrw8tedL63/TOtgjVovN52vOckO9Y9z8LQ+xc95vzV+m9Pm79x2JUprbqgcVsfzDrRy99Ptx0LRr3zH9SG9ddC1dOO7xt52+b81+/Mdf6ebNz3vTrLOe6ms0cl7We8Y71mydqxNT79raccW/dlxlYlbGFoKta2NuzBZraW3fXhtuW+V9n91IQPDIs3H4UUrNoDnx566CFdfPHFGjx4cEprnIMQQAABBBBAAIG8F9i7QvMff032aNKTLhinkf3aBQx5n1bMf0yvOQedr3Ej+yvoqERW2978reYtH6Ax30kelKZzbPrzs01v/Hae3hs4Rt9p9jAzl/qSvmRLPWPfyvl67FXp/OtGqn/7ljqK7Pe7qKgo+xdpoVcgWPVNXKIglZA186vcgqbV29fo/W2rtfHAHp3UpoN6dTlBJ3burt7HnhT1FPp3NixLGKzeef63ozpobb/w0cs6ePig07b7OqvzCRo7sEpbd23Tm+uX6v1d/4wZmB1zbu9B6t45/X8pdPt5TKsyTRp6ZdQY5i5f4OwDOrjX2Qkxg44zpzkrX4uc5x+vv0Eb38PLQ2FssmO9576yulrVW1c7P7LwLllf3XPdcbu+7s9tLOefMlTHdjg2cMz+flpQ+cS785w587cVNEabQ5tP92Xz/sDip521dMPQ+KHwZxbAvjvPOe2mgaOSzvVPX/td4LGu15BuvVV1+lcTzqsZra7ZoGu+9I3Icd55TaUf5mlr1j83bjtB6y7VT+4777xTMCHjG2+8IQtXv/a1r6XKw3EIIIAAAggggED+C+xdqfl/eE2bbKQ9z9d1I/vFhqapHJNEavtbM0LB6qRzVZ7oWOdaa1XxrZHql5XQa7venBEKVicNS9iT/J/7Ah3hvlXz9bgFq1lbY0GwoXX3+QXXaeRp/n+WCK/JoNP869T7WXSO7xk8jpSOS3xd9x8eogPWUJX15/8yXqMC/xHGHUSi48KV2kHj9VdvR6rX3YNP0gXjRjV7IE6wGp4Pf2iaLERN9n6B/k5Kedh7Du7V2xuWqXrbKg3perIqup7kVAx2aB3/v5YWSs3fEL9i9X+dFx2s2jVatyrTH96dp00HdjvXWVKzzrlFvE/nEzTwxNOditX3v9gS0++zOoUqVrt3Sj9Ytes+sPip0K+1Nh11VnmomvLjmo2qObhb139pTMJx2vkvfPiyju9wrIafMlSlJaWR/v199SLHzF7+8XoHcejIIb23+cOI17gzLnKC6lRen+39XA+9G6r4vG3oVQn76m3vjU/e1sIt76lv+266oM9QZ+sFqx59c8uHuuXL3wq8tL+fEy3g7HS81n+2UY99+DfnnJG94oe7W7/YppnLX3SOcatWF32y2JnnRGO269q2E3M/edO5xthTznXO91p7O+ydUzvW9rm1APejrWuc9WNr66unVcY939oy1z9/tFC9O5+gfzl1eKR5b9u27kad+dWE7cx598/6eO+nqjz+NPU7vo/jvK5mo7MubL19/fQROrb9MalMdcwxjQlWN23apDZt2qhbt24Jr/3pp59qzZo1zjEdO3ZU3759VVZWFvecRO3u3r1bu3btijm3vLw8sE1rK9HLPc9tN9F43Lbcc2pra7V9+3YFXdve+/jjj2Xt2qtPnz4JnfxGtlWBWTX05fatc+fOge3Y9WxLBP+rZ8+eMT9riI01Yl7e67vXDLqG3zKRra0la8tetvbMyl1P8daHd1Bun+IZJFvT7jX8855srVkfbOz+sfmd/BMQzyLTa6aha43zEEAAAQTyQGDfSi14/DXppJO0caNV8VXJn5fsX7XAqfA76aSN2qjzNa6qn9qmOfTti2do3rKBGjNpWOJgdd9+7W/XNu32U+/Odr01Y56Wnz1Gk4YSrKbulj9Huus5aK1nbZTb3tKM55Y7VeFVp/k+PeHPoBWEx7w86zTU741RbYQ+V9LAb0zSsHCUkepxCl93U1BlakBFtxOwbn1Dv5m3XCclC1YTHRcTlnpG7QlW9618UbP/vjHqWtve/I3m2njHfFdfTnyjbNam0homWJXkDUnjfe/OAoFq49ejBUxPvrdAfTp31/CKoerQJrV/enx3w/KEweq/n3djTOfsWv/z7jyn8rFP15M095O31KVVa+08fFATBo7U4vXL4lasDu3dsGDVOmGB3/LNH2nNrq3Otex1TtfeGtLr7KShlwWUO/bWOOf0P76PTi3vEzUue3/1Z+t1/ZBvxp0Mq15csS0UXrmvSqsaTTFwswC3dUlrffmUc1KacHOu/mRx3GO/MSC4KjBRP60PX4QrjeP1fc+BvXp74zJ9aPvyhp37duimYb0GJgySg/qbyMc7J95BHte+q07u1jOlAP659/4SOdU7r96f2wHWZjz3IC87p1ObDurR+fiYtZLS5HkOevfdd/WlL30p3dOcoPRPf/qTc973v/99tW7dOqaNgwcP6rnnntP69et1/PHHOyHs1q1bneNGjBihM844I+acZO2++eabev311wP727t3b33jG9+I6st//dd/JRzbNddc44Rd3naDxuPtl3uOBWJPPvmk3L+7F/rwww+1cGFoX93u3bs7Aea2bdsU1L8gIwuOd+7cqaFDh+qCCy5Ie27shFdffVWLFy923MePHx/TxtNPP+3MS9DLf92G2Fi7Zn/eeefp3HPPdS7jXvOyyy5zgmbvy28ZZGtB4ty5cx0bs7SXu56uvfZaJ2RNtD7c67l9SmRg69n6GRQCz54925lPv1OytWbX/9d//VcncPauG2vPXkHz5J1Ld11ma800aKFxEgIIIIBAfghYuPKH16Xzz9Mxr72uz8+/zhf87NfKBY/r9WPP03mfva7XdZ6u8wWrFuQ8/lr0P2gP+PpN4aBnu956+Dm959HqadfoucG57jFfv0knb3hYzy23gtnQtUPtSed9yxvyxrZTfw3JCYnC7bkBk3vJ7Ysf1nOfuf0OtzPwG7rJE6wmHkOcqY5c8zp1Xvq4XncJevqNQtc02wv0asjKub5CNm5fPGNwTUJXHqBv3DRM5eH3I9K+MYSO9TuFz40MIV5fgkNmx265d/z+9iLKvnlO4brOqT3D8+zrd4yhHRteixEA99z6/sXOo/cY//mKmofY+XFNkl834S+DbW/p4T+HPgHuGo863nlfoTmO21Dwuo2YRD6XqR4nyXPd4wPCVW+lqhuq/va50DgSBqvhUDXucc77SrJ/crz9h/dpxYuz9aou0PhR6W9Jkqlf2gUfrLpBaVCgmihkJWBt+BJ87O1ntenAHl1xaqXTyNrPNmr73s+cn1X1OluDThro/NxuCX9q2fMad87lzt+tsm/Pwfpb+v09CKouffXjf+ijmg0adWqlXlxdrYsqhmrplhVqU1KqC08b7mwH4La5Y+/nToVrp9bt1aF1B+fW8EQVtA0X4EwEclNg6dKlGjQotK9vOq+XXnpJFvBYOPfVr35Vp59+etTpVmVnwZW9LOx0qy/t5xb6vffee7r++utjqjiTtfvWW2+purpaP/jBD6Ku98knn+jvf/+7E6peeeWVkQrGX/7yl6qsrNSwYcMSDs9t184PGo/1a9WqVc6Yr776ap144onavHmz5syZE/m7XeCjjz7S/PnznTa8rnashYIWCF566aWRvjz++ONOUDh27FinTfdl8/Lyyy9ryJAhOv/889OZGufYWbNmOZWc5jxp0qSYqtVnnnnGOe6KK66ItG1zY6HwokWLdNpppzl70dqrITZ2nt/errlhwwZnjqxP3qplv2WQrZ1vWzmMGzcucq712cJ7CzpvvfXWGKegcboHxXvPKlKtTZsXf5v23owZMzRgwABt3LhREybE7vNt7Qf1372u/z13zQTNk3cu3fnI1ppJe5FxAgIIIIBA/gjsW6W/PlktnXetzt71hJ7/vFLXXnJafcVo+P0uo69V5+VPqFrR7+9f/Vc98bpUec0litzhvG2xZr3wvnqed60uOTVUnbd9ySw9/95ZunTC0FB4FG7XMjLvcfZWTJvusQMu1YQhoegpdMwmnTV6goZapV6kn+G/e2bIuXZkXNu1eNbzej+mreRjiJl0zxgi/dB+rfrrE6re5Bmrwte0BjzXtRA0qi+BJm57drKnzQBj18DmMq573L74Rxe+rm++Y+bRM5cNuW6oPWukZ/0aCpjvGKuAdRLUt6D1GfuzePPjrNzU1kvQbwTPfLpv+9e683Oby+Wdoz93/vY8n1N3bt1DQuMO+6n+85zwONuNYPtizVrWWdd+rX77j5gw1aoz99n2HK+HtgsJv6zydpR/g9qAStTAANaC1Xe7JA5Gw20poDI2VLXavFsCFHSw6g9VvX9P9F7+/FezeUby2zef0s4joSpOe53SvqvOOK5CB48c0uZd23TpWaH/B/6jLSucP4/pcIxWb1+rjk7g2V59y0/RZ3s+d957Z9N7urj/BU6FaIey9urQpkOkXfvZo+//VZecdLY+3L5GJ3XurlPLK5yfXX/WJVFVhq99/Ibe2P6xzujUPXL95tFp+qsu3fie475l7+e64syLdWyHht1G3vQ9b7orvrn2HX269zPH6MZzxkbtm9t0vcj+lRoSrFq4+Otf/1pVVVXasmWLczv8t74VvfXDsmXLnGDwpptuign17HwL/s466yynotF9pdKuhXwW/E2ZMiUGxyoarfpv+PDhkSB12rRpUX+PJ+q2a4GZ9WP06NFRh9pDr0499VQnqLzqqqsiwepTTz0V+bud4B530UUXxVzKvcYtt9zihIsWqC1YsMCpVAzaTsE9Psgw0cqwkHnevHmOvYWHtvWC19nO/eMf/+g08c1vxlbBu3PnjrMhNta2396uacGoVfD26tUrytjCRq+l/+9B7bkGdqxVqlp1r98x0TgTvecaugbutaxa2rZ4sED64Ycf1pgxY3TKKafETEdQ/7399Y413ufBjvf3I1trJvu/abgCAggggEBOC+xdpb8+tUiqvFqXdPpAv3txp4ZfdYlOc28y3LZYv3tRGv3tM7Xzr3O0SMN19SWnhfdh3adV9rNjRuvb4cAzNNbwzz3Hbl/yO73w/pka/e1wsBq+7uaz/OdK+1b/VXOqFelHzLlB1wi312XUt0NBq+flnP+52+/tWvy7F/RB5LqpjyFmHt0xnOg1keQ1PdVJsELX9B/n/tztS5z2Qh6bdWbU2OIYR8YZ7m3KffGNLp5nTHsWmnt9k1xXnjVghzrr6wOdaOvPsQq9/HMeMuhSv35CR3nmUs73O33tRB8TCuX96yv+/LjHJrpuittJBLi5Y3X6s+tsjdYLeuH9+nmImu8E54esTgx9XixYdSmW1f0AACAASURBVD/PHs96054afvXFzj+C7F/9kp784mxdquf1wvv1D6qyfyQY1j30dwta3bDV+TO8d2tRULDqXUIJglHnFv+dgzVWc53b+t1X1O39BKsxv25y4gfxQlT7ufu1d+9e7d+/X4cOHYr8LCc638I7Yftu2le71m11bLtjnT/ttenzzVr/2Rad1aOf3tn0gTbv36V+nbpr5Reh24XdV0X7rlq7t0YdSkrVuaydc5x9v+fIIY0fONI57NDhQ3p+5avO+x1K26r2yCFV9hmqBSv+rg6l7ZxrlBaXOtdeuul9vf/ZJp3YtrNO7Hic87Oex9RXiyXituts3rlZtYcPq6Jbb5W2qt8PtSVMk5m/svE9HVfWVl/u/SV1btupJXS7Sfu4auvHemv7x876OLfXoMh6bdJONNHFrArTqhPTea1evdoJGC2Us6o+q9AcOXKkunTpEmnmL3/5i1NVeOGFF6bcdCrtWkXl8uXLZbd+B70sdN2zZ0/kAVVPPPGEBg4cGLjtgPd8t12rDn3ttdecsbkVle4Y3fdsGwPbX9MCZbvl3/27hWl2rvv3ZAN/5ZVXnEPiGVk1poV/qfTfey0zsJcFzF5T7zHJrm3XtcDQqm4bYmPX8tu717TK3LffftupxHWrdP2W/r9be88//3zEq3371LaTSTTORO+tW7dO9rAz/7o2FwvfLWT3OvvnOqj/7jFB7y1ZssSpuvVWM9vx/p8nm7eGrplka5X3EUAAAQTyXODABr31t/ekgRdp2En79dHzi6SvXKrTw8+h/XzF806Yemn/ttrw1t/0ngboomG91CYhy4GYY5121pyi4ZeeLqesI+q60a0d2PiW/rZcGnDRMPVq87nTp0/6WB8SFISE2+vo6bvbRefaX7j9TrE9xY4hZshxx+C/Rrxr+n4ep71oj/pepDYu/zhSHH+4LzuOSzbf8dpL8bqffaTn//GJTvHNW2jMHcPrJf5c1K+r7tpq60SeNRZnjcZ6pjoGn713PSf7NZFgvYfGIB3nfAZDn4VQH3d4fpakjzuOS/J5CRtGjpPc65affZGG9mzjBKgHN72ll5bt0IlfvlyjB3SLBKuRgNXdOsSC1fBmzNEPtwpDJA1Go7cTiN1PNclWABupWE225DL+frJQ1YLUzz//XGeeeaZThWX/D2XQnoEZ7xgNIoAAAggggAACCCCAAAIIIIAAAggg0MwCdjfVymX/0M+mz9GO4kMadMIxKi0trQ9Y963Sgj+8Jv2LBauhYof0gtXwHqnHjtV3z40uLfff4p/o4VUSwWqTLpWgW/ztZ0ePHo1Upe7YscO5LTHotsgm7SwXQwABBBBAAAEEEEAAAQQQQAABBBBAoBkF/mf2M1r8yos67rjjIsFq8f7V+ottqnzBOI3s1y56mwBvXxNUrMYdUvihV1FbAngehGXn2Z6t/6K/a/bfj0ny8KvswhXUHqvJQlULV+1hFPaE4h/+8IfZlad1BBBAAAEEEEAAAQQQQAABBBBAAAEEWoDAL37xC61Zs8Z5bkZxcbGK9q92HnZXdMF1GumpWI2pWo0XrAaFp65DovciVuGKV12Q+OFXWbYt2GDVu5eqBarulz3wxEJVe5AKLwQQQAABBBBAAAEEEEAAAQQQQAABBApdwJ5vYQ+ltYfEWrBafOBjvTRnkXS+BauhitWoh1u5YHErVuPtnSqFtgIYGK5EjXNcQyphszCJBResulWr3lv/7fsjR4444eo///lP5+m+bdok3n47C3NBkwgggAACCCCAAAIIIIAAAggggAACCOScgD3cfdKkSTrhhBOcYLXkwBq99PQ/VHT+t5yKVW+oGlW1miAADdo71f2ZdxsA/56rUm5Uq9okFUyw6n9glbuvqrda1cJVC1b/8Ic/5NwCpkMIIIAAAggggAACCCCAAAIIIIAAAgg0l8C1116rHj16hILVg59oYThYrQoHq4FVq8kqS317p8Z7GJUbuEbGfnbsQ6+aw6WgglVvuOoNVN2K1cOHD2vr1q168sknm2MuuCYCCCCAAAIIIIAAAggggAACCCCAAAI5KXDNNdeoe/fuatWqlUpKSkJbAni+4m4HkJOjyUynCi5Y9e6t6t7+b3/alwWrVrH69NNPZ0aXVhBAAAEEEEAAAQQQQAABBBBAAAEEEMgDgSuvvNLZCsANVi1cdQNWN1QttHC1YINVt2LVG6q6FavPPPNMHix3hoAAAggggAACCCCAAAIIIIAAAggggEBmBK644opIxao3XHWrVr3hql0xaq/VzHQh51opiGDVv7+qf19Vt1r10KFDzlYAzz77bM5NFB1CAAEEEEAAAQQQQAABBBBAAAEEEECguQQuv/zySMVqsqpVgtXmmqUsXDdesOpWq9qfFqq6WwHMnTs3C72gSQQQQAABBBBAAAEEEEAAAQQQQAABBFqmwNixY51gtbS0NLIdgAWs/n1W3VCVitWWOc9RvfaGqvaGVavaz7wPrPIGq1axSrCaBxPPEBBAAAEEEEAAAQQQQAABBBBAAAEEMiZgwao9vMoNVuNtB0CwmjHy5m/IX63qhqpusOpuA2DVqu5WAPPmzWv+jtMDBBBAAAEEEEAAAQQQQAABBBBAAAEEckRgzJgxMcGqW7FqD7GyClWrXiVYzZEJy0Q3kgWrFqi6X26w+txzz2Xi0rSBAAIIIIAAAggggAACCCCAAAIIIIBAXgh84xvfiASr3u0ALFQNeoAVWwHkwbSnG6z+85//1J///Oc8GDlDQAABBBBAAAEEEEAAAQQQQAABBBBAIDMCX//616P2WLVqVXc7AILVzBjnXCupBqtWrepWrBKs5tw00iEEEEAAAQQQQAABBBBAAAEEEEAAgWYUsGDV3WPVv88qwWozTkw2Lx0vWLW9Vd0vd39VgtVszgRtI4AAAggggAACCCCAAAIIIIAAAgi0VIFLL700UrFKsBqaxaKf/OQndS11QlPpdyrBqgWqbrhqWwE8//zzqTTNMQgggAACCCCAAAIIIIAAAggggAACCBSEAMFq7DQTrB454mwBQLBaEL8DGCQCCCCAAAIIIIAAAggggAACCCCAQAMECFYJVmUVrEePHo1sA2DbAbjBam1trbZu3UrFagM+XJyCAAIIIIAAAggggAACCCCAAAIIIJC/AgSrBKsEq/n7+Y6MrGbeZFXdK939wnSNLc/sgBO3vVzThkzUbI3XzCVTNDCzl6Y1BBBAAAEEEEAAAQQQQAABBBBAoNkECFYJVpskWF3+wBBNfETSDTO15LaAeG3pNA2ZNFvjZyzRlEHN9nlo5IXDIWK8MTay9cac3lzBamjeCVUbM3eciwACCCCAAAIIIIAAAggggAACuSlAsEqw2rTBqhQcnhKs5uZviMb0avtcTR69UCOyUCXbmG5xLgIIIIAAAggggAACCCCAAAIIIJAJAYJVgtUmD1YVdFs4wWomPs+51cb2GtWUd1XX3OoVvUEAAQQQQAABBBBAAAEEEEAAAQQyIkCwSrDahMHqeM2cIU2cNFuV9yzQ9DGeyC0gWHVuI//4bi14YGx0OOdUQk5VhW/bgNDt7tWRGfVew30vaKuB2Nvk3X1BPYtjeEA/YtZO7FYA9WOo0KPOXqPuy3d7fHhM9b1XrJEk/xjl61fkendJ946equpwiH2ib4/VyHET16pqkqdXAVsxJLtmvG0Gos+rjNnfNWWbjPyqoxEEEEAAAQQQQAABBBBAAAEEEEAgswIEqwSrTRusLpkiOftu+oK2RgarMXt5hoNKuQGuG1zG7H9ao7m3VWmq3OA0aJ/U8DGLku0VGi9YrVTlogrdFHl4k6+9oGpdf/8lhcbodQtfzxOuRvay9VUF+8PPyHHeYDbcD28gnco1g4JV/3lBwXYoWE1ik9nfd7SGAAIIIIAAAggggAACCCCAAAIIZEyAYJVgtcmD1YFBIWdjgtU4FazRYWuccNQfYDr9WBtTXamUtiqIE6w+ErCvrKe9Ea8GV+ZG9T8gaHWWrq9fsUFoaIHHC1b9FbwNuWZMsBrYV3+A7QbFiW1a7oPMMvY7moYQQAABBBBAAAEEEEAAAQQQQCBHBQhWCVabPlj13NIeCfYaEazGfeK9v82Aa4TOrdDMSDVpnE9qo4LVgEpXTxjsBKtB4aunK3HH6OtuTOVu+P3gYDW2X97jznvDbBQbMvuu6W878dYA9e3F66viBOU5+juUbiGAAAIIIIAAAggggAACCCCAQIEKEKwSrDZLsCr5bmNvRLBaf/t78Ke4virTX1EarqLsO1NLbhsYdXK8NoP2aK0/MdEeqwn2ie0R2jPWu7+q/wFfcUPIoGA1YF/aVINVbwVsKPBNtv1BvGrYgPOCqmvT2EO3QH9HM2wEEEAAAQQQQAABBBBAAAEEEMhRAYJVgtVmClbrb2N39vTs9aiGTJotb3CZ6sOrUg0dbaqj2gyqjAyHf6Fl4dnPNKUqygYGq4PqF2G8B0VtdvZXTR5yxjMLDFaDQk3/FgUpXLMhoa3d4p/q/Obo7066hQACCCCAAAIIIIAAAggggAACBS5AsEqw2nzBqveBTPdUaOq9KQarvsrHVG+Td6bas4dq6FZ37zYAsfuARpZHEwWr3uXofeDT9Rvi3JafYhVoquFnSlsBJPFPaysAKlYL/D9BDB8BBBBAAAEEEEAAAQQQQACBlitAsEqw2qzBqrufpnsbfEzFakDFpHubvn9/Vu/T7G1ag/dPDVWVrr1npka8NFFTo7YBiK04dZdH0FPtY5dOQypWZ0qTJmr2DbHbEUTtNRreLqBixhJ5H+jkr9ZNq2L1EU9FbngwSSt6I2F4ffVsox5eRbDacv/rQc8RQAABBBBAAAEEEEAAAQQQKHABglWC1eYNVj0PsrKpiNrDNFwZ6Q1MvbfK1x8brjRd5LlVPvDJ9KHJ9u6f6t8zNfRedODovaY/vI1ePg0JVpcoVI1aHT12xVbPxmx5EOCTXrAqafjdWvBAeP/XePvcesPtuHMS/ZArv2NQMM1WAAX+Xx+GjwACCCCAAAIIIIAAAggggEALFyBYJVht9mBVboi4yBes2txE7XkaDgLvku4dPVXB1Zv1Exo3BA2HrtXeUDFymhvS+tuR5t5WpalBfYwc2rBg1alA9Y/T2gyoYvXvwRoYDKf68Co7buJaVU2aHRlB0MO5kl0z8a3/bi1ykupY7+cwpW0XWvhvXrqPAAIIIIAAAggggAACCCCAAAItXoBglWC1SYLVFv9JybMBxK0WzbNxMhwEEEAAAQQQQAABBBBAAAEEEEAgWwIEqwSrBKvZ+nTlcLsEqzk8OXQNAQQQQAABBBBAAAEEEEAAAQRahADBKsEqwWqL+KhmtpMEq5n1pDUEEEAAAQQQQAABBBBAAAEEECg8AYJVglWC1cL73Ice4BWwF2sBUjBkBBBAAAEEEEAAAQQQQAABBBBAoEECBKsEqwSrDfrocBICCCCAAAIIIIAAAggggAACCCCAQCELEKwGBKt3XjegLp8XRV14dHWqk31fV1eno3XS0aN1OnK0ToeP2NdR56v2cJ2279yvF9/anM8kjA0BBBBAAAEEEEAAAQQQQAABBBBAAIG0BEaf31fHd22v0tISlZYUq1WrYrUqKVZJcZGK3a+iIqmoSM7/FKXVfIs8uOjfL1Z+B6s2LRaohv5wwtVQsCodqZMOHw1/HZEOHZG27ZEWfJTXJC1yodJpBBBAAAEEEEAAAQQQQAABBBBAAIHmExg1pKOOP6ZEZSVFatWqSK3sz2KFg1WpuMi+3GC1rpHBaqZS2Uy1E+xe9O9fK6BgNRywxgSrR0LhqhOs7pYWfEiw2nwfU66MAAIIIIAAAggggAACCCCAAAIIIJBrAqOHdtbxx7RSaUmRSi1YLQ6FqyXFClWsRgWrTuFqA1+WyzX4ZN81M9VOnGD1JyMLM1g9YhWr4a9DVrV6RKo9Im3dLT3/AcFqA1c+pyGAAAIIIIAAAggggAACCCCAAAII5KHApcM66gQLVlsVOeGqU7Fa4las1qlYh50w1fmyaLRRmWajTvboWzvZy/mKup97bPZaz6VFFK5WDW20GtoSwP5X3dHQvqt1R6Q623N132HtWrs3l3pOXxBAAAEEEEAAAQQQQAABBBBAAAEEEGhWgbIze6uoYztLUlUUKlOVSkJJanFJqYrbD5PqDtcnqo1LVpt1rMkuXmrVuk6APPj4gglWI5utmo6z2ap301WFNl/df1h1G3Yl8+N9BBBAAAEEEEAAAQQQQAABBBBAAAEECkag6MxTpE6hYFUlJaFNVe17CxiLy1TWoVJ1smDVSMKlq3ms42xYUHxOeQEFq+Eg1QlWw0GqG7A6G6/WqW7/YR1d/0UeTztDQwABBBBAAAEEEEAAAQQQQAABBBBAID2B4jMrwsGqc/9/VLBaUlKm0vYWrB4qmGDViY8JVsOVqwSr6X2aOBoBBBBAAAEEEEAAAQQQQAABBBBAoGAECFZjp5pglYrVgvkFwEARQAABBBBAAAEEEEAAAQQQQAABBBomQLBKsBp+ahVbATTsI8RZCCCAAAIIIIAAAggggAACCCCAAAKFKECwSrBKsFqIn3zGjAACCCCAAAIIIIAAAggggAACCCDQKAGCVYJVgtVGfYQ4GQEEEEAAAQQQQAABBBBAAAEEEECgEAUIVglWCVYL8ZPPmBFAAAEEEEAAAQQQQAABBBBAAAEEGiVAsEqwSrDaqI8QJyOAAAIIIIAAAggggAACCCCAAAIIFKIAwSrBKsFqIX7yGTMCCCCAAAIIIIAAAggggAACCCCAQKMECFYJVglWG/UR4mQEEEAAAQQQQAABBBBAAAEEEEAAgUIUIFglWE0pWN30jxWF+PlgzAgggAACCCCAAAIIIIAAAggggAACCAQK9LykUurUTiopkUqKpeKi0J/2R0mZSttXqk6HnL87/6vI+SavX0XF55TX5fUI3cG5o6wLf2N/HK0LBa1Hw98frVPd/sM6uv6LgiBhkAgggAACCCCAAAIIIIAAAggggAACCKQiQMVqrBLBKsFqKp8djkEAAQQQQAABBBBAAAEEEEAAAQQQKGABglWC1ZS2AqBitYB/SzB0BBBAAAEEEEAAAQQQQAABBBBAAIEYAYLVgGD1jjvuyOutAOrCt/7bn+7X0aNHZV9Hjhxxvg4fPqxDhw45Xzt27NCCBQv4+CCAAAIIIIAAAggggAACCCCAAAIIIIBAWKCqqkrl5eUqLS1Vq1atnK+SkpLIV1FRkYqLi52j7Xv7yvdXEcEqwWq+L3LGhwACCCCAAAIIIIAAAggggAACCCDQOAGC1Vg/glUqVhv3qeJsBBBAAAEEEEAAAQQQQAABBBBAAIG8FyBYJVh1tgNgK4C8/6wzQAQQQAABBBBAAAEEEEAAAQQQQACBDAoQrBKsEqxm8ANFUwgggAACCCCAAAIIIIAAAggggAAChSFAsEqwSrBaGJ91RokAAggggAACCCCAAAIIIIAAAgggkEEBglWCVYLVDH6gaAoBBBBAAAEEEEAAAQQQQAABBBBAoDAECFYJVglWC+OzzigRQAABBBBAAAEEEEAAAQQQQAABBDIoQLBKsEqwmsEPFE0hgAACCCCAAAIIIIAAAggggAACCBSGAMEqwSrBamF81hklAggggAACCCCAAAIIIIAAAggggEAGBQhWCVYJVjP4gaIpBBBAAAEEEEAAAQQQQAABBBBAAIHCECBYJVglWC2MzzqjRAABBBBAAAEEEEAAAQQQQAABBBDIoADBKsEqwWoGP1A0hQACCCCAAAIIIIAAAggggAACCCCQfYEvvvii0Rfp1KlTo9ogWCVYJVht1EeIkxFAAAEEEEAAAQQQQAABBBBAAAEEmlogp4LVvZu0fMNutes5UL1qP9Saz4tU1K2fhvfrpuLiYoemqKjI+crca782vfOO1u+vb7Fr/0r1b7dJ77yzXp4fy/l5VzuuRiuqV6hGbdV78GD1bGs/WqHqFTWRRtr2GqzBJ9kbDXsV3XHHHXUNO7VlnFVXFxqe/el+HT16VPZ15MgR5+vw4cM6dOiQ87Vjxw4tWLCgZQyOXiKAAAIIIIAAAggggAACCCCAAAII5L1Abgar/VS+c4329/6y+ncrcYLUbAWr+ze+o3c27JcThHarCYepXXRc253asV+hn7dbHw5Nu+qUXvv0yQY3bnWDVTdolbr27y+tsNDVvneD2PSXEcEqwWr6q4YzEEAAAQQQQAABBBBAAAEEEEAAAQSaTCAXgtW+fU9Xn8FDdOLh+orVfiWf6P0tB3VMt3ba9VlRuDJ0vza/u1QbDrTVcV32a8dOD1O3/uqvFVrxafhnbXtr8OCeSq9m1K1edYNVf3DaVf0r+6ur3OPc971/P136yCpgPdWsDZhNglWC1QYsG05BAAEEEEAAAQQQQAABBBBAAAEEEGgqgdwIVvuq/bF9dGbPWq0KbwXgBqtd+/VT8erV2t9rsL7U7TO9u3SDDnTrr8p+zj35qllZHQ5Tu+rEbjXa/Gm4yjTt2/DrtwRo2+sMle/40BOOuhWp8YJVbz8aE+zWzzrBKsFqU/0O4DoIIIAAAggggAACCCCAAAIIIIAAAg0QyIVg9ey+faW4wepwlX/+hlbt663+x+3Qyo0H1PWU3tr3SXj/02691Xvveq3fXx+sBt2CXx/ASvIEs0bmbgegyJ6p/orUJMHqvvD+quEq2X3hsLcx+6wSrBKsNuDjzCkIIIAAAggggAACCCCAAAIIIIAAAk0lkAvBat++iSpWh6t/8Wq9seozh6SoqKv6D+6o9c6Dpdqqd/9ybV9h3ycOVuN5Ru2xGqly9VavRu+xGrgVgBusyipae2t/+GFYBKsJVjEPr2qqjzjXQQABBBBAAAEEEEAAAQQQQAABBBDIhkCyYHXevHkaM2ZMwkt36tSpUV1LtMdq137D1b/bQW1ZtlT2zCgLK8/p1c5TZeq5dJmk2vQeGhVVyRppysLbDuHwtr79+kpYf0UrWwGkvQAIVtMm4wQEEEAAAQQQQAABBBBAAAEEEEAAgRwSSBSsWqjqvhKFq40NVquqqlReXq7S0lK1atXK+SopKYl8FRUVqbi42OmKfW9f+f5iKwC2Asj3Nc74EEAAAQQQQAABBBBAAAEEEEAAgRYtEC9Y9YaqycJVgtXMLwGCVYLVzK8qWkQAAQQQQAABBBBAAAEEEEAAAQQQyJhAULAaFKomClcJVjM2HZGGCFYJVjO/qmgRAQQQQAABBBBAAAEEEEAAAQQQQCBjAsn2WE3lQgSrqSildwzBKsFqeiuGoxFAAAEEEEAAAQQQQAABBBBAAAEEmlSAYLVJuVO+GMEqwWrKi4UDEUAAAQQQQAABBBBAAAEEEEAAAQSaXoBgtenNU7kiwSrBairrhGMQQAABBBBAAAEEEEAAAQQQQAABBJpJgGC1meCTXJZglWA1N1cmvUIAAQQQQAABBBBAAAEEEEAAAQQQcAQIVnNzIRCsEqzm5sqkVwgggAACCCCAAAIIIIAAAggggAACBKs5vAYIVglWc3h50jUEEEAAAQQQQAABBBBAAAEEEEAAAbdidenSpWljDBo0yDmnU6dOaZ/rPaGqqkrl5eUqLS1Vq1atnK+SkpLIV1FRkYqLi51T7Hv7yvcXwSrBar6vccaHAAIIIIAAAggggAACCCCAAAIItGgBgtXcnD6CVYLV3FyZ9AoBBBBAAAEEEEAAAQQQQAABBBBAwBEgWM3NhUCwSrCamyuTXiGAAAIIIIAAAggggAACCCCAAAIIEKzm8BogWCVYzeHlSdcQQAABBBBAAAEEEEAAAQQQQAABBKhYzc01QLBKsJqbK5NeIYAAAggggAACCCCAAAIIIIAAAgg4AgSrubkQCFYJVnNzZdIrBBBAAAEEEEAAAQQQQAABBBBAAAGC1RxeAwSrBKvS0mkaMml2+sv0hplacttA1cybrKp7q6Xhd2vBA2PVNf2Wmu8Md+xZ7XuN5t5WpamLpMp7Fmj6mBYlFDM3zTnfyx8YoomPSAqvvcCFc2SL5v7oSk19VRr4vVl6aEI/lTXfCuPKCCCAAAIIIIAAAggggAACCDRagIrVRhNmpQGCVYJVglULlQlWU/4Fk+vB6pZnJ2vMTxer8keP6efXVBCqpjyzHIgAAggggAACCCCAAAIIIJCrAgSruTkzBKsEq3FXZnMGaE32caFitcmom+RCq2bqqutmqMedT2v65T2a5JJcBAEEEEAAAQQQQAABBBBAAIFsCxCsZlu4Ye0TrBKsEqxSsdqw3x6chQACCCCAAAIIIIAAAggggAACTSJAsNokzGlfhGCVYLXRwWqkstW776VbCWo/m9RR82f8Wg/PW6i1O6Wy8n46b+T1umnCSPXrGOfy2xdr9n/P1NxFi51z1KVCQ4eP1fiJY1V5cryT4q//mjdn65e/fVQLl9aotl1XDbzwet3y/fEauiW8v2zQVgBHarT42Yf11BMvauG63ZI6quLcSo294Qcaf246+6TG32PV3TN0/IwlmnLaWp/TQI249hb9YNxQdS3xjW3fFlU//aBmz6vWYqdvZeo6aITGXnW9rr+4nzr6j7fTA0xHjLkpdh62z9Xk0VNV7ZiM0hfzpmnqQ3/S8u1Xa+aSKTrR3VM3g/O9e9V8PfzbR/XimytVs8/WSPDYXa/AvWp3r9T8WQ/r0fmva+X2WqldV/U7d5SuHne9xg7yz9dyTRsyUbM13hlT/zXz9eBDD2vuy2u1O2x5/XfSnee0f/9yAgIIIIAAAggggAACCCCAAAIpCRCspsTU5AcRrBKsZjdYHTNe45fP1ux1AZfpMkL3PXK/Rvru2K5ZdL9uvm2O1gb2rKNG3PuY7h+d6m3etVr+wDhNfCSgtXaVuvsHFZr604A9Vmuqdf//NVlzgvotqeKGmXrstoEp7t+ZQrD6i5nSAxMDncouuFtP/3yserhh6b7lmnZD8LFGVjHmfj10uSkrggAAIABJREFUz4ioh4hteWmqJv94brCpOTwxXWNd0kiwOkV3952rqRG7UAiZMFhNe75rtXLWzZrwq+WqDZrvk8dr5iNTNLBd6M14wWrtmjn60YT7Vb0vqJEy9Zv0kGbd7J2v+mB1+gxp2qTZATZlqrznaU0fk+paa/Lf31wQAQQQQAABBBBAAAEEEECgQAQIVnNzoglWCVazG6xa6+0GauLP79OkIT1UViLVblmu2f95sx58tTb2oVHr5mjilfdruco0cNJ03XfDUPWwUK12ixY/MlW3P7RYu1WhibMe060Dkj/rvXbR/brwtjmqjenDYs24Z7JmLg3Hed6K1SNrNWfSVbr/PQsp79Z93xulfl3LpCO1qln5oh68Z6rmritT5b3PafroVCpXkwerZe3KVFs+SnffO0Vjz+joXGtL9TRN/qEFzGW6+lev6PZzQ+NdOWuMxv1qS6hvt41Vvy4K9+1P+tlt92vhzujj5TGt/N5DumPcQPUok2prVupPP79Z97+0Wxpwu56acbUqLLx1g1XnahUa++O7ddOY0Dn2SlihnOZ8R+ZHFbr6p/frlosrnGrb2o3VevCOH2n2qlqVXTldr/y40gmxA4PVfdW6f+Rkzdnnn6/dWvn8NN37n3O1cp9/vtxgtUxl7Wp14sUey9otqp4+WZOfXCu1u1q/ful2DU2+1HLzNzy9QgABBBBAAAEEEEAAAQQQyAsBgtXcnEaCVYLVrAerI376su6v8t2+HwnDeujWR+Zp4hnWjd1aeG+Vbp9Xqx7X/VpP/3BoTEXo2icn6qqfL3eCwHmzrlbiWsItmjNhjBOQJu6DogLe3S9PVdWP5kpV92vBT0coZuMBN6jscasee3ai+gXddh+lmjxYlSp19zxP1ahzfq2q/2O4Jj8t9fjeY5o3oZ/Fmpp7W5WmLhqqu+f9ur7KNHy92lenavgP56ps0kwtunmg08bin1+oW56MY3pkpWZePk4PbumhWx+fp4mnRQerA3/0lGZeUxE9mkRbASiZtXe+6+en8s55sQ+b2jlft198lxZqpO5/+T6N6BgcrK595Cpd9cBaZw7n/dJT2euaRMJ1b0jqBquhuY85r7Za9w+frDnyuOTm73B6hQACCCCAAAIIIIAAAgggUAACBKu5OckEqwSrWQ5W60Mx/4UW/2KIbnlc6vejp/SYhXeRMGugbn92pq4+KaBruxfqrq/ervkWRL4wXWPLE3ywauZrctVdqvYEc/6jV84Yo3EPbfEEq26YWabxMxZpyqCg9rdo7s1jNHVJqqFbCsHqldO1KFyV6b1ibHVofdha+cPHdM+V/WTFtHFfEdN+uv3px3T1ybFHLn9ouCbOqFXlvQtCFbiRitVg48QVq2nM97o5Gnfl/VqpqzV90e2qjBlHjeb/sEp3vVqmibMW6dYBQcHqWs254Srd/6GvSjdqmCs1c4yFx945rQ9Wr35gkW4f7r94/Zw5+98GroPc/KVOrxBAAAEEEEAAAQQQQAABBPJPgGA1N+eUYJVgNbvB6hm366lHrlZ0zWPokjEBXSRoC+3lafWWsS831JSSBl7vPajhE2aqtt1EzXz11sD27Fb04bfN8QSrbgiX2gc2OJTzn5s8WB165zz9+vLY+tugELP2vQc1bsLM8J6gZep62nm6aGSlKocM1cC+PdTRmxFGQtJEpr7+JjknYbCazny7DzgLenBYHP6YrQAiwXHioN0N8esfeuUGq8GVv/WVwSmss9SWCkchgAACCCCAAAIIIIAAAggg0GABgtUG02X1RIJVgtXsBqsJQrOYgC6loC2NSsJU2os5xnOLeAofvUiVZ8JjkwergU+5j7efqW2asK5aT/1qmh51nmLvfXXUwCun6O7bxqrC9qbdOEcTL7c9a5soWE1jvmND7eTgMcFqisFx7N6s7jzHC2TTWGfJu80RCCCAAAIIIIAAAggggAACCDRKgGC1UXxZO5lglWC12YLVLc/eojE/XSzdMFNLbhsoe8hS6NbwDFWsbpmrW8ZM1eJE7cUNVutvP2/8py/zwWqkT0dqtbtms9a+u1gLq+frxVeWq2afVObuD5ti8Bg1xsZUrCYIVmPmO5Xg24ef+YpVgtXGr29aQAABBBBAAAEEEEAAAQQQyLYAwWq2hRvWPsEqwWp2g9V24zXz5SkaGPOAJ89eoe7enpneYzWF28QjVbORQDB+CNqwj5idlcVg1d+pLXM1eczU+n1lW7sPYYp/q/zyB4Zr4iO1GvkfL+u+izt69lgNDrgTbgWQzny7QXrcc1y3+r1sYytPG7vHKsFqw9c1ZyKAAAIIIIAAAggggAACCDSVAMFqU0mndx2CVYLV7AarKtPVD7wS+3CgSFWk90FVSZ5gL2ntkxN11c+XSwNu17xZVyt2V1LvcOrbC3q6vY6s1MxrxunBdaEnwy94YKy6Stry9ESN+Y/QNZ6acbUq/KGw+7T6dt6nzCf64GUwWHXd4u1lGgmT3YdI7dbCO7+q2xdIgQY7F+quMbdr/j5PwNiYitW05rv+oVKBa2TVTF113YNa6wleY4NVz3wNv1vzfjlWPXzzZVsOXHjbHNVGzRdbAaT3nwqORgABBBBAAAEEEEAAAQQQaE4BgtXm1I9/bYJVgtUsB6uS2g3UxJ/fp0lDeqisRKrdWK0H7/iRZq+qVdmV0/XKjysVed5SpOKyTAMnTdd9NwxVD9srtHaLFj8yVbc/tFi7VaGJsx7TrQNiHiMfOxY3nFOFxt5zn6Zc2k8drQ9blmvOA5M17aXwDqXeW9gjYaNUMeZu3fe9UerXtUw6UqualS/qwXumau46qeJ7j+mpCf1S+GRnMFhVfRjp+Iw7Wz3CT6uqrVmrhTNv111Pro0OnuMaLNaMeyZr5lLfPDQqWE1vvne/dJeqfjxftb41svvDuZoWdvYGwkHBqvYt1rRrb9HsLf752q2Vz0/Tvf85Vyv3lany3uc0fbRF5/YiWE1h4XIIAggggAACCCCAAAIIIIBAjggQrObIRPi6QbBKsJrdYPWMSlXuq1a1VYX6XmWnTdRDM27VQAtOPa+aRffr5tvmhJ967z+ro0bc+5juH524VtV71pYXbte4exb6HvJkR5Sp8oarVfvIbC327Q1au/RBTbhtplbuC+bpePF9euynI2OqI4OPzmSwKtUunaZxk2bH8bFgs1J3PzFdYz1EW+ZN1pX3Vqs2qIMnj9fMR6bUz0NjgtW057tWyx8Yp4mPrA2kK7vgbj398/oq1MBg1XL3NXP0own3qzpwvsrUb9JDmnXzwPoAn2A1N/+LRK8QQAABBBBAAAEEEEAAAQQCBQhWc3NhEKwSrGY3WLXA8j8GavGMX+vheQu1dqfU8eShqhwzUT8YN1RdY/ZeDXdn+2LNmfmUnnopdI66VGjo8LEaP3GsKk/umPanafeq+Xr4tw9r7strtVtl6jpohK6/+Qca3+t1TR49VdVBD13avlxzn5itOfNf18rtFkl2VMW5lRp7zU0aW1nhVL6m9spssOpcM+wzd8lirVwXqrotK++n80Zer5smjFS/AKKQwaN68c2VzgOu4s5DY4LVBs53zZuz9ctH5qr6zfD8nHaeRt14k266OFRh7L7iBavO+7tXav5jj2rOvIVabvPVrqv6nTtKV4+7XmMHuZWqkZY0bchEzRZ7rKa2hjkKAQQQQAABBBBAAAEEEECgOQUIVptTP/61CVYJVrOzMhvwxPfsdIRWm0SA+W4SZi6CAAIIIIAAAggggAACCCBQmAIEq7k57wSrBKvZWZkEbdlxzdVWme9cnRn6hQACCCCAAAIIIIAAAgggkAcCBKu5OYkEqwSr2VmZBG3Zcc3VVpnvXJ0Z+oUAAggggAACCCCAAAIIIJAHAgSruTmJBKsEq9lZmQRt2XHN1VaZ71ydGfqFAAIIIIAAAggggAACCCCQBwIEq7k5iQSrBKvZWZkEbdlxzdVWme9cnRn6hQACCCCAAAIIIIAAAgggkAcCBKu5OYkEqwSrubky6RUCCCCAAAIIIIAAAggggAACCCCAgCNAsJqbC4FglWA1N1cmvUIAAQQQQAABBBBAAAEEEEAAAQQQIFjN4TVAsEqwmsPLk64hgAACCCCAAAIIIIAAAggggAACCFCxmptrgGCVYDU3Vya9QgABBBBAAAEEEEAAAQQQQAABBBBwBAhWc3MhEKwSrObmyqRXCCCAAAIIIIAAAggggAACCCCAAAIEqzm8BghWCVZzeHnSNQQQQAABBBBAAAEEEEAAAQQQQAABKlZzcw0QrBKs5ubKpFcIIIAAAggggAACCCCAAAIIIIAAAo4AwWpuLgSCVYLV3FyZ9AoBBBBAAAEEEEAAAQQQQAABBBBAgGA1h9cAwSrBag4vT7qGAAIIIIAAAggggAACCCCAAAIIIEDFam6uAYJVgtXcXJn0CgEEEEAAAQQQQAABBBBAAAEEEEDAESBYzc2FQLBKsJqbK5NeIYAAAggggAACCCCAAAIIIIAAAggQrObwGiBYJVjN4eVJ1xBAAAEEEEAAAQQQQAABBBBAAAEEqFjNzTVAsEqwKqlGc2+r0tRFAYv0hplactvAlFZvzbzJqlp3U8rHp9RoCzkod8cemtuFFy/Q9DFdW4hmtrq5XNOGTNTsNNZ0tnrSuHZD49CMJZoyqHEt5e7ZNsaHVfHCdI0tz91e0jMEEEAAAQQQQAABBBBAoKkECFabSjq96xCsEqxq+QNDNPGR8Zq5ZIqiItTtczV59FTpntRCuaYIF62vD5+cWn/S+yg07uiEY186TUMmKeLbtGNoeLDaFPMZq56hQM1Zu2t1k2dNN61749ZT4rMLLVjN0JrI5pTQNgIIIIAAAggggAACCCCQZQGC1SwDN7B5glWC1VCwqqDK1PRCueYJ4hq48jN8WjrBaoYvnaS59OawafvWlFerUc32ruqaF9WPhRasNuU64VoIIIAAAggggAACCCCAQG4KEKzm5rwQrBKsygkF762IrVj1r1mn8nJ29E+H360FD4yV3WTuDRdDVbDRh1ZGKl9jtx5I7T05IbBbsZr4Gu6xMzXipYmRbQ7Gu7dPh6txq6O6GFC1676fxtijmow6r1J3vzBdFU/UjyFkNkJ3fzw10sdEFtZ2ZAxBv1N846q8JzR+ZyuAXo8mnD9/c975dL+fqYmReU3Uz/o+Jppr3xzJ1lKFHo3cAh6uVLynQlPvddedZ45i5sTznrdiNdlcu8fOkCa669uzroOYvWvPNV47MXRrfsw/VDjtL9QIu61doSrwlNedXdw3zvEzZkqTQlsBjHg1vc9ZonmJXltB24Mk+Hz4DMfPWKCKmbHbi3jXbuj3jk8isr2Bt0rV8/2WgN9BCn2ubMuAlNqcMUILJ6VeiZ+b/+mmVwgggAACCCCAAAIIIFBoAgSruTnjBKsEq+GVGd5/0l2n/n0oA7cFiN6z0g3fFpz8sKruVSTscJoMh0MWrITCIH8INlUVSd5zQysLVu/RvQmvEQm4HqkPXUJ9WKu7X7hJa0f799oMB0lOuBcKiiOvNMYeuB9tgq0A3CAoEjglcnLDa79tpKOxe4i67VdO+YE07Ze+bR0S7zkaE6zeW10f6oZNInP2sS9gDwf18m8z4TkvcI7kD9QmanYk5PTM0V3Svb5tKpxA0+1HJFgdoYUx+6r65toNXiNrPvx+3+D9hUOm9evbP4fxg9U0153Na8Dac0PdKyZU6plZST5nqc5LzNqKrfBNWJXtMwzaXiTGbXuNupZ7PmlR2zfECVajKo5j56kmaZve9ZSb/1GmVwgggAACCCCAAAIIIIBAkADBam6uC4JVgtXglRmpkgsHk06lXbjqzhNueEOkqGD1pRG+gLL+9mUnWI3aeiAUkFjFX6L3YoLVBNdIXDkYCrj8D/9x+h/TphtupTb2BgWrUddM5BS/L6FJDLpFPLwVwDALVt8KVU3GmT//QogJVuP08/oNcdysRzHbTNTPdeAcBQSr3nmKzJETrPrmxNbszIrQuvMFqwnn2ltRGraJvz1GuCoyjkVG110kWPWvvdA877dgdWX8z1l68xJnbfmrguNV8voMA/0CnN01W18H7/5DSPJgNSpIj1q8vn8kilS0FsIWCrn5f2jQKwQQQAABBBBAAAEEEGi8AMFq4w2z0QLBKsFqwnUVCUiuXRtwC3P41HClX3TFavQtvu5FIhWrgXu6BgVx0d1ztwJwKlYbGaz6NjUIXSgoOAq8lTx47LkdrP7Sdwt69BgaGqw6T6aP2YIg9ICxRAGlEwXHBK+xFaspB6veAeRwsJryukslWJ0V/3OWdF58W3WE+MLBpnvLvadyPe4/PAT0M2ibjqj2y93w01+57obIiYNVf/VrqO1U2oz9B5Vs/IeVNhFAAAEEEEAAAQQQQACBTAsQrGZaNDPtEawSrGrakMmq8FUyussrOliNrdr0LsPEFav1RyaqYmzOitW4H6nASrvoo9N5eJV3n9jYsKppK1YT/RpJrWI1tJemu7+oN+CK7AEapzqZitUUfoknqPIMrlh124yuDE4+LwHr2fcPF2kHq3H+8cS5UtC4on6WIFj1bJfhhMfuK6U2CVZTWHUcggACCCCAAAIIIIAAAjkoQLCag5MiiWCVYFXThgzR2siDpaKiUucW/am212S4YlVRx0XfWpt8j1U5D8hKtO9mov1XG7THqjfciQQv8fe6dB7yNCZqh9XAfS79t903Klj17pma4T1W3b1tE+2x6r9NPhLNOQ/WuklWhRs/AA4/pMi7H6l//9U4++mmGqzO9u99avvgZnyP1eh/NEi6FUCyPVY9e5uGqjetEjTNdRcJIKMftOTu6Rp/j1X7nF2vte5n97aBoSlNNC/uHqvhMFW+fWQjFcnpbAXgnXdf+6GtGrzjch+WlWQrgPDDv6J/D4VXbEptEqzm5v8pQq8QQAABBBBAAAEEEEAgmQDBajKh5nmfYJVgNeY27qil6A1SYp7CHv2Eem+4GHsrsPeJ4omeFJ/KU+Q9t5n7bmeuf1J9+k9n954b83FMY+wx50Zukw+FRhVPDJE9gMsC3FBgWaHxmq3Zi0Jn1vcj6Mns0ebxrxV+54aZmqmJoev1elRD3Kfeh9/2PqXd31ZqFatLNKVH7JPuE40h4RwF7bF6w3jNfsS9gd6zjmLmxH9b+VrdtGSKBgZu5RDvFvSQQkpbGLhr74bxGm/9izzRPnrexs+YKU16OFQVHg4GvTfwJ1x31hnfOCvvmakRL02s35M46jMQ+1C44GsFrC1faBr1Gbb3wmF2tf/BdpHQ1htOJ28/elz22bhHuq9KUxfZGOyhY2EzZ9uA0Pf22ZkYsIWB/+Fv4U9SQJu+YDVe9Wvz/PeYqyKAAAIIIIAAAggggAACcQUIVnNzcRCsEqzm5soskF4lvL26QAziD7OlPGyopfSz4BcUAAgggAACCCCAAAIIIIBAixUgWM3NqSNYJVjNzZVZIL0iWE000S0lsGwp/SyQDxXDRAABBBBAAAEEEEAAAQTyUIBgNTcnlWCVYDU3V2aB9IpglWC1QJY6w0QAAQQQQAABBBBAAAEEEGiEAMFqI/CyeCrBKsFqFpcXTSOAAAIIIIAAAggggAACCCCAAAIINFaAYLWxgtk5n2CVYDU7K4tWEUAAAQQQQAABBBBAAAEEEEAAAQQyIkCwmhHGjDdCsEqwmvFFRYMIIIAAAggggAACCCCAAAIIIIAAApkTIFjNnGUmWyJYJVjN5HqiLQQQQAABBBBAAAEEEEAAAQQQQACBDAsQrGYYNEPNEawSrGZoKdEMAggggAACCCCAAAIIIIAAAggggEA2BAhWs6Ha+DYJVglWG7+KaAEBBBBAAAEEEEAAAQQQQAABBBBAIGsCBKtZo21UwwSrBKuNWkCcjAACCCCAAAIIIIAAAggggAACCCCQXQGC1ez6NrR1glWC1YauHc5DAAEEEEAAAQQQQAABBBBAAAEEEGgCAYLVJkBuwCUIVglWG7BsOAUBBBBAAAEEEEAAAQQQQAABBBBAoKkECFabSjq96xCsEqymt2I4GgEEEEAAAQQQQAABBBBAAAEEEECgSQUIVpuUO+WLEawSrKa8WDgQAQQQQAABBBBAAAEEEEAAAQQQQCA9ATcUTe+s4KOXLl2adjODBg1yzunUqVPa53pPqKqqUnl5uUpLS9WqVSvnq6SkJPJVVFSk4uJi5xT73r7y/UWwSrCa72uc8SGAAAIIIIAAAggggAACCCCAAALNJkCw2mz0Wb8wwSrBatYXGRdAAAEEEEAAAQQQQAABBBBAAAEEClWAYDV/Z55glWA1f1c3I0MAAQQQQAABBBBAAAEEEEAAAQSaWYBgtZknIIuXJ1glWM3i8qJpBBBAAAEEEEAAAQQQQAABBBBAoLAFCFbzd/4JVglW83d1MzIEEEAAAQQQQAABBBBAAAEEEECgmQUIVpt5ArJ4eYJVgtUsLi+aRgABBBBAAAEEEEAAAQQQQAABBApbgGA1f+efYJVgNX9XNyNDAAEEEEAAAQQQQAABBBBAAAEEmlkgWbB644036ve//31KvVy6dGlKx3kPGjRokPPXTp06pX2u94SqqiqVl5ertLRUrVq1cr5KSkoiX0VFRSouLnZOse/tK99fBKsEq/m+xhkfAggggAACCCCAAAIIIIAAAggg0GwCiYJVC1XdVyrhKsFqs01j4IUJVglWc2tF0psWJVB74ID279unbZs3a//evdr0ySfat2ePDh86pHWrVqn24MHIeLp07aoevXs7f+90zDHO98f16KEuxx6rNu3atahx01kEEEAAAQQQQAABBBBAAAEEUhWIF6x6Q9VUw1WC1VTVm+Y4glWC1aZZaVylxQrU1dVp965d2rpxo7asW6dPVqzQ+lWr9NmOHTpy+HBGxlXWurV6nHyyBgwdqnMuuEDHnXBCQdwykBE8GkEAAQQQQAABBBBAAAEEEMhpgaBgNShUTSVcJVjNrakmWCVYza0VSW+aVcBC1C8+/1xrPvxQH737rtZ88IF2bN2asQA11cG179hRF1x6qc4fNUpW6coLAQQQQAABBBBAAAEEEEAAgZYqkGyP1XTGRbCajlb2jyVYJVjN/irjCjkrYEHqzpoarVy2TG/87W9at3Jl1O37zd1x2/T6rGHD9M0JE1R+4onN3R2ujwACCCCAAAIIIIAAAggggEDaAgSraZO1mBMIVglWW8xipaOZEbAw9dOtW7XoL39xwtRdn32WmYaz2EpJq1a66LLLNPpb35JtG8ALAQQQQAABBBBAAAEEEEAAgZYiQLDaUmYq/X4SrBKspr9qOKNFCtiDpN56+WX99ZlntOOf/2yRY+h71lma8G//pmO6dWuR/afTCCCAAAIIIIAAAggggAAChSdAsJq/c06wSrCav6ubkTkC+/bs0V+eflqvPPdcTt3m39DpOb5nT33n3/9dPXr3bmgTnIcAAggggAACCCCAAAIIIIBAkwkQrDYZdZNfiGCVYLXJFx0XbFqBQ7W1Tqg679FHm/whVNka6bHHHaeb77lHPSsqsnUJ2kUAAQQQQAABBBBAAAEEEEAgIwIEqxlhzMlGCFYJVnNyYdKpzAts+uQT/e4Xv9CWdesy33gztEi42gzoXBIBBBBAAAEEEEAAAQQQQCBtAYLVtMlazAkEqwSrLWax0tHGC+z89FP9z30/1fqPVze+sRxo4bgTumvCv/6bTujdS63btsuBHtEFBBBAAAEEEEAAAQQQQAABBKIFCFbzd0UQrBKs5u/qZmRRAlvWb9Cvpt6nz7duySuZ0pJitS0rUedjj9WQERfpKyNHq0PnLnk1RgaDAAIIIIAAAggggAACCCDQcgUIVlvu3CXrOcEqwWqyNcL7eSCw9I039N9T/1+V1B1RSXFRHowoegitS4vVprTE+WGbdu30tWvHadglVSopCf2MFwIIIIAAAggggAACCCCAAALNJUCw2lzy2b8uwSrBavZXGVdoVoFFf31Jv/n5L1VcdDQSPjZrh7Jw8aIiqX3rVlGh8bCLv6av3zhRpa1bZ+GKNIkAAggggAACCCCAAAIIIIBAagIEq6k5tcSjCFYJVlviuqXPKQq4oeqRI0fUvnWJivOwWtWlsC0B2rWOrlAdPupSjRp/o1qVlqYoxmEIIIAAAggggAACCCCAAAIIZFaAYDWznrnUGsEqwWourUf6kkGB95e8rf+68x7VHjqsslahfUjz+VVcVBQYHleO/rpGXf9ttgXI58lnbAgggAACCCCAAAIIIIBADgsQrObw5DSyawSrBKuNXEKcnosCWzdu1E++P0W7d+9xume3ybcqyb+9Vf32QeMsLi7WNyZM0perRuXiVNEnBBBAAAEEEEAAAQQQQACBPBcgWM3fCSZYJVjN39VdoCPbv2ev/vf3/m9t3rjZEbCHVVngaPuQ5vvLqnKtOtf/6nTMsbrxx3eqR8Up+U7A+BBAAAEEEEAAAQQQQAABBHJMgGA1xyYkg90hWCVYzeByoqnmFqirq9OjD/y3/jL3z6oLd6Z1aXHePrTK7x0vWLXjzhg6TNfc9gOVtW7T3NPE9RFAAAEEEEAAAQQQQAABBApIgGA1fyebYJVgNX9XdwGObMWyZfrZ7Xeq9tChyOgLZRsAG7A9vMoeYhX0si0Brp38rxrwleEFuDIYMgIIIIAAAggggAACCCCAQHMJEKw2l3z2r0uwSrCa/VXGFZpE4PChQ7pvyg+1+qNVkes5D3RqUyL7sxBeyULkk/qeqhv//S6179ipEDgYIwIIIIAAAggggAACCCCAQA4IEKzmwCRkqQsEqwSrWVpaNNvUAov//qr+/6n/n44cPRq5tD2wqp3tr9rUnWmG66USIlvV6jdv/p7OuXBEM/SQSyKAAAIIIIAAAggggAACCBSiAMFq/s46wSrBav6u7gIa2dEjR5xq1ZUfrIgatT3IyfYdLYSXEyKXJX9IV5+zBuj6H/1Yrdv25651AAAgAElEQVS2KwQWxogAAggggAACCCCAAAIIINDMAm6wunTp0rR7MmjQoKhzGtNGp06Nu3uzqqpK5eXlKi0tVatWrZyvkpKSyFdRUZGsoMle9r195fuLYJVgNd/XeEGM76Nly/UfP/qxDh8+EjXeRA9zyjeYNqUlsgd1JXu1ad9eN931E/Xs0zfZobyPAAIIIIAAAggggAACCCCAQKMFCFYbTZizDRCsEqzm7OKkY6kL/GrqT7Xo5VdjTki252jqV8jtI51tAFqXqLg4tX8Nu+Sa6zTiiqtye1D0DgEEEEAAAQQQQAABBBBAIC8ECFbzYhoDB0GwSrCav6u7QEZWs2277vzuLdq9e09ssNqmlVqlGDa2ZK5Uq1XdMVacfqZuuON/qU07tgNoyfNO3xFAAAEEEEAAAQQQQACBliBAsNoSZqlhfSRYJVht2MrhrJwR+NvceZr1wK9UVxfdJdvKxCpWS/I8WLXx2TjT2bqlfcdOuume/0cn9D45Z+aRjiCAAAIIIIAAAggggAACCOSnAMFqfs6rjYpglWA1f1d3AYws3kOrnA93GsGqhbJH6+qcL/d7Cyztf2zfabvVPhdf1q92rUsaFB5f9b3bNPhfvpqLw6JPCCCAAAIIIIAAAggggAACeSRAsJpHk+kbCsEqwWr+ru4CGNn2LVt053dv1b59+2NGa6FjhzbxKzmPHK1T7eGjOnTkaEy1q78xi1VblRQ7D4fKlQpY61O71q3UqqRhoe+Xq0ZpzMTvFMRTCgvgo8AQEUAAAQQQQAABBBBAAIGcFSBYzdmpaXTHCFYJVhu9iGig+QRefu7Penjaf6vOvw+A5DzIqYPvFnmrSLUw1b4CTklpIBas2p6mDQ00U7pIkoOsgLZdWcNDVWuefVYzMRO0gQACCCCAAAIIIIAAAgggkEyAYDWZUMt9n2CVYLXlrl56rl/de58WvfJaoIQ3WLVA9eChUKCaqZcFrFbBWlpSnKkmU2qnW5c2shrV2tojKR0f76DOXbtp0j33qtsJJzSqHU5GAAEEEEAAAQQQQAABBBBAIJEAwWr+rg+CVYLV/F3deT6ygwcO6M7v3Kx/bv5ncLBaVKS2rUt0+PBRHcxgoOq/mFWPWrjaulWxUyWbrdcJ3drq4i/31On9j9f+A4f019fW66PVNQ2+XHFxsSbe+b/VZ8DABrfBiQgggAACCCCAAAIIIIAAAggkEyBYTSbUct8nWCVYbbmrt8B7nmh/1eaicUNW2ybAKlob+9Crju1KdcYpnXXO6ceqvGt7te7QLvRULklHj9apevFmLXp7S+BWCKkY8ACrVJQ4BgEEEEAAAQQQQAABBBBAoDECBKuN0cvtcwlWCVZze4XSu//D3r3A2VnXd+L/nrkmQxKBcKmxWqJIrK0sbcELca1m2QYvJb0AXoi0BnQRXIK2RFuB9k9iF3H/CqwC20KoEKxFu5rYCtmlwarBKmzFaK3xFuolKhCIDOQy1309Z+bMnHPmzMw5J2dmfufkffrKCyTP8/t9n/fznVP45Pf8nkkF/u2rX41r1r03BgYP7ZH46YizVaid7bk4elF3dHa2xd7evth/cDAGB4cj22Jguk92fkdbLp+HZmFr9n9tbZH/69gnFzGvqz2OPao7nn1cTyx91oJYcmxPfsVt9uno7oqunvkTpsrC1W33/yAe/NpPpyuj4u//5qrfizPPe3Nd5zqJAAECBAgQIECAAAECBAhUIyBYrUapOY8RrApWm7NzVR3/uHlL3HbDR+p+CdVkhFkAuuSYnjj9RcfGySceGfPnjYSbk3169w3EvgMD+aD1ez/qjQP90we9nR1t8cyj58fiI7vz4/eUvWSrMFeurS0fqLZ3dkw6//4DA3HX3++Mn/zsqZq74iX/eWX8zlsvqvk8JxAgQIAAAQIECBAgQIAAgWoFBKvVSjXfcYJVwWrzda2K8wJ3/I8Pxz2f+kzDNLIXUb3i146LV/768dHdNXWY2rBJJxkoC1Q753XnV6pW8/nev++NT939nRgYrO3lXMt+7TfiTe/64+jqnlfNNI4hQIAAAQIECBAgQIAAAQI1CwhWayZrmhMEq4LVpmlWhZYKXPNH6+LrX/3aIbO0t+di5UueGa/89V/IP6I/V59cLpdfmdrR3R1tHbUFu1mg+pn//b3Y+f3HaypfsFoTl4MJECBAgAABAgQIECBAoA4BwWodaE1yimBVsNokrarMcoG/eOcfxb9+7RuHBPPcJQviD1733Dhi3uSP2h/SBFOcnAWpWYDa3tmZD1SzVaqH8vn295+IT93znZpeZHX8s58Tb/2z9XHEokWHMrVzCRAgQIAAAQIECBAgQIDApAKC1dZtDsGqYLV1u7uFr2ygvz/+9ML/Ej/+4Y/rvsqXveiY+L1XPif/UqkZ/eSyF1floq29LdraR4LU7O8bPfGTvX3x8S3/Fo/vPVD15Rz7rGfF2/58Qyx4xpFVn+NAAgQIECBAgAABAgQIECBQi4BgtRat5jpWsCpYba6OVW1eoO/AgfiTC94WP/3Jz+oSOenZC+OCVSdGe1t9qWoWlOba2yIXo+fnIh+a5j/ZI/0dHfm/5gPUWfoMDQ3HZ7d9P76x87GqZxSsVk3lQAIECBAgQIAAAQIECBCoU0CwWidcE5wmWBWsNkGbKrFcYGhwMN771oviBw//oGacoxd1xWVveEH01PH4f/a4flfP/Pyj+yl+vvqNn8XWf3q46tIEq1VTOZAAAQIECBAgQIAAAQIE6hQQrNYJ1wSnCVYFq03QpkqsJFDPHqttuVysfvXSOPnE2h99z/ZD7T7iiMjVucp1Nu7i7p89FR/f/K3o6x+sajrBalVMDiJAgAABAgQIECBAgACBQxAQrB4CXuKnClYFq4m3qPImE6gnWH3O8UfEJeecVPMWANlK1e4FPeOP+yd6W57a1x8f+9Q3q95nVbCa6I1UFgECBAgQIECAAAECBFpIQLDaQjez7FIEq4LV1u3uFr+yWoPV7CVVb/jPJ8RvvODommU658+LznndNZ832yf0DwzF5q3fje8+/ERVUwtWq2JyEAECBAgQIECAAAECBAgcgoBg9RDwEj9VsCpYTbxFlTeZwI0b/iK2b/unqoGOXNAV73pT7XurZi+l6l54RGQvrGqGz+e+9MP453/ZXVWpxz/7OfHWP1sfRyxaVNXxDiJAgAABAgQIECBAgAABArUKCFZrFWue4wWrgtXm6VaVlgj07v15XHnRJfHoI49WJZOtVH3jb51Q1bHFB2UrVbMVq83y+db3Ho9P3/Odacvt7O6ON132x/GC3zh12mMdQIAAAQIECBAgQIAAAQIE6hUQrNYrl/55glXBavpdqsJJBf5l+/1x3Z+vj8HBoSmVssWm561cGqecdFRtmrmIrp6e6OjqrO28OTz6Z4/ti49v/rfYf2Bgyipe+bu/H7/1hvOaZiXuHJKamgABAgQIECBAgAABAgQOQUCwegh4iZ8qWBWsJt6iyptKYGhwMP7bH62Lb+74xpRQ87ra451vfEEsfkaN+6TmctHdMz/amyhY3be/P/7m0/8Wjz6+f1KTZ/7SCfGHf3JFLDp6sQYjQIAAAQIECBAgQIAAAQIzKiBYnVHeOR1csCpYndMGNPmhC3zty1+JD17xZzEwxarV44+eF+984y9HR3uN+6Q2YbCard79zL3fi2999/FJcX//okvi1BVnHDq+EQgQIECAAAECBAgQIECAwDQCgtXWbRHBqmC1dbv7MLmyA/v3x3vfelH8dPdPJ73iX3nuM+Itr3te7SJNGKxmFznVC6yOeeaSuODKP48jjzm2dg9nECBAgAABAgQIECBAgACBGgUEqzWCNdHhglXBahO1q1InE7jjhg/HPZ/+zKRA/+m0X4hXv2xJ7YBNGqx+/VuPxT/84/cqXu9LV746zlrzVnur1t4NziBAgAABAgQIECBAgACBOgQEq3WgNckpglXBapO0qjKnEvj6g/83/vufXBkDg4MVDzv3jF+KF7+wjv1EmzRY/eHu3vjbLd+asD1CW1tb/MF7roiTTvk1DUWAAAECBAgQIECAAAECBGZFQLA6K8xzMolgVbA6J41n0sYK/Pzxx+NPLvwv8fO9T04YuL0tF2/7nefH835xQe2TNmmw+tjj++NvNv9bPL2vv+Sajz7++HjrVevjyGNtA1B7MziDAAECBAgQIECAAAECBOoREKzWo9Yc5whWBavN0amqnFJgeHg4rv6va+Pb39w54bjOjra49Nxl8cxj5teu2KTBahaofuzT/xZ7nthfcs2//BunxRsv+6Po7O6u3cIZBAgQIECAAAECBAgQIECgDgHBah1oTXKKYFWw2iStqszpBDZ9+CNx9//aErlcxLFHzossUN1/cCD2HRiMP3rTL8dRi7qmG2Li7zdpsHqwbzD+/t7vRX//YH4v1d6n+yJbxfqbq34vzjzvzbU7OIMAAQIECBAgQIAAAQIECNQpIFitE64JThOsClaboE2VWI3AF7dujZ3/+LFYcerxMa+rfeyUvb190dnZFkfM66hmmNJjmjRYzS5iaHg42rKUefTzxN4DcfDIF8Wy3/z92h2cQYAAAQIECBAgQIAAAQIE6hQQrNYJ1wSnCVYFq03QpkqcVmB4OH70uduibe938itWG/Zp4mC1ksFwrj3mP/eV0f2LpzWMyEAECBAgQIAAAQIECBAgQGAqAcFq6/aHYFWw2rrdfRhd2b6HvxI/37ElYmiwsVfdYsFqhtPWtSB6fuV3o33RsxprZTQCBAgQIECAAAECBAgQIFBBQLDaum0hWBWstm53Hy5XNjwce774l9G35+HGX3ELBqsZUteSX4v5z1/ZeC8jEiBAgAABAgQIECBAgACBMgHBauu2hGBVsNq63X2YXNnggSfj8S/+VQw89Vjjr7hFg9XOxc+Pnl+112rjG8aIBAgQIECAAAECBAgQIFAuIFht3Z4QrApWW7e7D5MrE6zWfqMFq7WbOYMAAQIECBAgQIAAAQIE6hMQrNbn1gxnCVYFq83Qp2qcRmDPF7KtAHY13qlFV6x2/+KLY97zVjTey4gECBAgQIAAAQIECBAgQKBMQLDaui0hWBWstm53H0ZX1vuv98RT3/mnxl9xCwarufaumL/sNdF57Asa72VEAgQIECBAgAABAgQIECAgWI1cLpf/1eofwapgtdV7/LC4vv0/+lr8/Kt/F8OD/Y293hYMVtvmPSN6fvWcaD/imMZaGY0AAQIECBAgQIAAAQIECFQQsGK1ddtCsCpYbd3uPoyubKD3kdiz/ZYYOtDb2KtuwWC146gT4oiT39BYJ6MRIECAAAECBAgQIECAAIFJBASrrdsaglXBaut29+F0ZcPD8dgXbo7+x3/Q2KtuwWDV/qqNbRGjESBAgAABAgQIECBAgMDUAoLV1u0QwapgtXW7+zC7sid3bImnv/+lxl51iwWr9ldtbHsYjQABAgQIECBAgAABAgSmFxCsTm/UrEcIVgWrzdq76i4T2PfwA/Hkjs0xPDTYOJsWC1btr9q41jASAQIECBAgQIAAAQIECFQnIFitzqkZjxKsClabsW/VXEGg/8mfxuPZPqsHn26cT4sFq/ZXbVxrGIkAAQIECBAgQIAAAQIEqhMQrFbn1IxHCVYFq83Yt2quIDA82B97vvA/o3/vjxvn02LBqv1VG9caRiJAgAABAgQIECBAgACB6gQEq9U5NeNRglXBajP2rZonEdj7f++K/T/8auN8WihYtb9q49rCSAQIECBAgAABAgQIECBQvYBgtXqrZjtSsCpYbbaeVe8UAk9/7/548hv/EDE81BinFgpW7a/amJYwCgECBAgQIECAAAECBAjUJiBYrc2rmY4WrApWm6lf1TqNQP8TP4zH778thvr3N8aqhYJV+6s2piWMQoAAAQIECBAgQIAAAQK1CQhWa/NqpqMFq4LVZupXtU4jkN9n9Yt/FVnA2pBPqwSrubbofvZLY97SVzSExSAECBAgQIAAAQIECBAgQKBaAcFqtVLNd5xgVbDafF2r4ikF+n/+k9j74N/EQO+jo8flImK4PrWmDlZHrzvXFp3HLIueX/7tiFxbfQ7OIkCAAAECBAgQIECAAAECdQoIVuuEa4LTBKuC1SZoUyXWLDA8HANPPRYxPBiPb//LGDxY59YATRysdhy1NLqf/eLIdS2M9iOOqZnQCQQIECBAgAABAgQIECBAoBECgtVGKKY5hmBVsJpmZ6qqYQKP3H31YRmsdi5+fvT86u83zNFABAgQIECAAAECBAgQIECgHgHBaj1qzXGOYFWw2hydqsq6BQSrddM5kQABAgQIECBAgAABAgQIHLKAYPWQCZMdQLAqWE22ORXWGIFH/881MfD0z+sbrIm3Auh61qkx/8Qz6rtuZxEgQIAAAQIECBAgQIAAgQYJCFYbBJngMIJVwWqCbamkRgo89o//Pfp799Q3ZBMHq92/+OKY97wV9V23swgQIECAAAECBAgQIECAQIMEBKsNgkxwGMGqYDXBtlRSIwX2fvmvY/9PdtY9ZOf8edE5r7vu8+fkxLaOmP+8FdG15NfnZHqTEiBAgAABAgQIECBAgACBgoBgtXV7QbAqWG3d7nZleYGnvnVPPLXz8zE8PFyXSDMGq7nOnuj5ld+Njmc8u65rdhIBAgQIECBAgAABAgQIEGiUgGC1UZLpjSNYFaym15UqaqjAQO9PYs8/3RRDA/11jdvR1RldR/TUde5cndS+6Fmx4JTzInJtc1WCeQkQIECAAAECBAgQIECAQF5AsNq6jSBYFay2bne7sjGBJ7bfHAce/fe6RNo62mPewgV1nTsnJ2X7wj77JTFv6SvnZHqTEiBAgAABAgQIECBAgACBYgHBauv2g2BVsNq63e3KxgQO/Oj/xt5/+V8xPDRUs0quLRfdCxZEW3tzrP5sm/eM6PnVc6L9iGNqvlYnECBAgAABAgQIECBAgACBRgsIVhstms54glXBajrdqJIZFdjzueujb+9Pa58jWwHaMz/auzprP3e2z8i1RfezXxrzlr5itmc2HwECBAgQIECAAAECBAgQqCggWG3dxhCsClZbt7tdWYlA/94fxuPbb4mh/r6aZZpln9X2RUviiF89J3Kd82u+RicQIECAAAECBAgQIECAAIGZEBCszoRqGmMKVgWraXSiKmZFYN/3vxBPfuOemrcEyLW1xbyFR0T211Q/bfOOjJ5f+Z1oX/ALqZaoLgIECBAgQIAAAQIECBA4DAUEq6170wWrgtXW7W5XVlHg6W/dE73f/kLN4WrX/HnRMa87SdW2rgUx/6RXR8fi5yVZn6IIECBAgAABAgQIECBA4PAVEKy27r0XrApWW7e7XdmkAvsf/lI8+Y27Y2igv2qltvb26M5WreZyVZ8zGwe29RwTPcteE9k2AD4ECBAgQIAAAQIECBAgQCA1AcFqanekcfUIVgWrjesmIzWVwODTj8QTX7ot+p/aW3XdXT3zoqM7nVWrnce+IOYve03k2ruqvgYHEiBAgAABAgQIECBAgACB2RQQrM6m9uzOJVgVrM5ux5ktLYHhodj9938ebUMDMTw8PG1t+b1WFxwRufa53Wt1aHAohnt+IY5+6Zppa3YAAQIECBAgQIAAAQIECBCYSwHB6lzqz+zcglXB6sx2mNGTF9h553uis2M4eno6YnhwaNp62zs7o3tBz7THzdQBfQf740DvvjjqRStjwUmvnKlpjEuAAAECBAgQIECAAAECBBoiIFhtCGOSgwhWBatJNqaiZk8gC1b79u+Pjs72OOronhgeHJx28s7586Jzll9kla2offrJ/XHgqX3R09MZC18oWJ32RjmAAAECBAgQIECAAAECBOZcQLA657dgxgoQrApWZ6y5DNwcAoVgNV9tLuKooxdER9vw1FsD5HLR1TM/Oro6Z+UiBwcG44lHn4z+g/2xaFF3ZO/PEqzOCr1JCBAgQIAAAQIECBAgQOAQBQSrhwiY8OmCVcFqwu2ptNkQKAlWRyfsWTAvjjiic8rVq7m2XHQd0RPtHR0zWuaB/X3x+M/2xvDQcD5UbW/P5ecTrM4ou8EJECBAgAABAgQIECBAoEECgtUGQSY4jGBVsJpgWyppNgUqBavZ/O3tbXHUMQsiBgcmLWcmw9UsSO3d+3Tsfbw32ttysXBhd3R0jL80S7A6m11iLgIECBAgQIAAAQIECBCoV0CwWq9c+ucJVgWr6XepCmdUYLJgtTDpkYuPiM62mHRrgFy2LUC2crWzcStXB/pHHv3f//SBaGvL5VeqFoeqWW2C1RltC4MTIECAAAECBAgQIECAQIMEBKsNgkxwGMGqYDXBtlTSbApMF6xmtcyf3xULFnVPujVAFq52zu+Oju7uQyp9eDjiwNMH4vFHfh6Dg0P5x/7LV6oWJhCsHhK1kwkQIECAAAECBAgQIEBglgQEq7MEPQfTCFYFq3PQdqacS4EsvHz6wED0DwxFV2db/Ojvroi+/furKmnRkfOju6s9hoeGKh6frVrNXmqVaxt/ZL+agYeHh+Pggf74+WO9cfBAX/6Uzs62fKiarVit9FnwK6+JeNbLYmBwKOZ1tcf87vZqpnIMAQIECBAgQIAAAQIECBCYVQHB6qxyz+pkglXB6qw2nMnmViALVfc8eTAO9o0HowM/2RG9//J3MTxwsOriOjvbY8Gi+dGRf5HUcLZPwPi5uYi2jo786tWpAtahwaEY6B+I/U8fjH29+/MrVAufefM6YsGCrsnr6Tk22l60OgY6FuaPyaromd8RRy7orPoaHEiAAAECBAgQIECAAAECBGZDQLA6G8pzM4dgVbA6N51n1jkR2PtUfzy9v+xlVMPD0f/Iznjqwb+pKVydiQvIVqf29HRGFqxO+ln4izH0vNdGHHF8ySFtuVw8Y0Fn9MyzcnUm7o0xCRAgQIAAAQIECBAgQKA+AcFqfW7NcJZgVbDaDH2qxgYI7D84GHt7+2OoeHXp2LjDMbDn4Xj6a5+Kwd5HGjBb7UNkq2AXLuya9NH/bMTho06M4aVnRsw/uuIEnR1tcfSirtGVtLXX4AwCBAgQIECAAAECBAgQINBoAcFqo0XTGU+wKlhNpxtVMmMCWZb62N6D0TdQeW/UkYmHY/DnP82HqwNP/GDGaikfuKpVqll1x74ohk84I6Jr5PH/yT7ZitWjFk6xjcCsXZmJCBAgQIAAAQIECBAgQIBAhGC1dbtAsCpYbd3udmVjAhW3AJjEZ/Dpx2Lf1z8T/T/bOaOCuVzkH/nvmd8ZuUleUFUoYPiZL47h5/xmRMf8aWuyJcC0RA4gQIAAAQIECBAgQIAAgVkUEKzOIvYsTyVYFazOcsuZbrYFpt4CoHI1QweejH3/enf0/eirDS83l8vFvHntVQWq2eTDz/7NGH7WyyLaq1+FakuAht82AxIgQIAAAQIECBAgQIBAnQKC1TrhmuA0wapgtQnaVImHItC7byB69/VHxa1Vpxh4uG9f7N/5j3Hg+9sPZfqxc9vb22L+/I6pX0xVNtPwc18dw8f/WkTbFC+zqlBde3sujl7YFV2dbQ2p3SAECBAgQIAAAQIECBAgQKBeAcFqvXLpnydYFaym36UqrFsgC1P7+ofiid6+GBwarnmc4YGDceC7X4j9O++t+dzshGz/1O7ukTA1Czur/rR3xfDzXhvDx/xKRK72cLS7sy2OXOglVlV7O5AAAQIECBAgQIAAAQIEZkxAsDpjtHM+sGBVsDrnTaiAxgkMDQ9Hf/9wDAwOx+DgcGT/O/tkL63qn/LFVZPXMDw0EAf//YHYt2PztIVmj/l3drZFZ2d7/nH/7H/X/MlC1WW/H8NHnhhRx/nZKd2d7dHelsufnu25moW6HR256Gxvq2fImi/BCQQIECBAgAABAgQIECBAoCAgWG3dXhCsClZbt7sPgyvLwtMsMM0HqUPDkz7unwWsB/uGxoLWmmmGh2L4kW/EwLc+E4N9B0pO7+hoy69Mzf56yJ+eY2Poea+NWPScuofqaM/lg9XJPmNBa3sWAufywasPAQIECBAgQIAAAQIECBCYKQHB6kzJzv24glXB6tx3oQqqFshC1P6B8dWoteybmm0J0D84VPVcEw4cHo7c3u9GbuffRQz21T/OJGcOP+OEGH7eayLmH1P32FlG2tXRHlm4Wu0nOydb3Zqdk730qqYtC6qdxHEECBAgQIAAAQIECBAgcNgKCFZb99YLVgWrrdvdTX5l2SrTgYFsRerIatShOvZILSbIzj/QP1jzS6wmMD75g2j73j9E7Hu0YcLDRy+L4eeeGdH9jEMaMwtI53VNvlq1msHz2wdkQevoKtzOjupD2mrGdwwBAgQIECBAgAABAgQIHF4CgtXWvd+CVcFq63Z3k11ZFp5mIerAwNCUj/UfymUd7B/MbxtwyJ+nfzYSrvb+6JCHGj7+lBj+pf8U0XnEIY2VxZ/5/V3bG7AlQVklWdCahbZZyJqtarV7wCHdKicTIECAAAECBAgQIEDgsBIQrLbu7RasClZbt7sTv7Is4OzvH4qB0dWotTzWX++lZeFtFq42ZK79j0du1z2Re+K79ZYTw886PYaf/R8j2rvrHqNwYhZ+ZqtVZ2N96dj2AR1t+bA1C119CBAgQIAAAQIECBAgQIBAJQHBauv2hWBVsNq63Z3YlRVeIJU93p/9fUPCzTqu8UDfYH5FbEM+fb2Re/jeyD369ZqHy1apDi95SURbR83nVjqhKx9yNn61ajXFFYLWrs62yH75ECBAgAABAgQIECBAgACBgoBgtXV7QbAqWG3d7k7kyrIANQszs5dHzVWYWkyRrZTtG2jQqtVs4IH9kfvBP0XuJ1+pWnz4xN+O4eNOjsgd2n6ohQnbcrno7mqL7K9z/RlZOStgnev7YH4CBAgQIECAAAECBAikIiBYTeVONL4OwapgtfFdZcQxgWxl6r79DdrXtIGuDV21mqHoejQAACAASURBVNU12Be5H38pcj/8p6mrbO+K4eeviuGjXxCN3Kg0W6marVhN5ZPFu11dbTG/uzHBcSrXpQ4CBAgQIECAAAECBAgQqF1AsFq7WbOcIVgVrDZLrzZdndnK0H37B6JRT903EqB/cCi/grahn+HByP30XyL3/bsrD9u1KIaff1YMH/nchk6bLVKd19ke2UrRlD5ZNe3tuVjQ05itDlK6NrUQIECAAAECBAgQIECAQPUCgtXqrZrtSMGqYLXZerZp6n1078HoHxjK7/s5E2+qPxSIbIfVbNXqUMNT3+HIPfqNyH3vH/KrWMc+C38xhp57ZsSCJYdSdsVzO9rbojuxfU0z377+kb1sF8zviEVHdDb8ug1IgAABAgQIECBAgAABAs0hIFhtjvtUT5WCVcFqPX3jnGkEevcNRO++/rE9VVN7VD0rv29gKB/8zsQn99TuyH3j9ny4OnzUiRHZnqpdCxs+VbZatbuzPdoTWq2ahaoHi14Q1tGei+OOmtfInQ8a7mhAAgQIECBAgAABAgQIEJg5AcHqzNnO9ciCVcHqXPdgS86frVYtf9Q+tZWV2f6vB/uGIvvrTHza+p+K2LMzho8/JYYb9JKq8jqz0DILVlP5ZJbZfc9WqhY+Wfi7YH5nLDrClgCp3Cd1ECBAgAABAgQIECBAYDYFBKuzqT27cwlWBauz23GHwWxDQxE/e+JAxcfssyCwq7M9UtkNNAsBs/1WG/0ZHh6Of9/zg/jOz74bL33ei2PhvJlZrdrV0R6ZaQqfbFuFg/2Vg+psq4JjjuxOoUw1ECBAgAABAgQIECBAgMAsCwhWZxl8FqcTrApWZ7HdDo+p9u0fjL1P941tA1B+1dlj69kqy2wl41x/sjDwQP/gpLXWU1/vgd745IOfivff/cF46uDT8eu/dEpcfuY742XPe0l0tDVudWnmOK+rcePVc62Fc7IVqllIPdnq3yz8Pf7oeYcyhXMJECBAgAABAgQIECBAoEkFBKtNeuOqKFuwKlitok0cUovAk0/3x1P7BmKqB+yzN9hnqxjbEkhXD/YPxsDgoW8HkK1SfeiHO+LPNm+If/n3hyaQvfHF58R//U9vj+csfnYtnBWPzTLpzs40Xgo2MDiU3692qh0Vsvv9zMWC1UO+8QYgQIAAAQIECBAgQIBAEwoIVpvwplVZsmBVsFplqzisWoFqgtVsrCxU7epsm/MXL2WrLbNw9VC2Wn386Sfi5s/dEjfe95dTMj3zGb8QV/z2u+O1LzozOtrr33M0v+q3a+63VMhe/pX9mi6WFqxW+9PjOAIECBAgQIAAAQIECLSegGC19e5p4YoEq4LV1u3uObqyaoPVrLxU3mp/oOgt9rWy7e/fF2/76Dvivm99oepTP3ze/x+/9+ur6n5xVldHW3R2tFU930wcmK1SzULVaj6C1WqUHEOAAAECBAgQIECAAIHWFBCstuZ9zec67373u6dbbNXUV589npx9sr8Wfg0NDUX2a3BwMP9rYGAg+vv7878effTR2Lp1a1Nfs+LnVqCWYLUQrmZBYUf73AWF2VYAfQO1rVrNQuHO9rb4wRM/iFU3vCl+/MRPqoZ/22/+QVxz9p/n56x1G4JspW9319xuo5C9pCrbAqDaj2C1WinHESBAgAABAgQIECBAoPUEBKutd08LVyRYFay2bnfP0ZXVGqzmw9Vsz9A5XoVZy6rV/B6xHW2R/bV/cCCu+tRfxM2fu60q8Xmd3fHJiz8ay5//kvzx/YOjj9NX+Uc8mVMWRM/FJyuxr449aQWrc3G3zEmAAAECBAgQIECAAIE0BASradyHmahCsCpYnYm+OqzHrCdYLYDNZWiYBZzZm+2n+2SrVLMXR2VhcOGzv29//OEtb47P7fznGB4u/p3S0TrahuIvfv/P4g//49tKfmNoKFsxOxTZfq9TfXK5XMzLXvrVNvkc09Vf7+9ni9+zvWinq7HS+ILVetWdR4AAAQIECBAgQIAAgeYXEKw2/z2c7AoEq4LV1u3uObqyQwlWs5I72rOXWs3+i5mySDNbtZqFnJU+2aP/U21Z8Beb3xGf/MrUL6/Kxv3IH/59vOz5v1VxjizYzQLeyT7ZdgndnbO/WnVoOHvBV7aFSJXLassuQLA6Rz+MpiVAgAABAgQIECBAgEACAoLVBG7CDJUgWBWszlBrHb7DHmqwmsnN1Vvvs5cxZStHyz/Fj/5PdmerDVavfePH44xf/b1JG2SyrQHm6kVf2QrVLPDNwtV6P4LVeuWcR4AAAQIECBAgQIAAgeYXEKw2/z2c7AoEq4LV1u3uObqyRgSrhXC1K3vsPUsUZ/GTBavZi5myHDGbub2KFbT7+56Od3/8TfHFnXdPW+nlr/tgvPFl75jyuHyYOTC+QjQzyLZJyFbzzuYnqyN7/P8QMtV8uYLV2bxr5iJAgAABAgQIECBAgEBaAoLVtO5HI6sRrApWG9lPxoqIRgWr+UAul8s/+j4Xe4rWcjMbHazWMvdMHZuFy1m4e6ihqmB1pu6QcQkQIECAAAECBAgQINAcAoLV5rhP9VQpWBWs1tM3zplCoJHB6li42jX7K1druck/3/94vOOvXxf/+qMHpz3tDS+7JNa97kPTHjeXBzQyVBWszuWdNDcBAgQIECBAgAABAgTmXkCwOvf3YKYqEKwKVmeqtw7bcRsdrGaQc7XnarU3cc9TP4u33nJGPPzozmlPOfvFb4s/XfXhaY+bqwMa9fh/cf22Apiru2leAgQIECBAgAABAgQIzL2AYHXu78FMVSBYFazOVG8dtuPORLCaYWZ7jHZ1tCXp+ljvT/LB6r8/9p1p63vdr62OP/u9v4z2to5pj52LAw70DUYWrjbyI1htpKaxCBAgQIAAAQIECBAg0FwCgtXmul+1VCtYFazW0i+OrUJgpoLV/H6riW4J8O2f7IiLNp4Ze/c9Nq3Qy5e9Ot7/ho/F/K4jpj12tg9o9BYAhfoFq7N9J81HgAABAgQIECBAgACBdAQEq+nci0ZXIlgVrDa6pw778WYqWM1gsxWr2crV1D6tEqzOxGrV7F4JVlPrWPUQIECAAAECBAgQIEBg9gQEq7NnPdszCVYFq7Pdcy0/30wGq9leq/O62pMz/Mr3tsXFf/3aGBoanLa2E45dFn914b2xeMHx0x47mwcMDQ3Hgf6hGB5u7DYAgtXZvIvmIkCAAAECBAgQIECAQHoCgtX07kmjKhKsClYb1UvGGRWYyWA11e0AvvSd/x2X/PXrquqBVIPV/DYAWbBa1VXUdpAVq7V5OZoAAQIECBAgQIAAAQKtJCBYbaW7WXotglXBaut29xxd2UwGq7lcRHdne2QrV1P63PuN/xXr/uYNVZV0/DN+Mf7nBf87nrP4xKqOn62D+gaGon9gaEamE6zOCKtBCRAgQIAAAQIECBAg0BQCgtWmuE11FSlYFazW1ThOmlxgRoPVbJ/VzvboaE8rWP2bL304PvD376qqLY7sOSZuXnNPnPTMk6s6frYOOtg/FNmq1Zn4CFZnQtWYBAgQIECAAAECBAgQaA4BwWpz3Kd6qhSsClbr6RvnTCEgWJ26PZ7RszgfrC575n9Iqo8Eq0ndDsUQIECAAAECBAgQIECgZQQEqy1zKydciGBVsNq63T1HV3Y4Bqt/sfkd8cmv/GXV4h/5w7+Plz3/t6o+fjYOFKzOhrI5CBAgQIAAAQIECBAgcPgJFILVRlz5Qw89VPMwp5xySv6cRYsW1Xxu8QkrV66M4447Ljo7O6OjoyP/q729fexXLpeLtra2/CnZ32e/Wv0jWBWstnqPz/r1CVanJ58qWB0cGo5sv9Phoca9Rir7Mu/qbJtyb1rB6vT3zREECBAgQIAAAQIECBAgULuAYLV2s2Y5Q7AqWG2WXm2aOvcdHIy9vf0xPNy4YLBw8dmf9aS2x2rfwMG48hN/GP/nG39X9T36k7P+R5zzkv8y4fhM7EDfYAw1MFQds8vlYl5nW2T7nVb6zGSwmu2Je/zR86r2cSABAgQIECBAgAABAgQItI6AYLV17mX5lQhWBaut291zeGWPPHFwRt4wn2Kwur/v6Xj3x98UX9x5d9Xil7/ug/HGl71jwvEDg9lq1cGYgUw6prObyWC1Z15HHLWws2ofBxIgQIAAAQIECBAgQIBA6wgIVlvnXgpWh4djaGgo/2twcDD/a2BgIPr7+/O/Hn300di6dWvr3nFXNisCWUj3xJN9kT3W3sjPdOFgI+eqdqx9fU/F5R97fXzpO/+n2lPi4jP+PC581Z9WDlb7B6OxaiPTTGc3U8FqtgXBsUd2V23jQAIECBAgQIAAAQIECBBoLQHBamvdz+KrsWJVsNq63T3HV5YFdXt7+yJbhdmoz3ThYKPmqWWcPU/9LN56yxnx8KM7qz7t7Be/Lf501YdbOljN9uju7myPoxZ2xeje3VX7OJAAAQIECBAgQIAAAQIEWkdAsNo697L8SgSrgtXW7e5EriwLWPv6hmK4Aeswc5GLzo7sLXvpvFlvaHgofr7v8RgaGqxavLtzfiyYN/FthNneqv0DmVTjwuhCUdPZZQH4wOBQ1dcw1YFtuVxkj/8LVBvCaRACBAgQIECAAAECBAg0tYBgtalv35TFC1YFq63b3a6MAAECBAgQIECAAAECBAgQIDDHAoLVOb4BMzi9YFWwOoPtZWgCBAgQIECAAAECBAgQIECAwOEtIFht3fsvWBWstm53uzICBAgQIECAAAECBAgQIECAwBwLCFbn+AbM4PSCVcHqDLaXoQkQIECAAAECBAgQIECAAAECh7eAYLV1779gVbDaut3tysYE9mxZGyuv3h7Lr9oa15+1uERmxw2nxprYGA9eevKE48sJV9/yYFx2ysg/LYxZibl4nrHjzi+dY+S8HXHdqWtiUyyPKz97faw6rny0PbH50pWx/v7VsfHBy6JQYX7Me1fE1htWRenVuOkECBAgQIAAAQIECBAgQCAtAcFqWvejkdUIVgWrjewnYyUqMB6CTgwwy4PV/P++vULQ+dB1ceqFm8bC2UnDzUrHXb09IkrD0TzV6LExWbA69vtREgoLVhNtNGURIECAAAECBAgQIECAwAQBwWrrNoVgVbDaut3tysYECkHklSeuj/XfvbJkpWdxsDoSwMYkq0fHg9Bs5eqbfzDZqtGRVai7RlfHjsy9NFbHpog14ytes+KyuW+N1RG374oVFVasFmrbGGtiTVHdglXNTYAAAQIECBAgQIAAAQLNIiBYbZY7VXudglXBau1d44ymExgPIpfGHUWhZyHcLGwFMBKsLi157L70YkdC06giWM2OybYNKMy98YxtsebhC4q2HMjGujWW3rIitl24rUKwOj7XZUs2x9rXjB8jWG26FlQwAQIECBAgQIAAAQIEDlsBwWrr3nrBqmC1dbvblY0JFAeRUbYqdeKK1UMMVvOP78dYODs29xURV79mV1xQ2Cs1O27j0tia/+cVgtWScUb2Wt12xsgesYJVzU2AAAECBAgQIECAAAECzSIgWG2WO1V7nYJVwWrtXeOMphMoDSJHXwgVI1sC/Ljo5VU1r1jN751a/indn3V87pfHFy9dGbtGtwPIbwNwwta4/qVfLFmNOjJaaZCa/ydFL6zKh8NeXtV0fahgAgQIECBAgAABAgQIHI4CgtXWveuCVcFq63a3KxsTmLDC85Hs0fr1EVdtjQseXhkN3Qogv9J019g+rRMC0fx2ADGyDUC2r2qUPuafL3q0vomx7Uho+/J/FqxqbwIECBAgQIAAAQIECBBoDgHBanPcp3qqFKwKVuvpG+c0mUClR+cLL6pafvr22H7ixvzep418eVX5HqvZ6tjF+cB0V1xwS8SabBuAsX9WuhVA5Uf9R1fanrgxtp5wqxWrTdaDyiVAgAABAgQIECBAgMDhKiBYbd07L1gVrLZud7uyMYEpg8r7I+L8kWA1++T3XL299HH+/G/kV6JuiuVXTbfPadFLp4peXpUPUUcf8V9/f4yNM7I6tThYnbgNQOFCClsVfOiqXfFOWwHocAIECBAgQIAAAQIECBBoAgHBahPcpDpLFKwKVutsHac1k8CkL3sqPHJfFKxm1zUSYE58EH/1LQ/GZaeMXPnkL5AaCVY3nT6yh2v5fqgTVsWWB6tlWwmUOI/W+wtvWR5/d1ul/V0jimtspnukVgIECBAgQIAAAQIECBBoTQHBamve1+yqBKuC1dbtbldGgAABAgQIECBAgAABAgQIEJhjAcHqHN+AGZxesCpYncH2MjQBAgQIECBAgAABAgQIECBA4PAWqBSs/sEf/MGkKB/96Ecn/b2HHnqoZsxTThl59HTRokU1n1t8wsqVK+O4446Lzs7O6OjoyP9qb28f+5XL5aKtrS1/Svb32a9W/whWBaut3uOujwABAgQIECBAgAABAgQIECAwZwKTrVitFK5OFapmFyBYnbPbWHFiwapgNa2OVA0BAgQIECBAgAABAgQIECBAoIUEptoKoDhcnS5UFaym1xSCVcFqel2pIgIECBAgQIAAAQIECBAgQIBAiwhMt8dqFq5WE6oKVtNrCMGqYDW9rlQRAQIECBAgQIAAAQIECBAgQKBFBKYLVmu5TFsB1KI188cKVgWrM99lZiBAgAABAgQIECBAgAABAgQIHKYCgtXWvfGCVcFq63a3KyNAgAABAgQIECBAgAABAgQIzLGAYHWOb8AMTi9YFazOYHsZmgABAgQIECBAgAABAgQIECBweAsIVlv3/gtWBaut292ujAABAgQIECBAgAABAgQIECAwxwKC1Tm+ATM4vWBVsDqD7WVoAgQIECBAgAABAgQIECBAgMDhLSBYbd37L1gVrLZud7syAgQIECBAgAABAgQIECBAgMAcCwhW5/gGzOD0glXB6gy2l6EJECBAgAABAgQIECBAgAABAgQOVaAQzj700EM1D3XKKafkz1m0aFHN5xafsHLlyjjuuOOis7MzOjo68r/a29vHfuVyuWhra8ufkv199qvVP4JVwWqr97jrI0CAAAECBAgQIECAAAECBAg0tYBgNc3bJ1gVrKbZmaoiQIAAAQIECBAgQIAAAQIECBDICwhW02wEwapgNc3OVBUBAgQIECBAgAABAgQIECBAgIBgNeEeEKwKVsfac8cNp8aa26fu1oUnnBbLz1oT7zzvtFjcnnBnK612gcGdsfF3z4sbd2ennhvX378ulnfVPsxkZxT6a/lVW+P6sxaPHbZny9pYefX2iNOvjK03rIrx32nc3EYiQIAAAQIECBAgQIAAAQLNLGDFapp3T7AqWK0pWB07+IRVce0NV8aKJWk2tqpqF+j78rXxykvuir7RU1e87764duXC2gea5AzBasMoDUSAAAECBAgQIECAAAECh5mAYDXNGy5YFaxODFbP3xgPXnryxI7t643dX70jrrh8Y+zYF9G18trY+r4V0bjoLc0fksOjqr7Yfs3psfaTEUtPWBq7Ht4VccaGuO+aMxt2fycLVg8PX1dJgAABAgQIECBAgAABAgTqFxCs1m83k2cKVgWr1Qero0f2fX59nP6uzRGxPDZsvT7O9Oz2TP6Mzs7Ye++JdWdcEdt6zo2bbjkhbnrTtbEjlseVn70+Vh3XmBIEq41xNAoBAgQIECBAgAABAgQIHH4CgtU077lgVbBac7Aaj2yOta9ZH9ujK9bcdn9c/KJsiD2x+dKVsf7+kTDu1b2b47r/dmN8+qE9ce4tD8Zlp4xOM9gbO++9NW796N3xxW/vib7oisUnvTxe/YbV8ebXnjzpvq29374nbv2rW2PzfbuiNzvnFefGOy+5OM5cePdILcX7cxbqy/+zV8eTW66L9Td/OnY8cm5sfPCyKKzF3fP1zXHH7XfF9q/ujF17s/oWxtKXLI9Vr784zn3FkijZXrR8zK03xk1/tTm2Pdwb0bM4lp/9zrjswjNjaU/E7s9fF++/5q7Y/kjE4lN+Jy7+k8ti1fMm2ax0z47YfOemuOvzD8TObKysivw+tqvj4rOXx5KeCl8chXPu+WLsfCR7cH9hLH3Vq+Ocsy+Ic19SX8q9+5Nr4qxrdkTX62+Kz13+3Lg7fy8jTn7Plth49hT7PQzuiQfu/FBs3LI9HsjXn9WyKi546wVx5kmja5kfui5OvXDThAsp7LU6tsdqYaX0NzfGWeffGLtjRWy499o488gKBg9dF6dfuCn6llwcd35qTSwr7PdbT3/NgGeaX/eqIkCAAAECBAgQIECAAIFmFRCspnnnBKuC1dqD1d2b4+1nrY8HYlms++Sdce4JpcHqZVctjc1Xb4pdoyOvLgSr+3bFXVecF9d+vrCLZ+kPRddJa+LmWy6Ok8vCxN1b1sbZV28f2/tz/KylsfqqVbHr6usmCVYviytP3Bzrbx+rZCxYnXzMkdGXnr8x7rz05PFwtRCsnro6Ll6yPW7cUhhzvJquV1wZ1//HbbH2feW1Lo8rt1wfq8rzyd2bY+0b1sf2fZN8OZywOjbeflmpx5TndMXJl94WN5+/rDQUnva7Z3fc9Zaz4tqvL4mLb98Sa14Y0bt1XbzqvdsiXrguPnH7ubG00hi7t8X6S9fF5ocr/WZXLL/qk3H9WUsiag1WY2dsPGvkJVpnXnNfbDhj4mYTO244Pdbc3hdLLroztly4bKSAevprRjynBXcAAQIECBAgQIAAAQIECBCoSUCwWhPXrB0sWBWsjjVb4VHtmGyP1dEjx1YYlrw5vrBidTSYPGtdXHnh78TJSworNbM9PF8Zaz/ZF3HCqrjy6ovj1csWR1d7RO83N8d1G94fm7/dF12v2BCf+eCZ42+G//bGOOdNN8auWBqrrtoQF5+5LBZnQ+7dGZtvuCLWFwLOSitWRyLSWPWeK+OCs06OsVLGHns/OdZ8YENceOqSfB3Rtyd23XdrrHvvXbGr/DH4sVW62ZhdcfKF18eGNaflx+z98nWx5pJCkNwVyy+/LTacvSwW7nsgrnvL22PTwxFLLrkztrxlNADM19Ub97znVXHFvaNjnX/ayOrUwb7Y88NtcesfXxF3PRxRWNU5otob2977qli3tXT+7Jzd22+My6/YFDv3nRzrPrUxzn12Dd8hhRWixas/C0axJC7+2JZYc1LZeIO74q4Lz4lrvx7R9YqL4+Y/Xj1yr/v2xM4t74+LrtkWvXFyrPvkxtHgPWLal1cV9d2uvz0vzvnAzoiV18Z95fv4Du6I6161JjbtKw726+mvGfKsgd6hBAgQIECAAAECBAgQIECgGgHBajVKs3+MYFWwWn2wmg8e74gr3pcFeBFLzt8Ynxxb1VkUrL5oXXzilnNjaeHx7GyG722Kc15/3UhgWWn15r7tce2Za+OufV1x7kc+F+tekqWnffHAB14Zb//bvjj58k/ExteXrZssCvdikmC10nm9914Rr3rPPZM85j5+HWMrbbP6i4LVrrOvj8+9Z3nRqtBCQBcRZddemKukvnxGui2ueNW6uOdF62LLbedG+WLWCY/H5+/Sjrju1DWxKVbHTV++LE4r9o2IXR87L8754M5YfvXWuP411W8JsPOWs+K8m3eXhb/j11SyKnS0W/q+fG288pK7om/J6rjp45fFaWWrjCuNWUuwGj+8K9b8brbP65lx7X0bYkXxotXCNgDFdnX118x4zv7XuBkJECBAgAABAgQIECBAoNUFBKtp3mHBqmB1YrBaRa92nXJx3HbDmlg2FqiNB5KlqyxHBiusQBzZw/O0io+q77ztrDjvI7uj6/yNcf+l2U6oheCreGViaXFjAWTFYLWGly/t643evt7Y/eVPx/vftzF27IuoHKxWXsFZCA0nrEwtPAZfXN9kvoN90dt7MHp3b49Pf/Dq2PhQX5SuHt4Vd51/Tlz7zSVx7gdujsuyfWDLwtUqbl3pIX0PxLVnvD3uqrDSdSwU7lkdG++7LE4emytbHXp6rP1kxLLLPxF3lgfe2QxfvzFOf8vG6HvFhtg6ugK5pmA1CtsTRJx7w/2x7vTxPWoL2wAU7/9aX3/NgGfNN8AJBAgQIECAAAECBAgQIEBgegHB6vRGc3GEYFWwWkOwujCWvvC0WH7eBXHBGctiYUmoN8lKz/zo40FcpdB1rIAHr4tTL9oUY6s7x1aJVl6hmT+vEOBVDFZXl7ysquQHrHdn3HPnHbH58w/E1/Iv0Zr4qRysnhvX378ulpe9i2rSN95PFazmX7R0R9yRvfjp6ztjT6W9Vsu2Zdjz2bXx21cV9nAdednW8le9PFacelq84NkjWyvU8hkLTyutnO3bHteevjbuiuJVxNnoU93ryWevLViNGAvNz74+7i+sEB7bBqA4NK+zv7IrabBnLfaOJUCAAAECBAgQIECAAAEC1QoIVquVmt3jBKuC1YnB6jR7rFZu0anCtiqDuPIQsihY3fjgZZGtYZ3wKRxTS7Ba/MKinsWx7EWnxWkvekEsfeGyeMHSY+JrHzgnrr1/shWrlcPamoPVwd2x+fKzY33+RV5dsfik/xCnnfqieMGJ/yGWnbg0jvnm++Oca7aXrVgdufo9D90Vt3741vj0Q2WBcM/iWH7+hrjqLafF4qoC1sI+r9N/6ZSuNB5fTVoSPk8zTK3Baozt81oUZhe2AThjQ9x3zZkxskNAnf01Wm/jPKd3dAQBAgQIECBAgAABAgQIEKhHQLBaj9rMnyNYFazOQrBa54rCwj6kJS/JKvuhqDlYHQ8Tl55/U2y85LTqVt5OE/LWGqz2bl0Xr3rvtogTVsdNt1wWpx1Zel2V91gtu/Zs64Ddu2LHVx+I7V/YHHfftyt6s9d1XXJnfKLkRVmTfJGM7WNazRdN8UrdKoPMsmFrDlaLXvBV2He3sA3AivfdF9euLGy8Wmd/lV/2oXpWw+gYAgQIECBAgAABAgQIECBQh4BgtQ60WThFsCpYnYVgtd49VnfGxrPOixt3T/Jm+myTgfuvjdMvvWt8+4Dsd2hLpgAAIABJREFUaqYKQcceb6/8SH/E7th80Vmx/sGZXLE6HgSW7x9auBm7P/X2OOt9D1RcsTrZ90Lfg9fF2Rdtit1LLo47t6yJZdN8gRT2JY2V18Z971sxuvqz7KSxPVgjxsPMKoLMwsrSorFrD1bH729+xey7uuPGV62JTfsmvtCqvj1Wpwaq1XMWvq9NQYAAAQIECBAgQIAAAQKHqYBgNc0bL1gVrM5KsDr+lvflceWW62PVkrIfiH3b49oz18Zd+0r38yy8Xb7r7Ovjc4V9NgunZo/Tv/OsWH9/VB+s7rkn1q68IrZH5Rdb9T10XZx34abYFTMZrO6Je961Mq74fETFPWf37Yjrzl8Tmx6O0mC1sFVC8Z6jxYwP3xXnnX1t7KwmWB3cGRt/Nwuty/dPnfhFVVglGkWP3xfvzfqJW86NpSVbD/TGtveujHVb+0qur55gNQrBbqyOmz6yKNa/5cbYXen6x1bf1tBfjfRM8/tdVQQIECBAgAABAgQIECDQIgKC1TRvpGBVsDo7wWr0xQMfPDve/rHdESesiiuvvjhevWzkZUu939wc1214f2z+dl90vWJDfGb0LfL5wh65J9aefUVs39cVJ194fWxYc1osyV4ctXdnbL7hili/JYtAawhWo7AKNmLp66+P69cuHxlv3+7Y8dlbY/01m/Ohavap/PKqxuyxuvO2s+K8j2QW58b1N1wWy7MiBvti99c/HbduuDY2Z6Fq9ine73Zsa4SlseqqDXHxGcticc/IYX0/3BGbPnRR3Pj5vijdD3WSL57CitKec+Ome9fFaWUv4yo565sb46zzb4zdxWF0Fsy+/ry48eGIpWddGRsuXRXLsu0M+nbHAxuviLW37Ii+nnPj+nvWxfLRGnfcfHqsuaUvlrzpprhz7fgWDFNve9AXD3zglfH2v41YesIxsevhx6KwLUDpldXRX430TPP7XVUECBAgQIAAAQIECBAg0CICgtU0b6RgVbA61pmFFYUlYV7VfVvFvpv7dsVdV5wX1+Zf2DTx03XSmrj5lovj5NEgrnBE8SrS0rO6YvkrTovtn99e/YrVCW+CLx1x4Rkb4t0n3hhX3Lw7uk46M1YsXxHvvGRFLG7wHqvjgXEFiCNXxIbLXxA3vvfG2N2zLM585fJYsfbiWLE4YveWtXH21dujsmDk92zdePtlEwwnhJD5sLIvus7fGPdfWvG1YOOnjK1ujTj5PVti49mjy42LXwI24TKWxupb7ozLThlPbPd8dm2svGr72JGF1brT7idbCIGzM6cKguvor8Z4Vv1D4kACBAgQIECAAAECBAgQIFCXgGC1LrYZP0mwKlgda7IZD1azmQZ7Y+e9d8Qdn9gc2/Jvte+KxSe9PF79htXx5teePPnb7B95IDZ9+Ka443M7Ys++iIUnrIg3X/7uWNN9R5x64aaagtWsjD0PbooP3XzHaA0LY+lLlseq898Zq1+yOGLfjth4ydq48esHY/FrNsTHrp6BYDVfxAOx6friazotlp+1Jt553mmxuL0vdtxyUay9eUccPO7M2HDHhnywmn16v31P3LFpc2x/8Gux85GRiHXhCcXnTvO9sfeeWHfGFbEtlsTFt2+JNS+c/numsCVDvHBdfOL2c2Np4ZTenXHPbbfGHfd8caSWI5fGaaevijXvWB2nHVc2bt/O2PTeK+LW0ZdsVR2sFgW7Sy66M7ZcOMXusXX01yF7Ts/nCAIECBAgQIAAAQIECBAgcEgCgtVD4puxkwWrgtUZa67ZGHhsteObbooH33XabExpDgIECBAgQIAAAQIECBAgQIDArAoIVmeVu+rJBKuC1aqbZfYPzF6C9KpYt7X4jfRFVRTt83nmNffFhjMWzn6JZiRAgAABAgQIECBAgAABAgQIzLCAYHWGgescXrAqWK2zdWbntOzt8yvfc0/09Zwcaz6wIS48dUn+hVd9P3wgbvn/1sbGh/ry+24WvyRpdiozCwECBAgQIECAAAECBAgQIEBgdgQEq7PjXOssglXBaq09M7vHD+6OzZefHesneeFVxMSXJM1ugWYjQIAAAQIECBAgQIAAAQIECMysgGB1Zn3rHV2wKlitt3dm77z8C4lujVs/end88dvZC68iuo5bFi8/89xY/YZVcXL5S5JmrzIzESBAgAABAgQIECBAgAABAgRmXECwOuPEdU0gWBWs1tU4TiJAgAABAgQIECBAgAABAgQIEJgdAcHq7DjXOotgVbBaa884ngABAgQIECBAgAABAgQIECBAYBYFBKuziF3DVIJVwWoN7eJQAgQIECBAgAABAgQIECBAgACB2RYQrM62eHXzCVYFq9V1iqMIECBAgAABAgQIECBAgAABAgTmRECwOifs004qWBWsTtskDiBAgAABAgQIECBAgAABAgQIEJg7AcHq3NlPNbNgVbCaZmeqigABAgQIECBAgAABAgQIECBAIC8gWE2zEQSrgtU0O1NVBAgQIECAAAECBAgQIECAAAECgtWEe0CwKlhNuD2VRoAAAQIECBAgQIAAAQIECBAgYMVqmj0gWBWsptmZqiJAgAABAgQIECBAgAABAgQIEMgLCFbTbATBqmA1zc5UFQECBAgQIECAAAECBAgQIECAgGA14R4QrApWE25PpREgQIAAAQIECBAgQIAAAQIECFixmmYPCFYFq2l2pqoIECBAgAABAgQIECBAgAABAgTyAoLVNBtBsCpYjYg9sfnSlbH+/gpNev7GePDSk6vq3j1b1sbKhy+o+viqBm2Sgw7na0/rFu2I605dE3HLg3HZKaOVPbI51r5mfcRVW+P6sxanVe5hWs2OG06NW0+Yi/sx8l237Yy5mDvhm53/GdkWKz57faw6LuE6lUaAAAECBAgQIEDgMBYQrKZ58wWrgtXIQo41t6+OjQ9eFiURao2B1GyEi3MXyEz9Azwb157mV0hqVZUHqyNB2q41RUFrXSVn494aSwVPdemVnzR3P8cpBqtz1Fv57/ddcUH2vT9NsOr7rSFtbxACBAgQIECAAAEChyQgWD0kvhk7WbAqWB0JVqPSytTaQojD+T++D+drn7Fvp7oGnhis7nlkcSy2Cq8uzZk6SbA6U7J1jmvFap1wTiNAgAABAgQIECAwewKC1dmzrmUmwapgNfKh4NVLJ65YLe+kh66LUy/cVPpPT78ytt6wKrIHrIvDxZFVsKWHLh97FHvi1gPV/V7kQ+DCI8RTz1E4dmOsuHfN2DYHqwuPiI+uxt1eUmKFVbuF36/h2svZRlxWxJXfXT9Wx/j1ltUZV8bWKyKufs36mLK24npOvzI2nrEt1oxuw1C4DxtjzdhK5Gfl73HZiGOPy4+umLtlRWy7cGTekfp+nH+sPn/Hi+5zVLAovp6K1z/Z3BPuw/K4cmxVaKUtKsruUVktq2/ZGHHh6FYAUV2/jjhlVY+MXWw11i9RvKqwtv7Nj1y8NUEx0DR9FYVVhbdErCn87BXfixLsylt6TLiGovtcuOaKm31MqK3IvkIQV/IHNNP0yOTB6sRrGK9/uuur8P/6yvpr+VUj3wf5rQCec8eU32fl3y/lP7OTf79F1PYzUrpidcSm2u+t8ntS/L1R/LNU+jOe3xbjpV+csGI1Tt8e2wtbwkzy3V7ek5P2di3/JuJYAgQIECBAgAABAgSmFRCsTks0JwcIVgWro403stJvLDYt31u14rYAo+eMHlsI9LaecGusvDqKArLxoCH7j/AVny/bemB07KXT/F62Z2YhkLkqrp5yjsKxa24vChfyYc+uuPKzF8Su16yJTSXXOBraZMHmaFA89hNZw7VX2o92JLjePh6ujYZOhUBiJMAp1FlqOlJDWW3l9RTCo+L7UDxfNsIje2LxcUX7ixY/BpwPDdfEprEgpdALhdBmdP4TR1Y1TxirJHSc+D02+dwrYls2b9F9KA3590T5atOSlcEV7kshDFv9gStj1+Xl+6pW6Ncip8J9GgvQxvol23dyPPxa+vEa+rfwBw7lPw8ZUxV9VThm+5hR6b0o1q60pcfINRV+Fsvv88jP05rvVtfzJcdOE6xO1yOTBavl9RT3Q1TYsqT0+sp7b+LP0tg9vuydEdd9qGzf3fHjR77Div6wqagXXv7Pxaajc5b9TE93/aWVTgxWp/re2lX+B1T5n8sY+Rme9Gdp4r0fC0jHtgJYH+N9Vvm7Pf/9VvZ9Myf/5mJSAgQIECBAgAABAoehgGA1zZsuWBWsVu7MsRVno4FfVH65SfEqtZJg9d4VZQHl+CPa+WC1ZOuB8X0wp/q9CcHqFHOMBavF84yFQSPBaskLjgoB2IQxCwHYxBe7VLr2SYPVknFLH1cv3YqhwsuXymubLtTKwrRK11EIUMfueGmYO+4xcQuIiVsdTLWysFJLlQX3kc1d4T6UBL6lodXYqIUAuOLjy6N++WC1intW7JTv+ShauV0ceJUFq1X37+T9MxJQTV1jpWMm27qj4j8vmWNib+Xva7U9n/lsXDrycz3ditXiPxAoeile8R8mVHp51aT1xGgIXL5lyZSPsFf6WRrt7RdnwepXJrysaczwFdvKemG8pyvXOPlcxS8FrLy6s0KwWvF766qIDZO9eKvC/BX+8GTiS90m32N10u832wak+W9zqiJAgAABAgQIEGh5AcFqmrdYsCpYnbIzx/7j+g278m9WL32YfPTUiitWKx6ZX7U5MTwdL2Hy/V5HjilZsXqIwWrZpgYjE1R6zLritgGVr32ugtXi4HNi8FO+ArU87Ju4L2n5m9PHx39W/mVQ6+8vf8x4YlA9esdGV0JXeoy8csA91g2FcL98FV7hvk8brFbRrw0JVqfp38mCqCr6quZgtWz7jZHKJgvQR7fvqDZYLf6mmDJYnb5HptxjdcLj+9m2FItHX7JX6euquBeLf3+6YPVDU36fRfkfRJStCK9UyUhwWvhDh1p+RsZfjDbhO7DMurDqdrp7W1rfNMFrNX9YM7rVyGR/IJDmv+KoigABAgQIECBAgEDrCAhW07yXglXBalx36tpJ33ZeGqxOXF1X3NZTr1idKnxKY8XqpD+iVazQmurlVZMFnYXVYzO+YrVS/VOuZJxqxerII8elq30rr7LNe04599QrVvN7nZaFfiWW0warVfRrQ4LVqfq39hWrJX1Y1crQ0Qh70pfQFUacrRWr0/dI5WB13DFbcT56VWP9NtUfyFT+2Z0uWJ24YnVs1qK9nEf+2fjPRH4bkoorwid3LoS05avkx6+ximD19hWx7fzRFaaFqcZWWY9sqzHpitTRkNiK1TT/RUxVBAgQIECAAAECBKoREKxWozT7xwhWBatx3amnxvi+fcVNWLSf4+iK1fxLT84q7NVZGlxMv8fqyGPWE/ZKHF2hNiN7rE6xFUClPVbzL7UZu75Riyn2wiwEFdMGq8V7bFbaY3Wszjr2WC2srCteUVcc/Eyov3xFXS0rVifu5Ti2r2mlFzRNOffEvW6L99QceYlU0V69hZWMJVsBlO6jOraf7RR7rJbcs3qD1dsnvjSoYv/WucfqWABWa7BaXNeE7S1qDVZLbSfusbo+smvOh6Al+25O3yNTBavrR/fyHQ/mR+aZsDfzVNt35E+u8LM0+rO3fIo9VjP7/Fwle8+OjJV9T06+v3NhG4mJ8075M1K2R/GkK1bzwWqR+VhvZXvBTrdfcTUrVovv93R7rE79hxaz/68yZiRAgAABAgQIECDQ+gKC1TTvsWBVsDoeilTq0WneBl+8Z2BxuFj+Ru3St4/X9lb18rdxF/ZmnDhH4W32I8HvlI/U5veMLX1UfKo321d6y/dk117OOLLKcmmsjk2xaXS/yQlvGJ8QAJc/xl4U5GUTlLx1fXWsPn9TbBodo+IekCXHZ48oj+zXuP7+bNzy1W7T7LFa9qj2+AvJJnkke6q5P7s0bi25D6VjlNzjrBeviLg6O76wPUDZ2+cLb33ftebBuCyyPVNLN3yYcM/qCFZXHVdb/2a3a9I3p5fVP+HYGoLVsZecFe1pWrq1RQ3B6oQey1dWtP9sWQ+efmVsPGNbrCl5XHy8h8t7JHsBWKU9VscC2qIfovGflYnuFbfuKP4BLN9u4fyNsTHWjMz9nDum6I/yPYEjomhLiqm/34qC5tFapv4ZqXaP1etj5MVZxdusFP28TNhaYpqtCIr3YB39+6XZ90hhO4mi7/6JL40rDVanfolYmv/yoyoCBAgQIECAAAECzSYgWE3zjglWBatpdmYLVTXVC3kadZlT7lnZqEmMQ4AAAQIECBAgQIAAAQIECMyJgGB1TtinnVSwKlidtkkccGgCjQ9Wy1aUFm2lML435aHV7GwCBAgQIECAAAECBAgQIEAgHQHBajr3orgSwapgNc3ObKGqGh+sTnzUeMptDFrI0qUQIECAAAECBAgQIECAAIHDUUCwmuZdF6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Hx+yhlAAAWcElEQVQ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AcFqwj0gWBWsJtyeSiNAgAABAgQIECBAgAABAgQIELBiNc0eEKwKVtPsTFURIECAAAECBAgQIECAAAECBAjkBQSraTaCYFWwmmZnqooAAQIECBAgQIAAAQIECBAgQECwmnAPCFYFqwm3p9IIECBAgAABAgQIECBAgAABAgSsWE2zBwSrgtU0O1NVBAgQIECAAAECBAgQIECAAAECeQHBapqNIFgVrKbZmaoiQIAAAQIECBAgQIAAAQIECBAQrCbcA4JVwWrC7ak0AgQIECBAgAABAgQIECBAgAABK1bT7AHBqmA1zc5UFQECBAgQIECAAAECBAgQIECAQF5AsJpmIwhWBatpdqaqCBAgQIAAAQIECBAgQIAAAQIEBKsJ94BgVbCacHsqjQABAgQIECBAgAABAgQIECBAwIrVNHtAsCpYTbMzVUWAAAECBAgQIECAAAECBAgQIJAXEKym2QiCVcFqmp2pKgIECBAgQIAAAQIECBAgQIAAgZJg9VA4Fi1adCinx8qVK+O4446Lzs7O6OjoyP9qb28f+5XL5aKtrS0/R/b32a9W/whWBaut3uOujwABAgQIECBAgAABAgQIECDQ1AKFFauHchGC1UPRq3yuYFWw2viuMiIBAgQIECBAgAABAgQIECBAgEDDBASrDaNs6ECCVcFqQxvKYAQIECBAgAABAgQIECBAgAABAo0VEKw21rNRowlWBauN6iXjECBAgAABAgQIECBAgAABAgQIzICAYHUGUBswpGBVsNqANjIEAQIECBAgQIAAgf/X3t2sNtX8ARyf9EVEUUGhNyEoXkXXunLXy+jKlV6ILt2I296EIOJNWBRERLFvfyb9j8wzPWkyfUnGM59CqM/Tk+acT37J4st0QoAAAQIECBC4LgFh9bpkL/d7hVVh9XIT5N4ECBAgQIAAAQIECBAgQIAAAQLXKiCsXivvhX+5sCqsXnh43JEAAQIECBAgQIAAAQIECBAgQOD6BYTV6ze+yCMIq8LqRebGfQgQIECAAAECBAgQIECAAAECBJYkIKwuCbryYYRVYbVyZBxOgAABAgQIECBAgAABAgQIECCwTAFhdZnaiz+WsCqsLj4tjiRAgAABAgQIECBAgAABAgQIEFi6gLC6dPKFHlBYFVYXGhQHESBAgAABAgQIECBAgAABAgQIrEZAWF2N+7xHFVaF1Xkz4ucECBAgQIAAAQIECBAgQIAAAQIrFBBWV4h/zkMLq8Jqm5PprAgQIECAAAECBAgQIECAAAECBKYCwmqbgyCsCqttTqazIkCAAAECBAgQIECAAAECBAgQEFYbngFhVVhteDydGgECBAgQIECAAAECBAgQIECAgBWrbc6AsCqstjmZzooAAQIECBAgQIAAAQIECBAgQGAqIKy2OQjCqrDa5mQ6KwIECBAgQIAAAQIECBAgQIAAAWG14RkQVoXVhsfTqREgQIAAAQIECBAgQIAAAQIECFix2uYMCKvCapuT6awIECBAgAABAgQIECBAgAABAgSmAsJqm4MgrAqrbU6msyJAgAABAgQIECBAgAABAgQIEBBWG54BYVVYbXg8nRoBAgQIECBAgAABAgQIECBAgIAVq23OgLAqrLY5mc6KAAECBAgQIECAAAECBAgQIEBgKiCstjkIwqqw2uZkOisCBAgQIECAAAECBAgQIECAAAFhteEZEFaF1YbH06kRIECAAAECBAgQIECAAAECBAhYsdrmDAirwmqbk+msCBAgQIAAAQIECBAgQIAAAQIEpgLCapuDIKwKq21OprMiQIAAAQIECBAgQIAAAQIECBAQVhueAWFVWG14PJ0aAQIECBAgQIAAAQIECBAgQICAFattzoCwKqy2OZnOigABAgQIECBAgAABAgQIECBAYCogrLY5CMKqsNrmZDorAgQIECBAgAABAgQIECBAgAABYbXhGRBWhdWGx9OpESBAgAABAgQIECBAgAABAgQIWLHa5gwIq8Jqm5PprAgQIECAAAECBAgQIECAAAECBKYCwmqbgyCsCqttTqazIkCAAAECBAgQIECAAAECBAgQEFYbngFhVVhteDydGgECBAgQIECAAAECBAgQIECAgBWrbc6AsCqstjmZzooAAQIECBAgQIAAAQIECBAgQGAqIKy2OQjCqrDa5mQ6KwIECBAgQIAAAQIECBAgQIAAAWG14RkQVoXVhsfTqREgQIAAAQIECBAgQIAAAQIECFix2uYMCKvCapuT6awIECBAgAABAgQIECBAgAABAgSmAsJqm4MgrAqrbU6msyJAgAABAgQIECBAgAABAgQIEJgZVnd2dmbqvHnz5szP7t69eynN7e3tsLW1FTY3N8PGxsb0tr6+/vc2mUzC2tra9DHiv+Nt7F/CqrA69hl3fQQIECBAgAABAgQIECBAgACBf1pg1orVobg6FFXjxQurVz8CwqqwevVT5TcSIECAAAECBAgQIECAAAECBAhcmcB5WwHkcXVWVBVWr+yp+M8vElaF1euZLL+VAAECBAgQIECAAAECBAgQIEDgSgTm7bEa4+p5UVVYvZKn4cwvEVaF1euZLL+VAAECBAgQIECAAAECBAgQIEDgSgTmhdVFHsRWAIso1R0jrAqrdRPjaAIECBAgQIAAAQIECBAgQIAAgaUKCKtL5V74wYRVYXXhYXEgAQIECBAgQIAAAQIECBAgQIDA8gWE1eWbL/KIwqqwusicOIYAAQIECBAgQIAAAQIECBAgQGBFAsLqiuDnPKywKqy2OZnOigABAgQIECBAgAABAgQIECBAYCogrLY5CMKqsNrmZDorAgQIECBAgAABAgQIECBAgAABYbXhGRBWhdWGx9OpESBAgAABAgQIECBAgAABAgQIWLHa5gwIq8Jqm5PprAgQIECAAAECBAgQIECAAAECBJoR2N7eDltbW2FzczNsbGxMb+vr639vk8kkrK2tTc83/jvexv4lrAqrY59x10eAAAECBAgQIECAAAECBAgQIHBJAWH1LKCwKqxe8mXl7gQIECBAgAABAgQIECBAgAABAmMXEFaF1XBychKOj4+nt6Ojo+nt8PAwHBwcTG/7+/thb29v7K8F10eAAAECBAgQIECAAAECBAgQIEBgYQFhVVgVVhd+uTiQAAECBAgQIECAAAECBAgQIECAwKmAsCqsCqveDQgQIECAAAECBAgQIECAAAECBAhUCgirwqqwWvmicTgBAgQIECBAgAABAgQIECBAgAABYVVYFVa9DxAgQIAAAQIECBAgQIAAAQIECBCoFBBWhVVhtfJF43ACBAgQIECAAAECBAgQIECAAAECwqqwKqx6HyBAgAABAgQIECBAgAABAgQIECBQKSCsCqvCauWLxuEECBAgQIAAAQIECBAgQIAAAQIEhFVhVVj1PkCAAAECBAgQIECAAAECBAgQIECgUkBYFVaF1coXjcMJECBAgAABAgQIECBAgAABAgQICKvCqrDqfYAAAQIECBAgQIAAAQIECBAgQIBApYCwKqwKq5UvGocTIECAAAECBAgQIECAAAECBAgQEFaFVWHV+wABAgQIECBAgAABAgQIECBAgACBSgFhVVgVVitfNA4nQIAAAQIECBAgQIAAAQIECBAgIKwKq8Kq9wECBAgQIECAAAECBAgQIECAAAEClQLCqrAqrFa+aBxOgAABAgQIECBAgAABAgQIECBAQFgVVoVV7wMECBAgQIAAAQIECBAgQIAAAQIEKgWEVWH13LB6eHgYvnz5Evb29ipHy+EECBAgQIAAAQIECBAgQIAAAQIExisgrAqrM8NqjKoHBwfC6nhf/66MAAECBAgQIECAAAECBAgQIEDgggLCqrAqrF7wxeNuBAgQIECAAAECBAgQIECAAAEC/QoIq8KqsNrv69+VEyBAgAABAgQIECBAgAABAgQIXFBgVljd2NgIa2trYTKZTL/Hr/jveBv712R3d/dkzBd5cnJ6efF7fjs6OgrpFrcBsBXAmKfAtREgQIAAAQIECBAgQIAAAQIECFxGYCisxqi6vr4urF4GtuX75mE1nufx8fHfVasxrKaomsLq/v5+eP/+fbh582bLl+XcCBAgQIAAAQIECBAgQIAAAQIECCxF4NevX+Hp06dha2srxJia34TVpTwFq3mQFFbjo8d/l2E1xdX4wVUxrn79+jW8evUqPHnyZDUn7FEJECBAgAABAgQIECBAgAABAgQINCTw4cOH8OLFi/DgwYOwubn5N6zGqJrCatoOIJ62rQAaevIucyqLhtW0cvXHjx/h4cOH4eXLl5d5WPclQIAAAQIECBAgQIAAAQIECBAgMAqBGFU/f/4c7ty5c2a1ahlW096q9lgdxVN/ulI1fqU9VuOq1XQb2g7g27dv4fnz52FnZ2ckAi6DAAECBAgQIECAAAECBAgQIECAQL3A69evw9u3b8P9+/f/s1o13181rlZNK1aF1Xrjpu8xL6zmcTVuCfDnz5/w/fv38Pjx4/Ds2bPw6NGjcOvWraav0ckRIECAAAECBAgQIECAAAECBAgQuAqBnz9/hk+fPoV3796Fjx8/hnv37oUbN24MbgOQ77GabwFgxepVPBMN/I4yrKa9VuOq1RhVy1WraVuAOES/f/8OMbbGY+JX2qM132KggUt0CgQIECBAgAABAgQIECBAgAABAgSqBfIVpimMxtWnMaTGD3e/ffv2mQ+sSqtVh7YBsGK1+ilo+w7nhdUUV2NMLQNriq7xe9o6IG0nUO7d2raAsyNAgAABAgQIECBAgAABAgQIECBwKlCuJk1BNX5Pf9afPpgqfo8hNb/lP8u3ALBidaQTlsfVtOo032c1RdX8ewqrKb7mUTX9e6RcLosAAQIECBAgQIAAAQIECBAgQKADgTyq5itW83iax9Uyqva6v+o0UO/u7p5+stPIv+ZtB1CuXC2jar4FwNCq1ZHzuTwCBAgQIECAAAECBAgQIECAAIERCuR/up9Wnw6tWk1xNf35f+/bAHQfVsu9VvM9V/OwOrQNQB5qR/iackkECBAgQIAAAQIECBAgQIAAAQIjFsi3AyhXraawGr+XK1fzoNrzNgBdhtV40fmK0xRN820BUmAtf5b/+b+wOuJ3FpdGgAABAgQIECBAgAABAgQIEOhAYCiulqtWU1zNv+fhNY+yiazcw3WslN1sBZCCahlWUywtI2q+r+rQNgD57yuHI/9gq7EOjusiQIAAAQIECBAgQIAAAQIECBD4twSGgme+FUD5IVbxv8sVquWeqmVY7SWqxme+y7A6FFfLD7TKtwkoP7RqKKqKqf/WG4mzJUCAAAECBAgQIECAAAECBAj0KjArsJ63JUD8Wb6atTw2WQqrI56q8k/4y2iaB9byZ0NbAYyYyqURIECAAAECBAgQIECAAAECBAh0IDBr1WqKp/OCan7/Drj+XmJXK1bTVc+Lq4sEVStUe3qZuFYCBAgQIECAAAECBAgQIECAwLgF5sXVcoVqGVN7WqmaJqHLsBovflZcTT8rV6cOHT/ul5OrI0CAAAECBAgQIECAAAECBAgQ6EFg6EOs4nUP/bl/+n/p5/n3Hqzya+w+rM6KrOX/L1eoWrHa20vF9RIgQIAAAQIECBAgQIAAAQIExilQrjYtV68ORdRe//xfWM0E8kB63qrUWSFVYB3nG4qrIkCAAAECBAgQIECAAAECBAiMXWDWn++XK1iHwmr+/8buNOv6ul2xmoOctxrVStVeXxqumwABAgQIECBAgAABAgQIECDQn8BQVB2KqD3uqVpOg7D6f5GLrEi1WrW/NxdXTIAAAQIECBAgQIAAAQIECBAYi8C8ODr083n3GYvNItchrBZKi8bSRY9b5ElwDAECBAgQIECAAAECBAgQIECAAIFVCswLpvN+vspzX9VjC6tz5AXUVY2mxyVAgAABAgQIECBAgAABAgQIEFi1gKA6+xkQViunU2itBHM4AQIECBAgQIAAAQIECBAgQIBA8wICav1TJKzWm7kHAQIECBAgQIAAAQIECBAgQIAAAQKdCwirnQ+AyydAgAABAgQIECBAgAABAgQIECBAoF5AWK03cw8CBAgQIECAAAECBAgQIECAAAECBDoXEFY7HwCXT4AAAQIECBAgQIAAAQIECBAgQIBAvYCwWm/mHgQIECBAgAABAgQIECBAgAABAgQIdC4grHY+AC6fAAECBAgQIECAAAECBAgQIECAAIF6AWG13sw9CBAgQIAAAQIECBAgQIAAAQIECBDoXEBY7XwAXD4BAgQIECBAgAABAgQIECBAgAABAvUCwmq9mXsQIECAAAECBAgQIECAAAECBAgQINC5gLDa+QC4fAIECBAgQIAAAQIECBAgQIAAAQIE6gWE1Xoz9yBAgAABAgQIECBAgAABAgQIECBAoHMBYbXzAXD5BAgQIECAAAECBAgQIECAAAECBAjUCwir9WbuQYAAAQIECBAgQIAAAQIECBAgQIBA5wLCaucD4PIJECBAgAABAgQIECBAgAABAgQIEKgXEFbrzdyDAAECBAgQIECAAAECBAgQIECAAIHOBYTVzgfA5RMgQIAAAQIECBAgQIAAAQIECBAgUC8grNabuQcBAgQIECBAgAABAgQIECBAgAABAp0LCKudD4DLJ0CAAAECBAgQIECAAAECBAgQIECgXkBYrTdzDwIECBAgQIAAAQIECBAgQIAAAQIEOhcQVjsfAJdPgAABAgQIECBAgAABAgQIECBAgEC9wP8A22vsdN15c/IAAAAASUVORK5CYII="/>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dirty="0"/>
          </a:p>
        </p:txBody>
      </p:sp>
      <p:sp>
        <p:nvSpPr>
          <p:cNvPr id="5" name="AutoShape 4" descr="data:image/png;base64,iVBORw0KGgoAAAANSUhEUgAABVYAAAKlCAYAAAAgmLcrAAAgAElEQVR4Xuy9CZgV5Zmw/ZxeWGTfwQYBcVfAyKZsKi4sLhiN0SiaKIyTZa7EZCZf/vky+ufSmf+fzDczMbn+mZgE0Ym4LxEVESWoICiLC+CCrEKDssouS2//9VTVW6eqTtVZq7tPd9+VtE33eetd7vet6u77PPW8iV/96ld1wgEBCEAAAhCAAAQgAAEIQAACEIAABCAAAQhAAAJZE0ggVrNmRUEIQAACEIAABCAAAQhAAAIQgAAEIAABCEAAAhYBxCoLAQIQgAAEIAABCEAAAhCAAAQgAAEIQAACEIBAjgQQqzkCozgEIAABCEAAAhCAAAQgAAEIQAACEIAABCAAAcQqawACEIAABCAAAQhAAAIQgAAEIAABCEAAAhCAQI4EEKs5AqM4BCAAAQhAAAIQgAAEIAABCEAAAhCAAAQgAAHEKmsAAhCAAAQgAAEIQAACEIAABCAAAQhAAAIQgECOBBCrOQKjOAQgAAEIQAAC8ROorKyUTp06SceOHeOvnBohAAEIQAACEIAABCAAAQjUAwHEaj1ApUoIQAACTZHAe++9J8OGDWuKXafPTZzAxx9/LCtXrpSbb75ZWrdu3cRHQ/chAAEIQAACEIAABCAAgZZCALHaUmaacUIAAhDIQACxyhJpLAIbNmyQfv36IVUbawJoFwIQgAAEIAABCEAAAhDIiwBiNS9snAQBCECg+RHIVazqo9sLFy6UHTt2WDDOOussmTRpkivHnnrqKbnpppus144fPy7vvPOOrFq1So4dOyZdunSRMWPGyLnnnisarfjRRx+FAj3vvPOkZ8+eVjthh9a/e/du6/XTTz9dLrjgAl+x+fPny/79+91+mBe1Lz169JDTTjsttF5Tp/fFU045xarfRFRG9btXr15yySWXpNT75ptvWuPVdvXcbdu2ycSJE33lvGX03zt37kypxzDVF3Qca9askX379llMBw8eLBdddJF7Tlgd2j8tY8ah89S5c+eUvrz//vuyfv16mTBhgtXnbNgZbp9//rm0adNGhg4d6mPhHZ/Wp+WXLl0qa9euddfQ6NGj3fZMfdddd51Puio/PZQnBwQgAAEIQAACEIAABCAAgcYigFhtLPK0CwEIQKDICOQiVlWU/s///I9MnjzZijQ04lRFoBF/v/71r+UXv/iFNUoVgAcPHrQkmwo9lbLz5s2zzte8mgcOHLDKffLJJ9bnc845x/psXlNxqoIveGjbWtfzzz8vbdu2lbvuusstou09/PDDlsg1/dAXta9PPvmkVe673/1u6CwYaextU0WjSlrzuLoZk+mrqUiFoldEmu+rwFRpqH3WcxctWiRXXHGFTwZ7y+i/VRYH69Lz9VBJuWXLFvnmN79p5SXV8f7lL3+R/v37uzIzrA4dhzLxzpP2+Y477vDlN/3jH/8oR48eleuvv97qcyZ2KkG1fWWmwtr054wzznBlr3d8Zn7GjRvnMtC+LV682O2LzsPjjz9uSfupU6e6c6X89PBK5CK7nOgOBCAAAQhAAAIQgAAEINACCCBWW8AkM0QIQAAC2RDIRayq8NJIQ2/0pLahwsvILq9Y9Qo10xetQw8j7cz5QWEW1Za3Hu2LylmVjEZEqqRT2ffhhx/6xKp+X+WuRoxqBGqYBI1qc86cOZY01EjJXOVeUKyqWFQxqqLWbNgUFKtGxAbnT89VOaxi2JuTVKXxgw8+6IrJMO5al3du9N/nn3++xcFE/BpJqmLb24d07LxsTH+1n2+88YYrRb390Whib5vmHCOsNZrXzIOKYI1wNhHGubLPZv1TBgIQgAAEIAABCEAAAhCAQK4EEKu5EqM8BCAAgWZKIBexagSeRhIOGjQoND9mMGJVH1kfPny4VTZMZhYqVvURdxWURg6q6FMB+txzz/nEqkZiqpBUabdx48aUR+C1H1FiVXOB6mPoGj2Zq9wLilVtx0TvmmjMbMWqkcbBVAJap1dYholVPVc3ijLRvTpPN9xwgzsurUPLqBTVCGSvWE3H7re//a18//vfT5sn1dsfLR+MktW2TSTrT37yE3ceNApWo2GNSM6VfTO9ZBkWBCAAAQhAAAIQgAAEINDIBBCrjTwBNJ+ZwNKNK2TX4b2ZCzolxg0aKd3ad40sv/fwV7J44/Ks6+vZvpuMHjQi6/IUhEBTJZCLWNUxmvyYmk9TIwpVsnrzY3rFqpGm69ats3KyhuUDNWX0s/cRb/M4eJDrgAEDrIhZI0FVvr3yyiuWfDPiV+Wctx9aVtMNGCFpRGFwJ/ooser9vnmcP9iv8ePHhz6iHiZWdZz6/WHDhlnRmEGxqmy9xy233OKmEghyMuW80lHrC9ah3Lx5Uw0frxjVNA9TpkyxctcasZqJXXC+w64D7/jSlTevBXnrvGo6CcRqU73L0G8IQAACEIAABCAAAQg0LwKI1eY1n81yNC+selVUbmYjV9uUt5KhFedIn069I1l8eWCHrNr+iRyrOpGRl2n3uqGTMpalAASaOoFcxap3vCpZNZJTN6cyUYtR4kzlmEZ+atSkN/9mOrEalnbAtO+VbypK9dF6/Z7ZHMrbD43m1Mfv9RF3PVTyXn755SmbIKWLWFVOKnRzlXtRYtX7WP8LL7zgisyox/ijOBkemntVRbGRtkaMmsf7vekS9BzDR9n07dvXEreaZkAjWoOP7qdjF5dY1fXxwAMPWFHGwXlQ4atSWOc2Siw39euQ/kMAAhCAAAQgAAEIQAACTYcAYrXpzFWL7amKVT3WHPgiI4PBnU6WUQPOzyhWl33+Ydb1aaOI1YzoKdAMCOQiVlUqmuhB79CjIhJVut19992+x8TD5GWYrMw2x6rKTpWKmg5Az9E0ABoFaoSfiWLVzZjMoVJTBW9wE6uoNr2P2cclVo0o3bVrlxX5a0RoOrFqJKl3sy4zJpXLRp4G61ChvWTJEncDLq9YNWkOVKyajcbM+T179rRyt6ZjZ1IvmDyopj8qQ80GW97+hOVk1XNU0GtfND1CcB7Mpmcq5I08bgaXHkOAAAQgAAEIQAACEIAABJooAcRqE524ltRtFaud2raXnYe/kvWH94QOvV+bDtK5dQfrtWzE6vzPFkvlsUPSpay17Ks+nlKn1qevm3qzFauaZuBEjT8S1kTPel9rVdoqMl2Bt1z71u2lQ5v2bv9OVJ+QvUe+cr/u1q6rtCprldL/Q8cOy+Hjh33fz6dstu2Fjds0nm6sYf3Uutq3aS8dWrdPm9LBOzitZ8verXK82mavqSAGdDsl8jIJjss6J4JlWFltR/t5cmc7MjpdhHRUJ/T8z/dulWH9z8/6ctZo6+Dxxf4d1hrRj6gxZNtALmLV5MHUR9NNvlSVfbqDe1jEqgpJPbw5QfV7Ksf00W5zFCpWtQ+aDmD//v2iaQD0MGLV5A31tqevm8fevXlfw8Sq2bHejC9OsWr6of1WealyM51Y1fL6eufOnVOYah1mU7GwOlRoqigN22RM0wFonZoGQHmY85Wrka3e9eRlZ6StkahaThlt3bo1tD/K+Pnnn5ewNWQYhM2DynONjB45cmRoyoVs1zvlIAABCEAAAhCAAAQgAAEIFEoAsVooQc6vdwJG2r21cbnsOXYoVISqIL1y0Kis5JIRZWt3bpADRw+HRq6e3r67tCltJef3PScnwbdu5wZZuuUDV9peVHGuK870tfe3f2KNQft6Rq/TQtlpudc2LrPGqWL3lgumuvJUBeKSTctlxZ7P5bKKwTK44myfeDUVmnQHWk6PTGWVrZHWY3ufIcNPOd+qV9tbufVDeXvHOhnRfYCMOXVkaHtmbFqHzkXfdt2sdvcfP2QJ7ygxrf30Rg9rxPGxmhNuX6b0vyCjeNS2n/pskeicnd7tFKncv8Oa028OulDOqzgnlLGXoxZINzYvAy1r1ob+e9uRvdY86ZivPnNcWpkb7Mirnyy05nHG0ClZi9n3tnwo72z/2F0b5s0E5axvBJi5zjcncC5iVdvSyMIFCxZYIq5NmzYpj9V7Hw3XaFF9zF0fve/du7ccOHDAehz/uuuu80WxRolVFbZhh0o5PbypAjRis3///q5wNP3wRnJ66wrbCCosr2swh2xUjlWtWx9jDx5RqQBMOZWXs2bNskRjNmLVMDUsw5iGiVUTuWs2jgpLlWAiYc358+bNc6Ng07EzTDSPq/ZHxbmRtHpesD9mDema0COYmiFMrGr/VegOHjwYsVrvP4FpAAIQgAAEIAABCEAAAhBIRwCxyvpoMgRUKr2y5f3I/t4z/s6cxhKUet6Ts0kpENWY6afWERSK+pqKv0wRsBqla1IfqPSbdM4EtzkVfQ8sf1oyjVfHN3PVK9Z5mcqaOrVsUEga0XvXyBtDo2NNx8LGrX1QgX3pGWMj5yasn0Y6hjH0VqSS/NdLZ1sC+nsjb3Rf0vOzybVr+GQjN+9fNMuq31tW21+47m1LkKpc/e4FU0PFc3DwXt7B+c20iM3aCErnj7Z/In/Z+K51+k1njo8U9+nqz1WsmrpUfumhUZDBTaCC7WnUowo3FbHeCNFM4+b1aAKGqYpqTYPQ2IeKT01rkMscmzWkQpkDAhCAAAQgAAEIQAACEIBAUyGAWG0qM0U/paWJVRMNqVMflGgq+TLJ0lzEqrZhZGZQUprNwzJFQaYTyumWb1g/TV2ZpKM5V6NIb77gWrcZ/X4wjUJYH8JkaVRfo8oauRs2T1F1eSNPtczdI7+dlZDVslFi1ftakEe2t498xWq29VMOAhCAAAQgAAEIQAACEIAABCDQnAggVpvTbDbzsbQ0sdqvc2/ZfeQrKxpSD28UYn2IVc33+ejHC6y2TFSmiazMRvyFidV8+qmi8vH351iPtmeKJNU0Ef/9/gtWnzW6VZlp3tNsc43GIVa9QjNThK25RB9Z/oxcMmiUvPzZYuuxfk3VkElcm3PTiVXvNZJJvIfdLhCrzfwmyvAgAAEIQAACEIAABCAAAQhAIFYCiNVYcVJZfRJoiWJ1cMU58vzqV62co/qo+XeGTLY2ZspHWGYzNyr8VGhqnlV9fF+Zq9z1piKIqidqfjIJPm/EqgrG93eus5rI9rH6J99/MXRTs2weh28MsaoCW4Xq342+VZZuXCF/3b7GmttMqRYQq9msYMpAAAIQgAAEIAABCEAAAhCAAAQajgBiteFY01IWBDSf56a9W2X/scPWJk9euZavWNUISN3wSXdy9wrCYs+xqtGXumO8RmU+sXqeu0mSMok7x6qZGm+ezl+MnmZFjmpk5YBup2ScvWDEqnlEPhex+sMLrnMjUNNtPhXsjMpK5WQ2rtLXVVaqvEx3xC1Ws4k81ZQLemgOWI0I1o239MhGBGu5bCJWg+kcMk6eU6ClRazqZlHHjh2zNorigAAEIAABCEAAAhAoUgJH1sq8xxZJpQyRqXddKL2KtJuFd2unvPvHObJ66FS5a1TzHWXhnKgBAsVFALGaYT7q6uqKa8aacW9UMq3Z/qkcOn7Y3Qzo9guudXNPqribt+WDSAL/NP6OlNdUtj25+lVLSuoxuf83rEfF+3TqLSpWl3++yt0kynuyPtI9csDQrHdr955r+ql1TB060dcnfW3b/p0p3w92fM6q+dK3cy9LrOqhfX1o1Tzr35o/UyNYw8brrcd7Tqay5jyVof+29DHrS+2/7jb/3ZHfymrVhY1b+6Cs0x3Bfpp6VIx65z+sDu2vStUzep3mvqxz/vv351hfZxr3Py962Co3fejkjP2MKutllqkeXeO/Xf6MxdYcylijhFWGZsNa14ZubKZr2awPU5d5bUzv09NuGBY1Hy1JrOqGTw8++KBcfvnlcsEFF2S1xikEAQhAAAIQgAAEmj2BI2vl1ccXi25N2m/8rTLpzJNChvy1rH31MVlsFRont046S8JKpWO1c9mf5MXVg+Xav8ksSnMpm/v87JR3//SirBlyrfxNo8vMYupL7iSb6hlff/aqPLZIZNwtk+Ssdk11FPXf70QiUf+NNNEWEKuBiUsnUpGs8a9yFU3rd22Uj3aul8pjh6Vfm/ZySuc+UtGpt/Tv2s+3C/37W1elFau/HPc9Xwe17lc+fUOOVx+36jbHeZ36yNQhE2XHgZ2ybMuH8tGBL1MGpmVG9T9fenfK/Z1C088uZa1kxohv+cYwZ/V8Kw/oBacMTQszrJxyevqzxe55wfEGK9TxPbTalrGZynrPfXP9ElmyY731LZV3mfpqzjXjNnzN93Us404dIV3bdw0dc7CfKiqf/OBFa86CdYWNUedQ59McOu+/W/GstZZuHxEthb9SAfvBi9Zp04dMzjjX/7L4kdCyhtfw7v1l4tmXpp1XZbR+71a56RvXuOW885pNP5Snrtng3Jh6wtZdtlfu+++/32Ik47vvvisqV6+88sps8VAOAhCAAAQgAAEINH8CRz6TV59YLNt0pH3HyS2TzkyVptmUyUBq1/KZtlidMUp6pitrtbVZBn5nkpxZL9JrlyybaYvVGSPT9qT5z30LHeHX616Vx1Ws1tsaCwNrr7t942+RSWcE35Zw1mTYacF16r0WrfJ9w8eRVbn07Zo3HvyC1Y6y3nfxNJkc+iaMGUS6ck6kdth4g9HbbvS6KdxPxt86udGFOGLVmY+gNM0kUTO93kLvSVkP+/DxI/Le1lWyZOc6Gd5tgAzs1s+KGGzfOvqnpUqpV7dGR6z+77F+sapttC5rJU988KJsO3bIamfl3s+tR8QHdeojQyrOtiJWPzr4RUq/z+toR6z27pi7WNV2f7fiGfu21qaDnNfTjqbcsLdS9h4/JLd949q049TzX/nkDenVvquMPnWElJeWu/17a/1Si5kewfF6B1FVUyVrtn/i8rr1nMssUZ3N8dWRffLgB3bE549H3Ji2r9763t30niz8Yo2c1q67jB80wkq9oNGjy774RH5w4XdCmw72804VnB17yZavKuWxT/5qnTPplGi5u+PgTpm1ep5VxkStLt20wprndGPWdjXtxJxNy6w2pp46yjrfy9rbYe+calnNc6sC99MdG631o2vr0jPGRJ6vdSnXlz9dKP079ZGLTx/tVu+tW9fd5HMvTVvP0x+8LBuO7JExvc6QM3sNsjh/vrfSWhe63q4+e4J0bdclm6lOKVOIWN22bZu0adNGunfvnrbtPXv2yMaNG60yHTp0kNNOO01atWoVeU66eg8dOiQHDhxIObdnz56hdWpd6Q5znqk33XhMXeacEydOyK5duySsbX1tw4YNovXqMWjQoLScgow0VYGyyvcwfevUqVNoPdqepkQIHn379k35Xj5stBLl5W3ftBnWRpBlOra6lrQuPXTtKSuznqLWh3dQpk9RDDKtadNGcN4zrTXtg449OLYgp+AERLGIe83ku9Y4DwIQgAAEmgGBrz+T+Y8vFunXTyorNYpvogR9ydF1860Iv379KqVSxsmtE8+UtjkOfdeKmfLiqiFy7YyR6cXq10fl6Eltc64/++7skuUzX5TVQ6+VGSMQq9lzaz4lzXoOW+v1Nsqdy2XmS6utqPCJZwSuHuca1IDwlMOzTu1+V/rqsK8rkSHXzJCRjsrItpw47W4Li0wNiei2BOuOd+WPL66WfpnEarpyKbLUM2qPWP36s3ky+61KX1s7l/1R5uh4r71LLkz/oGy9TaVWjFgVEa8kjfq3mQWEauHrUQXTU2vmy6BOvWX0wBHSvk12bz1+sHV1WrH6j2O/m9I5besPH7xoRT4O6tZP5mxaLp3LWsv+6uNyx5BJsmLLqsiI1RH98xOr2gkVfqu3fyobD+yw2tJjWLf+MvyUoRmllwrK3Uf2Wuec1WuQnN5zkG9c+vr6r7bIbcOvj5wMjV5cu9OWV+YYo1GjWQo3FbitS1vLhacOy2rClfOSTSsiy14zODwqMF0/tQ8HnUjjqL4fPnZE3qtcJZ9oXl6H82ntu8vIU4akFclh/U3Hxzsn3kH2aNdNBnTvm5WAf2nNa+6p3nn1fl8LaJ1R3MN46Tkd27SXkzv1SlkrWU2ep9AHH3wg3/jGN3I9zRKlL7zwgnXe3/3d30nr1q1T6jh+/Li89NJLsmXLFunVq5clYXfs2GGVmzBhgpxzzjkp52Sqd9myZfL222+H9rd///5yzTXX+PryH//xH2nHdtNNN1myy1tv2Hi8/TLnqBB76qmnxHxtGvrkk09k4UI7r27v3r0tgblz504J618YIxXH+/fvlxEjRsj48eNznhs9YdGiRbJixQqL+7Rp01LqePbZZ615CTuC7ebDRutV9mPHjpVRo0ZZzZg2r7vuOks0e48gyzC2KhLnzJljsVGWepj1dPPNN1uSNd36MO2ZPqVjoOtZ+xkmgWfPnm3NZ5BTprWm7f/93/+9JZy960br0yNsnrxzadZlfa2ZvBYaJ0EAAhCAQPMgoHLlibdFxo2VLovfln3jbgmIn6Py2fzH5e2uY2XsV2/L2zJWbgmIVRU5jy/2v6E9+OrpjujZJcsfeknWeGj11Tb6brXa7XL1dBmw9SF5abUGzNpt2/WJjP2OV/Km1pNsQ8SSRE59RjCZJneteEhe+sr026lnyDUy3SNW048hYqrdNm+RTh8+Lm8bBH2DjOw2le14WWSzstoXm43pi2cMhond8mC5ZvpI6em87pIOjMEuG+TknOsOIaov4ZLZYrfaO/5gfS7lwDxn0a51al9nngP9TmGoZZ216AIw5yb7lzqP3jLB88U3D6nzY5hkbjftzWDncnnoZfsKMGvcV956Xew5jqwofN26TNzrMttyIuJpt1eIXPVGqhqp+qeX7HGkFauOVI0sZ70uGfInR+Uf/lrWzpsti2S8TJuce0qSuG7aLV6sGlEaJlTTSVYEa/5L8LH3/iLbjh2WG04fY1Wy+atK2XXkK+t7E08ZKuf3G2J9Xx8Jf2bVXLl12DetrzWy7/Dx5CP9wR6ERZcu2vCOfLp3q0w+fYzMW79ELhs4Qj78Yq20KS2XS84YbaUDMHXuPrLPinDt2LqdtG/d3no0PF0Ebf4EOBMCxUngww8/lPPPt/P65nIsWLBAVPConLv00kvl7LPP9p2uUXYqrvRQ2WmiL/X7Kv3WrFkjt912W0oUZ6Z6ly9fLkuWLJGf/vSnvvY2bdokb731liVVv/Wtb7kRjL/5zW9kzJgxMnLkyLTDM/Xq+WHj0X6tW7fOGvO3v/1tqaiokO3bt8vTTz/tfq0NfPrpp/Lqq69adXi5almVgioEr7rqKrcvjz/+uCUKp06datVpDp2XN954Q4YPHy7jxo3LZWqssg8//LAVyamcZ8yYkRK1+txzz1nlbrjhBrdunRuVwkuXLpUzzjjDykWrRz5s9Lwge21z69at1hxpn7xRy0GWYWz1fE3lcOutt7rnap9V3qvo/OEPf5jCKWycplDUaxqRqnXqvATr1NdmzpwpgwcPlsrKSrnjjtQ831p/WP9Nu8HXzJoJmyfvXJr5qK81k/Mi4wQIQAACEGg+BL5eJ68/tURk7M0y9MCTMnffGLn5ijOSEaPO652n3CydVj8pS8T/+tH1r8uTb4uMuekKcZ9w3rlCHn7lI+k79ma54nQ7Om/Xyodl7prz5Ko7RtjyyKlXHZm3nL6UUqcpO/gquWO4rZ7sMtvkvCl3yAiN1HP76XztmSGrbXdcu2TFw3Plo5S6Mo8hZdI9Y3D7IUdl3etPypJtnrGK06ZW4GlXJaivL6FMTH16sqfOEMaGgc5lJPfIvgRH57QbmO+UefTMZT7t2vVpJX2TayhkvlNYhayTsL6Frc/U70XNj7Vys1svYXcEz3yal4Nr3fq+zuXqTv7rLlif5zo1c2uK2ON2+Enyek5bTrMR7FohD6/qJDdfmUz/kSJTNTrza03P8badLsQ5NPJ2cjBBbUgkaqiAVbH6Qef0YtSpS0IiY+2o1cZNCdCixWpQqnq/Tvda8/mp2Tgj+dOyZ2R/jR3Fqcep7brJOT0GyvGaKtl+YKdcdZ79B/ynX6y1Pndp30XW79osHSzh2U5O63mqfHV4n/Xa+9vWyOVnjbciRNu3aift27R369XvPfrR63JFv6Hyya6N0q9Tbzm950Dre7edd4UvynDxhnfl3V0b5JyOvd32G4dOw7f6YeUai/sXR/bJDedeLl3b5/cYecP3vOFaXLb5fdlz5CuL0XeHTfXlzW24XtR/S/mIVZWLv//972XixInyxRdfWI/Df+c7/tQPq1atssTg9OnTU6Senq/i77zzzrMiGs2RTb0q+VT83X333SlwNKJRo/9Gjx7titQHHnjA93UUUVOvCjPtx5QpU3xFddOr008/3RKVN954oytWn3nmGfdrPcGUu+yyy1KaMm384Ac/sOSiCrX58+dbkYph6RRM+TCG6VaGSuYXX3zRYq/yUFMveDnruc8//7xVxfXXp0bBm7kz48yHjdYdZK9tqhjVCN5TTjnFx1hlo5dl8Ouw+gwDLauRqhrdG+SYbpzpXjMMDQPTlkZLa4oHFdIPPfSQXHvttXLqqaemTEdY/7399Y416nrQ8sF+1Neaqf87DS1AAAIQgEBREziyTl5/ZqnImG/LFR0/lkfm7ZfRN14hZ5iHDHeukEfmiUz53rmy//WnZamMlm9fcYaTh/VrWaff6zJFvucIT3uszvc9ZXetfERe+ehcmfI9R6w67W4/L3iuyNfrX5enl4jbj5Rzw9pw6us8+Xu2aPUc1vn7TL93yYpHXpGP3XazH0PKPJoxVHiZiIiX6emWwbLbDJYz3zd9iajP5rFdzvWNLYKxO06nt1n3JTC6KJ4p9ak09/LN0K541oAWtdbXx1Kh689iZR/BObcZdE6uH7uUZy7F+vf+QD3+MraUD66v6PkxZdO1m2U6iRBuZqxWfw4MlSnyirzyUXIefPOd5nybVYV9vahYNdezh2eSaV8Z/e3LrTdBjq5fIE8dHCpXyVx55aPkRlX6JsHI3vbXKlqNbLU+O7lbE2Fi1buE0ohR6xH//RfIVJljPdZvDsJVZE4AACAASURBVN/j/YjVlNtNUXwjSqLq983HkSNH5OjRo1JVVeV+ryg638Q7oXk39eOk1m2l60ldrc96bNu3XbZ89YWcd/KZ8v62j2X70QNyZsfe8tlB+3Fhcwxs1002H9kr7UvLpVOrk6xy+u/DNVUybcgkq1hVdZXM/WyR9Xr78rZyoqZKxgwaIfPXviXty0+y2igvKbfa/nDbR/LRV9ukom0nqejQw/pe3y7JaLF0uLWd7fu3y4nqahnYvb+UlyXzoTaFaVLmb1aukR6t2sqF/b8hndp2bArdbtA+rtuxQZbv2mCtj1GnnO+u1wbtRAM1plGYGp2Yy7F+/XpLMKqU06g+jdCcNGmSdO7c2a3mtddes6IKL7nkkqyrzqZejahcvXq16KPfYYdK18OHD7sbVD355JMyZMiQ0LQD3vNNvRodunjxYmtsJqLSjNG8pmkMNL+mCmV95N98rTJNzzVfZxr4m2++aRWJYqTRmCr/sum/ty1loIcKZi9Tb5lMbWu7Kgw16jYfNtpWkL1pUyNz33vvPSsS10TpBlkGv9b65s6d6/Jq1y67dDLpxpnutc8//1x0s7PgulYuKt9Vsns5B+c6rP+mTNhrK1eutKJuvdHMWj74/Uzzlu+aybRWeR0CEIAABJo5gWNbZflf14gMuUxG9jsqn85dKnLRVXK2sw/tvrVzLZl61VltZevyv8oaGSyXjTxF2qTFciylrFXPxlNl9FVnixXW4WvXX9uxyuXy19Uigy8bKae02Wf1adMg7UOagBCnvg6evpsuWm0fNP3Osj5JHUPKkCPHEGwjqs3A9yPq8/NI9iK7cQXHkeX4nb7s7pFpvqPqy7Ldrz6Vue9sklMD82aPuYOzXqLnIrmuessOXSfiWWMRazSVZ7ZjCLD3rudMt4k0690eg0gP6xq0rwW7j7s938vQx909MlwvDkO3nIhpt+fQy2RE3zaWQD2+bbksWLVbKi78pkwZ3N0Vq65gNalDVKw6yZj9m1s5IDKKUX86gdR8qhlSAVQSsZppycX+eiapqiJ13759cu6551pRWPoHZVjOwNg7RoUQgAAEIAABCEAAAhCAAAQgAAEIQAACEGhkAvo01Wer3pFf//Zp2V1SJef36SLl5eVJwfr1Opn/xGKRi1Ws2sEOuYlVJ0dq16ly1yh/aHnwEf90m1eJIFYbdKmEPeKv36utrXWjUnfv3m09lhj2WGSDdpbGIAABCEAAAhCAAAQgAAEIQAACEIAABCDQiAT+MPs5WfHmPOnRo4crVkuOrpfXNKny+Ftl0pkn+dMEePuaJmI1ckjOple+lACejbD0PM3ZerG8JbPf6pJh86v6BdeicqxmkqoqV3UzCt2h+Gc/+1n9kqd2CEAAAhCAAAQgAAEIQAACEIAABCAAAQg0AQL/+Z//KRs3brT2zSgpKZHE0fXWZneJ8bfIJE/EakrUapRYDZOnhkO611xWTsSrjE+/+VU9s22xYtWbS1WFqvnQDU9UqupGKhwQgAAEIAABCEAAAhCAAAQgAAEIQAACEGjpBHR/C92UVjeJVbFacmyDLHh6qcg4Fat2xKpvcysDLDJiNSp3qoidCmCIE4kaUS6fSNh6mMQWJ1ZN1Kr30X/9d01NjSVXv/zyS2t33zZt0qffroe5oEoIQAACEIAABCAAAQhAAAIQgAAEIAABCBQdAd3cfcaMGdKnTx9LrJYe2ygLnn1HEuO+Y0WseqWqL2o1jQANy51qvudNAxDMuSpSHNGqOkktRqwGN6wyeVW90aoqV1WsPvHEE0W3gOkQBCAAAQhAAAIQgAAEIAABCEAAAhCAAAQai8DNN98sJ598si1Wj2+ShY5YneiI1dCo1UyRpYHcqVGbURnh6o59aOqmV43BpUWJVa9c9QpVE7FaXV0tO3bskKeeeqox5oI2IQABCEAAAhCAAAQgAAEIQAACEIAABCBQlARuuukm6d27t5SVlUlpaamdEsDzEZkOoChHE0+nWpxY9eZWNY//62f9ULGqEavPPvtsPHSpBQIQgAAEIAABCEAAAhCAAAQgAAEIQAACzYDAt771LSsVgBGrKleNYDVStaXJ1RYrVk3EqleqmojV5557rhksd4YAAQhAAAIQgAAEIAABCEAAAhCAAAQgAIF4CNxwww1uxKpXrpqoVa9c1RZ9uVbj6ULR1dIixGowv2owr6qJVq2qqrJSAfzlL38puomiQxCAAAQgAAEIQAACEIAABCAAAQhAAAIQaCwC3/zmN92I1UxRq4jVxpqlemg3SqyaaFX9rFLVpAKYM2dOPfSCKiEAAQhAAAIQgAAEIAABCEAAAhCAAAQg0DQJTJ061RKr5eXlbjoAFazBPKtGqhKx2jTn2ddrr1TVFzRaVb/n3bDKK1Y1YhWx2gwmniFAAAIQgAAEIAABCEAAAhCAAAQgAAEIxEZAxapuXmXEalQ6AMRqbMgbv6JgtKqRqkasmjQAGq1qUgG8+OKLjd9xegABCEAAAhCAAAQgAAEIQAACEIAABCAAgSIhcO2116aIVROxqptYaYSqRq8iVotkwuLoRiaxqkLVfBix+tJLL8XRNHVAAAIQgAAEIAABCEAAAhCAAAQgAAEIQKBZELjmmmtcsepNB6BSNWwDK1IBNINpz1Wsfvnll/Lyyy83g5EzBAhAAAIQgAAEIAABCEAAAhCAAAQgAAEIxEPg6quv9uVY1WhVkw4AsRoP46KrJVuxqtGqJmIVsVp000iHIAABCEAAAhCAAAQgAAEIQAACEIAABBqRgIpVk2M1mGcVsdqIE1OfTUeJVc2taj5MflXEan3OBHVDAAIQgAAEIAABCEAAAhCAAAQgAAEINFUCV111lRuxili1ZzHxq1/9qq6pTmg2/c5GrKpQNXJVUwHMnTs3m6opAwEIQAACEIAABCAAAQhAAAIQgAAEIACBFkEAsZo6zYjVmhorBQBitUXcAxgkBCAAAQhAAAIQgAAEIAABCEAAAhCAQB4EEKuIVdEI1traWjcNgKYDMGL1xIkTsmPHDiJW87i4OAUCEIAABCAAAQhAAAIQgAAEIAABCECg+RJArCJWEasxX997X/yJTLxP5J5XfitTexZWeZx1FdYTzi6YwIcPyPAZs2XazJVy9/lZ1pb2nL0y58cT5f6lY2JZa1n2iGIQgAAEIAABCEAAAhCAAAQgAIGiJqBBgocOHZIuXbqIbiAVdhw/flyOHj0qnTp1kkQikfd4EKuI1QYRq6t/N1zu/HO6dTpNZq28W4bkvZSL58Q4ZWicdYUS2jVHfjLlfpF758tvr+3WyBAdUXjaLFn543hXgs1xicjoe2T+76ZKLiO11u6G3M9LgRmzWK33tdHIq4HmIQABCEAAAhCAAAQgAAEIQAACuRLQtJZbt26Vffv2SUVFhfTq1StFnH799ddWGT0GDhworVu3zrUZtzxiFbHagGI1KrJutTww/E6ZLc1HruZ9RTb0iS1CrJr1pXBzj+6MTazGOrf2mCSX6NdY26cyCEAAAhCAAAQgAAEIQAACEIBAcRLQ9JYqTvfv358iVzWSVV8rLS2VAQMGSJs2bQoaBGIVsVoEYlVEnGi+MUUROVnQNdW0Tm4JYtVEit57j2y+L/fo3KIUq7v2yt6e3XKKvG1aC5PeQgACEIAABCAAAQhAAAIQgAAE8icQJlcPHDgglZWVUl5eHotU1d4hVhGrxSFW0wg+9zFuZ67C5avJN+kU0ke+/0nkvin3y0Anqi9SkDltm3JmSWRq163PaWeJE3FbEcixmlrObsGMw58mwR9RGfW4d9Z9+91AedSKBjZHMio4WIcEIob9r4dEejrclniuoVzEuH/c2q/bZLPmDA2kAsg01ky3WbsdT/0S/Vh/2JgHPplMBSDW3A6UWSsnyEIv19vt9AXBvvryqaakAvBG0jqjcOpxxxSVPsD5vjurgchVux/aT4fpUlMy94jdTHx5HQIQgAAEIAABCEAAAhCAAAQgUIwEjFzVKNV27drJkSNHrAjVOCJVzXgRq4jV4hCrERGrSSnm5F8NFbBGqnpSCWh9szbLmKVL8hKr2bSbFIP+FAZBGRpaziPGkjIydRxhYjXrvm0YI2OWDpTpbu7aEE4RQttuIynhjDB0RWGY8Msh+jVlDKKS8SHZPHqJLPGI1WzGmv7m7chLn/gM31gslbXyuk8WyhJZ4shYW6yqSvYISq9g9ojRIEMTlW0xPDkst62/r9a4QjhHzYVXapuxjBktMuGfkpuopfSpGH/y0ScIQAACEIAABCAAAQhAAAIQgEBMBHSTqk2bNonmVS0rK5NBgwZJ+/btY6qdiNUwkIlf/epXdbERLsKK6urs4eln81FbWys1NTXuh1p9TfirO6nt2LFD5s6dW9BI0gudEOGnrUVEkqbItoioPiM0jQzMOmI1y3ajxhQlVv27wTsSLbiZUmAsKbIvp75J6g70QVZhMjSdvHYE4/aIDZ1ShWnIsskUhWnkZJZjTbcwo/gtCUaGRklhI02deTJi1R+Zm379uhuDecZ921YTUerfsC2lv1FRroH+B7kb+ZoSQZyD/C7ogudkCEAAAhCAAAQgAAEIQAACEIBAIxMgYrVxJgCxWlMj9SNW00xoyG7tkbueZ5KPpplAuWzFarbtRknEcLEa3JgrJDoxRCYH6yq0bymyOkS0pU8/YEd7Wo/H/zlE3GZxzUbvZp9ldGmUmE1p2xGevkf/IyRoZJ3+OmyxGox4DWtHO2OPZ7PJG5wiVpe46SAisQX7lUFKG3mfibHbpyzmiyIQgAAEIAABCEAAAhCAAAQgAIGmRoAcq403Y4jVehOrUfkdTa5Jv3z05+BMXRC+SFQrh6Y/+i/4GHW2YjWndjek5usMFasp5fITq4X2LRuxGhl16pV6zqPs3vyqwRytUZdwdFSrIyidVADZjjXyVhERnZnyKL2Ikxs1PEWAd90kc6x611ruYvXu80Pyq3rTC0S8ORApTANjTeZYDVwTQdnbePdZWoYABCAAAQhAAAIQgAAEIAABCNQLgTCpmkgkrLY03+rWrVultLQ0llyr5FhNnULEaoOLVSO2lvgeXc/qsXKNC3Q3JwpIpMCj5LmJ1RBRG1grUfXVv1jNv2+xidXzkzBSNsEKiT72ostNrGYea9RdOHVzrkBJz+P00RGezvpyxHh8YtXTl8BGVD5BnW10NmK1Xn4YUykEIAABCEAAAhCAAAQgAAEINC0CmtZSxem+ffukoqJCevXqJUaqmpFovlUto8fAgQOldevWeQ8SsYpYLarNq7x5SNPJLu+05fR4fEiEaTCyNdt2G0OsFtq3bMRqNqkApvYMv+eERYMGS2Z6TH12FhtNZb7jReSwtU6M2OxsxuzUnLSmrG/zqoGB6Oh8IlYjRhDcxK2gVADBfmqbgfQEmUFSAgIQgAAEIAABCEAAAhCAAAQg0KQI6H5BGpnapUsXKSkpCe27bmp19OhR6dSpU4p4zWWwiFXEalGJVd9mO0HJ5MxVymPOaTc5SuYBjYqUDG5yZURrcOOfYLuNIVYL7Vs2YtWUcTdd8spISzAOlEeH3ylGgPouoYi5CCvjrz+5WZm7sVS28x92x4s41xRNFcARqRkcETnbt3lVoWJ1vgycNVHu9+V+NT2Lzst6txUlHN7P8M2rEKu5/DCkLAQgAAEIQAACEIAABCAAAQhAIFcCiFXEanGI1XQ70S/1PA4ekTczRZp6Hq92o2BDZJv3cfFktGxIRGNIu40iVsOiLXPoW4pYjYhgtHkmc+IGRWR4ZGpU5GbqRRas3xaGD8nm0UtkiZNjNTSyNMtd7VPrD/TBqceVuG6eVW86Cns8C2WMLJEJMv93UyW2VADygAyfMTtl86qodZwaye3pZ+S6Rqzm+gOR8hCAAAQgAAEIQAACEIAABCAAgVwIIFYRq0UlVpeEbOAT3MQoGElqptBfbprMemWgPDTlfhk4c6XY0X4iJuLTnXaNRPwnkfuC5dzcrckFEmy3ccSq3Z9MTLLNJ+uvy5/P1J+jNGTjsZTcoCLiyVua6UYUVv/AJ4fLnTJLVv54iHt6prGmtBMiTVP7YuR5YFyBManQvG3rT2TigpjFqq5H009v54L5aYOpAEzZkH66a9yVxIjVTGuQ1yEAAQhAAAIQgAAEIAABCEAAAoUQQKym0mPzqnrYvKqQRZr3udk8lp535ZwIAQhAAAIQgAAEIAABCEAAAhCAAAQg0JIJIFYRqw0SsdooFxlitVGw0ygEIAABCEAAAhCAAAQgAAEIQAACEGgJBBCriFXEaku40hkjBCAAAQhAAAIQgAAEIAABCEAAAhCAQKwEEKuIVcRqrJcUlUEAAhCAAAQgAAEIQAACEIAABCAAAQi0BAKIVcRq8xWrLeEKZowQgAAEIAABCEAAAhCAAAQgAAEIQAACjUIAsRoiVn95y+C6RpmNBmq0zhldndSJ/ruurk5q60Rqa+ukprZOqmv0o9b6OFFdJ7v2H5V5y7c3UO9oBgIQgAAEIAABCEAAAhCAAAQgAAEIQAACxU9gyrjTpFe3dlJeXirlpSVSVlYiZaUlUlqSkBLzkUiIJBJi/S9R/GMqtIeJf7xcmrdYVUIqVO1Plly1xapITZ1Ida3zUSNSVSOy87DI/E+bNZJC1wznQwACEIAABCAAAQhAAAIQgAAEIAABCLQwApOHd5BeXUqlVWlCysoSUqafS8QRqyIlCf0wYrWuQLEal5WNq57wyU7845UtSKw6gjVFrNbYctUSq4dE5n+CWG1h9waGCwEIQAACEIAABCAAAQhAAAIQgAAEIJCGwJQRnaRXlzIpL01IuYrVEluulpaIHbHqE6tW4Gqeh3q5vE8OtBlXPRFi9VeTWqZYrdGIVeejSqNWa0RO1IjsOCQy92PEap4rn9MgAAEIQAACEIAABCAAAQhAAAIQgAAEmiGBq0Z2kD4qVssSlly1IlZLTcRqnZRItSVTrQ9VowU5zYJO9tDXeurP8yV6j+paf7UX0yJyolXtRKt2SgD9T12tnXe1rkakTnOufl0tBzYfKaae0xcIQAACEIAABCAAAQhAAAIQgAAEIAABCDQqgVbn9pdEh5PUpErCDlMVKbVNaklpuZS0GylSV500qoWZ1UYda6bGyzVa1xLIF/RqMWLVTbaqdKxkq96kq2InXz1aLXVbD2Tix+sQgAAEIAABCEAAAhCAAAQgAAEIQAACEGgxBBLnnirS0RarUlpqJ1XVf6tgLGklrdqPkTpRsapInNDVZkzHSlhQMqxnCxKrjki1xKojUo1gtRKv1knd0Wqp3XKwGU87Q4MABCAAAQhAAAIQgAAEIAABCEAAAhCAQG4ESs4d6IhV6/l/n1gtLW0l5e1UrFa1GLFq6WPEqhO5iljN7WqiNAQgAAEIQAACEIAABCAAAQhAAAIQgECLIYBYTZ1qxCoRqy3mBsBAIQABCEAAAhCAAAQgAAEIQAACEIAABPIjgFhFrDq7VpEKIL9LiLMgAAEIQAACEIAABCAAAQhAAAIQgAAEWiIBxCpiFbHaEq98xgwBCEAAAhCAAAQgAAEIQAACEIAABCBQEAHEKmIVsVrQJcTJEIAABCAAAQhAAAIQgAAEIAABCEAAAi2RAGIVsYpYbYlXPmOGAAQgAAEIQAACEIAABCAAAQhAAAIQKIgAYhWxilgt6BLiZAhAAAIQgAAEIAABCEAAAhCAAAQgAIGWSACxilhFrLbEK58xQwACEIAABCAAAQhAAAIQgAAEIAABCBREALGKWEWsFnQJcTIEIAABCEAAAhCAAAQgAAEIQAACEIBASySAWEWsZiVWt72ztiVeH4wZAhCAAAQgAAEIQAACEIAABCAAAQhAAAKhBPpeMUak40kipaUipSUiJQn7s34qbSXl7cZInVRZX1v/SVj/aNZHomRYz7pmPUIzODPKOucf+qm2zhattc6/a+uk7mi11G452CKQMEgIQAACEIAABCAAAQhAAAIQgAAEIAABCGRDgIjVVEqIVcRqNtcOZSAAAQhAAAIQgAAEIAABCEAAAhCAAARaMAHEKmI1q1QARKy24LsEQ4cABCAAAQhAAAIQgAAEIAABCEAAAhBIIYBYDRGrv/jFL5p1KoA659F//Ww+amtrRT9qamqsj+rqaqmqqrI+du/eLfPnz+fygQAEIAABCEAAAhCAAAQgAAEIQAACEIAABBwCEydOlJ49e0p5ebmUlZVZH6Wlpe5HIpGQkpISq7T+Wz+a+5FArCJWm/siZ3wQgAAEIAABCEAAAhCAAAQgAAEIQAAChRFArKbyQ6wSsVrYVcXZEIAABCAAAQhAAAIQgAAEIAABCEAAAs2eAGIVsWqlAyAVQLO/1hkgBCAAAQhAAAIQgAAEIAABCEAAAhCAQIwEEKuIVcRqjBcUVUEAAhCAAAQgAAEIQAACEIAABCAAAQi0DAKIVcQqYrVlXOuMEgIQgAAEIAABCEAAAhCAAAQgAAEIQCBGAohVxCpiNcYLiqogAAEIQAACEIAABCAAAQhAAAIQgAAEWgYBxCpiFbHaMq51RgkBCEAAAhCAAAQgAAEIQAACEIAABCAQIwHEKmIVsRrjBUVVEIAABCAAAQhAAAIQgAAEIAABCEAAAi2DAGIVsYpYbRnXOqOEAAQgAAEIQAACEIAABCAAAQhAAAIQiJEAYjVCrNbUVUuVHJWauhNSJ3UxIm/8qurqnPHUiS1V6+qkrrZWamtrpaZGP2qkprpGqqurpaqqWvbs+kreen1J43ecHkAAAhCAAAQgAAEIQAACEIAABCAAAQhAoEgIXHzFGOnes6uUl5dJWVmZlJaVSllZqZSUlEpJaYmUlCQkkUiI/s/6fyJRJD2Prxs6ttJEKymXtlKaKJPEP/yvv687VndA1u3YIYvWfSAnqqvia62YajK+2CNapdayrSK1Ita/a+uk7mi11G45WEw9py8QgAAEIAABCEAAAhCAAAQgAAEIQAACEGhUAiX9O0qibZlIScL5ELWn9r+NQzUytfk5VYt9m/JWMvb08+WM3r2lTaKTJH7yv35Q9+mXlbLgk+WNOjn13ngDitWDVdWy+fAJ+aqq2vK1HBCAAAQgAAEIQAACEIAABCAAAQhAAAIQaGgC6jy7lpfJwPatpGN5WUHNI1aT+C4/Z6Sc3aefJP7u5zPqZi6a13wjVc2YG0isHjhRLasPHJWTy1tJDVa1oAuWkyEAAQhAAAIQgAAEIAABCEAAAhCAAAQKI1BakpAvqk7IkE5tpVOr/OUqYjU5Dxq5eue4SZL40c+n1/1+4UuFzVBTOLuBxOqqfUekfaIMqdoU1gR9hAAEIAABCEAAAhCAAAQgAAEIQAACLYCAytXDddUytEu7vEeLWPWj+8GEaxCrcedYfWPXQakoa5X3IuVECEAAAhCAAAQgAAEIQAACEIAABCAAAQjETWB79Qm5tGfHvKtFrCJW7c2q9NBP9bB51V93HpR+5YjVvK9SToQABCAAAQhAAAIQgAAEIAABCEAAAhCInUBl1Qm5rBdiNS6wRKwiVuNaS9QDAQhAAAIQgAAEIAABCEAAAhCAAAQgUMQEEKvxTg5iFbEa74qiNghAAAIQgAAEIAABCEAAAhCAAAQgAIGiJIBYjXdaEKuI1XhXFLVBAAIQgAAEIAABCEAAAhCAAAQgAAEIFCUBxGq804JYRazGu6KoDQIQgAAEIAABCEAAAhCAAAQgAAEIQKAoCSBW450WxCpiNd4VRW0QgAAEIAABCEAAAhCAAAQgAAEIQAACRUkAsRrvtCBWEavxrihqgwAEIAABCEAAAhCAAAQgAAEIQAACEChKAojVeKclJrF6qfzwmrOle2jf9skHLz0hL8Xb7/xqq3NOq3P+oZ8Qq/mx5CwIQAACEIAABCAAAQhAAAIQgAAEIACBJkUAsRrvdMUqVtvvWSr/9s6Hnh6eL7dNGi0Dy4tEriJW41091AYBCEAAAhCAAAQgAAEIQAACEIAABCDQZAggVuOdqnoWqyIXXTRdruj+dXFErSJW41091AYBCEAAAhCAAAQgAAEIQAACEIAABCDQZAggVuOdqgYWq3bKAKn8VKTf2dK9apu8/uqL8o6kphI4Foh+vebSH8o32juDr9omHxzoId9os0nue+MNkVOvlf91bg/5snK39OnXV9oc/tT+/vnfkXv7dZE659F//byn8kF58EM1rONl+pWnSU3lWqnpdap0qKqS6mPbZcniNyXR9yJZtWBu3qT/uvOg9Ctvlff5nAgBCEAAAhCAAAQgAAEIQAACEIAABCAAgbgJIFbjJVrPYjWYCsAIVG9qAOd7Robq+Bwhuqfyv+W/PxSxparnHEukegSq+doVtZKUrR8/JI9usqFdeOEdclnXr+WDl5+UVxyx2qnmqHz+6WPy/Oci44fdKKeWnZCNa5+RN5cczJs0YjVvdJwIAQhAAAIQgAAEIAABCEAAAhCAAAQgUE8EEKvxgo1VrGbevMqWqP5crCaK1Zao9uH/niVWxYlCdUr4vueI1cOOiI1ENPAa+fuzu8mXHz8sj2+2I1bb7F4m/7VijUitiJw+Ub7XtUpWLnhVVm1pfLG67rkH5d5PUkfzjUu+Jb8YF0473uURc21rX5KbnxG5755r5IxYql4rs+9/U16OqKvJcvKNxxnjOZfIkzecFQs1KoFAoxDY87b8+vcfiWRz/4r9XtEoI45uNGR89v2+Isb7Y5GNme5AAAIQgAAEIAABCEAAAkVBALEa7zTEKlZTN68KdjazRM1WrFq5W4OpADzRqaZlLXd5N/uxfE0FUFd3TDZ7xGpN5UPyyJq6IhOre+SN3z8rf9gT8kd2LnIi41qx21l+Xjyidv/ix+T7u4ZFC8DYZYktHeXG78u0oHO02touV4e9lpFL8RRQpn+QiakiPcBSpcxfesYzj8UzenoSRsC6zj7qLw/+YKx0FpGmMff2vWb7pSHXatggPetbPGs7OPYmu0KCca2W+AAAIABJREFU90L9+o0u7pzmPS7r58M++WZsb17l3RNOhAAEIAABCEAAAhCAAASKlABiNd6JabZi1d40q7WIeFIIhESsFqNYTR+5FKcMjbOuLBZmQ4pVSSNds+hqsRTZv2ePdO4eEp0cO8tiGTH9yESgacrFPbJ/T3fpnG2gfcT6bppjD5nRwPgir/NMi4HXIQABCEAAAhCAAAQgAAEI5EgAsZojsAzFm6xYTU0F0EO+9ESsWq+3NptjORSakljddV5W0Uth6QK8j8Db0WyXyMiP3pQ/7LE52FGcJirWYaOPmp+73ory9B3dPf0w0VA3itxrynleD0as+vtWIfdZ52kqgItkuxWR62/KjS51onI/cF+Oejw2nTz1v+bjIOfJgzeK/OH3H0myDW0s0I4T9Wp1o/t5ct95W+ReJyLXjPU+edN9fLenRhK+ecg3qGTErPbnPam4sb8sf8Zu156nPcl0Bl7Wjhj2pTkwr3v7JR3kb39wq1S8lYxYTVkTnjQC6ddLYE24ayXsLpJaNrnuUl9Lrjv9VyqLFPaeJoN99q7vVNGWOu/edBrp0kPkvEZ882CvERNFKs61MvKSg/IHsyY8r+c6D6bf1njdNWavVxPR+bcyX77/Zkf/o+RWP7bIyB9MFHkmjmtOxB6b99qx1+ClljT1z6312H+Pd9LfV5yo2+Q8ee8VwfGZ60vHHtd9RPsdtmY994PgXPvuFSEpSXzXsh1VHD6+DGMIuVbS3je8Eavp+pzymn/9prvm4v0VhNogAAEIQAACEIAABCAAgYYmgFiNl3jRiNXuBW9eFSJWvRteySXyg6vOkq5NIBWA9UdtFmLVlizikRrqNfyPwNt/IHvEh/X6QeccT8Tq2WtD8h8G8nsaoeKKOkdG9LTzf3rFamrfjHyokL85Z7v8KZBLMFl+mGz//Zuy3c3D6G/Dv/yzTwXg5xCWt9RpR6WrPmIdTLkQGLsRXN5UAylRZ77Hcp02XeGS5GHnnA2Mc88e2d+9u/Wotzl8j3xHpAKw5Zp3TdjtKM/U1/zrZeTH/nVnjzEg6pzOpERVO3wqbvy+WPVEzq8KuCALRzyFrPmUPvjWr9hrzvNYvC327PQQV+8O9D9wbvBWmtMaccS8jtdOQ5HkbOU/TrlWkmvuwZ7vpb1uU/h52Gpb0akAbEnvTY1hjUkuEe8bACa/cSHX3MseWe+fo8DchqYu8V9/6e4VXnGsXL1j3xWSkzS/MdliNRhR697PLt6Tcm/03aMzXKv53wvDrpVM9w0nFcAPushfAvls3T47a9ef6za4Pj3XfYbrJt5fSagNAhCAAAQgAAEIQAACEKhvAojVeAkXgVjVAdm5V71PiR7bs1T+7R13NyuxIlDbO4Ov2iabj/eVgWZDK2vzKr9Y1ZLmHM2taqcE+FQ6XXmh9C/TPKub5KQzTpOiTQWQrVj1SaWk4DFyxYgVd+MjN4JN/2gPilWNbDORZzZr3/m+c1NfTxGrwb45MtASqxLYjCkQWZdd3tfsN6/ycwgXsj5hlc1YU9gn+ScjTY3UDraZmoYhLEetP0JRRIzQSidWA/0yQtYSq2nWiyUiQ8eUetNJWVeOGNYcmpYYjJzfpCzyCsDIR7wzpDxIG7EquW2Wltsa6S4vR+X3tTydiRRNXk+mfkusppmHVH7+/KTpcqxGjSH9nNjRrLlcc768xiFvILivh3AI3ldC5z6LHKuWWI3lPuJZ32FRyJaIDNwbQ3KiRl2r6caX/l4Ydq1kuG+YubDEakSfw8bjvddbTy7EuclgvL+0UBsEIAABCEAAAhCAAAQgUBgBxGph/IJnxyRW4+1U5trOl9smjZaBxz+V+954I3NxU0L9qh6WaNXPIlJbZ39d6/y7tk7qjlZL7ZaD2dcbKPnXnQelX7m9YVY+R6aI1WwFjUa35SZWg4/GO703Mi8b2eh9VD4vsWqLKL+k8D5q7CWafR7V3KSZiVj1i4n04jgYSRaUa7mJVTP+YFoHVyTlIFYNsXB5GehX4DHvqEfnU8Vqcl5CX/OtndR5ixSrVrUBgR6MloyIWPVGkrqi23Nu8NoMWyO+VAzmhMhH+j2PjmcSq4GUEaZqjYAOlaCezqYTq3bEuiPFAnIyveyO65pLv558zJ25qB+xmst9JBm57b5xIZ7I4AgR6buu3jzkpPaw3x70rqWMYvWTsJ8Seb4hk06smmaykN3prrl8fqZxDgQgAAEIQAACEIAABCBQPAQQq/HORdMQq+d/R+7td5JsNjlUra+7yJ7K/5b/Tga1ZibTlMRq4FFq7+DqT6ymRqz6oDaEWP1Of1n+RGBX68ioxYYVq2llSZisSCsT00eehclJ3/dyEKvZRax+SyreCO7aHs23oSJWfekPrMXo55YuYlUF5V96ah5bEwuffrO2bOS7ez1ERSwayZtJrKaJDE7HNn0qAB1nMrrVO/60srvQay6PiFXvfaVexGpOYwpLKZFBrHrmPyxyNiexGoy69d10c3tDxuT2/WYBEauaNiKX6ybzD15KQAACEIAABCAAAQhAAALFRACxGu9sNA2xKiIXXTRdruje2h19zlJVz2wiYjW5kUrYpk3Z52rMJ2I1LO9eusd6UwSCN2LVl+vTbA6TIceqJUQ+kmTuShNJF5brszCx6s0T6TKPyrFqoiajouxSckma8eYXeWbn+wzZPCebVAB55Vi1xeofnHy5tsO0NynyzoW5AFP6l0eO1WxSAaRGb/tzmQZzsJpIXzfy05dSI5AHNXAvDY1Y9UW4esSstSGTyVVsV+Tra8p6yOa6tSNNdTMq39xnnWPVFsh2ZHVHufqTg1LhpPZImS9TTtdKHtdcphyr/nvGR5LuvpKagzR5r8g7x2pOYzL3GE9uYhO5rdHJITlJvXOdkuvVpBPw3ityvRe64r0Qsern7vY5Q45VKx9vDtdNvL+SUBsEIAABCEAAAhCAAAQgUN8EEKvxEm4yYjWWYTcZseoRNWGPiWa9y3umVACe3aq1Tiu33nYfau/mTOnyRgY3r3JFk9v/DvK3N/aX5c9oNGr6nbBTchU6O9/bu457j3zFatjO5lpvQGT78i1WyNXnbJeXneiy6Cg7w0+FqtmJXes9XZb7cnJmyrEa2KXcMz/W4/nOZmMfOGwq3kpGZ9oSzcMp2/USSAOgNUSlAgjbRT1ZNmyHdZHkWsolFUBIHt3A4/ze8X7jkktk5EdviuZ6nXZW5nO9qyk8bYY/PUZKagbf9ZmaCqDiHJGXP3F2so9MIRBce6n8fPPgrku7PRWx/ghD/+ZQ9hjTz0n211zYteNN1RFyTYbsQO+7rxgpHXqvCIzPN/a47iMh91uPUP0g9N7ovVdkuFbHdbele7b3Qs868W7GZqe2yDLHqm6Il8I95I0a7wWQsrFe+D0klp/FVAIBCEAAAhCAAAQgAAEINBoBxGq86BGrRZhjNd4ppra4CKQ+lh5XzdTT7AhE5LFsduNkQBCAAAQgAAEIQAACEIAABCDQpAggVuOdLsQqYjXeFdVsagtEhqV5LL7ZDJmBxEcAsRofS2qCAAQgAAEIQAACEIAABCAAgdgIIFZjQ2lVhFhFrMa7oppTbYFH46Mfi29Og2YssRBArMaCkUogAAEIQAACEIAABCAAAQhAIF4CiNV4eSJWEavxrihqgwAEIAABCEAAAhCAAAQgAAEIQAACEChKAojVeKcFsYpYjXdFURsEIAABCEAAAhCAAAQgAAEIQAACEIBAURJArMY7LYhVxGq8K4raIAABCEAAAhCAAAQgAAEIQAACEIAABIqSAGI13mlBrCJW411R1AYBCEAAAhCAAAQgAAEIQAACEIAABCBQlAQQq/FOC2IVsRrviqI2CEAAAhCAAAQgAAEIQAACEIAABCAAgaIkgFiNd1oQq4jVeFcUtUEAAhCAAAQgAAEIQAACEIAABCAAAQgUJQHEarzT4orVeKstrtrq6ursDtWJ6L9r6+qkrrZWamtrpaZGP2qkprpGqqurpaqqWvbs+kreen1J3oP4686D0q+8Vd7ncyIEIAABCEAAAhCAAAQgAAEIQAACEIAABOImUKhYvfiKMdK9Z1cpLy+TsrIyKS0rlbKyUikpKZWS0hIpKUlIIpEQ/Z/1/0Qi7iEUXX2JH/18el2Pdv2KrmNxdciIVf1sPmypWuN+VFVVWWL1xIkTsmPHDpk7d27ezSNW80bHiRCAAAQgAAEIQAACEIAABCAAAQhAAAL1RKBQsXrVVVdJnz59pLy83PpQuWoJ1lKVqypWS2yx6vmop6EURbW7j1QKYrWmRhCrRbEe6QQEIAABCEAAAhCAAAQgAAEIQAACEIBAPRFArMYLFrHqRK0iVuNdWNQGAQhAAAIQgAAEIAABCEAAAhCAAAQgUFwEEKvxzgdiFbEa74qiNghAAAIQgAAEIAABCEAAAhCAAAQgAIGiJIBYjXdaEKuI1XhXFLVBAAIQgAAEIAABCEAAAhCAAAQgAAEIFCUBxGq804JYrQexunDnQamLd56oDQIQgAAEIAABCEAAAhCAAAQgAAEIQAACBRFIiMiEXh3zroPNq/zoEKv1IFb/uvOgXFbAIs17dXMiBCAAAQhAAAIQgAAEIAABCEAAAhCAAAQiCBTqrBCriFWpq6uT2tpaqXGkqn6Oe/MqxCr3MAhAAAIQgAAEIAABCEAAAhCAAAQgAIFiIoBYjXc2iFglYjXeFUVtEIAABCAAAQhAAAIQgAAEIAABCEAAAkVJALEa77QgVhGr8a4oaoMABCAAAQhAAAIQgAAEIAABCEAAAhAoSgKI1XinBbGKWI13RVEbBCAAAQhAAAIQgAAEIAABCEAAAhCAQFESQKzGOy2IVcRqvCuK2iAAAQhAAAIQgAAEIAABCEAAAhCAAASKkgBiNd5pQawiVuNdUdQGAQhAAAIQgAAEIAABCEAAAhCAAAQgUJQEEKvxTgtiFbEa74qiNghAAAIQgAAEIAABCEAAAhCAAAQgAIGiJIBYjXdaEKuI1XhXFLVBAAIQgAAEIAABCEAAAhCAAAQgAAEIFCUBxGq804JYRazGu6KoDQIQgAAEIAABCEAAAhCAAAQgAAEIQKAoCRQqVnsN6yWtu7SWkrISSZQmpKS0RBIlCetDSkQSiYRIQqyPhP2fejtKE6UyoNMAGdVnVL21kalixCpiNdMa4XUIQAACEIAABCAAAQhAAAIQgAAEIACBZkCgULFaMapC2nZpa4lVlaqWWC21xar10YBiVaejrq5O+rbv22hyFbGKWG0GtwWGAAEIQAACEIAABCAAAQhAAAIQgAAEIJCJQHMTqzrequoquemsmzINvV5eR6wiVutlYVEpBCAAAQhAAAIQgAAEIAABCEAAAhCAQHERaI5i9VjVMbnl7FsaBTRiFbHaKAuPRiEAAQhAAAIQgAAEIAABCEAAAhCAAAQalgBiNV7eiFXEarwritogAAEIQAACEIAABCAAAQhAAAIQgAAEipIAYjXeaUGsIlbjXVHUBgEIQAACEIAABCAAAQhAAAIQgAAEIFCUBBCr8U4LYhWxGu+KojYIQAACEIBAYxA4elAOyUnSoW1ZY7ROmxCAAAQgAAEIQAACEGgSBBCr8U4TYhWxGu+KojYIQAACEIBAQxHY87E8/fxS+dNnR2RvrdNoSZkMOfNM+dn1l8qQ7kjWhpoK2oEABCAAAQhAoHkSWP0/D8j3PkyO7bY775afDm6eY20po0KsxjvTiFXEarwritogAAEIQAAC9U6gWra/9bT8+IVdsllEOrRrJ2NP7SEny9eyetMuWXFEO9Barrvuarn34n713hsagAAEIAABCEAAAs2VAGK1+c1sY4vVC065XgbI5/L81vdjg3us6pjccvYtsdWXS0WIVcRqLuuFshCAAAQgAIFGJ7D9tVlyw7yDIh16yv/9NzfI5H6tfX068eVy+a/fL5VHD4mMnXyT/O7KPo3eZzoAAQhAAAIQgAAEmiIBxGpTnLX0fW5Qsdp5nFzTLSFrNy2W9dot/brjEXkpRqmq1SJW63md1tXVWS3oZ/NRW1srNY5U1c9VVVVSXV0tJ06ckB07dsjcuXPz7lWhizTvhj0nrv7dcLnzz2E1jZF7XvmtTO1pv7b3xZ/IxPuWiNw+S1b+eEgcTRdXHbvmyE+m3C9LRGTMvfPlt9d2i6F/q+WB4XeKzFwpd58fQ3UZqrDmaMEEmf+7qRLWe53rhwbENbb6Hw8tQAACDUTAc/+LbtH/M6H+erZX5vx4oty/NIZ78f6l8sv7l8u8tv3kkV/eIEPaaq8Pyuq5C2WxnC63X3WudNBvHf1YfvMvr8ujR7vKv99zu0zo7B2dfR+fHTHg+H5ehDXQsD9D6m9OqRkCeRLw3psK/v3TXMsNdS/Lc8wFn9ZSxlkwKCqAAATqgQBitR6gNnKVhTqrilEV0rZLWykpK5GSUvsjUZqQRInzkUiIJMT6SNj/SR6dT5fT96+3JWuMB2I1RphhVbUssZr841VkmsxaebcYXepKVBGZ5kjB5iRWU8eSZGHGG89Sq/8/iq2xfD7dkt2I1XhmjVog0OIIuPKiUOGQlJD530vjE6trn/7/5JZ3RG6782/kp4NNpOoueeH/fVzuk6Hy+j9emnwT6tOX5Zo/bhC56Gp56duneZZAmvv4hw/I8Bmz3Z+T8a8bT9sn65t/m2W652d1vu1l+lmRb72cB4G4Cfjf/I/r/hRVT3MRkpnGken1uGeR+iAAgZZEALHa/Ga7ULF6+aTLZUDfAVJenpBDhxfL+0dKJNHlIpncs6e0LimRkpISOXJ4jizYLZLwRqz2vEKu72iFQNjHiWQ6AE0P0K1mt7Rp20PKReTQwefl9V3Zs0esWqy+lrXzZsuiSj+4IdfeJRf2zh5msqRTn4yXWyedKSe1kIjV5C+rfqlquCTlqv0L6Nh3m3PEqv6S+ZAM9ETo5rOSUs+pf7HqbTPTH8tErMYzq9QCgWZHoFmK1S/lhX95Su47cpo8/v9cLWe5kxYhVmWDPPS/X5b/ajdUXvrlpVLhlk93H6/ve3z91J/pZ0WzW98MqIkSSI0WLyxCvKUIxZYyzia6rOk2BJo5AcRq85vgQsXqVVddLF/XbJftPUbLpC7lsmPbIel+2gA56cRnMn/nJkl0GStXd28rX2xaIB8YsfqVyFnde8gxV5ieLuNOHSydj6+Rl7avFyvvatluWaMpAywBK/L5htcl2yysiNUja2XeY4ukcuhUuWtUr+Sq3fGu/PHF1SLB72e1rlu4WB19T/ij44E/tF2xGmBqfskNSyng/gLsRPWkTIfbtv1L4Obbp4n8ebb1OL7+Ubtd/FEFbhu3/0bu2fBT61FR/2EksTcaN1nC9McXsTp+oRVxlEvf7LIhbaWwzOKP4jA2gXq8bMfcO0smLLhTNt9ppxdIjVgVGbN0icVQD+8fIV6xmna+srpuKAQBCDQbAlmL1fB7qx2dGiZBHpCB992d+hi99x4XTEMweppMk9kyW1MB3P1TkQd+497Pkryzuf9+LL/56evyaM9AZKo4YvXEWfL4LyfJWWWmVuf7u/rJI7+5wX2CQyRbsZqOjbbhvIE3c4IsnGGnnQk+LSKBnwfTZs4SmeGkk/FGrGb4uWF+LsySO91UPyk//9z2b5PNTuoF73rOP+K42VwVDKSxCZh1fvssmT/gITsdVci9Y+Dt02T2n+3f46b9YprM/nXwdzpzv4hK6xF8fYzc838Gyv0/n+1vz7kXaO3h7UigvBdgRNsRv4On/R0t5H6d/P1Y03VJRPqSkHG6gRMDZdrts2W2lRosPOCisZcD7UMAAk2DAGK1acxTLr0sVKxOnvgNWZ84JCVdhstlPdrJXkusVkjV/tfl3UMJSXhTAfjEahvZ7pGlKlMrapJi1fxb5AK54rRushexmu20JgXotMlnWZGlvsORq7lHriJWQ3NyphGr1h9cYj8CqccNd4yR5x7WPxOdX8bcP/rGyD1/niALbw/mLvX8gmnlzPL8Euj8kilOTldXDPr6M102T/FHmHplafKPSac/nj/cte+3bXWib791h4x59uFAXtXMfdtu8tJGSWl3YWYQq06/xJfT1WnfySVmj0vcfLdmnL4UDd5UAPctST6WGnhM1YjVe+U+X51Wd+v9kdZsr3PKQQACDU4gmxyrt88S994auE8n/xAPpAIIeXzdCAD73r49KQB89zxbO9pvsIknt7dHXma8/0aJ1eOy+olZctfy4yIVQ+W5uy+VCkuu5iFWPffNCYs0X3lYWh1z/3bYePptsdjgvLkZ8vPAsLLu94blKwPloSn3S+afG56fBU7dA72pfZx83PbPs3T9bvDVSIMQsAikrn/9XdLzhnsw/+rNm1Ny5bvC0bruBsqjJl+ycx36f58zr2sb94r8s+Z6Trbn/p45/GoZufJlWe578zr4u2NgLwKrr/5UHv57YTIzfvKJsZDfqfXJKjF7AiT7FilWrXGOlbfNmyc+DoEn0jzpv1iCEIAABPIlgFjNl1zxnleoWL38sgr5vLxt7GK12zHz+D9iNcfVs1Pe/eMcWR0ZlRr1ejB1QD8Zf+tkOaudaT5KrB6Rta8+Lm9vszezEjlZRky9WPqXezevqpS5c1/LcRzJ4oUu0rwb9vzC6nv331thlFgNRJn637kPeZc7IhIq6pdAN0rGnBf8A977x3RE1M4Dp90vd+u77u5GB/4cqqliNSoy1i99U/LNZvzDPhuxulAmBFIQWGzE3iQs9ZFNf53pc6z6y/rEasomV1lE1xay4DgXAhAoXgJZRqy6f/BH3vvCc6x683a7EAJvqiUjJJP3ayNWvdGTmftgWvhK5v37n+WXX/aTR/7PDTKkxIv/iKx9+nH53jtHbLn6M330/2P5zc9fl0f7DJPX/2GcZwPAqCg3uz7fUxvOfdttyeJq7vGp91jf/d1X1tTgOccnVmP4ueEVq2n7XbzLlp41YwKB3wG7SUju5eB9K0Q4ulHgAbEa/vucV6wmU2DZ17gkN9VzI+nT/e4Yvslr9L3QU9793TYicjSHiNVcxhn590AzXmYMDQIQKIDA9jfkx/+5St6uzb2OVr43tnM/nzMalkChzqq+IlYRq3mvA0ecSlCMpqswVbZ+/dk8mf2WeORqmFjdKe/+aY6sGXK13DGsh9TU1Mjhda/Ls0trZdjVY+WU8mo5cWKnvPvcQvl4//68R1ToIs274bjFasRjoJbY9EQQhPY34x/X3sgB54/YUx5NPr4fjHIafY+kilV/y+4vtm7EamOKVfNIaICOd1w+CWr/cRGdCmCCJ7VDGrGqj9SFHDz+WchVxbkQaKIEshSr1uhColuTKUf8YtV9EysoIN03vpJPK8QvVkUOvfVnufiFr2Ty9bfLv4zrGpgclatPyb9WjZI/3nquHF/8Z7ni+a9k7HW3y79f7C2b3ZtOYY/u2g2any9xitVcf26EvCHni1gNW7eFbhTURK8Ful0UBEIFpOmZeWMnG7HqG03qGz/+N2r8YtWNDNX2/knkvilOxKz7JFb2YtU7npQUWm4QgLezIW/omHKI1aJYo3QCAhAQkS/fkB//e25y1ZKq+oa27w1vaBYzgUKdVX3lWEWsFrBqbCnq2bWq33gJTQvgtGGX7yJT77pQkhlZg7I1Vawe+WyePPZWZ7l6+kjpUVtridWamh2y4tFX5dMzJ8j153SSQxsWycsrvpb9+zfnPaJCF2neDXvFakQupcjNq0IiVidOEpn/qjefpyeyIOKdfX/fw6OcTKTBGDf3qv3ufYWTJsD77rr3l+OmHrHqZdNwEauFrCbOhQAEmjSBrMSqP/Jfczyb/KPWkwuBN9j0a/vxeO/TA8nHe+0nCupXrMrxtfJf978qDx3tKPf+7Ha5zn7mP3lolIX+Ym+iLtoOkEfuuU6GtE4VHOI8Rh81z94nDcLLxClWUyNWc/65kS5itUkvZjrf9AmERKfqoAJpnez0GJ70ADFHrE7tae5XY2Ta7SKz/7zEfhLKDRjIXqz6n9Kyo1PDvuf9fvINqwCPC9/2j9vtp7nXpt5X0wlkdw+FjE9hNf2VxQggAIF6IJCDXEWq1gP/BqiyUGd1+aTLZUDfAVJenpBDhxfL+0dKJNHlIpncs6e0LimRkpISOXJ4jizYLZIwOVbdTak6JEd44nN5fqu9PZXmW0WsFjz5wUf7kxX686tG52TdueyPMmfVEEe4BsWqfv2YLJKx8p0rz5A2rlitkR0rH5XXPjlDLr7+VNm3aK6s+Lq/7N+8Mu8RFbpI827YOtG70UZYfjVnaw1vTjYrytH5RfKLZI5VI1aTojMpSr2bj0RFNXk3PfFHTAbesU/Jwef0xf1l2t44wBWrRhrHlGO1flIBhOfKM3/EB3OsBnOhpqQC8ORjDZbNnGNVLHEd/gBbYauNsyEAgSImkKNYddOsBEWHZwMrn1hNyb+dKgDcOj0pXgrLsWrzPvHpy3LXzA2yWlrLdZeMl+lXnisVRpwe/1JWv/aG/Oubu2SttJMfzbhFpp/t5glyJiyXiNWQn6XuEwfZiFX/zwNfTu0scqz6fm74nnTIFLGart9FvG7pWvMkEHk/8vzeGiY4Pb8LpkSF5pEKQMVq6oZyJt9xpr0D/L9JJSPag3lT/W88+YRrSCCDNS5XrDpvaLmCOeq+WuGmMbB/Tw9PeUAqgOZ5OTEqCDQIgSzkKlK1QWaiXhop1Fm5OVbLSqSk1P5IlCYkUeJ8eDevkoTo/+v7OFZ1TG45+5b6bia0/t1HKiXxo59Pr+vRrl+jdCC6UZMiwC7R7+JpMvlM3drK//3U86PEqqYBeFFWW3lV7cPOsWp/rqtTsdpbtj77hqztebbs/3hR3jwKXaR5N+w5MfPji3bhqMeyUjYg8XbKPLYUlgvVlyQ/ImLV125EZIDV3hi5x7vT8u2/kXs2/FTuX+onlLIrsvZv/MJkWgFv8bBcskHJHLopwNTscvOZ+kM2E41SAAAgAElEQVTYBB/H983R7dNkmu5+6+2Ld/Oqzwdar5s9cZMy246OeGiA5grrloyUcMfMLrBxXE/UAYEmSSCbzav0PuvZjNA7zrDIKuvOfO+TMmHBzZ578TSZNVPkTmfjw6AksOuc5u5O7X1jzs/V3K+y28zqxKY35F8fWSUvHLJradW6tZwqx2XtcefrDj3l//reVLnu1KBU1dezE6v+Nyud3voiwDKIVT0l8PNgzL2zZMKCO+3UL96NwDL83Mj0pEOyHeV4m2w2G9sYyESuNcnLuLl02r/hlPd3Ku/votNklrORm29Dq9DfN839IsdUACpWvUEImXL8a/HIa8cbzGDf51LuhdeaDawi8jp7Uwb4xhmIqPVuCOtbFEEOgc2ruO6byyXEOCDQMASOH5ET5e2klXmkP41cTZGqwXMbpse0kieBQp0VYtUPvojFqumoEalGmGba7MqcF4xYdcTq4Gtk+ogeUuuJWNWUAFVVunnVTvmgmYjVPK8vTms0AvoL90MyMLDhVaN1h4YhAAEINAUCtQdl87Jl8tQ7G2S1I1ilQ1e57qLRMnlUP+lArq+mMIv0EQIQgAAEIACBxiJQe1z2Vq6SV15cJTM3HZHjwXypIXI1RaqaMiXtZPKooTJjwlAZ2NWXg6mxRke7EQQKFasVoyqkbZe2UkLEqkW40cVq6qZTqTMf9Yh/ujysItmnAkiK1UOyocmnAuDe0SQIBHaKtiOHB/LIfpOYPDoJAQhAAAIQgAAEIAABCECgCRPYv1neXvCOzFy2S1ZX+8cRKU5rRdK95q2lQ+eeMuPKi+S6EQOlQyAdfhOm1my6jliNdyobXazKkbUy77FFIu6j/sEBpuZUtUVrPxl/62Q5y33CzynXdarcNUq3tErdvGrnsj/JnFV9ZezNV8rpbc3mVYflswXPyrKO3s2rRPbv/zhv0oUu0rwb5sQmRcCfhoGdmpvU5NFZCEAAAhCAAAQgAAEIQAACTYlA9UHZvGKpzHxtrczbH9LxkjIZO+RcmXH5SDmrjyclgBb98g35hydEfnr3pVLhfSLo+BHZvm65PD3vY3nqy2o5EVLtkFPPkhnXjpax/Ts2JVrNuq+FOisiVv3Lo/HFqirQz+bJ7LcqRYYaKZrsZKhEdWRspad8auRrqlitO7xWXn18kVQOuVruGNZDNFL18LrX5dmltTLs6rFySnm1nDixU959bqF8vD/sTpPdtVXoIs2uFUpBAAIQgAAEIAABCEAAAhCAAAQgAIHMBFb/zwPyvQ9Ty3Xr009+NHm0TDm7j7QqJLr06JeyevFSmbmwUt52ct57W7vtzrvlp4Mz95MS9U+gUGeFWC1CsWp3KWJTqn7jJfyR/2D5iAhWGS+3TjpTdNsre5OqnbJs5ouyxt286mQZMfVi6V+uOVZVrJ6QHTsqZe7c1/JezYUu0rwb5kQIQAACEIAABCAAAQhAAAIQgAAEIBAg4BWrrVp3lJsmjJJvjztTKtoWYlPDMFfLie2fySsLlsl/rT4oe2vtMojV4lmShTorxGrRitX6W2QqVPWwxar9Eb55lRGrO2Tu3Ll5d6jQRZp3w5wIAQhAAAIQgAAEIAABCEAAAhCAAASKWqzq5s13yuzQWSJNXn0v3kKdFWIVsYpYre+rlPohAAEIQAACEIAABCAAAQhAAAIQKBoCxZUKwBarMnOl3H2+H5HZi2RayGtFA7OJd6Q5itWq6iq56aybGmVmiiLHan2PnIjV+iZM/RCAAAQgAAEIQAACEIAABCAAAQgUK4Eoser219m86rZLhsmIbDea0g2xVr8nLyyI3rzK1O9PBRAtVrW8LVdF7nnltzK1Z7ESbbr9am5iVZ1f3/Z9ZVSfUY0yKYjVmhprE6uqKm+OVVIBNMpqpFEIQAACEIAABCAAAQhAAAIQgAAEYieQUax6WrRzsA6T60aeKwM7B3OwVsuhLR/LX998z5dDNVOHcxGr8uEDMnzGZkes7pU5P54o9y/1t+BGtO6aIz+Zcr8scV+eJrNW3i1D9OuU17xpBsLqDZ67WabPFLlzxmwx7a3+3XC58892Y2PunSUTFtwpm++0I29NtK23p8nIW5XJD8nAmRNk4Yz7Re6dL7+9tlsmbPXyeqFitdewXtK6S2spKSuRRGlCSkpLJFGSsD6kRCSRSIgkxPpI2P+pt6M0USoDOg1oNKmqA0OsIlbrbYFTMQQgAAEIQAACEIAABCAAAQhAAAKNTyAXsertbbc+/eRHl18g404R2fT++/Lowkp5+3ju48lXrA58UkWmR3j6Ilqny+Ypd8pmV1I6svS0WbLyx2Lncb1d/21pVkd8DnTE617Zu6ubdPNExFpi9PPpdnkjZVPOT0bSBtMW7N21V7r19MhSq47NMt0SvU5e2dH3yPzfTZXGUar2vBUqVq+66irp06ePlJeXWx9lZWXWR2lpqZSUlFgfKle9H7mvmKZzBmIVsdp0Vis9hQAEIAABCEAAAhBocgSWLVsmGzdubHL9psMNR2DQoEEyalTjPMLZcKOkJQg0LoF8xWpcvS5IrEpSjlr9sYTlQpnwyr0i/zxRFl4eFv0Zkm7AJzqdkVnRsZ5ttIz4dNtIpiOwROqCCR4xGpbSILgxl4mSTZ/+IC7O2dSDWM2GUvZlEKuI1exXCyUhAAEIQAACEIAABCCQI4HHHntMrr/++hzPonhLIvD888/Lrbfe2pKGzFgh0PAENB/qiqUy87W1Mm9/wzU/5NSzZMa1o2WsL29rBsnoSQVgR6yG9Tf5WL//EfwsRaYRqsGIVCNOsxKrdoSsnQrACNVgOgEVwCpnEasNt+oatiXEKmK1YVccrUEAAhCAAAQgAAEItCgCs2fPRqy2qBn//9m7H7A7yvpO+L+EAFrQqmAwRtC04lrLH4PRrsZazGKJBAS1vq+7xoAB/7T2QnSFbdfCe12h7rbCClotohD5t327bf2DEgwrjbYKVhuNEqq25TWKhoRHoq5i1QDhvWbmzDkzc+ac59+dMEk+ua5ckOfM3HPP577v54Fv7vnN9G82C1ZXrlw5/ROdQYDAzAR+tCU+f+sX4qovTsQdD86siXFnPeZx8+Oc335+nPHcRfGYZonW/MSpv7wqD1abO1bLi4/cgRqxduOy2LBkdcRVRf3T/Ffl+IVDu097pQKmFaxW7uPJ5S7aygu3auGsYDX9TOtGi4JVwWo3ZqJeECBAgAABAgQI7JMC119/fbz85S/fJ+/NTaUR+PjHPy5YTUOpFQLTFMheRPWV+PgnvhZXfeun8ZNpnl07fN4h8dLfOD7OOemElhdeNRseHTI265YWL4tqqbGaBaB/FLHmlItjUSU8Lc7P6qgWweqoGqt5sLpmUC+1X1N1slIA1XN6u17zF1TlwWr1pVTly7GmuIN2NvbTPFcpgGmCTXK4YFWwmnZGaY0AAQIECBAgQIBAReC6664TrJoRYwU+9rGPxapVqygRIPBICsywVED7o/6T3UizDmn1+MEj/sVXy4CyckzlBVD1MgDZMZXzyxdQ9U+tt12Etr0PszZ7Qe1tWXmAV2/p1XGt7EDN9tpWz1m1MlZed8NgV2ytXmt2raIG7MW3Z8Fwyw7ayZh20+eC1bSwglXBatoZpTUCBAgQIECAAAECjWD1jDPOYEJgpEC2Y1WwaoIQ6JDAJKUCJn/Uv0P3slu7kgXEV8eivIbqbr1Q0sYFq0k5Q7AqWE07o7RGgAABAgQIECBAoCJw7bXXxlSC1S+963Hx2/+tcuIZH4p/vuZVccQUNfPz43/Hjy543hTPmO5hX4pLH/fbEZ/+Ubz9udM9t9vH3/s3r41/d9PLRnrvbtssWD3zzDMrSC0vgSk/bXmhzO7QbXv8eHdcZ8pt7qH7nnJ/Jj1w7wycJr2t6gH57sSslud5cdy0TtybDq6UCrg74oVTftR/b7rHafS1sQ4HZQf2rjkgWJ3GmE/hUMGqYHUK08QhBAgQIECAAAECBGYmcM0118Tpp58+9uR/vOQJcXLcEj84f5BY5l/77++IW37wn2MqOWZbGzPr8f531sRHzoxn3nRafPPDvxOPxKarG2+8Mc4666yWYDUiKm/szg8YChh3Q4CXBWZrF8Ut7z09DuvKdJgkWM0Dnm+fHRvP7UrEtxvGZWgs9sQ1xkyA/SJY7coC6E4/6qUHmmULutPPcT0RrKYdJ8GqYDXtjNIaAQIECBAgQIAAgYrAhz/84UmC1X+Mdx+2POKWHfG2JVW6lq9vfHccdvI7+we9o3LOP156WCyP9bGjt500Cwt/7Q039Y49Na7cfG38zpPLU4u2+y394eC8iFGfDfenfo13xPodb+uFwNmx74ujPnh8vPEN5VWqn0dE414iBp9n7Z4fp8Xxb3hj3sfqfQ6EJuJvVv9avPHGwVdO/eA34tpXZtFodv3PxVEf/Fq8MTM4/cr4xtrfiRhhkt/HuuPjHfHOeGevvUFbEX3b//SdOPPYT8ZpQ5bvi6PKr9Xuq+nevjSyYPV1r3vdULAaF10YW9bUX0wzHKymX247JnbEYfM7E6kWN2jHavqBnm2LgtXZCjr/ERIQrKaFF6wKVtPOKK0RIECAAAECBAgQqAisXbt2kmB1Ij5y9rPijXFlfP3qV47eMbnx3XH48ohP3dcLL+/5SJx13CfjtDuuiVc+OQv/Do+Xxqfivrc/NyY+elY8a91pg/Zq5xbX++SKr8c1r8hCyOqfY8xn34l3H/7SiPX35QFwfo03HNfvT/3P/5gf+99OL++pd4+/VvQvC1UPX35HXNnrex6EZsf/QaX/b4jK580p1Wgvu4u8P+U59fbys5t+lT8/NT/3pvivvXtr9m9g+9SGT6/dK55aWDfva+g+Rwerq1evHg5Wr9oYr727fMN371HbSXasZo/wX/20tbHs1tVx8e1Fk/kbu5/da772MpuVsfaqiNXl7tSW8DIvCRBr852g5a7QtbG6/8KbpRfdEu95WXsIO/xSnWpferstr1oWG87pvUn8qOtjyTk3VBwqb0Iv+3bRorh4Te+Y5gt8sh2rL9oQS87ZEhfWaj4O3sC+7O8rL+vpXWn0PQy/NGhg2fJCoZp1dTfpJMeOe8HQ2JcPVa4RxRvZb6tNsabfljg7G+/SuOIX0fIypdrnjZcWRW/u5KUAXhtbzs1eUFSf37V556cCgQ4JCFbTDoZgVbCadkZpjQABAgQIECBAgEBF4Oqrr46Xvexlk5hsjMvmnxL/vXLUH35qIt76nPILE/GRc46Ju3+3+rUsTHxdHLPlzTHxn5fExv8xP06Jm2PiP0dcNv/9cdRXP5wHruWv7PP3L7ozPvzU/xnzXxpx88Rbo7ZBNjvwy5eN/iyKPkber+q/1/t40yl3xodfcXfl2OLzvK83nxp3XtUeHg/6v2TSY1sx7/lIvO7ZN8Wp+X03+1f4FX0bfth/uG/188f1re/6imi9RvXcUZPgk5/8ZIwKVs97di/wKksCTCFYXX1d5fHcfFdhGTQ22irDtDJAm0qwuua2QVDbC/0WVYPbyk0O7XzNj98SZ+c1OXt9qV27F7D2gto81L3rwqIkQRkw9ksj9MLKp9dD343nLowbzz05Npw0CHzzgPfWZfGXJ22IV6+Jeujae4t5WwhYu372bvasnTWL8pqikb8ZvRJc9j8v2x+Enov+ctyxZ8eWU1bHDZWSD4PrFG9Rb/+sNMxeHDTcRv9N8jE1v5jYETvmH1Yr/VCE9IVj0aeq3aAO8DtW3RDvHGvhRwKBbgkIVtOOh2BVsJp2RmmNAAECBAgQIECAQEXgqquumkKwWjnhno/G6sW/G+vyL/1hrLv3vFgSG+PyI1bUgtf+Gf9lXdz7tiWx8d1HxIpYF/e++u7K+fWhWPGBzfEn8Qdx7M2nxuYPvWJod+zEx1aP/Cx6fYib743zFmR9vClO3bQ2XlENb999RPz5os2x9uV35/3Nj+2Fw61t1+41Inr3Mr4f9XvK7/tPy6+tiCvyPhVeg+s3/1xvY/h69eP7ttlW3bzP5b1nx/15HNV6zV6gnJlu+b18jEb9+sQnPhHnnHNO5ePBDst8p2k1/HtyFk5uiGX9HZn1OpvVHaZ5g7WwtNFuGQbeuqwSXlbb7u1SrO5YLY/NGx9ub/gemzshy9C3cW7bo/7VWq9TCX17NVbLILWoEVsEsFnQelGsyQPWeu3Y0fdQb6d+Z0POrdbF29LzYLVn2G+lfz9FKBpDu4qzALoIVts/Gw5Wa8dNc2zLfg3tMu4Fvq0WvVIAebA68v72rrfF++G1fwgIVtOOs2BVsJp2RmmNAAECBAgQIECAQEUgC1ZPO+20GZhMxEdff1ysO+WOuDoLKp90asS67f2gstngxnc/KU6Nm2L7f7w7zl68LlZsujpesWD4shMfOzuOu3lF3NEarI7+LA9Wyz48+aOt18j6cMWi9v7WrrstO//38vD4D3r31O//25bEuD6Wd5Qf/66IOO3Pi3vJ2yzvu9LXPNht/rnuMny9+vHVvmWlE/rjctRfxJM+cFTPsv0aedtbfje2jwlWsx2rY4PVLMIsd0jevCiuThis5qHtdEoBTDlYHexo7L81flzIO1kN1WkEq7UwOX9EvgiLX/gPxc7VqQarg2B68Ih9WTagGI+2ZV0NjivB6shjW4LVfrOTBddlqN7eRi0MnYrfmtuiWhZhqAxE006wOoPv607pgoBgNe0oCFYFq2lnlNYIECBAgAABAgQIVAQ+9KEPjQ9Wv/yeWHBqxCe3vWXo0fyNly2I0+KTse2tR8VH33B8rHvp1+Lql7e/t35wbMR7FpwWcdO2eEu/lEClQ2OuF+M+i42Vdqv/XrY9Uenj3UN9yALG4z+1Ir72wVdEZP/+7d+NbW8d7OIc9L8IVstjR9xtvGfBFXHkVyrhcRasnrAuVuRfa/av2reWUgBD16ufX+1bdrdl/97/a2+OdU8rx6T9Gs1z2xZHFqy+/vWvr3zUFqiVj84vjaW3R/d3rLYFpdMNVqcb+vZ2rGaQ5WPs+S7V1p2sJfeo8LLY6bpldaU+bWWHbl6rtblLsza4jVIAI49tuX6/ZMKe27HatgNXsOpH2b4qIFhNO7KCVcFq2hmlNQIECBAgQIAAAQIVgQ9+8INx6qmnjjGZiI+9cXH8frwvNl358sHj+ds+Fq9fcnOcsvFD8fJs5+lX3hsLT9sc7yv/HMV5N790U3zojPnx5csXxsviE7H1vOfExMdfH4vffGx8Yuu5UWSrX473LnxZxCe3xrkn1M/LP+2fe2StzfpnUWkjhq5Rv2b1esWt559/6pT8HqPy7/nrs/L+3hxxfqX/vWPbg9Vm+8Wf/zRO6fkMX7/wi4FJxXfpFwd9K65XP79qm3+cn/v7cXNWvSA37Q1vc4yGxqx9Gtx0003xhje8ofLhiLCvVxIgolJDNQ/7ip2Rp8+vP7pfwFdLBzRrrPbqlDbqcPZrpjbqmg4/Dj5mR2Xv3Oi/3Kp8gdO4UgCT1VidpExBJVgtduJGrIwbInrh6HCd0EaZhfIFXzlcvYbrwPLiyHyKl2C11Fjt7+qcQo3V/NhFcf3IOqqpa6yO9uvviM7r3w5coloKoFZjtRzPlaHGqh95e5uAYDXtiAlWBatpZ5TWCBAgQIAAAQIECFQErrzyykmC1eLgL1/+lDj90irdBXHj98pgtPj697MA8vc/1T/ope/LQtUnDs6PG+N7vaKmzfYu+MT3BgFgFhw+5fTInqTPf536vtj0gTOi19KIz4pzotJOvT/V/o44dv2K3nW+Hx9/0+L4/Zt613/7jbHpaR+Ixb9/bH7PR2X32T92xHT6ynvjKS8r7+Cl8b5/fFPc/dzTY3NucvdQX9v8SpP8PmrXq/c/t6zYRpT9Hx6jLMCt9+tDcUZLSYbqXWXB6hvf+MbKl0YHlkUANtNgtQxay0fbl8bKVRE33FV5PL4f3kbECy6MtSdtiNUjd3xO8qh6ta08DL4o4o+zt8dngWTLbsza8RlH86320whWy2C0DI17um2P8Fcff6/NtjJYrnxxcGwZLFY+LF/ElX+pGnhPcuzQdSrjO+6z6jXykgeDkgVFr6bu1w+Sb+/dTxaovmhDLDnnhn55gLrd0rjwqmWx4ZysFuxrY8u52bjW12rbC8FGrGZfJrBHBQSrabkFq4LVtDNKawQIECBAgAABAgQqAh/4wAemFKxC238FsmD1TW960yMCkO/irO70fER64aIECBDYcwKC1bTWglXBatoZpTUCBAgQIECAAAECFYErrrgiVqxYwYTASIGbb755jwWr9VqaxY7TLf3H9Q0SAQIE9n0BwWraMRasClbTziitESBAgAABAgQIEKgI/Pmf/7lg1YwYK7Bu3br4vd/7vT2k1KuzWl6tV0NzD13cZQgQIPCICwhW0w6BYFWwmnZGaY0AAQIECBAgQIBAI1g95ZRTmBAYKZDtWN1zwaqBIECAwP4tIFhNO/6CVcFq2hmlNQIECBAgQIAAAQIVgfe///0hWDUlxglkweqb3/xmSAQIECCwBwQEq2mRBauC1bQzSmsECBAgQIAAAQIEKgLr16+Pu+66iwmBkQJPf/rTY/ny5YQIECBAYA8ICFbTIgtWBatpZ5TWCBAgQIAAAQIECBAgQIAAAQIEOikgWE07LIJVwWraGaU1AgQIECBAgAABAgQIECBAgACBTgoIVtMOi2BVsJp2RmmNAAECBAgQIECAAAECBAgQIECgkwKC1bTDIlgVrKadUVojQIAAAQIECBAgQIAAAQIECBDopIBgNe2wCFYFq2lnlNYIECBAgAABAgQIECBAgAABAgQ6KSBYTTssglXBatoZpTUCBAgQIECAAAECBAgQIECAAIFOCghW0w6LYFWwmnZGaY0AAQIECBAgQIAAAQIECBAgQKCTAoLVtMMiWBWspp1RWiNAgAABAgQIECBAgAABAgQIEOikgGA17bAIVgWraWeU1ggQIECAAAECBAjMVOAn98f9hxwah86daQPOI0CAAAECBMYJCFbTzg/BqmA17YzSGgECBAgQIECAAIGZCPzwH+KyP7sgvvyrl8cH/uMJwtWZGDqHAAECBAhMIiBYTTtFBKuC1bQzSmsECBAgQIAAAQIEpivQC1U/+tPixKced0Wsfc2vx0Ej2rn305fEJbfcO/IqR5x8fpz/kiOm24vZHT9xa1zyrvWR9Sq7/qq4Lq6LVXu0H5uvf3tc+7WIY8+6NM48Zna3s0fOzs22xvJLz4xjp3vBO6+Nt1+zuX9Wf8zLr89fHudfcFI0Z0FpVBwfceu7Lon1E20XPyKWX3B+nDR/uh1zPAECBLotIFhNOz6CVcFq2hmlNQIECBAgQIAAAQLTEWiEqjH36Fj1mivi9ceMilUj7p24N46YX0Rmeci6aXFriDadbsz22M3XXxvx2iwg3BzXvv3amNjD4W4WGH5l8TQD1TyEjDhzJsHmbMHKsdu+PC597fRi1Twc3VYJTvP7mMiD0CNuKcLlaAtW+2HsscU998Lw+UNB9L1F4Brt4WyCW9cEAQIEHjEBwWpaesGqYDXtjNIaAQIECBAgQIAAgabAPeviuq8eE68+5an1XagzCFXrTRcB2KbFj8AOVaM8S4Fi7LaeMoMw+OaF9SA9D0g3xeILlsfWd10bcfyxsXlb45g88P5KLDx5Itb3wtxi5/P8lmC5CMdjb9n5O8uRcDoBAvuXgGA17XgLVgWraWeU1ggQIECAAAECBAhUBe5ZFxf82Z/GF3YdFM//zavjj0/thauzDlUjoh+oNR/ZLoKxwYPiEXH8mf2dkXmgtn15nBnXFrsbo9jBOL9SYqD6OP1w6YHqY+LZtdbHwl6oV1yztyMy+9fGI+v5x5W+NCdLyr4V/Y7eI+29XZgTZd/Kfmd2vX8/a3FsumZQzuD8l0wMHKs7QKd5T9k91g2PiOX5tbIyAMvj3qHH8af3GH5/1/IpW+OSbAfuWRHXNsLXYkfvmRHXlIFpz2PBYF6UY5HviI3hr1vYBAgQ2BcEBKtpR1GwKlhNO6O0RoAAAQIECBAgQKAv8IP4u/evjD+6+/7eV4pw9aKl2+JDf3ZBlDVVp/L4fxvqyDIAd26OzcccO6jbWQtgy4CxrEU6+HNZp7P+qPm9sfnOiGOPGVTrrAVvzcfLK6UAlm+/JK79WiVk7QeMZdg5FKv2a34Wwe4s+1bWfT1+eSzftj7WV0PErN9l+NisSzrmkfkTNmWP2s/gnqqP1Zf9eubiOOKbmyJqZRN6ofiY8LmqVg2P8zIAWSC6+CuDeyvD7U0nFF8vSx9UauIOza0pXttCJ0CAwN4oIFhNO2qCVcFq2hmlNQIECBAgQIAAAQJVgV3b4tPvPzvWfG8Qrh40d2fs3NU7aAo1VdtBJykD0NxVWe64HNrlOtxOFpyuf1K1vMAg4Cz7Uu5oHd7dWN/B2nycfGxN2MR9i6j0uxEWVu9x6B6atVf7L5k6Ib7S8oj89O4pEyzC018sPiL+ZWuzPu7UHsMf7ICt7sDt7UaNSmjcKwFwwqVnRlR2oo7u8yNTI9c3DQIECOwpAcFqWmnBqmA17YzSGgECBAgQIECAAIGmwFC4OttQdXQZgPKt79XH7ash4lCgNvRm+soj8pHV7sweja88ml47fjgEHHosvfZiqPFhcNq+FcZDL3oqvtorX1CWAajXE20Gy2V5gtqOz/4YT/OesvNyw2/Fk+f/S2yaaFsu9R2xtSP6gXmjXEA1DO7vxj02NvfruFbHalyf1e31DYwAgX1bQLCadnwFq4LVtDNKawQIECBAgAABAgTaBJrh6ox3qo4JDNtqrraUAai+7KofGpZvpq88Ij/RUmtzuAxAVF5+NAjl8jIAzTqdI2vCZvc0HOjNqm9lqJrXkG0JIWtlAKr3UA1dB/3KXjKVlwGY5T31w95fZGUA7onFFzTr445ePmVoXq1/Wx49NC43L4wzF2+Ka3svqipq3fbuc9w4jB0jS5sAAes0qucAACAASURBVAJ7v4BgNe0YClYFq2lnlNYIECBAgAABAgQIjBIow9V7FsSq11wRrz/moBlatT+uXX9ZU7kzcn3cO0kZgOqb6Qe7NXsvbqo8Qt8M9oYeoW+8nX5z7fH73mP51Vqj1bsfUQZgVn3btjzOv+CIWN94fH/SMgDVFz81ygBM/57W12qolo/wPyMrA7CpUWs2Dz8nei/bqk+N4rz5lRC7+nlj5/BQ3dvezt1eKDy6DMAkYzTD2eo0AgQIdElAsJp2NASrgtW0M0prBAgQIECAAAECBMYJ7NoW/3r3YXH002YaqkYUuw/bArjei4/K689fXuxavOXeyHY5Lt92SVyyqVLTs1lLtPaIfPNN9tnLroq3ym/Og9rhwLIa2EUeBN5blxjzUqShsG/GfVscz5jYFP9ShsllndX+i6vGlQEYv2t2UNe0cluTvOipX5qhd8oRxx8b8bWI5ZcW9Vo3V4VGttUY1+o52X2esjUuKXejZp/1gtXBztbhMgDrW0sQRFRLSFjIBAgQ2BcFBKtpR1WwKlhNO6O0RoAAAQIECBAgQIAAAQIECBAg0EkBwWraYRGsClbTziitESBAgAABAgQIECBAgAABAgQIdFJAsJp2WASrgtW0M0prBAgQIECAAAECBAgQIECAAAECnRQQrKYdFsGqYDXtjNIaAQIECBAgQIAAAQIECBAgQIBAJwUEq2mHRbAqWE07o7RGgAABAgQIECBAgAABAgQIECDQSQHBatphEawKVtPOKK0RIECAAAECBAgQIECAAAECBAh0UkCwmnZYBKuC1bQzSmsECBAgQIAAAQIECBAgQIAAAQKdFBCsph0WwapgNe2M0hoBAgQIECBAgAABAgQIECBAgEAnBQSraYdFsCpYTTujtEaAAAECBAgQIEBgpgI/uT/uP+TQOHTuTBtwHgECBAgQIDBOQLCadn4IVgWraWeU1ggQIECAAAECBAjMROCH/xCX/dkF8eVfvTw+8B9PEK7OxNA5BAgQIEBgEgHBatopIlgVrKadUVojQIAAAQIECBAgMF2BXqj60Z8WJz71uCti7Wt+PQ5qbefeuPVdl8T6iREXmb88zr/gpDhiun3ozPGT3N/xZ8alrz027v30JXHJLfe297p3TP7hndfG26/ZPPLujj3r0jjzmM7cvI4QIECAwG4WEKymBRasClbTziitESBAgAABAgQIEJiOQCNUjblHx6rXXBGvP6Y9Vo2JW+OSd62P+R0PBPPgc9Pi6Ye84+6vF5Iee9b5sfDmS2L9giJkrf3qHXPEyefH+S85IjZf//a4dtveHjZPZ0I5lgABAgTGCQhW084PwapgNe2M0hoBAgQIECBAgACBpsA96+K6rx4Trz7lqfVdqNMNVSN6OzXnx5mXnhmNSLFD7sWu002Li3BzOr+Knajt99f/7IKFsX5MuJyHqV87Ns689IT4ytuvjYleyDqdfjiWAAECBPZNAcFq2nEVrApW084orREgQIAAAQIECBCoCtyzLi74sz+NL+w6KJ7/m1fHH5/aC1dnEKpG9B6Tb9upWb1m2+Pvlcfj84By+/I4M66Na792RCy/YFXENZfE1lPOjLjm2sgfnM+Pn18pO5AFlYMwtwgvqxftfd7bcVo+pJ89ar982/Bj++WO0vpkGXd/g8/Of9L6keFr1l7etzgzLl38lXj7NROx/ILz46T5piUBAgQIEIgQrKadBYJVwWraGaU1AgQIECBAgAABAn2BH8TfvX9l/NHd9/e+UoSrFy3dFh/6swuirKk66eP/ZXuN0LIG3QtOB7s1ByFosdMzegHjoIZpv75ov91mOJqFrlkouTmure383Byb7zw2ju3XJq3vUB2UATg2Nmf1YKP+KH5bH/N7yfuxKRa3BKGDeyhC4NG7YYu+xlmXxgmbmuFvKVbel6lKgAABAvubgGA17YgLVgWraWeU1ggQIECAAAECBAhUBXZti0+//+xY871BuHrQ3J2xc1fvoMlqqlbamrxu6SBUrL6QqXZeS3g51O7QMVm762NhLfAsrjV4LVQZVlZC1uM3twal/R2ljfqoY19IFdXQtz18zany3brRLwOQBaxeTmVJEiBAgEApIFhNOxcEq4LVtDNKawQIECBAgAABAgSaAkPh6vRD1bIMwNi6pf1QsVp/ddRu0pOiqH46XA+1LBXQfzFU1u7NC4sXUfXLDFRKA1Q/r4Syx36t7QVW7eHvlO6vrDE75qVY9TIAWcDa5Vq0lgoBAgQI7GkBwWpaccGqYDXtjNIaAQIECBAgQIAAgTaBZrg6jZ2qeXNjHpMvL9e6E7R2XstLpYbaLY7Zespgp2fW7vonZS+iipaXUo0vAzAUBLeGv1O7v0nD117om5U4yMsAZHVWG7tiTU4CBAgQ2L8FBKtpx1+wKlhNO6O0RoAAAQIECBAgQGCUQBmu3rMgVr3minj9MQdN2WqqZQA2V15S1X/ZVVnjdMplALbG8v5Oz0oZgMhqoK6PODkLWbP9rmW91lFlAKrHZrfaKx9Q62NBMPn9jQ9fi7qt9ZqwygBMeXo5kAABAvuNgGA17VALVgWraWeU1ggQIECAAAECBAiME9i1Lf717sPi6KdNPVSddKdm73qtNUorIeZweDm8g3Vo12v1Mf8sGs0DzPIGj4jlZy2OTdesj3vz60S/7mp/12j/2OKcI/qhbBWpZSdti+HYGqzVsHbUrlgzkwABAgT2ewHBatopIFgVrKadUVojQIAAAQIECBAgQIAAAQIECBDopIBgNe2wCFYFq2lnlNYIECBAgAABAgQIECBAgAABAgQ6KSBYTTssglXBatoZpTUCBAgQIECAAAECBAgQIECAAIFOCghW0w6LYFWwmnZGaY0AAQIECBAgQIAAAQIECBAgQKCTAoLVtMMiWBWspp1RWiNAgAABAgQIECBAgAABAgQIEOikgGA17bAIVgWraWeU1ggQIECAAAECBAgQIECAAAECBDopIFhNOyyCVcFq2hmlNQIECBAgQIAAAQIECBAgQIAAgU4KCFbTDotgVbCadkZpjQABAgQIECBAgAABAgQIECBAoJMCgtW0wyJYFaymnVFaI0CAAAECBAgQIECAAAECBAgQ6KSAYDXtsAhWBatpZ5TWCBAgQIAAAQIECBAgQIAAAQIEOikgWE07LIJVwWraGaU1AgQIECBAgAABAgQIECBAgACBTgoIVtMOi2BVsJp2RmmNAAECBAgQIECAAAECBAgQIECgkwKC1bTDIlgVrKadUVojQIAAAQIECBAgQIAAAQIECBDopIBgNe2wCFYFq2lnlNYIECBAgAABAgQIECBAgAABAgQ6KSBYTTssglXBatoZpTUCBAgQIECAAAECBAgQIECAAIFOCghW0w6LYFWwmnZGaY0AAQIECBAgQIAAAQIECBAgQKCTAoLVtMMiWBWspp1RWiNAgAABAgQIECBAgAABAgQIEOikgGA17bAIVgWraWeU1ggQIECAAAECBAgQIECAAAECBDopIFhNOyyCVcFq2hmlNQIECBAgQIAAAQIECBAgQIAAgU4KCFbTDotgVbCadkZpjQABAgQIECBAgAABAgQIECBAoJMCgtW0wyJYFaymnVFaI0CAAAECBAgQIECAAAECBAgQ6KSAYDXtsAhWBatpZ5TWCBAgQIAAAQIECBAgQIAAAQIEOikgWE07LIJVwWraGaU1AgQIECBAgAABAgQIECBAgACBTgoIVtMOi2BVsJp2RmmNAAECBAgQIECAAAECBAgQIECgkwKC1bTDIlgVrKadUVojQIAAAQIECBAgQIAAAQIECBDopIBgNe2wCFYFq2lnlNYIECBAgAABAgQIECBAgAABAgQ6KSBYTTssglXBatoZpTUCBAgQIECAAAECBAgQIECAAIFOCghW0w6LYFWwmnZGaY0AAQIECBAgQIAAAQIECBAgQKCTAoLVtMMiWBWspp1RWiNAgAABAgQIECBAgAABAgQIEOikgGA17bAIVgWraWeU1ggQIECAAAECBAgQIECAAAECBDopIFhNOyyCVcFq2hmlNQIECBAgQIAAAQIECBAgQIAAgU4KCFbTDotgVbCadkZpjQABAgQIECBAgAABAgQIECBAoJMCgtW0wyJY3Q3B6mcmfhwveuJj4oA5c9KOltYIECBAgAABAgQIECBAgAABAgQIzEDgoYcfjr///k/ixfMfO4Ozi1NWrFgRCxYsiAMPPDD/PW/evPz3AQccEHPnzs1/z5kzp/Z7xhfbC04UrO6GYHXTD+6PJz7qoHjKLx20F0wBXSRAgAABAgQIECBAgAABAgQIENjXBb73bzvj+z/fGYufcOiMb1WwWqcTrO6GYHXHv/087rh/Zxx96KNiwaMPtHN1xsvViQQIECBAgAABAgQIECBAgAABArMRyHaqbvvZA/Gv9/88jjv0oDjslx414+YEq4LVePjhh2PXrl3xUC9Uzf75wAMPxIMPPhg7d+6M7du3x7p162Y8ybJ2fvjznfG9X+yKHz20K3Y9POOmnEiAAAECBAgQIECAAAECBAgQIEBgxgJz50Q87oC58ZSD58bjH3VQ/uj+TH8JVgWruz1YzULbMrjN/pkFuX4RIECAAAECBAgQIECAAAECBAgQ2NMCWc3TrPZptQ7qTPsgWBWs7vZgNSPOwtTy90wnq/MIECBAgAABAgQIECBAgAABAgQIzFag+kKp2bQlWBWs7pFgdTaT1LkECBAgQIAAAQIECBAgQIAAAQIEuiYgWBWsCla7tir1hwABAgQIECBAgAABAgQIECBAoPMCglXBqmC188tUBwkQIECAAAECBAgQIECAAAECBLomIFgVrApWu7Yq9YcAAQIECBAgQIAAAQIECBAgQKDzAoJVwapgtfPLVAcJECBAgAABAgQIECBAgAABAgS6JiBYFawKVru2KvWHAAECBAgQIECAAAECBAgQIECg8wKCVcGqYLXzy1QHCRAgQIAAAQIECBAgQIAAAQIEuiYgWBWsCla7tir1hwABAgQIECBAgAABAgQIECBAoPMCglXBqmC188tUBwkQIECAAAECBAgQIECAAAECBLomIFgVrApWu7Yq9YcAAQIECBAgQIAAAQIECBAgQKDzAoJVwapgtfPLVAcJECBAgAABAgQIECBAgAABAgS6JiBYFawKVru2KvWHAAECBAgQIECAAAECBAgQIECg8wKCVcGqYLXzy1QHCRAgQIAAAQIECBAgQIAAAQIEuiYgWBWsCla7tir1hwABAgQIECBAgAABAgQIECBAoPMCglXBqmC188tUBwkQIECAAAECBAgQIECAAAECBLomIFgVrApWu7Yq9YcAAQIECBAgQIAAAQIECBAgQKDzAoJVwapgtfPLVAcJECBAgAABAgQIECBAgAABAgS6JiBYFawKVru2KvWHAAECBAgQIECAAAECBAgQIECg8wKCVcHqHglWf/zAg7Hl/p3xgwcejF0Pd35d6CABAgQIECBAgAABAgQIECBAgMA+KDB3TsQTDpwXiw49KB574LxZ3aFgVbC624PV/7Pzwbjj//wsnnzgQfGQVHVWC9bJBAgQIECAAAECBAgQIECAAAECsxM4YO6cuOeBnXHcLz86fvmgmYerglXB6m4PVr/2w5/GoXPmCVVnt+adTYAAAQIECBAgQIAAAQIECBAgkEggC1fvf/jBOP7xh8y4RcGqYHW3B6ufmfhxLJx30IwnqRMJECBAgAABAgQIECBAgAABAgQIpBbY+uDOePH8x864WcGqYHW3B6t/e++P48gDBaszXqVOJECAAAECBAgQIECAAAECBAgQSC7w3Qd2xn84QrCaCvb7P/1uzHnz+Wc//MRDjkzVZufaefjh4u1R2T/L37t27YqHHnqo//uBBx6IBx98MHbu3Bnbt2+PdevWzfg+BKszpnMiAQIECBAgQIAAAQIECBAgQIDAbhIQrKaFFaz2wlXBatqJpTUCBAgQIECAAAECBAgQIECAAIFuCQhW046HYFWwmnZGaY0AAQIECBAgQIAAAQIECBAgQKCTAoLVtMMiWBWspp1RWiNAgAABAgQIECBAgAABAgQIEOikgGA17bAIVgWraWeU1ggQIECAAAECBAgQIECAAAECBDopIFhNOyyCVcFq2hmlNQIECBAgQIAAAQIECBAgQIAAgU4KCFbTDotgVbCadkZpjQABAgQIECBAgAABAgQIECBAoJMCgtW0wyJYFaymnVFaI0CAAAECBAgQIECAAAECBAgQ6KSAYDXtsAhWBatpZ5TWCBAgQIAAAQIECBAgQIAAAQIEOikgWE07LIJVwWraGaU1AgQIECBAgAABAgQIECBAgACBTgoIVtMOi2BVsJp2RmmNAAECBAgQIECAAAECBAgQIECgkwKC1bTDIljtYLD6Lx/5QFz09TED/awT4y9f+cy0M2G3tPbNuOHiz0a86k2xcg9290ef+5/xpjufGh/43RfG43bLfe2eRvN+TzxnLxnb3WOgVQIECBAgQIAAAQIECBAgQGD3CQhW09oKVrsarMZsw9NHJtSsT8+Z9iE778ux8HdfEy8+PKIelNY/a1sOgtW03yS0RoAAAQIECBAgQIAAAQIECOwbAoLVtOMoWBWspp1RtdZmGqzWuzTdoHS6x+9GgGk1bcfqtLgcTIAAAQIECBAgQIAAAQIECExTQLA6TbBJDhes7s3B6jc/Ga/+662DIT78mN7j70WgeVPvk8Un/k78lyd+oX5sRORf/83D86Oy8gMfm39iPO/Oz8aVUbZTnT31NvNP+tfrHdfoz6mvOjHir4tSAKd+v3jMfU18tlfmYGGsufC0mJ89/v7Zn+QNnNovGTDYlbr4G4PPI7Jzjo4vVXazRtwXn7nib+LK+3p9OPyYWHPMd+KirBTAqyKuvOLO2FRbBMV1n9G2MO77fPzpFT+M553447iy16fqPbaVaJiWYXO8GobjgtXis6fGGyfu7N/r2GtP5d6r/SndeqUIyr4U4zU8ViXf0Ji96qnxpb8uzIv+3TeYi7X5MoX5lPZ7ndYIECBAgAABAgQIECBAgMB+LyBYTTsFBKtdDVZH1lh9TLwxe0Q+shDwzlhYCyM/G1v7YWl9t+iP7rsvHnd4EaIWv+qP1BehYa/t6mHl4ffdFz86/PBazdIijO2Fs3koeWdEI6zNasVm4VserH72J/3wNA/uPvuTQbibh3w/Lu7t8KmXAij6XQlLe/3YdPjCeMl9W+PTtXq0vRC2NTiOiPLc/jm98O9ZJ8YH5n853vTZ6PWvJCyC7TJcHGvY4lOMwWfjpt71Jg1WK37RC0Xbr11vt+ht496b/Wncezk+g+A0YmgO9YLol+dBde+aQ+F+OTa968/vlbiYbD6l/T6nNQIECBAgQIAAAQIECBAgQCAiBKtpp4FgtavB6qQ1Vid7zL7t88buzsou0TwUnPSavXqn5W7ObC6WIWQesn0nnterizoIbys7VqsvlMqDwajsHq2GqdMMVhv9LkoBPDYPVg9uvDhrbJmAlnsoXfJgdeiFWHXjsYatPsVO4dJ90mC1dv1x126fG7V7H3Ov2YvRRjs1d5qWYXzzmsVc+9Ixg13RbfdXBrj9b2t7zYvZ0n4j1hoBAgQIECBAgAABAgQIENgTAoLVtMqC1b02WC0mQv3x9Opj7tWgqwxUqztSpxEKxiBQbT5+3g9jBau1kHRomZY7QtvW71R3rO7mYLUafA4Hq2Wg2twdXIbp0wtWh3Ysl3N5CuF+2m+BWiNAgAABAgQIECBAgAABAvuPgGA17VgLVvfWYDXb8fmZx/dqqhaToh6GVYOuth2M0wtW23Zj1r4mWJ1CsNrc0VtfzJ3esdo2vrWvTS9YnXQ+pf0+pzUCBAgQIECAAAECBAgQIEBAKYDkc0CwujcHq/2apMW8yMOqifoLrLIXR6185nDNzXKna61G55jdgkO1TMsXH9VKAdRrrFbrdOY1VndXKYBqjdV+rc+Z11gd1ImdQY3VUYZjaqwWY9QLxnsvj2qu9MKyUuO1rcZq/9ozqLHaVu+1Ol5D/W/ugp5BsFodt+Z8Sv6tToMECBAgQIAAAQIECBAgQICAHatp54BgtavB6siXVw3qmg6/pb5aCmBQTzV/fP/Xvpm/XCp7W3v2KwtUn/dPgxdWLfy7yWqsNuqzZoHqr/9r/vKmfnmAxlvvF594Yjzvzs/G1hf3Xl41w2C1fFFTRHZ/R8eXLv5yLOzXcm3WjV0Ya14VcVG2m/dVEVdW7rm486pRYzH1dmAufFbETV//SfFh5U32w97lm++Lt31NWqe24VOOQxaqZr8m37H62Dg1tsZN9xXHjyzLkH3YWnqgce+1/iyMU5+1NW7qhbOtNVZrx2dlJU6O+Ou/iSvvK8elqKdb3M9kNVanMJ/Sfq/TGgECBAgQIECAAAECBAgQ2O8FBKtpp4BgtYPBatoh1tqUBUa8YGrK5+/GA8e+dCvRdbNg+GPzBy+bStSsZggQIECAAAECBAgQIECAAIGOCAhW0w6EYFWwmnZG7c2t7VfBamNHaW+H68L+jtO9eSD1nQABAgQIECBAgAABAgQIEGgTEKymnReCVcFq2hm1N7e2XwWrw+UCqqUF9uZh1HcCBAgQIECAAAECBAgQIECgXUCwmnZmCFYFq2lnlNYIECBAgAABAgQIECBAgAABAgQ6KSBYTTssglXBatoZpTUCBAgQIECAAAECBAgQIECAAIFOCghW0w6LYFWwmnZGaY0AAQIECBAgQIAAAQIECBAgQKCTAoLVtMMiWBWspp1RWiNAgAABAgQIECBAgAABAgQIEOikgGA17bAIVgWraWeU1ggQIECAAAECBAgQIECAAAECBDopIFhNOyyCVcFq2hmlNQIECBAgQIAAAQIECBAgQIAAgU4KCFbTDotgVbCadkZpjQABAgQIECBAgAABAgQIECBAoJMCgtW0wyJYFaymnVFaI0CAAAECBAgQIECAAAECBAgQ6KSAYDXtsAhWBatpZ5TWCBAgQIAAAQIECBAgQIAAAQIEOikgWE07LIJVwWraGaU1AgQIECBAgAABAgQIECBAgACBTgoIVtMOi2BVsJp2RmmNAAECBAgQIECAAAECBAgQIECgkwKC1bTDIlgVrKadUVojQIAAAQIECBAgQIAAAQIECBDopIBgNe2wCFZ3Q7C64d4fx8Npx0lrBAgQIECAAAECBAgQIECAAAECBGYlMCcilh3x2Bm3sWLFiliwYEEceOCB+e958+blvw844ICYO3du/nvOnDm13zO+2F5womB1NwSrf3vvj+M/zGKS7gXzRhcJECBAgAABAgQIECBAgAABAgT2MoHZZlaC1fqAC1YFq3vZtwDdJUCAAAECBAgQIECAAAECBAgQmImAYHUmaqPPEawKVtPOKK0RIECAAAECBAgQIECAAAECBAh0UkCwmnZYBKuC1bQzSmsECBAgQIAAAQIECBAgQIAAAQKdFBCsph0WwapgNe2M0hoBAgQIECBAgAABAgQIECBAgEAnBQSraYdFsCpYTTujtEaAAAECBAgQIECAAAECBAgQINBJAcFq2mERrApW084orREgQIAAAQIECBAgQIAAAQIECHRSQLCadlgEq4LVtDNKawQIECBAgAABAgQIECBAgAABAp0UEKymHRbBqmA17YzSGgECBAgQIECAAAECBAgQIECAQCcFBKtph0WwKlhNO6O0RoAAAQIECBAgQIAAAQIECBAg0EkBwWraYRGsClbTziitESBAgAABAgQIECBAgAABAgQIdFJAsJp2WASrgtW0M0prBAgQIECAAAECBAgQIECAAAECnRQQrKYdFsGqYDXtjNIaAQIECBAgQIAAAQIECBAgQIBAJwUEq2mHRbAqWE07o7RGgAABAgQIECBAgAABAgQIECDQSQHBatphEawKVtPOKK0RIECAAAECBAgQIECAAAECBAh0UkCwmnZYBKuC1bQzSmsECBAgQIAAAQIECBAgQIAAAQKdFBCsph0WwapgNe2M0hoBAgQIEHgkBH724/hJ/FI85tHzHomruyYBAgQIECBAgACBvUJAsJp2mASrgtW0M0prBAgQIEBgTwnc90/xVx+9PT70zz+NHbt6F507L477d/8u3vaKF8dxhwtZ99RQuA4BAgQIECBAgMDeISBYTTtOglXBatoZpTUCBAgQILDbBR6MrX/3V3HuxydiS0Q85pBD4oW/8sR4cvxb3PGtifjHn2YdODjOOOPUuOi3jtztvXEBAgQIECBAgAABAnuLgGA17UgJVgWraWeU1ggQIECAwG4W2Pq/18YrP/XjiMfMj//n9a+Mlx55cO2KO7d9Kd5/xe1x/U8iXvjS/zve+9sLdnOPNE+AAAECBAgQIEBg7xAQrKYdJ8HqPhas3vHeJbH6ukkmyaq1sfHc42Y1k8rrLL3olnjPyw6bVVuzO/mOuHzJ6rghayTBfZV9ye8v2pyK6215xO97dmqTnZ3d/9VPe6THdrJe7g+fF/MtrtoY5z27uN8dn3hLnLwm4sKb3xOnz9/XDbL7vzoWPYL3mnt/++xZf898REZq4sZ4yykXx21jL750D82lHXHjuSfHxbdHzPrnxo9uj3dc/KX41KOPjGve8co47tHZDf447li3IT4XR8eqFb8ej8m+9LN/isve+em4/mdPiEsvXBXLHleFqPzsaPGZdR/Hmg+v60dkfrgoAQIECBAgQIDAfikgWE077ILVfTVYTRgytk25WrD67z/f+5/3lbF243kxu8h2zATvhwSD6+yugFewKlhN+612pq01Aph8DWyJs2e9zh75wHJqItV+PjJ93jeC1dmGp4MQcmUl5J/aGJZHpQtWv/lX74v/9IWI165+fbz12HKn6kR8/L//RayJ4+PTf/ji6P913zduitM+eFfE80+NT/5fT690eUy4+dXLY8k5N8TM73Uymcq1n5xqTff+0uXW1PXn/QAAIABJREFUZXHLe08f3P9kXfE5AQIECBAgQIDAficgWE075IJVweqMZtTuCjSn15nif9S3rB7s5pve+aOPFqwKVlPNpdm10wxWd8SO+YftR6HJIxOmVsdMsJppdClY3RYff+f/ijU/fXr8xX87NZ7ZH6wRwWrcFVf/15vi/YccH598x4tjYf/4cbtGd/eO0t3Tfj5XBauz+5brbAIECBAgQIDAfiAgWE07yILV/TRY7ZcMyHe2Luw/ohkvuDDf7bI1exT+rqWx9Pbbao+Rljt4Ru5YvXlRXD306Olgt1TxGPPwg6nNdmvTvNx9W92x2nqd7KzGbta7VsbKuCFuuH3QYnmtQV+Gd3NNJ1gtg5e1sbpfhqH6GGnbPbfvhGovM9Dvy4s25Luoar9643XYiEd+R+24aisZUe3zuFIAxWcXxqI1FxclGDL1/i62XhB21bLYcM7FEVnJhKOuH93v3vnV/iy9aG0su3V1PzAvrld87eLI5ucL4/O9R4orozrYLV3u6rwqYnXPK+9fvjOs91h0dUd3b3da1XX0Y8CDXXejr1199Lo6tyY5N2uw0ZeVV62NOKcoBbDs74fLfAyPWc8pm+/VtZyXB6n2pRJYRvNx8cpxrfNqzM70hv3Kq26JRWuLx7+rv6rzcvz6GLVjddhyYNHmXJ2jjR+iLeNf2mW7HvePYHWc2fAj80svujwWrTmvv/77ouX3o+wLzbnzgsH34qXnvTXi8staShSUc6vSn2qb+YX+KS5766fj+vmNnanRC1Z3PjP+4h3L45nzyl71vj5xZFxz2SsrT1RMNVidbD7Vv+cVP90aa2TMui6+L/V2oU9xLrb9rKmvo+z6r40tQ98nx6yDtP9tqTUCBAgQIECAAIEOCwhW0w6OYHVfDVZHzpMyNBkf8gyCruL4F/5DGYgWf170l0XIk4cZ/VIAJ8fJcUvckl27F1wN/mev+B/NaNburISll120Jd6ah65lHwf/Qz/ZdSKG/0c8D4ergdI9xeOd9YCpHWraweqa2wbhYu+eFvXCxh0TO+Kw+ZU6tGMe5x7acZQfuyGWXbcsNqzqBZX9mrY9n5ayD3n/7ypC8mYF3NYanY1HXycLVldf1wzLy5qfvT41At88YB3R72Z/yjlTD9vrAeWOicPisEp90Vr4Vc6pZiDfD2jqAfbQ+OS780bV9dwRo68dRb3fyngU97KoF/qOO/e4fhBVtSrX4StftzQ+8uFGXdWWMauOS3lu/S8Syr6U93h2bDllVJ+XxYbG/fTXWR5wtzxu3LAv+lAPmYbGe+z6aA9Wi+8/lXYra64IoMdfs7/qe+dNOj/35Rqrq9ZGP6jrrZHo/wVY6djYsdry+Hr9KYatQ7Wvq8Fftmt0a+XnRNv379GVu0cFq7+IO/7ftfGGL/0iYuHx8ZHzXhwL83B1BsFqZW1NPp8a3/Oy/b3V778tc6y2NkvL3l8WTjoXx/2sqexYLX7+TXEdpP3vSq0RIECAAAECBAh0XECwmnaABKv7arA6lRqrQ7toBo/U13e0DkKf23qh52TBan9HWktd1OpjpYPpvDTe+taIyy67rb/TLvsf6/adsYMAt3XnW3On3tCO18nrDU47WK09ftm2E6q562tEH8ogtfeynn7Q+kcRa7KAtfESn7Z+1sO84W8Y7Y+L1vs8abBafbFXrc9tNUHH93u4P8N9aX2RWHN3Vy3MrV5zeDyG72/4LxrG1ldsvfaiuL7xoqli116jJuqU+52NXdH3n2XB6j83ayeOd2oP6cu+1IPV6suxBn0ugtXaZ+UOzlGPGzfmb+s6ahxTzNBR62NMsFp7udygLEgehDVfPNd6zXJX5RTm514frI7/ntcPPYd2h5bfP9pLAbQ+gZB/v+39JUNtN/tgjZXB6rjv36OD1R/Epy69Lt6x7ci45pJXxnFzq9/jfhrf/Ku/iLO+8NMiXH1b9uj/P8Vl5386rl/wnPj023+z8hdNwztxqy2VO6Ann8PD319qa2/MfM/XVi1YncJcHPOzpnrdPFid6jpI+9+VWiNAgAABAgQIEOi4gGA17QAJVvfnYLUSXFYffc1jjnK354hQcsrBam2+Vv9HtreTph+8tgertdP7x+5NwWp5z83ddcP/A13caxE+bDgp2+EZg3/v7wpu+QbQ8lj7uFBwVDmGrOXqLtGrn1bdZTq47lDQkDxYrdfOHbpeGUw2d4aWgcNQkDEuWC2ML769+Zj8cKCYC4y9dkuwWh2uafe7Eax+uP3d7rWdvZUgZcbBar/P7Y9Kj63j2Bas5rvGm7+au9JHrY+pBquN+Tn2mpW+jCihkR9R3XW/jwer+f22WAzKK9SD1dfePSjpUgsgM/fdHqxG/OTvrovf+vgP4qWvWBXv/M0nNCZXFq7+r/iTB34jPviaX49ffO66eMlHfxAvPGNVXPpb1WPHlQKYznxKGaxWy4hUbqs6F6cTrE51HaT970qtESBAgAABAgQIdFxAsJp2gASr+3Owuqd3rPbrorbVcOzgjtXGY5TV8KH6uObYHZf5bqRGiDpq91y5trNxWbsobsl3qfZ2GE52TiUYqT9KOvwNYyovOOnyjtW2/o/fITYuWC0eWa7vyhwduIy/9vgdqwtbXiwz1Z1t7TtW62PbDKBnHKz2d9nuph2r1W63zeuhoL4syzAIWfO/2JnOjtVRPzensK72/Rqrg52k9VrJq/MaqsXX6sFqv95v5S836n8Ztzt3rEbEL74Z7794fVz9s8fGRW9bFWcUz/wPfu2KiGwn69bPxLnv/lp8/tFPi2suPCOOO7h60DSC1ebOz9rFUgaro/7CrbjgZLv7J92xmva/H7VGgAABAgQIECCwlwoIVtMOnGB1vw1WK/+jvGpl3HBd/r/Q/RcADWqsFl/LQ6FK/dPJdqy21litvHCq2OVU7hbMJnUlWE1dY3UGpQAGNf+G6zje1iizMHmwWq2NWoYY4x7NLQKkWBVxQ5wdG89tr79ZPj5dhIK98ZxCCYjRNVajNv5jd6xWQud6e22lAMbXhh3qT1vt0OZOzDWVeqPlTrsZlQLo1YJsCYjadv0O9bV27SJYHVVjtVhDk/W7blXuLh5dY7U+ZtWwcTrBanufZ1pjdRAOjayxWttdPG59jNmxOt0aq23lC8bUWC3D9v0pWC2/b1d3r44NVsufGdW/pGvsWO23WTlmdjVWi/8I2vmNm+INV90Vd8TBccaJL4qzf/vXY2EZnP5iW9zxvz8Tf/LZifhmHBJvPuc/xdm/dkjjv56mEay21Srtz6epBKvt63rwUr0tcfaYGqu1uTitHastNVZHlfFI+9+WWiNAgAABAgQIEOiwgGA17eAIVvfVYHXcPFl1WVx411uLN3Xn/xO8sPc4dNubxOsN1V8o1Hx51cpYWwlPB2dWQsTGLtnyDfDFW8NXxjtW3RDvbD6+OBSMjrpO0UYWBB83hXIGzRdynV55GVLZ9+rb6vP4t/YSpuKoyXYR1d/0nllcFPHH2ePno9+uPjr8zALwwa/6i4mGHxUf9Xb75n0132I9+Y7VlbHyuhv6bwVv7nSr7QCd5E3X2d3U+rOqaLtso63GYe34LFDNd/deHHno/eotjV3Ck9RYbTwCnd1LsSOvPfye/NrVx3nrbYw9NwvQR6yPLavLPtVGvz/X+4bTLgXwnjg9sl3VI/rc+qj86HlbBHLVXXctL8lr1vGs3XNzfWTh7vCO1dPnD7c7mOtTuGaVsWV+DtX+3OtLAYz7gbA0Luy9HK/5HWSU6dKL/jKW3frq4mdI/mtlrL0qYnX+csDmz4XBMStX3RA3ZC89PO+tEZdfFsPfscq5Nfwywraaqzu/9Zn4k2u+Fh//SXGNgw4+OH4lfhHf/EXvz4+ZH39w1ulxxq80Q9V8xbTsVm9zmmw+TRKsZk2OWdf9GqvZz62pzMVx9bz752eOr40teZmTyj2NrKE7bn74jAABAgQIECBAYF8TEKymHVHB6j4WrKaaHvU3PI9+jUiq62ln7xEY/WKvVPdQ3aWYqk3tECCwTwrs+nFs+eIX43994a64oxewxmOeEGc8/wXx0t84Mh5Te7nVPingpggQIECAAAECBAhMS0CwOi2uSQ8WrD70UGzfeH1sPuS0eP6R82Lnzp2xffv2WLdu3aR4ow6Y7SSd8YUTnihYTYi5jzWVPFht7HIsdusuqu3G3McI3Q4BAgQIECBAgAABAgQIEHhEBGabWa1YsSIWLFgQBx54YP573rx5+e8DDjgg5s6dm/+eM2dO7fcjcqN76KKC1W1fiutv+Xo8aYlgtTrnBKt7aAXuhZdJHqyW5RTyGr7Zr3H1Z/dCMF0mQIAAAQIECBAgQIAAAQIdERCsph2I/ThY3R5fXHtT/FNEPPzww4LVtPNKawQIECBAgAABAgQIECBAgAABAh0TEKymHZD9OFjdFQ/l9VXvj3++9W/i7oV2rKadWlojQIAAAQIECBAgQIAAAQIECBDokoBgNe1oCFYFq2lnlNYIECBAgAABAgQIECBAgAABAgQ6KSBYTTssglXBatoZpTUCBAgQIECAAAECBAgQIECAAIFOCghW0w6LYFWwmnZGaY0AAQIECBAgQIAAAQIECBAgQKCTAoLVtMMiWBWspp1RWiNAgAABAgQIECBAgAABAgQIEOikgGA17bAIVgWraWeU1ggQIECAAAECBAgQIECAAAECBDopIFhNOyyCVcFq2hmlNQIECBAgQIAAAQIECBAgQIAAgU4KCFbTDotg9aGH4qGHHooHHnggHnzwwdi5c2ds37491q1bN2Pp2U7SGV/YiQQIECBAgAABAgQIECBAgAABAgRGCMw2s1qxYkUsWLAgDjzwwPz3vHnz8t8HHHBAzJ07N/89Z86c2u99eTAEq4LVfXl+uzcCBAgQIECAAAECBAgQIECAAIGegGA17VQQrApW084orREgQIAAAQIECBAgQIAAAQIECHRSQLCadlgEq4LVtDNKawQIECBAgAABAgQIECBAgAABAp0UEKymHRbBqmA17Yzao63tiBvPPTk2nHRLvOdlh+2xK9/x3iVx9dP27DWzm8uuu/q6lbF243lx3B6728aFvnp5LDkn9lAfivG9OC6MW957euyOEd7xibfEyWtui6UX7fnxHB7CO+LyJasjrtoY5z17zw1wbnDrst1mnOZOMpurY9HN74nT56dpUSsECBAgQIAAAQIECBDYHwUEq2lHXbAqWE07o/Zoa/tusDoU3maB5tpFsw+/Jm6Mt5yyJc6eaThbCVYXZoHct8+Ojefuppg3u9bfL5td+2Pv95EJMkcvkZn3pzpfmkHpZH8RIFjdo9+0XIwAAQIECBAgQIAAAQKPqIBgNS2/YFWwmnZG7dHW9t1gtcm4Y2JHHDZ/d+zZnOaA7cEdq7v/nmceZE5TbYqHp+nPdIPS6R4/xZtJfJgdq4lBNUeAAAECBAgQIECAwH4qIFhNO/CC1X0wWC12qF0Yi9ZcHDf05svK/uPFvYDiqmWx4ZyLI7JHoI+6PpacUx7ZO+EFg8evi0fQKxNv1dr+LsKhzyIqj1X3HuW+fXDuoB/Dn2VHDT5vmej57sOL47beR0svWhvLbl1dlAKY5B6arTX7XX0UfPw9FY/kF6UAonhUvXJ/9XsYvsfBdcZ9Np1r1MezsBlTLqC6g7P896siVpfjXxn3rKW6xcpYmx9blAKo7lgdN0ciD2Pr86vpffXTirEsHvt/YXx+yHXMPTXbr97DyB2rRYhZ9irrz0WxpvFIfDXonO58bTu+cQ+Nfq+8am3EOUUpgNfeXewGXhure2uvODc3X9Mb5UrJgHJO5vfQ+7ycB1ErXdHo1wsujLUnbYjVWSmAP4pYU1lfxZqZhnt2eMU+D2xr91D93tBckZP5ClbT/ujXGgECBAgQIECAAAEC+6uAYDXtyAtW99FgdfV1S+PCXj3Coo5k9P7cC5TKAKQXVuYBa79Oae+YVWvjlqddXTk3j9ryQGpLGUT12+1NzF5YlAWky/5+Say+axDQFv1YlAdEWdjTrBda7+dQFFoEYZVQt18f87y3Rlx+WRESt9xD81H1aj/yh9jzPm/JfV74D1Wr4XvKal+WIdbZ3z557D0s+svGPfasF5U21Xqplc+mc43T5zfGswxDK+41yaFg9eK4rW/aC7eeXgTnw+NRhpGVkO/bZ4+dI9l4DO88rYdkRSg7mK8RO2LHxGFxWKWWZhnSDZUdaLhV52c+F6ZRCmB45+YgWM3ncqO+7fj5Osk9tKy7MpzO1k4erK65rf8XDUO1YCtzNqs5OtVSAEN1esu/rHjB6+KVt384PlJZX9k4jKxxO8n3jcH8GdxDMRYXRzb/mzVk2+oHD3/fUmM17Y9/rREgQIAAAQIECBAgsD8KCFbTjrpgdV8NVmOwq7QINDbEsjxobTxuXPtsMLnyoCN6wWrjxTa13XFDL70ZtJ+HQyNeilO2XwvKRvSl6FXbY9K9UgDPy4LVL/Xub/gehsK4MY+ztz8WXb92LVitOmeXrtxDHqzWPi/6u2V1L3Qe8dlQsDrmGkPjGVEEoqNeRjQUrJbzoqfcG/d+MNZsp6XGah6+j5gjg6B79O7l1rnQD7wrO10bu2lHz4vKN8mUwerYcRjxjXnUbtrWuT5m7QzN2eFwunyh2rgaq23WxfHPyIPVRzdCz5FzaZLvG+3zZ3Spg8m/H9ixmvZHv9YIECBAgAABAgQIENhfBQSraUdesCpYrYSuUwtWy6PKXXRtU7L/SP/Q4/vFrtLJg5Rmq5MFq5f1SwTUzqztwKt+Un8UPHrHTeWe6jtW2+6+2H05HKxOIfTtHTLV8LarwergTstAtbojdTiorgXQZRjZ3J085s31QyULypdzpQxWq+Uw+jdYva/KXJjsHvaJYHVQlqNtzY3bAdy+Y3X0WirmuR2raX/8a40AAQIECBAgQIAAgf1RQLCadtQFq4LVaQer43es9mPX/u7MQYjSeLR6WjsAJwtWh3esjloqw29JH7wEa7jO5nArY0PPyuHD4fH+uGN1a17CIasb2jYPyt251WC1bZfkyJ2TWYC5dlHc8t7To3y1V+3YlMFqc76O+V486T3sE8Fqfbdzk2PawepYX8Fq2h/9WiNAgAABAgQIECBAYH8VEKymHXnB6r4arFbqQbbVWO0HXbulxmr2cqPXxpbsBUS9ep35tB1XY7R8hL1Zs7U/3wd1X/uP9vd2BS4dU2O1HugVjeWBZ60G6VTqxhYvbMpqsk5aY7W3s3Jrs47sbqyxWr3PpKUAauNR7j6dTo3VIlit1sat1hIdGaxWr9uvAzqo19ufFo1ao0PjO91gtVcDOBvncvdyv15wW43VEbtoh+qvNu+hZd1VrzdURiNlKYDafZQ1etPVWC3n4rSD1bG+gtW0P/q1RoAAAQIECBAgQIDA/iogWE078oLVfTVYjZWx8rob+m897z+a31artOWt7dW3e4974/vQZ9W3iDfKAGRTd/A2+MneAt4y0ZvtrVqbvzU9ry151PVDb54f3HOzrUYZgOzjymPnY++pEqy+52VRvNzn9kr7tTqgw/c47v4Hn1VfRtRyjexd7f0doMM7eVMFq/2Qsv8I/NK48KplseGcLXF2+Yb6b5+dv+hq3BwpA/XiXfZF34uXQY0umVBrLzMt31jfUtph8jlY9Dd/UVnt17Bdta2lF62NZbeuzmvinvfslvnaWvN1cIFJ76Gx7qrXm02wWryMLatNWwTg2Yviyvqr/RdS9efsylh7VcTqbNdvaVwzKtoYtitf+lapgVubl221fkfXWB3uV0T1e1BRY1kpgLQ//rVGgAABAgQIECBAgMD+KCBYTTvqgtV9NlitvLwq7ZzRGgECBAgQIECAAAECBAgQIECAwF4oIFhNO2iCVcFq2hmlNQIECBAgQIAAAQIECBAgQIAAgU4KCFbTDotgVbCadkZpjQABAgQIECBAgAABAgQIECBAoJMCgtW0wyJY3QeD1bRTRGsECBAgQIAAAQIECBAgQIAAAQL7goBgNe0oClYFq2lnlNYIECBAgAABAgQIECBAgAABAgQ6KSBYTTssglXBatoZpTUCBAgQIECAAAECBAgQIECAAIFOCghW0w6LYFWwmnZGaY0AAQIECBAgQIAAAQIECBAgQKCTAoLVtMMiWBWspp1RWiNAgAABAgQIECBAgAABAgQIEOikgGA17bAIVgWraWeU1ggQIECAAAECBAgQIECAAAECBDopIFhNOyyCVcFq2hmlNQIECBAgQIAAAQIECBAgQIAAgU4KCFbTDotgVbCadkZpjQABAgQIECBAgAABAgQIECBAoJMCgtW0wyJY3c+C1TveuySuftot8Z6XHTZ+Jn318lhyTsTajefFcWnnnNYIECBAgAABAgQIECBAgAABAgQeAQHBalp0wep+FqxOefoIVqdM5UACBAgQIECAAAECBAgQIECAwN4gIFhNO0qC1X0uWN0RN557clx8+2CirLxqY5z37OLP1R2r2b+vvm5w3NKLejtZ81D1ht4HS+PCmy+K+ON6m9mHg3bviMuXXB2LrloWG865OG6LiKKtrXH5ktWRt/SCC+OW954exT7Z7Pje18vL1z5PO8m1RoAAAQIECBAgQIAAAQIECBAgECFYTTsLBKv7WLCah6V3DULMHZ94S5y8ZlH/kf4yWL0o1tS+HnmYuiUuvPk9cfr8iOLPRSmAyAPYlbWyAEW70Tu+F5T2w9EyOC3P6YW9T18bG889LmJiR+yYf1gvZB0OfNNOca0RIECAAAECBAgQIECAAAECBAhkAoLVtPNAsLqPBat54Hnrssru0PqE6e9YPer68TVUm8Fq9ELRsrmJG+Mtp2yIZXkQWwSp0d8ZWwSpG04a1HLN+/Xts4tgtferCGez/a29X6sa10g717VGgAABAgQIECBAgAABAgQIENivBQSraYdfsLqPBav59MhDz+KR/OxX/xH/RimAoUfyq8Hm0I7VtomXlQmYfrBaBqrNfq1uhrdp57rWCBAgQIAAAQIECBAgQIAAAQL7tYBgNe3wC1b3qWC12Cm6ZfWgpmoZnpa7Scsdq2d/++S4+mmDHaURjV2mk+1Yrc3D6e1YzcsVNELUtq+lnepaI0CAAAECBAgQIECAAAECBAjs3wKC1bTjL1jdB4PVi8taptlc6e1eXdR7TL8arFZrsZYB7JbaC6wmqbHaLzkwg2C1WrO1fFmWUgBpV7fWCBAgQIAAAQIECBAgQIAAAQIVAcFq2ukgWN2ngtXhMgDZdGkvBbA1r4t6Q3U+VYPNfjmB7HH/iyL++OS4+PbKwf0XVWVfm16wWu6O7beXXfdFG2LJOTcUfc3rv94QK/s1W9NOeq0RIECAAAECBAgQIECAAAECBPZHAcFq2lEXrO5rwWra+aE1AgQIECBAgAABAgQIECBAgACBfURAsJp2IAWrgtW0M0prBAgQIECAAAECBAgQIECAAAECnRQQrKYdFsGqYDXtjNIaAQIECBAgQIAAAQIECBAgQIBAJwUEq2mHRbAqWE07o7RGgAABAgQIECBAgAABAgQIECDQSQHBatphEawKVtPOKK0RIECAAAECBAgQIECAAAECBAh0UkCwmnZYBKuC1bQzSmsECBAgQIAAAQIECBAgQIAAAQKdFBCsph0WwapgNe2M0hoBAgQIECBAgAABAgQIECBAgEAnBQSraYdFsCpYTTujtEaAAAECBAgQIECAAAECBAgQINBJAcFq2mERrApW084orREgQIAAAQIECBAgQIAAAQIECHRSQLCadlgEq4LVtDNKawQIECBAgAABAgQIECBAgAABAp0UEKymHRbBqmA17YzSGgECBAgQIECAAAECBAgQIECAQCcFBKtph0WwKlhNO6O0RoAAAQIECBAgQIAAAQIECBAg0EkBwWraYRGsClbTziitESBAgAABAgQIECBAgAABAgQIdFJAsJp2WASrgtW0M0prBAgQIECAAAECBAgQIECAAAECnRQQrKYdFsGqYDXtjNIaAQIECBAgQIAAAQIECBAgQIBAJwUEq2mHRbAqWE07o7RGgAABAgQIECBAgAABAgQIECDQSQHBatphEawKVtPOKK0RIECAAAECBAgQIECAAAECBAh0UkCwmnZYBKu7IVj9zMSP40VPfEwcMGdO2tHSGgECBAgQIECAAAECBAgQIECAAIEZCDz08MPx99//Sbx4/mNncHZxyooVK2LBggVx4IEH5r/nzZuX/z7ggANi7ty5+e85c+bUfs/4YnvBiYLV3RCsbvrB/fHERx0UT/mlg/aCKaCLBAgQIECAAAECBAgQIECAAAEC+7rA9/5tZ3z/5ztj8RMOnfGtClbrdILV3RCs7vi3n8cd9++Mow99VCx49IF2rs54uTqRAAECBAgQIECAAAECBAgQIEBgNgLZTtVtP3sg/vX+n8dxhx4Uh/3So2bcnGBVsBoPP/xw7Nq1Kx7qharZPx944IF48MEHY+fOnbF9+/ZYt27djCdZ1s4Pf74zvveLXfGjh3bFrodn3JQTCRAgQIAAAQIECBAgQIAAAQIECMxYYO6ciMcdMDeecvDcePyjDsof3Z/pL8GqYHW3B6tZaFsGt9k/syDXLwIECBAgQIAAAQIECBAgQIAAAQJ7WiCreZrVPq3WQZ1pHwSrgtXdHqxmxFmYWv6e6WR1HgECBAgQIECAAAECBAgQIECAAIHZClRfKDWbtgSrgtU9EqzOZpI6lwABAgQIECBAgAABAgQIECBAgEDXBASrglXBatdWpf4QIECAAAECBAgQIECAAAECBAh0XkCwKlgVrHZ+meogAQIECBAgQIAAAQIECBAgQIBA1wQEq4JVwWrXVqX+ECBAgAABAgQIECBAgAABAgQIdF5AsCpYFax2fpnqIAECBAgQIECAAAECBAgQIECAQNcEBKuCVcFq11al/hAgQIAAAQIECBAgQIAAAQIECHQBXgVLAAAgAElEQV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BKuCVcFq11al/hAgQIAAAQIECBAgQIAAAQIECHReQLAqWBWsdn6Z6iABAgQIECBAgAABAgQIECBAgEDXBASrglXBatdWpf4QIECAAAECBAgQIECAAAECBAh0XkCwKlgVrHZ+meogAQIECBAgQIAAAQIECBAgQIBA1wQEq4JVwWrXVqX+ECBAgAABAgQIECBAgAABAgQIdF5AsCpYFax2fpnqIAECBAgQIECAAAECBAgQIECAQNcEsmB13gEHxMT3vx8HHHBAzJ07Nx518MFx7HHHxaMe9aj8zw8//HB86YtfjCOe9KT4lV/5lfxr2a+777477rnnnjjhhBPioIMO6t/aD3/wg/j/vvWtePaznx3z5s3Lv77roYfi69/4Rhx+2GHxpAULusbQ78/3f/rdmPPm889++ImHHNnZTs62Y9mAZr+yf5a/d+3aFQ899FD/9wMPPBAPPvhg7Ny5M7Zv3x7r1q2b7WWdT4AAAQIECBAgQIAAAQIECBAgQGCfEXje854XWYaWBaYHzpuXh6v3Tkzk4enxxx+fh6tZ5rbhb/82fumQQ+L5z39+HHjggfn933XXXfGdb387XrB0aTz60Y/Ov5Zlc5/73Ofyf2aB6+Mf//ji6w8+GJu++tWYP39+HHXUUZ31E6z2wlXBamfnqI4RIECAAAECBAgQIECAAAECBAh0QODoo4/OA9QnPvGJeWCa7TDNgtRvfOMb+S7U7LNsU2MWrD7hsMPyAPVZz3pWHsC2BavZDtbvfve7+eePOfTQePrRR+f/LljtwGCXXbBjtUODoSsECBAgQIAAAQIECBAgQIAAAQJ7pcDRT396/NaJJ+ahahmsZuFqFpBu37Ytljz3uXkwumHDhny36qZNm/Kw9Zd/+ZfjW9/6Vm3HapbX3XHHHfku1yOPPDI2btwYz3nOc+KQQw4RrHZpdghWuzQa+kKAAAECBAgQIECAAAECBAgQILA3CixevDgPP5vBavYkeBaiPnfJkjjo4IPjMxs2xEkveUlk9VOz3ay/8e//fXznO9+Ju7/znX4pgKwk52c+85k48cQTc4osZM0C2F/91V/Na6wqBdCRGSJY7chA6AYBAgQIECBAgAABAgQIECBAgMBeK/CMZzwjXvSiFw0Fq9u2bYvvffe78dznPS//rAxW58yZE5///OfjcY97XBx88MH5MVmN1ezfs8D15z//eTzpSU/Ka7RO3Htv/NvPfhZLliyJuXPmCFa7MksEq10ZCf0gQIAAAQIECBAgQIAAAQIECBDYWwWy3aRZ8PmEJzyhXwogu5evf/3reb3VbEdrVnO1DFazsgD/f3t3FhvXded5/FcUKVaRsrhbIilKbpEUqZW0rN3uVmPsdGPkNALnIYAfgkk6AYJGBoPBoAVPIz2YBJiMp+HXeWmgMX7ohwQIEMOT0EYHCBBjvMuWqcUyJUqyKC6iLJKiJJJV3MTBOXVP1a1SUWJRpWIt3wIKFIv3nuVzz6WBn/8811Szfv755/bz8MyMDVZN+PrHP/5RZmsBBQKWw+yrOjg0pLa2NjU1NanXe3iV2SbABLS5+OLhVTy8KhfXJWNCAAEEEEAAAQQQQAABBBBAAAEEEMgxgUOHDtkq0x3t7aqqrtb83JyGhodtxen+/fttJWpysGqmcOXKFbvHqqlEPXL0qL7++mvdu3vXbhHgQlNTGGmOM5/v6+qyWwuY/Vfr6upiCjU1NfaBWLnyIlglWM2Vtcg4EEAAAQQQQAABBBBAAAEEEEAAAQRyWODEiRN2/9N7U1P2IVUmUDWVquYBVSZUNZ+ZgPTUp5/aANX83LxM1er58+c1Nzur7mefVX9/vw1MGxsbE2Z79+5dXbx40bZnvk5NTSVUq3Z0dMiEq7nyIlglWM2Vtcg4EEAAAQQQQAABBBBAAAEEEEAAAQRyWODll1/Wpk2bbJhqQlT3ECvz1QWtpgJ1cXHR/sxfjWoqWc3L/2f9Lnh1UzbHmGDWHePOcT83xyefs5ZcBKsEq2u5/ugbAQQQQAABBBBAAAEEEEAAAQQQQCBPBEywaqpMXaBqAlYXsrrQ04Si/neeTG1VwyRYJVhd1cLhJAQQQAABBBBAAAEEEEAAAQQQQACB4hIgWE283gSrBKvF9RuA2SKAAAIIIIAAAggggAACCCCAAAIIrEqAYJVg1e7VYPZoMPs9uLfZRHdhYUFzc3MaHR1VT0/PqhYYJyGAAAIIIIAAAggggAACCCCAAAIIIFCIAsnBqtlX1e21ylYAhXjFJRukmpf56t4EqwV6sZkWAggggAACCCCAAAIIIIAAAggggMATEUgOVk3ONjAwoI6ODq1fv94+WIo9Vp8I/do1SrC6dvb0jAACCCCAAAIIIIAAAggggAACCCBQGALJwerg4KBGRkbUun27/mz7doLVwrjMibMgWC3Eq8qcEEAAAQQQQAABBBBAAAEEEEAAAQSyKeAPVk3edv78eVWEQgqFQurcudNWrVKxms0rkoW+CFazgEwXCCCAAAIIIIAAAggggAACCCCAAAIFLeAPVqempnTt66+1r6tLF778Ul3d3XrqqacIVgttBRCsFtoVZT4IIIAAAggggAACCCCAAAIIIIAAAtkWcMGq2Uv17Nmz2r17t6qrq3V9YEDhcNiGrKWlpQnharbHmM3+bk0PKvDTkz9aaqhsyWa/We2LYDWr3HSGAAIIIIAAAggggAACCCCAAAIIIFCAAi5YnZiY0PDwsDo7OxUMBjU9NaXrg4M6cuSI/d6/HUABMsSmRLC6uKjFxUXNz89rYWFBc3NzGh0dVU9PTyFfd+aGAAIIIIAAAggggAACCCCAAAIIIIBAWgImWN28ebP6L13SutJSVW3cqNKyMtvGzMyMamtqtL21lWA1LdUcP5iK1Ry/QAwPAQQQQAABBBBAAAEEEEAAAQQQQCDnBV588UU9/fTT6uvrs9Wp5qFV5k//161bp7GxMfX39+vYsWMqKyuLhas5P6nHGCAVq1SsPsby4VQEEEAAAQQQQAABBBBAAAEEEEAAgWIRaG9vt8FqRUWFduzYofLy8liwav4S/PPPP9fevXvtvqtuO4BCtiFYJVgt5PXN3BBAAAEEEEAAAQQQQAABBBBAAAEEMiTg9lg1FanmbapVXcWqeaCVefv3VzX/LuQXwSrBaiGvb+aGAAIIIIAAAggggAACCCCAAAIIIJAhAYLVREiCVYLVDN1aNIMAAggggAACCCCAAAIIIIAAAgggUMgCBKsEqzIPs7p//74WvVDVfJ2fn5fZC2Jubk6jo6Pq6ekp5PuAuSGAAAIIIIAAAggggAACCCCAAAIIIJCWAMEqwSrBalq3DAcjgAACCCCAAAIIIIAAAggggAACCCAgEawSrBKs8psAAQQQQAABBBBAAAEEEEAAAQQQQACBNAUIVglWCVbTvGk4HAEEEEAAAQQQQAABBBBAAAEEEEAAAYJVglWCVX4PIIAAAggggAACCCCAAAIIIIAAAgggkKYAwSrBKsFqmjcNhyOAAAIIIIAAAggggAACCCCAAAIIIECwSrBKsMrvAQQQQAABBBBAAAEEEEAAAQQQQAABBNIUIFglWCVYTfOm4XAEEEAAAQQQQAABBBBAAAEEEEAAAQQIVglWCVb5PYAAAggggAACCCCAAAIIIIAAAggggECaAgSrBKsEq2neNByOAAIIIIAAAggggAACCCCAAAIIIIAAwSrBKsEqvwcQQAABBBBAAAEEEEAAAQQQQAABBBBIU4BglWCVYDXNm4bDEUAAAQQQQAABBBBAAAEEEEAAAQQQIFglWCVY5fcAAggggAACCCCAAAIIIIAAAggggAACaQoQrBKsEqymedNwOAIIIIAAAggggAACCCCAAAIIIIAAAgSrBKsEq/weQAABBBBAAAEEEEAAAQQQQAABBBBAIE0BglWCVYLVNG8aDkcAAQQQQAABBBBAAAEEEEAAAQQQQODfv/yyNm3apPVlZSo179JS+163bp1KSkpibyMVCATsOxuv0pKSbHTzQB+3pgcV+OnJHy01VLasyQCy0enS0pLtxnx17/v372txcTH2np+f18LCgubm5jQ6Oqqenp5sDI0+EEAAAQQQQAABBBBAAAEEEEAAAQQQyAuBdXvapY0bpHUlCqxbJ5lA074D0bcJUmNhqvl3dqb13w79u+x0lNQLwaoXrhKsrsn6o1MEEEAAAQQQQAABBBBAAAEEEEAAgTwRKNnTFgtWlUPB6n8/9OKaCBKsEqyuycKjUwQQQAABBBBAAAEEEEAAAQQQQACB/BI4/OJfqrahQevKvC0A3DYA3lYAgZKS6BYAplTVFq9mp2S1tapuTSAJVglW12Th0SkCCCCAAAIIIIAAAggggAACCCCAQH4JmIdXbdq8WWVlZfadco9VbzuAaMBqN1t94pMsyUIfqSZBsEqw+sQXNx0ggAACCCCAwMoFLk9e1pvn39SF8QtauL+w8hM5suAFSktKtatul36454dqq24r+PkyQQQQQAABBBDIPQETrDY2Nj40WHUPrcrmw6vWSopglWB1rdYe/SKAAAIIIIBAkoAJVU++d1JlpWVaX7o++idUvBDwBJa0pLmFOc0vzOuN428QrrIyEEAAAQQQQCDrAukGq+ZB8eZB8iUlJbG3GbR7oLz5t6l89W8ZYI43D503n5nz/C/Tnvl8ndnfNQdeBKsEqzmwDBkCAggggAACCBiBn73/M/Xf6Vd5aTkgCCwrMLswq/aqdv3yhV+ihAACCCCAAAIIZFUgnWA1Eono448/tuGoCUsPHz6sUCgkE45+9dUFjY9PaGFhXseOHVNFRaUNTE3gOjU1pd7eL3Tw4CFVVFTE5mfC1nPnzmr9+vXauXOn2WMgq3NP1RnBKsHqmi9CBoAAAggggAACUYFX3n5FlcFKKlVZEA8VMJWr05FpvfWdt5BCAAEEEEAAAQSyKrDSYNUEqX/605/03HPP2YrU3t5e1dfXq62tzYatW7duVU1NjYaGhjQ+PqYjR47aKtRr175Wf/9lO6dvfetbsUpW097c3Kw++OADHT58RJWVlVmd93KdEawSrObEQmQQCCCAAAIIICD9zVt/o+qKaigQeKTA5MykfvfK7x55HAcggAACCCCAAAKZFHDBqglBTeWo/6v7c39TeTozM6O5uTkbnprPv/zySxuwNjQ06PPPP9MLL/y5gsGgHdof/vAH/cVf/LlKS8t069Y3WlhYtBWtf/VXfx0b+r179/TRRx/pyJEj2rhxYyan9FhtEawSrD7WAuJkBBBAAAEEEMicAMFq5iwLvSWC1UK/wswPAQQQQACB3BQwwaoJRK9fv666ujrdunVLBw8ejAWoJkRNfnjV/Py8rVI11arSks6dO5cQmr777js6fvwvY3/2PzIyovPnE485depThcNhbdq02fZrql9z4UWwSrCaC+uQMSCAAAIIIICAqFhlEaxcgGB15VYciQACCCCAAAKZE3jppZc0MTGuAwcO2opVs1/qmTNn7D6pJnBNDlbNPqsffvih9u3bZwPRsbExW8m6ZcsWOygTup46dUqHDh1SaWmp/Wx0dFRXrlzR888/b7+/evWKLl++bKtcTbhqql93795t21vrF8Eqwepar0H6RwABBBBAAAFPgIpVlsJKBQhWVyrFcQgggAACCCCQSYFdu3bZitSKipBKStYpEJDdDuDYsedt0BoPVqWhoWH19X1lf2YeQmV+Zipczf6o7qFUAwPXNDw8EgtWzcOrTMVqbW2tPc48sOqdd3r00kvfsu2b18WLF3Xv3l0dOnQ4k1NbVVsEqwSrq1o4nIQAAggggAACmRdYTbC6reGYmsvSGMv8sD68NZDGCRyaiwIEq7l4VRgTAggggAAChS+wc+dOtbS02IdPmT1TTchqAk9TrWoCVhOempepML127ZoOHDhgQ1L3+c2bN/XNN99o7969Mg+kMn/y39y8RdXV1fYYU8364Ycf2NDUhK8mWP3d7/6vTpx42fZngtdLly7ZvVpzYTsAglWC1cK/65khAggggAACeSKwmmD1xy/8q46n9VDUGV24/D/1+hXC1TxZFimHSbCaz1ePsSOAAAIIIJC/AubP82dnI6qpqbVBqqscddsAmHDUhKHvvvuuamqq7XEmfC0rK1Vra5ump6dl9kttbGy0n9+9e1cHDx6ybZnX7Oys3n///+no0WM2WDXh6+nTn6u8PPqgq5KSgGZn52ww67YOWEtNglWC1bVcf/SNAAIIIIAAAj6B1Qer87ozNaOKDVXyF6/OR0Z0a6FM1ZUNqtCMbk1Pq3JD9N8X+n6i18lW83b9Eazm7aVj4AgggAACCOS1gHl4lQk7TUBqQtTOzk77J/ummtR8b97m5729X9h5mvDUvEpLy7Rnzx77c7Pv6oULF2xw2t7ebs91L7Nn61dffaWOjo7Yn/6bz86ePWMD2/r6BjU3Nyecs5agBKsEq2u5/ugbAQQQQAABBDISrI7ovX/rV/tfH1eTr72R4e/rtfMn9A8vvqpduqBf/fF1DXf/b/39pipFfwZ/vgoQrObrlWPcCCCAAAII5LeACVZNtakJQ83bVI2at9sGIPnhVS5Yze9ZLz96glWC1UJd28wLAQQQQACBvBNYfcXqyoPVd/b8k/61uSkpWP2x/ikplE3GK+wgNjp/5VHYTLCad7c3A0YAAQQQQKAgBAhWEy8jwSrBakHc2EwCAQQQQACBQhBY62D1SQeLZj/Yg7O/0k9OvZNjl+tRwar5+UFN5tD2CQSrObaEGA4CCCCAAAJFIkCwSrBq93ow+zKYJ4m59/z8vMyeDebpY6Ojo+rp6SmSW4JpIoAAAggggECuCGQ6WNX9ec0vSWXryqSF6FYAD6tYfdLBaq44PziORwWruTdygtXcuyaMCAEEEEAAgWIQIFglWCVYLYY7nTkigAACCCCQhwKPF6y+pn9ZyZwfshXASoLVEwf/Wa+Wn9J7Oq7jldEOZyaiVaj2Z7WTeu/ffGPZ9g/6585ndK3vJ7rVEq9YjR5bkTDi+HYDXoXo8DU907xL8tpPnF6K7QtceCxFxxIb54je65vUwc5divfof9GTeRAAABpiSURBVICXF6xOXFB1rTvGbK/g5uEqVt+W2l7Vrtn39P3349q2r43X9KvL0ncS+jAj9rXj2cfm4RvvSi6d/xiC1XTFOB4BBBBAAAEEMiFAsEqwSrCaiTuJNhBAAAEEEEAg4wJrHaz6H3yVMLnkwLK2Ir5Hqw1Od2nS7k/6YOWn+fP/44oGkf6tAE5sO6F3BnxbAth2qnXKhpleaPqw4HHbCZ0YeEf+TQUS2veC22hY67U3HQ9EE0PgB/uz4y73qnzteLytAJ4ye9QqKXQ1+7O+JzUfV5OvD8n34DAvdI06Gd1on9UpQ+NHLy2C1UcbcQQCCCCAAAIIZF6AYJVglWA18/cVLSKAAAIIIIBABgTWOlhdccWqqc402wrYOSeGqf4gNdXPEvdYTa46dVWkK//T/AcqX71gM1ZFaseZor0UQa5//g+e7/ZYTWrLVqGaoLVf7SkegBVv55aOZ/ABWQSrGbjhaAIBBBBAAAEE0hYgWCVYJVhN+7bhBAQQQAABBBDIhkAhBKuKBY2v6V/8/zYRbOzhVU22WrPJ/2fyvi0DXh94dLDqAlW3DYGNeH3VsY8MVhMu6IP9LR+sJvYT71N2TsnhdGI73rneFgoJ2wSkucAIVtME43AEEEAAAQQQyIgAwSrBKsFqRm4lGkEAAQQQQACBTAsURLDq/fl79c3vq786vqeqCz5txeo3XbF9V18f8BTTDFYTK2OjbaQVrK66YlVS7FxTpbpMJas3rViwerNar26a9FX6evvAJlT/rnxFEayu3IojEUAAAQQQQCBzAgSrBKsEq5m7n2gJAQQQQAABBDIoUBjBqntw1KRGKqs12fcTufA0VrFqg1X/Q6m8vUhLV74VgA1RK1M8GOohWwH49z9NtcfqyrYCMBc8Ot7q2RE1lbuw9MF9XBP2WDXBanO1LiR5xPdxTW8hEaym58XRCCCAAAIIIJAZAYJVglWC1czcS7SCAAIIIIAAAhkWWH2wKs0vzq9sNIEylZUo/vApe1byXqcPNhV9CFSqKstUf7afKmT0bwXwjqJbBrjHZZlA9W2p7VXtKjVhaer9ShNH5cJY71MTqE622zbN9gBv6zt61V8N6j1kqyLWiAtx4/NfebCq2Pidi232gT7Mh/HwNxoG+2fhC4ZXdvViRxGspgnG4QgggAACCCCQEQGC1UTGW9ODCvz05I+WGipbMgKci40sLS3ZYZmv7n3//n0tLi7G3vPz81pYWNDc3JxGR0fV09OTi1NhTAgggAACCCBQwAKrCVb/w9H/kxTWrQxoZORv9Y8XVnYsR+WeAMFq7l0TRoQAAggggEAxCBCsEqxSsVoMdzpzRAABBBBAIA8FVhOs5uE0GXIGBAhWM4BIEwgggAACCCCQtgDBKsEqwWratw0nIIAAAggggEA2BAhWs6FcGH0QrBbGdWQWCCCAAAII5JsAwSrBKsFqvt21jBcBBBBAAIEiESBYLZILnYFpEqxmAJEmEEAAAQQQQCBtAYJVglWC1bRvG05AAAEEEEAAgWwIEKxmQ7kw+iBYLYzryCwQQAABBBDINwGCVYJVgtV8u2sZLwIIIIAAAkUiQLBaJBc6A9MkWM0AIk0ggAACCCCAQNoCBKsEqwSrad82nIAAAggggAAC2RAgWM2GcmH0QbBaGNeRWSCAAAIIIJBvAgSrBKsEq/l21zJeBBBAAAEEikSAYLVILnQGpkmwmgFEmkAAAQQQQACBtAUIVglWCVbTvm04AQEEEEAAAQSyIfDK26+oMlipgALZ6I4+8lRgSUuajkzrre+8laczYNgIIIAAAgggkK8CBKsEqwSr+Xr3Mm4EEEAAAQQKXOBn7/9M/Xf6VV5aXuAzZXqPIzC7MKv2qnb98oVfPk4znIsAAggggAACCKQtQLBKsEqwmvZtwwkIIIAAAgggkA2By5OXdfK9kyorLdP60vVUrmYDPY/6MJWqcwtzml+Y1xvH31BbdVsejZ6hIoAAAggggEAhCBCsEqwSrBbCncwcEEAAAQQQKFABE66+ef5NXRi/oIX7CwU6S6a1GoHSklLtqtulH+75IaHqagA5BwEEEEAAAQQeW4BglWCVYPWxbyMaQAABBBBAAAEEEEAAAQQQQAABBBAoNgGCVYJVgtViu+uZLwIIIIAAAggggAACCCCAAAIIIIDAYwsQrBKsEqw+9m1EAwgggAACCCCAAAIIIIAAAggggAACxSZAsEqwSrBabHc980UAAQQQQAABBBBAAAEEEEAAAQQQeGwBglWCVYLVx76NaAABBBBAAAEEEEAAAQQQQAABBBBAoNgECFYJVglWi+2uZ74IIIAAAggggAACCCCAAAIIIIAAAo8tQLBKsPrQYHV+fl43btxQT0/PYy82GkAAAQQQQAABBBBAAAEEEEAAAQQQQKBQBAhWCVYJVgvlbmYeCCCAAAIIIIAAAggggAACCCCAAAJZEyBYJVhNGawuLCzIVKtSsZq1e5GOEEAAAQQQQAABBBBAAAEEEEAAAQTySIBglWA1Fqzev39fJlBdXFy0X12wOjo6qt///vd5tKwZKgIIIIAAAggggAACCCCAAAIIIIAAAk9W4Nvf/rY2b96ssrIy+y4tLbXvdevWqaSkxL4DgUDC+8mOaG1bvzU9qMB/PPnjpbrKJgVUsrajeUK9Ly0t2ZbNV/c2oap5u1CVYPUJ4dMsAggggAACCCCAAAIIIIAAAggggEBBCBCsxi/jku5rfHpEgf908u+WQusrFSrbUBAXOXkS6QarN2/e1G9+8xsFg8GC9GBSCCCAAAIIIIAAAggggAACCCCAAAIIpCMQDof1ve99L1ax6qpVi7ViNTw/pfDctAL/5e//89JcYEqV66sVLKsouMrVRwWrpmrVbAPgqlbHxsb085//XF1dXemsL45FAAEEEEAAAQQQQAABBBBAAAEEEECgIAV6e3v1i1/8QvX19QlbAZhtANw7eRsA832hvUylamR+RtNzk1q/tEGBkydPLi0uzWshENF9LWhJ0T+dL5SXC1bNfOJbASzZrQDuL0a3A4huCbCohfkFTU9Na9/uZ/W//scbhULAPBBAAAEEEEAAAQQQQAABBBBAAAEEEFi1wH/9x5M6++UXqtxQqdIys7eqF6iar25/1ZL4/qqmo0IMVgO2JLVUpUtBrQuUKfDaa68tmZDRhY6rFs7hE5OrVt0eq/59Vv2Vq7dv39arr76qH/zgBzk8K4aGAAIIIIAAAggggAACCCCAAAIIIIDAkxV488039etf/1o1NTX2YVXuwVWuUtU9uMr/8KpCDVbdvExobOdrglXzob+y88lejuy3/qhg1f8QK7MlwOzsrO7cuaPu7m5997vf1b59+1RRUZH9gdMjAggggAACCCCAAAIIIIAAAggggAACWRaYnp7WuXPn9Nvf/lZmG4CqqiqVl5fbYNW9/dsA+ENVV6laiBWr7jLE5uiC1Sxfn6x2t5J9Vk2gmvw2iygSidg9WE34al6FXt2b1QtDZwgggAACCCCAAAIIIIAAAggggAACayrgD0LdPqkmKF2/fr19uHtlZWVCoJocrLqKVf8eq2ZChRysxgLWYg9Wk7cD8Ierbv9V89VtH+C2TEjeu3VN7wA6RwABBBBAAAEEEEAAAQQQQAABBBBAYIUCyaGnPxR1Qam/ItVfqWr+/bBq1WKoWC2qYNVM1l+16qpOXVgaf4DVgvcgq+hX93bhqz9ULeQ9aVd4D3IYAggggAACCCCAAAIIIIAAAggggECeC/hDVX/Fqj88Nf9ebguA5IpVw1EM1ap2nsVQsZocrLpQ1B+sJleuJoeq/i0AUlWt5vk9xPARQAABBBBAAAEEEEAAAQQQQAABBIpQwF9h6vZKTVW16sJV89X83H0ttv1V/UukqINVE5CmCldTbQGQKlj1B7ZFeN8xZQQQQAABBBBAAAEEEEAAAQQQQACBPBXwV5UmV626YNUFqMnVq/6fJ59rOKhYzdNFsdywk/dETa5aTRWwus+S91f1B6r+dguMjOkggAACCCCAAAIIIIAAAggggAACCBSwQKpwNblq1V+d6q9SXe6hVQSrBbpg/PusJu+Xmhyi+vdVTbdalbC1QBcQ00IAAQQQQAABBBBAAAEEEEAAAQTyWCBVJal/K4Dkh1iZ71OFqcl//u/OK6ZQ1c61WPZYNZNdrmrVbQng3xog+d/J+6omh6eEqXn8W4WhI4AAAggggAACCCCAAAIILC9w55rOXLuT8uflmzvVuan8oXqzN/vUNzqrlRybuqE7unbmmu6UN6qz82k9vLdHXUivLVXpma5nVPWow9P4+Z2BM7o2mfl20xhCFg6d1Td9fboxW67Gzk49vcqLEbVKHm6i3QPrxq3Dh64DN77MXwc3nqpnuvRMbOGkt55S3wuuDb+H5xuJ3nurv3eWXxIuTL1zrVdf+65F9PNqtT7XqppAwO6l6q9MtYHq7cv6pH9CFVv3a1u4VxfHJdV36vmOOtvhk9kGIKyh06c1EI7Pqa7zeXVWDOn06QH5Ppb93A5lXH0f9GlcIW3bv19bQuajPn3QZwYcfYW27tf+FvOD1b2KKlg1RP6qVfe9PzR11anLPawq+fzVsXMWAggggAACCCCAAAIIIIAAAvkmMKmrp69qUtXavn+7qlc4/MiNL3XhxqzKG3dpd2NwhWf5D/P6LW/Srt2btZoW4q2tbg4rGfTk16d19XZ6NitpN7eOiWj0ywsamS1X067d2ryKi+HWg39e5eXlmp2dlXzX+IF1M3lVp69OJhyz9jbpradU90J03Sh+f2R5nq7/6u3PqbVGct8Hatt0sK3WhqTm7d8eIHC7Xx9fmlBo6049Pdan6W3H1FlnAtknFapK4cHTOn09HA1C68e9MLVaDaFJ3Qp7AWnFgBea1mn71hldve7iVhesuqBVquvslPpM6Gr+7YLY9FdU0QWrKwlXk7cJcN+nOjd9cs5AAAEEEEAAAQQQQAABBBBAIB8FbuvKZ1d0WzVqPdCqGjOF21f02ZXb8ckEm7VnT6M0cl7nRyIJkww2tatuol/Dvo9rWg+otca16w73tW8/8n4e3KRNuqmbqz0/YTQ1am2VriSPvU26fH5Yroua6EGKzzCo5j171BhMGnNNq1p1Rf7mJO/Y8MqMgk17tKfJSyojN3R+JeNIbrumVQfMkO11ci8zjmbNnI9/FqzdqMjEXUX9zWX8zI69ZnONbo/6rqe91s2KnD+fcN2ic0tsc9n52jHZ1SJ58wrV1Oj2bdNhqw40R3T+/IzqmsIaHonIOUS8NRRzcWvNrDF7ncalYESR+MXSgdaQbtixblRt8K4mFF2PQecZrNXGyITuPszmgXUavY41E9E1/eCaMI3VqHVPhYZ918x5uPP8y89/rR+Yp/9Ab87lT5Vr9t6s95OgmlvrNH7FrdOHrLNlnbzrYe6uq5/pyoRU03ZAbTUBufGEtuzTvuawLn96WbdtFasJTSu0tbtbWyKX9NHFaMVqZ6BPX1wPq6ahQpNj8ipDXXVpSA3VYd3yVyfXd6pTfeob86YT2qb9+7covZpR174LVpOD0zp1Pt+pOsXHEa1Y9X+/U/rKVMD6qllX8Wu5KINV47Rc5ar7WXKYmur4VXhzCgIIIIAAAggggAACCCCAAAJ5KnBblz/t14Rq1X6oTTVy34fUsm+vgsOfqn9cCm3aLN0cVdget0WRc2c1GJaCG4OK3I1Ide061BzRubOD9pjGugndMOdt2ae9TSbIGVLlvr2KF7d6/ZSVSfPzaZ9/+4o3LtN+aEif9k9I2qANmtKUHjb2NinVuaEWbasY1IAdc7vqx/vt/DZskKamTPlbuw7Vjkf7CdWrKjymO4/oJzRyTmfDW3TIF0A6H2OdehyJbTeGL+vToUrf2HzzTRpHYzCiG+a6VLTrUKui1zXUon17G6MVwbcve05SVV1Id8bDSe4h1VeFNXbHu27ONbkfb0yxdiM3dO7stLa0S/39E6ptP6Q2l/F5fUbXQVARYzIU9tZFMD4mM05zvl0/5vrZb+w1qG3fp8oh8+9atds+wnZt1kxE23LXyPaxzJjdsfY6mqD23FlNbzmkLeGHtBG7J6LhcfTaLX8vuDm6XwRurvFfDNF1aa9p/0T83gm1qKViUIOmzDLUova6MfUPmXLNR62zZKe4++0rp3TZ3BK+VyBgju9SaPgTXTLrvKVbz1YO2SpVhbbq2W3T6r1oKlaf1U716YvBSKwCdMZfUerbHmD84gdemFqn5vpxDY+t9s/w41sChLbu0tO3LvjCUVeRulywKsXH8TjBbhyr6IPV5ULW5M/ZUzVP/7vPsBFAAAEEEEAAAQQQQAABBDIkMKH+T7xg9XC7apX0/US/3Xcx6AWrkWCLurqapOEzOjMUUfnGcs3enVVwS5e6mqWRM2c0GKlV++F2VXjH2IF658X/ytzrxwtW0z1/4vInNvCtbT+s9lo3ZhesJtIkj33GOzfhqGCLnqkc1LVYm9GfpuwnWK+qiAlWo/OsdUbWYMbzjJ4fHZ/XU2REZ84MyhkuN46urlpNWMfoecamJXzGzjdxzEnjMPmfNa/wAsgJBbd0qGHsotdWrVq2zGhwKKKquqDujEeSrltQ9VURG6wmuNpr9+CYuppdJa6Z17RavGDVhJeHt0R05swtNWyp0OCQGYexCXrjc/0GJc/Oro8O6aLPx62x2vYuVQ66dVWn8U/6NbOlXQ1j/XatuRD/UTaxvqJXJmGNunA2cT352w6qxc1lmXvBzTH1jem7rzynhHsnNGjvs7idWSfLrLNl+vevtduXo+Fp7Y4j2mHWn1t7qlWT+Z8eEwHV7jiqjroJXfrooiYqtunZrdP64uK4/bP8nfrKC1afV8PYB+qb3qbOhm/Udz2suu3bNHPV2/+0fpu2TQ9oIBwPVlP9CX5C8OkLZo2V2w5AsT1TkytSHxGsznj7q3pVsjNe2Ps4+6wWbbDqFm/yA63M56n2UV3u4VQ8tCpD/32mGQQQQAABBBBAAAEEEEAAgRwXmNCljy/ZitUdR3bYYDX6fUhbu7sUHPw4Wt22uVEavWGrUc1x6o9+Hq9Y3aEjLRGd6b2usKpUH7qjsbBpw6RlvTLbIsZCHivi9ROrWE3v/Amvf1N111U34fX7lJ7SPd0zsZkLlExXJlQy4wptVXdXk2a8c1W3Q0diqafJ+Ly5tuxQw9glO+annpLu3XPteWP2VRImGNVXKWxSSdNu3VisEtD0aSPIlYzDf4ylM57RMGzEbhzpH3PytfP1YY0T/UO+ecUrVk17il3zWMWqcQ1dj84hWKVg5I4ixs83puh6ifcZ2tGtDYPRa21fdTvUXTGo3sGwrY50war53lRIGhcTnsa+d20n/aw21m7i2nN97NAluxYfZuPWq1kX9ePuOnerQxdt/+46J66nRHfXz3L3gptjbG1795DdCcJdV3P/7JAuXYpXrNrznLW5vu4+Wm6duXvxAScvRDV3l7eWo+Gp+eBS9Fr61pKpTH224rr983+ZUHLblE73RYPVXYE+u/epDUnlfzBUnTr3b9CAfbBUSNs6n9Y3febfDw9Wl/slmLDHauxhU/7q1f3a79tjNeVWAC5Ylalo3aaw9zAsgtXH/E/Pw6pRqVR9TFxORwABBBBAAAEEEEAAAQQQKBCBCV00FWuqVcfRjmhQNnExGra4lwlwupulod5oCOZ7hVp2qmHsq3iYZqKbjqM2sEpoo65DR23pnHt5/YYa1agbuuFrNq3zE0ZTqw4TzvnHbsbzZ1sV/toLVrubFZKbs+9kOz55Ft7ndR12Hubp6HZMtW7MW9W9dcr+2XSiUa0men3Bog3WutXsNpoMD6vXBbwPGYfr07Wd0Ld/vnVNqh0fSbx2NkP7KPpEd2fu+k2wcuF3wtXU1u6tmuo16yF28e0cQoNem97H0THFzw3H1kZ8HcU+89ZPlCGs4QQj85l3TpKPW2+1Hd3acN24Jh0X8011PZNskg2S1nRtdOH45u3G1aBb9v5IdGrcLN0YTb4XutVtH1Gf4h7yu3n3hvufEiZY7XYBp7lmLeH4Okm1zvwBtO++9F+T2BpIGLd5oNOx+Dr2XWO7V+lMnz60WwFEK1ZjwWpdUtDZEvJVmfo6WC9pLr2HRj3wJ/y2OX94G28/XgmbXNHKVgBJlzlz366mIpVq1cz50xICCCCAAAIIIIAAAggggAACCBSHQOowzxfYFwdDTswy4D2YarnBpPr5o87JiYllaRBFvxVAsvNKw9KVHpel60g3CCCAAAIIIIAAAggggAACCCCAAAIIrFrgUYHpo36+6o7z+ESC1UdcPALUPF7dDB0BBBBAAAEEEEAAAQQQQAABBBBA4LEECFSX5yNYTXNpEbSmCcbhCCCAAAIIIIAAAggggAACCCCAAAI5L0CAmv4lIlhN34wzEEAAAQQQQAABBBBAAAEEEEAAAQQQQKDIBQhWi3wBMH0EEEAAAQQQQAABBBBAAAEEEEAAAQQQSF+AYDV9M85AAAEEEEAAAQQQQAABBBBAAAEEEEAAgSIXIFgt8gXA9BFAAAEEEEAAAQQQQAABBBBAAAEEEEAgfQGC1fTNOAMBBBBAAAEEEEAAAQQQQAABBBBAAAEEilyAYLXIFwDTRwABBBBAAAEEEEAAAQQQQAABBBBAAIH0BQhW0zfjDAQQQAABBBBAAAEEEEAAAQQQQAABBBAocgGC1SJfAEwfAQQQQAABBBBAAAEEEEAAAQQQQAABBNIXIFhN34wzEEAAAQQQQAABBBBAAAEEEEAAAQQQQKDIBQhWi3wBMH0EEEAAAQQQQAABBBBAAAEEEEAAAQQQSF+AYDV9M85AAAEEEEAAAQQQQAABBBBAAAEEEEAAgSIXIFgt8gXA9BFAAAEEEEAAAQQQQAABBBBAAAEEEEAgfQGC1fTNOAMBBBBAAAEEEEAAAQQQQAABBBBAAAEEilyAYLXIFwDTRwABBBBAAAEEEEAAAQQQQAABBBBAAIH0BQhW0zfjDAQQQAABBBBAAAEEEEAAAQQQQAABBBAocoH/DyXRwXFJaIHcAAAAAElFTkSuQmCC"/>
          <p:cNvSpPr>
            <a:spLocks noChangeAspect="1" noChangeArrowheads="1"/>
          </p:cNvSpPr>
          <p:nvPr/>
        </p:nvSpPr>
        <p:spPr bwMode="auto">
          <a:xfrm>
            <a:off x="1831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dirty="0"/>
          </a:p>
        </p:txBody>
      </p:sp>
    </p:spTree>
    <p:extLst>
      <p:ext uri="{BB962C8B-B14F-4D97-AF65-F5344CB8AC3E}">
        <p14:creationId xmlns:p14="http://schemas.microsoft.com/office/powerpoint/2010/main" val="1424148663"/>
      </p:ext>
    </p:extLst>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71F020BE888BB4AB316B9373C8B4F2E" ma:contentTypeVersion="16" ma:contentTypeDescription="Create a new document." ma:contentTypeScope="" ma:versionID="d4dd329fb7aefe8f0833961973de1dd5">
  <xsd:schema xmlns:xsd="http://www.w3.org/2001/XMLSchema" xmlns:xs="http://www.w3.org/2001/XMLSchema" xmlns:p="http://schemas.microsoft.com/office/2006/metadata/properties" xmlns:ns2="d5c1a6a5-0428-459c-81cd-cf402d4ff623" xmlns:ns3="4b5fc4ab-1594-4dd7-8d7e-2e0a7577b23f" targetNamespace="http://schemas.microsoft.com/office/2006/metadata/properties" ma:root="true" ma:fieldsID="566a881b36aa1cdccae23e7b73ffdaca" ns2:_="" ns3:_="">
    <xsd:import namespace="d5c1a6a5-0428-459c-81cd-cf402d4ff623"/>
    <xsd:import namespace="4b5fc4ab-1594-4dd7-8d7e-2e0a7577b23f"/>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5c1a6a5-0428-459c-81cd-cf402d4ff62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addd62e-4cdf-4ab6-87d1-e7567672f23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Location" ma:index="22" nillable="true" ma:displayName="Location" ma:indexed="true" ma:internalName="MediaServiceLocation"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b5fc4ab-1594-4dd7-8d7e-2e0a7577b23f"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89790768-eeed-4a9d-bea6-26e76a0d1d82}" ma:internalName="TaxCatchAll" ma:showField="CatchAllData" ma:web="4b5fc4ab-1594-4dd7-8d7e-2e0a7577b23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d5c1a6a5-0428-459c-81cd-cf402d4ff623">
      <Terms xmlns="http://schemas.microsoft.com/office/infopath/2007/PartnerControls"/>
    </lcf76f155ced4ddcb4097134ff3c332f>
    <TaxCatchAll xmlns="4b5fc4ab-1594-4dd7-8d7e-2e0a7577b23f"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E7AD24E-DDE9-483A-8390-823B5088AFC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5c1a6a5-0428-459c-81cd-cf402d4ff623"/>
    <ds:schemaRef ds:uri="4b5fc4ab-1594-4dd7-8d7e-2e0a7577b23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D9AC993-4D1E-45C7-960D-D3C11DEAD125}">
  <ds:schemaRefs>
    <ds:schemaRef ds:uri="http://schemas.microsoft.com/office/2006/metadata/properties"/>
    <ds:schemaRef ds:uri="http://schemas.microsoft.com/office/infopath/2007/PartnerControls"/>
    <ds:schemaRef ds:uri="d5c1a6a5-0428-459c-81cd-cf402d4ff623"/>
    <ds:schemaRef ds:uri="4b5fc4ab-1594-4dd7-8d7e-2e0a7577b23f"/>
  </ds:schemaRefs>
</ds:datastoreItem>
</file>

<file path=customXml/itemProps3.xml><?xml version="1.0" encoding="utf-8"?>
<ds:datastoreItem xmlns:ds="http://schemas.openxmlformats.org/officeDocument/2006/customXml" ds:itemID="{B2ADBE66-030D-4F2B-9600-92B3D2CB6F5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115</TotalTime>
  <Words>918</Words>
  <Application>Microsoft Office PowerPoint</Application>
  <PresentationFormat>Panorámica</PresentationFormat>
  <Paragraphs>45</Paragraphs>
  <Slides>17</Slides>
  <Notes>6</Notes>
  <HiddenSlides>0</HiddenSlides>
  <MMClips>0</MMClips>
  <ScaleCrop>false</ScaleCrop>
  <HeadingPairs>
    <vt:vector size="4" baseType="variant">
      <vt:variant>
        <vt:lpstr>Tema</vt:lpstr>
      </vt:variant>
      <vt:variant>
        <vt:i4>1</vt:i4>
      </vt:variant>
      <vt:variant>
        <vt:lpstr>Títulos de diapositiva</vt:lpstr>
      </vt:variant>
      <vt:variant>
        <vt:i4>17</vt:i4>
      </vt:variant>
    </vt:vector>
  </HeadingPairs>
  <TitlesOfParts>
    <vt:vector size="18" baseType="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Microsoft Office User</dc:creator>
  <cp:lastModifiedBy>Rosa Angelica Barrios Perez</cp:lastModifiedBy>
  <cp:revision>19</cp:revision>
  <dcterms:created xsi:type="dcterms:W3CDTF">2021-08-30T16:06:06Z</dcterms:created>
  <dcterms:modified xsi:type="dcterms:W3CDTF">2024-02-14T20:09:07Z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0x010100F71F020BE888BB4AB316B9373C8B4F2E</vt:lpwstr>
  </property>
  <property fmtid="{D5CDD505-2E9C-101B-9397-08002B2CF9AE}" pid="3" name="MSIP_Label_f535a957-b352-4c2d-aa57-80f72177303d_Enabled">
    <vt:lpwstr>true</vt:lpwstr>
  </property>
  <property fmtid="{D5CDD505-2E9C-101B-9397-08002B2CF9AE}" pid="4" name="MSIP_Label_f535a957-b352-4c2d-aa57-80f72177303d_SetDate">
    <vt:lpwstr>2024-02-14T20:09:06Z</vt:lpwstr>
  </property>
  <property fmtid="{D5CDD505-2E9C-101B-9397-08002B2CF9AE}" pid="5" name="MSIP_Label_f535a957-b352-4c2d-aa57-80f72177303d_Method">
    <vt:lpwstr>Standard</vt:lpwstr>
  </property>
  <property fmtid="{D5CDD505-2E9C-101B-9397-08002B2CF9AE}" pid="6" name="MSIP_Label_f535a957-b352-4c2d-aa57-80f72177303d_Name">
    <vt:lpwstr>defa4170-0d19-0005-0004-bc88714345d2</vt:lpwstr>
  </property>
  <property fmtid="{D5CDD505-2E9C-101B-9397-08002B2CF9AE}" pid="7" name="MSIP_Label_f535a957-b352-4c2d-aa57-80f72177303d_SiteId">
    <vt:lpwstr>34303541-74ec-4d4a-8c5a-8049d2fd6ce6</vt:lpwstr>
  </property>
  <property fmtid="{D5CDD505-2E9C-101B-9397-08002B2CF9AE}" pid="8" name="MSIP_Label_f535a957-b352-4c2d-aa57-80f72177303d_ActionId">
    <vt:lpwstr>f8e172fb-f1b9-42ae-9d51-f109ef76f06c</vt:lpwstr>
  </property>
  <property fmtid="{D5CDD505-2E9C-101B-9397-08002B2CF9AE}" pid="9" name="MSIP_Label_f535a957-b352-4c2d-aa57-80f72177303d_ContentBits">
    <vt:lpwstr>0</vt:lpwstr>
  </property>
</Properties>
</file>