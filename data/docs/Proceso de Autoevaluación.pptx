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84" r:id="rId3"/>
    <p:sldId id="258" r:id="rId4"/>
    <p:sldId id="276" r:id="rId5"/>
    <p:sldId id="260" r:id="rId6"/>
    <p:sldId id="262" r:id="rId7"/>
    <p:sldId id="277" r:id="rId8"/>
    <p:sldId id="279" r:id="rId9"/>
    <p:sldId id="280" r:id="rId10"/>
    <p:sldId id="281" r:id="rId11"/>
    <p:sldId id="282" r:id="rId12"/>
    <p:sldId id="283" r:id="rId1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01" autoAdjust="0"/>
    <p:restoredTop sz="97681" autoAdjust="0"/>
  </p:normalViewPr>
  <p:slideViewPr>
    <p:cSldViewPr snapToGrid="0" snapToObjects="1" showGuides="1">
      <p:cViewPr>
        <p:scale>
          <a:sx n="102" d="100"/>
          <a:sy n="102" d="100"/>
        </p:scale>
        <p:origin x="-64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PARA REALIZAR EL PROCESO DE AUTOEVALUACIÓN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</a:t>
            </a:r>
            <a:r>
              <a:rPr lang="es-CO" sz="1600" dirty="0"/>
              <a:t>y seleccionar en menú principal la opción “Servicios” 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602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06" y="1789398"/>
            <a:ext cx="8260423" cy="46292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dirigirse a la sección la </a:t>
            </a:r>
            <a:r>
              <a:rPr lang="es-CO" sz="1600" dirty="0" smtClean="0"/>
              <a:t>sección «Autoevaluación»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472211" y="3747128"/>
            <a:ext cx="626760" cy="2052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391130" y="1558212"/>
            <a:ext cx="3024550" cy="233170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06" y="1789399"/>
            <a:ext cx="8260422" cy="46292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</a:t>
            </a:r>
            <a:r>
              <a:rPr lang="es-CO" sz="1600" dirty="0" smtClean="0"/>
              <a:t>el icono «Procesos en curso»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824281" y="5857282"/>
            <a:ext cx="1460774" cy="302358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371033" y="1557493"/>
            <a:ext cx="1433152" cy="4461015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197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299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803270"/>
            <a:ext cx="8331199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tipo de usuario (Profesor, Estudiante o Invitado), </a:t>
            </a:r>
            <a:r>
              <a:rPr lang="es-CO" sz="1600" dirty="0" smtClean="0"/>
              <a:t>y digite la información solicitada </a:t>
            </a:r>
            <a:r>
              <a:rPr lang="es-CO" sz="1600" dirty="0" smtClean="0"/>
              <a:t>según sea el caso y </a:t>
            </a:r>
            <a:r>
              <a:rPr lang="es-CO" sz="1600" dirty="0"/>
              <a:t>luego presione </a:t>
            </a:r>
            <a:r>
              <a:rPr lang="es-CO" sz="1600" dirty="0" smtClean="0"/>
              <a:t>el </a:t>
            </a:r>
            <a:r>
              <a:rPr lang="es-CO" sz="1600" dirty="0"/>
              <a:t>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476879" y="3778180"/>
            <a:ext cx="2119371" cy="1257300"/>
          </a:xfrm>
          <a:prstGeom prst="roundRect">
            <a:avLst>
              <a:gd name="adj" fmla="val 90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803270"/>
            <a:ext cx="0" cy="196695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70060"/>
            <a:ext cx="8397636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0"/>
            <a:ext cx="8397636" cy="4706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ingresar se mostrarán las evaluaciones disponibles, para ponderar los factores y características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EVALUACIONES DISPONIBLES</a:t>
            </a:r>
            <a:endParaRPr lang="es-CO" sz="2200" b="1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438150" y="2628900"/>
            <a:ext cx="8124825" cy="933450"/>
          </a:xfrm>
          <a:prstGeom prst="roundRect">
            <a:avLst>
              <a:gd name="adj" fmla="val 90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6" name="15 Conector recto de flecha"/>
          <p:cNvCxnSpPr/>
          <p:nvPr/>
        </p:nvCxnSpPr>
        <p:spPr>
          <a:xfrm>
            <a:off x="4572000" y="1485740"/>
            <a:ext cx="0" cy="11145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9 Rectángulo"/>
          <p:cNvSpPr/>
          <p:nvPr/>
        </p:nvSpPr>
        <p:spPr>
          <a:xfrm>
            <a:off x="5723832" y="1957208"/>
            <a:ext cx="1143499" cy="858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1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ponderar los factores presione el icono «      » sobre la evaluación que desea realizar, en la ventana de Evaluaciones disponibles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FACTORES</a:t>
            </a:r>
            <a:endParaRPr lang="es-CO" sz="2200" b="1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460299" y="2867884"/>
            <a:ext cx="353619" cy="259080"/>
          </a:xfrm>
          <a:prstGeom prst="roundRect">
            <a:avLst>
              <a:gd name="adj" fmla="val 90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37971" r="94866" b="58658"/>
          <a:stretch/>
        </p:blipFill>
        <p:spPr bwMode="auto">
          <a:xfrm>
            <a:off x="4082615" y="1226373"/>
            <a:ext cx="260720" cy="230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20 Grupo"/>
          <p:cNvGrpSpPr/>
          <p:nvPr/>
        </p:nvGrpSpPr>
        <p:grpSpPr>
          <a:xfrm>
            <a:off x="844062" y="1761582"/>
            <a:ext cx="3708888" cy="1236926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10 Rectángulo"/>
          <p:cNvSpPr/>
          <p:nvPr/>
        </p:nvSpPr>
        <p:spPr>
          <a:xfrm>
            <a:off x="5723832" y="1957208"/>
            <a:ext cx="1143499" cy="858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554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0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Posteriormente se mostrarán los factores con sus respectivas características a evaluar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FACTORES</a:t>
            </a:r>
            <a:endParaRPr lang="es-CO" sz="2200" b="1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377862" y="2743201"/>
            <a:ext cx="8270003" cy="3713984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" name="CuadroTexto 2"/>
          <p:cNvSpPr txBox="1"/>
          <p:nvPr/>
        </p:nvSpPr>
        <p:spPr>
          <a:xfrm>
            <a:off x="4723003" y="1473377"/>
            <a:ext cx="385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Estado de cada una de las características</a:t>
            </a:r>
            <a:endParaRPr lang="es-CO" sz="1400" dirty="0"/>
          </a:p>
        </p:txBody>
      </p:sp>
      <p:sp>
        <p:nvSpPr>
          <p:cNvPr id="10" name="9 Rectángulo redondeado"/>
          <p:cNvSpPr/>
          <p:nvPr/>
        </p:nvSpPr>
        <p:spPr>
          <a:xfrm>
            <a:off x="490070" y="2855409"/>
            <a:ext cx="303751" cy="259581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>
            <a:off x="844062" y="1761582"/>
            <a:ext cx="2972564" cy="1236926"/>
            <a:chOff x="5729176" y="1775902"/>
            <a:chExt cx="1191284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7" name="CuadroTexto 2"/>
          <p:cNvSpPr txBox="1"/>
          <p:nvPr/>
        </p:nvSpPr>
        <p:spPr>
          <a:xfrm>
            <a:off x="256888" y="1429054"/>
            <a:ext cx="3944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Para realizar la evaluación presione el botón «       »</a:t>
            </a:r>
            <a:endParaRPr lang="es-CO" sz="1400" dirty="0"/>
          </a:p>
        </p:txBody>
      </p:sp>
      <p:grpSp>
        <p:nvGrpSpPr>
          <p:cNvPr id="19" name="18 Grupo"/>
          <p:cNvGrpSpPr/>
          <p:nvPr/>
        </p:nvGrpSpPr>
        <p:grpSpPr>
          <a:xfrm flipH="1">
            <a:off x="5707464" y="1781154"/>
            <a:ext cx="2240782" cy="1217354"/>
            <a:chOff x="5729176" y="1775902"/>
            <a:chExt cx="1191284" cy="1140874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2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" t="24332" r="94703" b="71455"/>
          <a:stretch/>
        </p:blipFill>
        <p:spPr bwMode="auto">
          <a:xfrm>
            <a:off x="3719528" y="1484506"/>
            <a:ext cx="274579" cy="242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Rectángulo redondeado"/>
          <p:cNvSpPr/>
          <p:nvPr/>
        </p:nvSpPr>
        <p:spPr>
          <a:xfrm>
            <a:off x="7985434" y="2835313"/>
            <a:ext cx="303751" cy="259581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" name="22 Rectángulo redondeado"/>
          <p:cNvSpPr/>
          <p:nvPr/>
        </p:nvSpPr>
        <p:spPr>
          <a:xfrm>
            <a:off x="7999457" y="3339406"/>
            <a:ext cx="303751" cy="259581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4" name="23 Grupo"/>
          <p:cNvGrpSpPr/>
          <p:nvPr/>
        </p:nvGrpSpPr>
        <p:grpSpPr>
          <a:xfrm flipH="1">
            <a:off x="5707464" y="2998508"/>
            <a:ext cx="2240782" cy="445482"/>
            <a:chOff x="5729176" y="1775902"/>
            <a:chExt cx="1191284" cy="1140874"/>
          </a:xfrm>
        </p:grpSpPr>
        <p:cxnSp>
          <p:nvCxnSpPr>
            <p:cNvPr id="25" name="24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25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7" name="CuadroTexto 2"/>
          <p:cNvSpPr txBox="1"/>
          <p:nvPr/>
        </p:nvSpPr>
        <p:spPr>
          <a:xfrm>
            <a:off x="6298642" y="2733153"/>
            <a:ext cx="1291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Realizado</a:t>
            </a:r>
            <a:endParaRPr lang="es-CO" sz="1400" dirty="0"/>
          </a:p>
        </p:txBody>
      </p:sp>
      <p:sp>
        <p:nvSpPr>
          <p:cNvPr id="28" name="CuadroTexto 2"/>
          <p:cNvSpPr txBox="1"/>
          <p:nvPr/>
        </p:nvSpPr>
        <p:spPr>
          <a:xfrm>
            <a:off x="6317135" y="3191563"/>
            <a:ext cx="1272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Pendiente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298574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61" y="1788751"/>
            <a:ext cx="8330291" cy="46684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evaluación digite los valores y observaciones para cada una de las características. </a:t>
            </a:r>
            <a:r>
              <a:rPr lang="es-CO" sz="1600" dirty="0"/>
              <a:t>Los valores deben estar entre 0.01 y 5.00 </a:t>
            </a:r>
            <a:r>
              <a:rPr lang="es-CO" sz="1600" dirty="0" smtClean="0"/>
              <a:t>inclusive. Finalizar presionando el botón «Aceptar»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745465" y="183501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FACTORES</a:t>
            </a:r>
            <a:endParaRPr lang="es-CO" sz="2200" b="1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3818374" y="3104941"/>
            <a:ext cx="3927091" cy="713433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9" name="28 Rectángulo redondeado"/>
          <p:cNvSpPr/>
          <p:nvPr/>
        </p:nvSpPr>
        <p:spPr>
          <a:xfrm>
            <a:off x="4522910" y="5849815"/>
            <a:ext cx="461073" cy="279679"/>
          </a:xfrm>
          <a:prstGeom prst="roundRect">
            <a:avLst>
              <a:gd name="adj" fmla="val 291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33" name="32 Grupo"/>
          <p:cNvGrpSpPr/>
          <p:nvPr/>
        </p:nvGrpSpPr>
        <p:grpSpPr>
          <a:xfrm>
            <a:off x="5028252" y="3863083"/>
            <a:ext cx="753667" cy="2124000"/>
            <a:chOff x="5729176" y="1775902"/>
            <a:chExt cx="1191284" cy="1140874"/>
          </a:xfrm>
        </p:grpSpPr>
        <p:cxnSp>
          <p:nvCxnSpPr>
            <p:cNvPr id="34" name="33 Conector recto de flecha"/>
            <p:cNvCxnSpPr/>
            <p:nvPr/>
          </p:nvCxnSpPr>
          <p:spPr>
            <a:xfrm>
              <a:off x="688533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34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6" name="35 Conector recto de flecha"/>
          <p:cNvCxnSpPr/>
          <p:nvPr/>
        </p:nvCxnSpPr>
        <p:spPr>
          <a:xfrm flipH="1">
            <a:off x="4552950" y="1766866"/>
            <a:ext cx="17240" cy="130725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25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3" t="14262" r="19208" b="64010"/>
          <a:stretch/>
        </p:blipFill>
        <p:spPr bwMode="auto">
          <a:xfrm>
            <a:off x="490189" y="2411807"/>
            <a:ext cx="8143073" cy="1795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Al aceptar la evaluación digitada, se solicitará confirmación de la información, permitiendo finalizar la evaluación de la característica, o guardarla con la posibilidad de modificarla posteriormente.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FACTORES</a:t>
            </a:r>
            <a:endParaRPr lang="es-CO" sz="2200" b="1" dirty="0"/>
          </a:p>
        </p:txBody>
      </p:sp>
      <p:grpSp>
        <p:nvGrpSpPr>
          <p:cNvPr id="30" name="29 Grupo"/>
          <p:cNvGrpSpPr/>
          <p:nvPr/>
        </p:nvGrpSpPr>
        <p:grpSpPr>
          <a:xfrm flipH="1">
            <a:off x="10688846" y="1741486"/>
            <a:ext cx="1191284" cy="1217354"/>
            <a:chOff x="5729176" y="1775902"/>
            <a:chExt cx="1191284" cy="1140874"/>
          </a:xfrm>
        </p:grpSpPr>
        <p:cxnSp>
          <p:nvCxnSpPr>
            <p:cNvPr id="31" name="3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3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6" name="35 Conector recto de flecha"/>
          <p:cNvCxnSpPr/>
          <p:nvPr/>
        </p:nvCxnSpPr>
        <p:spPr>
          <a:xfrm flipH="1">
            <a:off x="4545144" y="1680197"/>
            <a:ext cx="7650" cy="58011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46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1011"/>
            <a:ext cx="8397636" cy="4706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ponderar los aspectos presione el icono «      » sobre la evaluación que desea realizar, en la ventana de Evaluaciones disponibles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ASPECTOS</a:t>
            </a:r>
            <a:endParaRPr lang="es-CO" sz="2200" b="1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674912" y="2867884"/>
            <a:ext cx="353619" cy="259080"/>
          </a:xfrm>
          <a:prstGeom prst="roundRect">
            <a:avLst>
              <a:gd name="adj" fmla="val 902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1" name="20 Grupo"/>
          <p:cNvGrpSpPr/>
          <p:nvPr/>
        </p:nvGrpSpPr>
        <p:grpSpPr>
          <a:xfrm>
            <a:off x="1047192" y="1761582"/>
            <a:ext cx="3534467" cy="1236926"/>
            <a:chOff x="5729176" y="1775902"/>
            <a:chExt cx="1191284" cy="1140874"/>
          </a:xfrm>
        </p:grpSpPr>
        <p:cxnSp>
          <p:nvCxnSpPr>
            <p:cNvPr id="22" name="2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22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8" t="32121" r="92285" b="64283"/>
          <a:stretch/>
        </p:blipFill>
        <p:spPr bwMode="auto">
          <a:xfrm>
            <a:off x="4089920" y="1220582"/>
            <a:ext cx="258984" cy="228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11 Rectángulo"/>
          <p:cNvSpPr/>
          <p:nvPr/>
        </p:nvSpPr>
        <p:spPr>
          <a:xfrm>
            <a:off x="5723832" y="1957208"/>
            <a:ext cx="1143499" cy="858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84078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7" y="1750620"/>
            <a:ext cx="8398331" cy="47065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127000" y="1156711"/>
            <a:ext cx="885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 smtClean="0"/>
              <a:t>Posteriormente se mostrarán los aspectos con sus respectivas características a evaluar, para realizar la evaluación digite los valores para cada item y presione el botón «Siguiente» para continuar y finalizar el proceso.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7745465" y="17976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ASPECTOS</a:t>
            </a:r>
          </a:p>
        </p:txBody>
      </p:sp>
      <p:grpSp>
        <p:nvGrpSpPr>
          <p:cNvPr id="19" name="18 Grupo"/>
          <p:cNvGrpSpPr/>
          <p:nvPr/>
        </p:nvGrpSpPr>
        <p:grpSpPr>
          <a:xfrm flipH="1">
            <a:off x="4552948" y="1679931"/>
            <a:ext cx="3135009" cy="1711299"/>
            <a:chOff x="5729176" y="1775902"/>
            <a:chExt cx="1191284" cy="1140874"/>
          </a:xfrm>
        </p:grpSpPr>
        <p:cxnSp>
          <p:nvCxnSpPr>
            <p:cNvPr id="20" name="19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2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3" name="22 Rectángulo redondeado"/>
          <p:cNvSpPr/>
          <p:nvPr/>
        </p:nvSpPr>
        <p:spPr>
          <a:xfrm>
            <a:off x="7677910" y="3261441"/>
            <a:ext cx="540000" cy="259581"/>
          </a:xfrm>
          <a:prstGeom prst="roundRect">
            <a:avLst>
              <a:gd name="adj" fmla="val 1840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4" name="23 Grupo"/>
          <p:cNvGrpSpPr/>
          <p:nvPr/>
        </p:nvGrpSpPr>
        <p:grpSpPr>
          <a:xfrm>
            <a:off x="5054319" y="3581309"/>
            <a:ext cx="2994407" cy="2538135"/>
            <a:chOff x="5729176" y="1775902"/>
            <a:chExt cx="1191284" cy="1140874"/>
          </a:xfrm>
        </p:grpSpPr>
        <p:cxnSp>
          <p:nvCxnSpPr>
            <p:cNvPr id="25" name="24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25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9" name="28 Rectángulo redondeado"/>
          <p:cNvSpPr/>
          <p:nvPr/>
        </p:nvSpPr>
        <p:spPr>
          <a:xfrm>
            <a:off x="4247312" y="5999701"/>
            <a:ext cx="756767" cy="259581"/>
          </a:xfrm>
          <a:prstGeom prst="roundRect">
            <a:avLst>
              <a:gd name="adj" fmla="val 2614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415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9B0462E-A51B-46A7-92AD-3CCEA1EA7CC3}"/>
</file>

<file path=customXml/itemProps2.xml><?xml version="1.0" encoding="utf-8"?>
<ds:datastoreItem xmlns:ds="http://schemas.openxmlformats.org/officeDocument/2006/customXml" ds:itemID="{F557BD3F-9358-4D51-A8CD-B51F1B2F5EED}"/>
</file>

<file path=customXml/itemProps3.xml><?xml version="1.0" encoding="utf-8"?>
<ds:datastoreItem xmlns:ds="http://schemas.openxmlformats.org/officeDocument/2006/customXml" ds:itemID="{25ADAD1E-CE56-40D3-902F-B842EBA8F9A9}"/>
</file>

<file path=docProps/app.xml><?xml version="1.0" encoding="utf-8"?>
<Properties xmlns="http://schemas.openxmlformats.org/officeDocument/2006/extended-properties" xmlns:vt="http://schemas.openxmlformats.org/officeDocument/2006/docPropsVTypes">
  <TotalTime>11876</TotalTime>
  <Words>279</Words>
  <Application>Microsoft Office PowerPoint</Application>
  <PresentationFormat>Presentación en pantalla (4:3)</PresentationFormat>
  <Paragraphs>29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89</cp:revision>
  <dcterms:created xsi:type="dcterms:W3CDTF">2017-01-26T20:10:20Z</dcterms:created>
  <dcterms:modified xsi:type="dcterms:W3CDTF">2018-02-26T22:32:10Z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