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9" r:id="rId2"/>
    <p:sldId id="264" r:id="rId3"/>
    <p:sldId id="276" r:id="rId4"/>
    <p:sldId id="274" r:id="rId5"/>
    <p:sldId id="265" r:id="rId6"/>
    <p:sldId id="266" r:id="rId7"/>
    <p:sldId id="267" r:id="rId8"/>
    <p:sldId id="268" r:id="rId9"/>
    <p:sldId id="269" r:id="rId10"/>
    <p:sldId id="271" r:id="rId11"/>
    <p:sldId id="272" r:id="rId12"/>
    <p:sldId id="273" r:id="rId13"/>
    <p:sldId id="275" r:id="rId14"/>
    <p:sldId id="278" r:id="rId15"/>
    <p:sldId id="277" r:id="rId16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 varScale="1">
        <p:scale>
          <a:sx n="74" d="100"/>
          <a:sy n="74" d="100"/>
        </p:scale>
        <p:origin x="12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29/12/2020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29/12/2020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credemp@unisimonbolivar.edu.co" TargetMode="External"/><Relationship Id="rId2" Type="http://schemas.openxmlformats.org/officeDocument/2006/relationships/hyperlink" Target="mailto:usb.facturacion@unisimonbolivar.edu.c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reditoempresarialcucuta@unisimonbolivar.edu.c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isimon.edu.co/portal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academico.unisimon.edu.co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891142"/>
            <a:ext cx="741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1974850" y="2486637"/>
            <a:ext cx="5422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INGRESO</a:t>
            </a:r>
            <a:r>
              <a:rPr lang="es-CO" sz="3200" b="1" dirty="0"/>
              <a:t> </a:t>
            </a:r>
            <a:r>
              <a:rPr lang="es-CO" sz="3200" b="1" dirty="0" smtClean="0"/>
              <a:t>A PORTAL CRÉDITO EMPRESARIAL</a:t>
            </a:r>
            <a:endParaRPr lang="es-MX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1860550" y="985798"/>
            <a:ext cx="542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Crédito Empresarial</a:t>
            </a:r>
            <a:endParaRPr lang="es-CO" sz="3200" b="1" dirty="0"/>
          </a:p>
        </p:txBody>
      </p:sp>
      <p:sp>
        <p:nvSpPr>
          <p:cNvPr id="5" name="3 CuadroTexto"/>
          <p:cNvSpPr txBox="1"/>
          <p:nvPr/>
        </p:nvSpPr>
        <p:spPr>
          <a:xfrm>
            <a:off x="522267" y="3242104"/>
            <a:ext cx="80994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 smtClean="0"/>
              <a:t>Esta aplicación le permitirá al estudiante realizar virtualmente el trámite de créditos empresariales ante la Universidad.</a:t>
            </a:r>
          </a:p>
          <a:p>
            <a:pPr algn="ctr"/>
            <a:endParaRPr lang="es-MX" b="1" dirty="0"/>
          </a:p>
          <a:p>
            <a:pPr algn="ctr"/>
            <a:r>
              <a:rPr lang="es-MX" b="1" dirty="0" smtClean="0"/>
              <a:t>El presente instructivo es una guía para el estudiante para que pueda realizar dicho proceso. </a:t>
            </a:r>
          </a:p>
          <a:p>
            <a:pPr algn="ctr"/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97737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1860550" y="985798"/>
            <a:ext cx="542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Crédito Empresarial</a:t>
            </a:r>
            <a:endParaRPr lang="es-CO" sz="3200" b="1" dirty="0"/>
          </a:p>
        </p:txBody>
      </p:sp>
      <p:sp>
        <p:nvSpPr>
          <p:cNvPr id="5" name="3 CuadroTexto"/>
          <p:cNvSpPr txBox="1"/>
          <p:nvPr/>
        </p:nvSpPr>
        <p:spPr>
          <a:xfrm>
            <a:off x="522267" y="1722398"/>
            <a:ext cx="80994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 smtClean="0"/>
              <a:t>Si necesitas mas información o presentas inconvenientes, contáctanos a:</a:t>
            </a:r>
          </a:p>
          <a:p>
            <a:pPr algn="ctr"/>
            <a:endParaRPr lang="es-MX" b="1" dirty="0"/>
          </a:p>
          <a:p>
            <a:pPr algn="ctr"/>
            <a:endParaRPr lang="es-MX" b="1" dirty="0" smtClean="0"/>
          </a:p>
          <a:p>
            <a:pPr algn="ctr"/>
            <a:endParaRPr lang="es-MX" b="1" dirty="0"/>
          </a:p>
          <a:p>
            <a:pPr algn="ctr"/>
            <a:endParaRPr lang="es-MX" b="1" dirty="0" smtClean="0"/>
          </a:p>
          <a:p>
            <a:pPr algn="ctr"/>
            <a:endParaRPr lang="es-MX" b="1" dirty="0" smtClean="0"/>
          </a:p>
          <a:p>
            <a:pPr algn="ctr"/>
            <a:endParaRPr lang="es-MX" b="1" dirty="0" smtClean="0"/>
          </a:p>
          <a:p>
            <a:pPr algn="ctr"/>
            <a:r>
              <a:rPr lang="es-MX" b="1" dirty="0" smtClean="0"/>
              <a:t>BARRANQUILLA</a:t>
            </a:r>
          </a:p>
          <a:p>
            <a:pPr algn="ctr"/>
            <a:endParaRPr lang="es-MX" b="1" dirty="0" smtClean="0"/>
          </a:p>
          <a:p>
            <a:pPr algn="ctr"/>
            <a:endParaRPr lang="es-MX" b="1" dirty="0"/>
          </a:p>
          <a:p>
            <a:pPr algn="ctr"/>
            <a:endParaRPr lang="es-MX" b="1" dirty="0" smtClean="0"/>
          </a:p>
          <a:p>
            <a:pPr algn="ctr"/>
            <a:endParaRPr lang="es-MX" b="1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800301"/>
              </p:ext>
            </p:extLst>
          </p:nvPr>
        </p:nvGraphicFramePr>
        <p:xfrm>
          <a:off x="1107583" y="2234127"/>
          <a:ext cx="709625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9414"/>
                <a:gridCol w="4056845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MX" dirty="0" smtClean="0"/>
                        <a:t>BARRANQUILLA</a:t>
                      </a:r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Correo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>
                          <a:hlinkClick r:id="rId2"/>
                        </a:rPr>
                        <a:t>usb.facturacion@unisimonbolivar.edu.co</a:t>
                      </a:r>
                      <a:endParaRPr lang="es-MX" b="1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Correo solo atención estudiante</a:t>
                      </a:r>
                      <a:r>
                        <a:rPr lang="es-MX" baseline="0" dirty="0" smtClean="0"/>
                        <a:t> </a:t>
                      </a:r>
                      <a:r>
                        <a:rPr lang="es-MX" dirty="0" smtClean="0"/>
                        <a:t>ICETEX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>
                          <a:hlinkClick r:id="rId3"/>
                        </a:rPr>
                        <a:t>credemp@unisimonbolivar.edu.co</a:t>
                      </a:r>
                      <a:endParaRPr lang="es-MX" b="1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Teléfono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/>
                        <a:t>3444333 ext. 105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Celular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/>
                        <a:t>3168750987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25111"/>
              </p:ext>
            </p:extLst>
          </p:nvPr>
        </p:nvGraphicFramePr>
        <p:xfrm>
          <a:off x="1146220" y="4800621"/>
          <a:ext cx="705762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209"/>
                <a:gridCol w="516841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MX" dirty="0" smtClean="0"/>
                        <a:t>CÚCUTA</a:t>
                      </a:r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Correo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s-CO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4"/>
                        </a:rPr>
                        <a:t>creditoempresarialcucuta@unisimonbolivar.edu.co</a:t>
                      </a:r>
                      <a:endParaRPr lang="es-MX" sz="18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Teléfono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/>
                        <a:t>3153196571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Celular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/>
                        <a:t>5827070 ext. 110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82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1860550" y="985798"/>
            <a:ext cx="542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Crédito Empresarial</a:t>
            </a:r>
            <a:endParaRPr lang="es-CO" sz="32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11" y="2444756"/>
            <a:ext cx="7572777" cy="3749983"/>
          </a:xfrm>
          <a:prstGeom prst="rect">
            <a:avLst/>
          </a:prstGeom>
        </p:spPr>
      </p:pic>
      <p:sp>
        <p:nvSpPr>
          <p:cNvPr id="5" name="3 CuadroTexto"/>
          <p:cNvSpPr txBox="1"/>
          <p:nvPr/>
        </p:nvSpPr>
        <p:spPr>
          <a:xfrm>
            <a:off x="522267" y="1722398"/>
            <a:ext cx="809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/>
              <a:t>1. Ingrese a </a:t>
            </a:r>
            <a:r>
              <a:rPr lang="es-CO" dirty="0">
                <a:hlinkClick r:id="rId3"/>
              </a:rPr>
              <a:t>https://</a:t>
            </a:r>
            <a:r>
              <a:rPr lang="es-CO" dirty="0" smtClean="0">
                <a:hlinkClick r:id="rId3"/>
              </a:rPr>
              <a:t>unisimon.edu.co/portales</a:t>
            </a:r>
            <a:r>
              <a:rPr lang="es-CO" dirty="0" smtClean="0"/>
              <a:t> y seleccione la opción </a:t>
            </a:r>
            <a:r>
              <a:rPr lang="es-CO" b="1" dirty="0" smtClean="0"/>
              <a:t>“Crédito Empresarial”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270387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1860550" y="985798"/>
            <a:ext cx="542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Crédito Empresarial</a:t>
            </a:r>
            <a:endParaRPr lang="es-CO" sz="3200" b="1" dirty="0"/>
          </a:p>
        </p:txBody>
      </p:sp>
      <p:sp>
        <p:nvSpPr>
          <p:cNvPr id="5" name="3 CuadroTexto"/>
          <p:cNvSpPr txBox="1"/>
          <p:nvPr/>
        </p:nvSpPr>
        <p:spPr>
          <a:xfrm>
            <a:off x="522267" y="1722398"/>
            <a:ext cx="809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/>
              <a:t>2. Al ejecutar el paso anterior lo llevará al enlace </a:t>
            </a:r>
            <a:r>
              <a:rPr lang="es-CO" dirty="0">
                <a:hlinkClick r:id="rId2"/>
              </a:rPr>
              <a:t>http://academico.unisimon.edu.co/</a:t>
            </a:r>
            <a:endParaRPr lang="es-CO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57" y="2243555"/>
            <a:ext cx="8867489" cy="39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77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1860550" y="985798"/>
            <a:ext cx="542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Inicio Sesión</a:t>
            </a:r>
            <a:endParaRPr lang="es-CO" sz="3200" b="1" dirty="0"/>
          </a:p>
        </p:txBody>
      </p:sp>
      <p:sp>
        <p:nvSpPr>
          <p:cNvPr id="5" name="3 CuadroTexto"/>
          <p:cNvSpPr txBox="1"/>
          <p:nvPr/>
        </p:nvSpPr>
        <p:spPr>
          <a:xfrm>
            <a:off x="522267" y="1580729"/>
            <a:ext cx="80994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3</a:t>
            </a:r>
            <a:r>
              <a:rPr lang="es-MX" dirty="0" smtClean="0"/>
              <a:t>. Para iniciar sesión ingresa tu usuario y contraseña asignado.</a:t>
            </a:r>
          </a:p>
          <a:p>
            <a:pPr algn="just"/>
            <a:endParaRPr lang="es-MX" dirty="0" smtClean="0"/>
          </a:p>
          <a:p>
            <a:pPr algn="just"/>
            <a:r>
              <a:rPr lang="es-MX" b="1" dirty="0" smtClean="0"/>
              <a:t>Nota:</a:t>
            </a:r>
            <a:r>
              <a:rPr lang="es-MX" dirty="0" smtClean="0"/>
              <a:t> En caso que el estudiante sea de Barranquilla y se inscribió por primera vez</a:t>
            </a:r>
            <a:r>
              <a:rPr lang="es-MX" dirty="0"/>
              <a:t> </a:t>
            </a:r>
            <a:r>
              <a:rPr lang="es-MX" dirty="0" smtClean="0"/>
              <a:t>para cursar alguno de nuestros programas, debe seleccionar la opción </a:t>
            </a:r>
            <a:r>
              <a:rPr lang="es-MX" b="1" dirty="0" smtClean="0"/>
              <a:t>“Soy Inscrito por primera vez. (Solo para estudiante Barranquilla)”. </a:t>
            </a:r>
            <a:r>
              <a:rPr lang="es-MX" dirty="0" smtClean="0"/>
              <a:t>Solicitara número de identificación y fecha de expedición.</a:t>
            </a:r>
            <a:endParaRPr lang="es-CO" dirty="0"/>
          </a:p>
        </p:txBody>
      </p:sp>
      <p:sp>
        <p:nvSpPr>
          <p:cNvPr id="7" name="3 CuadroTexto"/>
          <p:cNvSpPr txBox="1"/>
          <p:nvPr/>
        </p:nvSpPr>
        <p:spPr>
          <a:xfrm>
            <a:off x="645289" y="3486188"/>
            <a:ext cx="3205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 smtClean="0"/>
              <a:t>Estudiante con usuario y contraseña asignada</a:t>
            </a:r>
            <a:endParaRPr lang="es-CO" sz="1200" b="1" dirty="0"/>
          </a:p>
        </p:txBody>
      </p:sp>
      <p:sp>
        <p:nvSpPr>
          <p:cNvPr id="9" name="3 CuadroTexto"/>
          <p:cNvSpPr txBox="1"/>
          <p:nvPr/>
        </p:nvSpPr>
        <p:spPr>
          <a:xfrm>
            <a:off x="5628070" y="3483575"/>
            <a:ext cx="3205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 smtClean="0"/>
              <a:t>Estudiante inscrito por primera vez.</a:t>
            </a:r>
            <a:endParaRPr lang="es-CO" sz="12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32" y="3895886"/>
            <a:ext cx="2570408" cy="285847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070" y="3760001"/>
            <a:ext cx="2797070" cy="299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86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24" y="2679583"/>
            <a:ext cx="8409904" cy="4023092"/>
          </a:xfrm>
          <a:prstGeom prst="rect">
            <a:avLst/>
          </a:prstGeom>
        </p:spPr>
      </p:pic>
      <p:sp>
        <p:nvSpPr>
          <p:cNvPr id="6" name="5 CuadroTexto"/>
          <p:cNvSpPr txBox="1"/>
          <p:nvPr/>
        </p:nvSpPr>
        <p:spPr>
          <a:xfrm>
            <a:off x="1860550" y="985798"/>
            <a:ext cx="542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Solicitud Crédito Empresarial</a:t>
            </a:r>
            <a:endParaRPr lang="es-CO" sz="3200" b="1" dirty="0"/>
          </a:p>
        </p:txBody>
      </p:sp>
      <p:sp>
        <p:nvSpPr>
          <p:cNvPr id="5" name="3 CuadroTexto"/>
          <p:cNvSpPr txBox="1"/>
          <p:nvPr/>
        </p:nvSpPr>
        <p:spPr>
          <a:xfrm>
            <a:off x="522267" y="1580729"/>
            <a:ext cx="8099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4. Al ingresar se muestra la siguiente pantalla, el cual al dar clic en el símbolo ubicado en la parte superior izquierda (       ) y posteriormente en el menú que se despliega seleccionar la opción </a:t>
            </a:r>
            <a:r>
              <a:rPr lang="es-MX" b="1" dirty="0" smtClean="0"/>
              <a:t>“Solicitud Crédito Empresarial”.</a:t>
            </a:r>
            <a:endParaRPr lang="es-CO" b="1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682" y="1950927"/>
            <a:ext cx="266700" cy="2095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126" y="2694273"/>
            <a:ext cx="324335" cy="324335"/>
          </a:xfrm>
          <a:prstGeom prst="rect">
            <a:avLst/>
          </a:prstGeom>
        </p:spPr>
      </p:pic>
      <p:cxnSp>
        <p:nvCxnSpPr>
          <p:cNvPr id="17" name="Conector recto de flecha 16"/>
          <p:cNvCxnSpPr/>
          <p:nvPr/>
        </p:nvCxnSpPr>
        <p:spPr>
          <a:xfrm flipV="1">
            <a:off x="711914" y="2855928"/>
            <a:ext cx="25500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Imagen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5843" y="3583003"/>
            <a:ext cx="306813" cy="323858"/>
          </a:xfrm>
          <a:prstGeom prst="rect">
            <a:avLst/>
          </a:prstGeom>
        </p:spPr>
      </p:pic>
      <p:cxnSp>
        <p:nvCxnSpPr>
          <p:cNvPr id="20" name="Conector recto de flecha 19"/>
          <p:cNvCxnSpPr>
            <a:endCxn id="19" idx="1"/>
          </p:cNvCxnSpPr>
          <p:nvPr/>
        </p:nvCxnSpPr>
        <p:spPr>
          <a:xfrm flipV="1">
            <a:off x="1986922" y="3744932"/>
            <a:ext cx="1238921" cy="7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417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1860550" y="985798"/>
            <a:ext cx="542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Solicitud Crédito Empresarial</a:t>
            </a:r>
            <a:endParaRPr lang="es-CO" sz="3200" b="1" dirty="0"/>
          </a:p>
        </p:txBody>
      </p:sp>
      <p:sp>
        <p:nvSpPr>
          <p:cNvPr id="5" name="3 CuadroTexto"/>
          <p:cNvSpPr txBox="1"/>
          <p:nvPr/>
        </p:nvSpPr>
        <p:spPr>
          <a:xfrm>
            <a:off x="522267" y="1580729"/>
            <a:ext cx="809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5</a:t>
            </a:r>
            <a:r>
              <a:rPr lang="es-MX" dirty="0" smtClean="0"/>
              <a:t>. Al seleccionar la opción </a:t>
            </a:r>
            <a:r>
              <a:rPr lang="es-MX" b="1" dirty="0" smtClean="0"/>
              <a:t>“Solicitud Crédito Empresarial”, </a:t>
            </a:r>
            <a:r>
              <a:rPr lang="es-MX" dirty="0" smtClean="0"/>
              <a:t>muestra el formulario para el ingreso de los datos requeridos para solicitar crédito empresarial.</a:t>
            </a:r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0" y="2472741"/>
            <a:ext cx="8525806" cy="375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59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1110112" y="985798"/>
            <a:ext cx="73513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Gestión Solicitud Crédito Empresarial</a:t>
            </a:r>
            <a:endParaRPr lang="es-CO" sz="3200" b="1" dirty="0"/>
          </a:p>
        </p:txBody>
      </p:sp>
      <p:sp>
        <p:nvSpPr>
          <p:cNvPr id="5" name="3 CuadroTexto"/>
          <p:cNvSpPr txBox="1"/>
          <p:nvPr/>
        </p:nvSpPr>
        <p:spPr>
          <a:xfrm>
            <a:off x="522267" y="1542092"/>
            <a:ext cx="80994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      Escoja el programa que cursará</a:t>
            </a:r>
          </a:p>
          <a:p>
            <a:pPr algn="just"/>
            <a:r>
              <a:rPr lang="es-MX" dirty="0" smtClean="0"/>
              <a:t>      La empresa o la línea con quien va hacer el crédito  finalmente la sublínea.</a:t>
            </a:r>
          </a:p>
          <a:p>
            <a:pPr marL="342900" indent="-342900" algn="just">
              <a:buAutoNum type="arabicPeriod"/>
            </a:pPr>
            <a:endParaRPr lang="es-MX" dirty="0" smtClean="0"/>
          </a:p>
          <a:p>
            <a:pPr algn="just"/>
            <a:r>
              <a:rPr lang="es-MX" b="1" dirty="0" smtClean="0"/>
              <a:t>Nota: El sistema cargará por defecto la línea con que viene haciendo crédito históricamente con la universidad.</a:t>
            </a:r>
            <a:endParaRPr lang="es-CO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21" y="3019419"/>
            <a:ext cx="8678115" cy="383340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112" y="3995040"/>
            <a:ext cx="324335" cy="32433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112" y="5365154"/>
            <a:ext cx="306813" cy="32385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02" y="1527592"/>
            <a:ext cx="324335" cy="32433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81" y="1892810"/>
            <a:ext cx="306813" cy="32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72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1085850" y="919123"/>
            <a:ext cx="7067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Gestión Solicitud Crédito Empresarial</a:t>
            </a:r>
            <a:endParaRPr lang="es-CO" sz="3200" b="1" dirty="0"/>
          </a:p>
        </p:txBody>
      </p:sp>
      <p:sp>
        <p:nvSpPr>
          <p:cNvPr id="5" name="3 CuadroTexto"/>
          <p:cNvSpPr txBox="1"/>
          <p:nvPr/>
        </p:nvSpPr>
        <p:spPr>
          <a:xfrm>
            <a:off x="522267" y="1418804"/>
            <a:ext cx="80994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     En esta sección se seleccionan los ítems o programas autorizados por la empresa. Una vez seleccionados dar clic en el botón </a:t>
            </a:r>
            <a:r>
              <a:rPr lang="es-MX" b="1" dirty="0" smtClean="0"/>
              <a:t>“Continuar”.</a:t>
            </a:r>
          </a:p>
          <a:p>
            <a:pPr algn="just"/>
            <a:r>
              <a:rPr lang="es-MX" b="1" dirty="0" smtClean="0"/>
              <a:t>Nota: </a:t>
            </a:r>
            <a:r>
              <a:rPr lang="es-MX" dirty="0"/>
              <a:t>Cada ítem tiene un botón que dice </a:t>
            </a:r>
            <a:r>
              <a:rPr lang="es-MX" b="1" dirty="0" smtClean="0"/>
              <a:t>“Descargar” </a:t>
            </a:r>
            <a:r>
              <a:rPr lang="es-MX" dirty="0" smtClean="0"/>
              <a:t>que permitirá generar los volantes de cada uno. La solicitud será sometida a revisión por departamento de crédito y se enviará notificación en caso de algún inconveniente.</a:t>
            </a:r>
          </a:p>
          <a:p>
            <a:pPr algn="just"/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53" y="2933699"/>
            <a:ext cx="8049295" cy="359832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73" y="5167649"/>
            <a:ext cx="371475" cy="361950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5409126" y="4979697"/>
            <a:ext cx="1159099" cy="77273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/>
          <p:cNvSpPr/>
          <p:nvPr/>
        </p:nvSpPr>
        <p:spPr>
          <a:xfrm>
            <a:off x="938009" y="4968024"/>
            <a:ext cx="386367" cy="77273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/>
          <p:cNvSpPr/>
          <p:nvPr/>
        </p:nvSpPr>
        <p:spPr>
          <a:xfrm>
            <a:off x="7579667" y="6129807"/>
            <a:ext cx="1159099" cy="36421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01" y="1417315"/>
            <a:ext cx="37147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34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904875" y="985798"/>
            <a:ext cx="6962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Gestión Solicitud Crédito Empresarial</a:t>
            </a:r>
            <a:endParaRPr lang="es-CO" sz="3200" b="1" dirty="0"/>
          </a:p>
        </p:txBody>
      </p:sp>
      <p:sp>
        <p:nvSpPr>
          <p:cNvPr id="5" name="3 CuadroTexto"/>
          <p:cNvSpPr txBox="1"/>
          <p:nvPr/>
        </p:nvSpPr>
        <p:spPr>
          <a:xfrm>
            <a:off x="522267" y="1580729"/>
            <a:ext cx="80994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     Al dar clic en el botón </a:t>
            </a:r>
            <a:r>
              <a:rPr lang="es-MX" b="1" dirty="0" smtClean="0"/>
              <a:t>“Continuar”</a:t>
            </a:r>
            <a:r>
              <a:rPr lang="es-MX" dirty="0" smtClean="0"/>
              <a:t> mencionado en numeral anterior, se activa la sección donde se solicitará los documentos requeridos que deben ser cargados por el estudiante. </a:t>
            </a:r>
          </a:p>
          <a:p>
            <a:pPr algn="just"/>
            <a:r>
              <a:rPr lang="es-MX" dirty="0" smtClean="0"/>
              <a:t>Para adjuntar un archivo se da clic en botón </a:t>
            </a:r>
            <a:r>
              <a:rPr lang="es-MX" b="1" dirty="0" smtClean="0"/>
              <a:t>“Seleccionar archivo” </a:t>
            </a:r>
            <a:r>
              <a:rPr lang="es-MX" dirty="0" smtClean="0"/>
              <a:t>abriendo posteriormente una ventana donde se selecciona el documento solicitado y dar clic en </a:t>
            </a:r>
            <a:r>
              <a:rPr lang="es-MX" b="1" dirty="0" smtClean="0"/>
              <a:t>“Abrir”</a:t>
            </a:r>
            <a:r>
              <a:rPr lang="es-MX" dirty="0" smtClean="0"/>
              <a:t>.</a:t>
            </a:r>
          </a:p>
          <a:p>
            <a:pPr algn="just"/>
            <a:endParaRPr lang="es-CO" b="1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24" y="3606082"/>
            <a:ext cx="6680325" cy="197046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279" y="4806458"/>
            <a:ext cx="3232596" cy="187495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67" y="4238890"/>
            <a:ext cx="381000" cy="352425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4584879" y="3915176"/>
            <a:ext cx="2356834" cy="77273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ortar rectángulo de esquina sencilla 11"/>
          <p:cNvSpPr/>
          <p:nvPr/>
        </p:nvSpPr>
        <p:spPr>
          <a:xfrm>
            <a:off x="1860550" y="5576549"/>
            <a:ext cx="1848565" cy="940161"/>
          </a:xfrm>
          <a:prstGeom prst="snip1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2112135" y="5640947"/>
            <a:ext cx="1378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Ventana después de dar clic en el botón “Seleccionar Archivo”</a:t>
            </a:r>
            <a:endParaRPr lang="es-CO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Conector recto de flecha 14"/>
          <p:cNvCxnSpPr>
            <a:stCxn id="12" idx="0"/>
          </p:cNvCxnSpPr>
          <p:nvPr/>
        </p:nvCxnSpPr>
        <p:spPr>
          <a:xfrm flipV="1">
            <a:off x="3709115" y="6027313"/>
            <a:ext cx="1790164" cy="19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91" y="1589888"/>
            <a:ext cx="3810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7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70220" y="971471"/>
            <a:ext cx="657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Gestión Solicitud Crédito Empresarial</a:t>
            </a:r>
            <a:endParaRPr lang="es-CO" sz="3200" b="1" dirty="0"/>
          </a:p>
        </p:txBody>
      </p:sp>
      <p:sp>
        <p:nvSpPr>
          <p:cNvPr id="5" name="3 CuadroTexto"/>
          <p:cNvSpPr txBox="1"/>
          <p:nvPr/>
        </p:nvSpPr>
        <p:spPr>
          <a:xfrm>
            <a:off x="522267" y="1580729"/>
            <a:ext cx="80994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      Una vez cargado todos los documentos chequea donde se confirman que los documentos cargados son copia fiel a los originales.</a:t>
            </a:r>
          </a:p>
          <a:p>
            <a:pPr algn="just"/>
            <a:r>
              <a:rPr lang="es-MX" dirty="0"/>
              <a:t>Dar clic en botón </a:t>
            </a:r>
            <a:r>
              <a:rPr lang="es-MX" b="1" dirty="0"/>
              <a:t>“Registrar</a:t>
            </a:r>
            <a:r>
              <a:rPr lang="es-MX" b="1" dirty="0" smtClean="0"/>
              <a:t>”. </a:t>
            </a:r>
            <a:r>
              <a:rPr lang="es-MX" dirty="0" smtClean="0"/>
              <a:t>Se </a:t>
            </a:r>
            <a:r>
              <a:rPr lang="es-MX" dirty="0"/>
              <a:t>registrará la solicitud y se </a:t>
            </a:r>
            <a:r>
              <a:rPr lang="es-MX" dirty="0" smtClean="0"/>
              <a:t>notificará </a:t>
            </a:r>
            <a:r>
              <a:rPr lang="es-MX" dirty="0"/>
              <a:t>por correo</a:t>
            </a:r>
            <a:r>
              <a:rPr lang="es-MX" dirty="0" smtClean="0"/>
              <a:t>.</a:t>
            </a:r>
          </a:p>
          <a:p>
            <a:pPr algn="just"/>
            <a:endParaRPr lang="es-MX" dirty="0" smtClean="0"/>
          </a:p>
          <a:p>
            <a:pPr algn="just"/>
            <a:r>
              <a:rPr lang="es-MX" b="1" dirty="0" smtClean="0"/>
              <a:t>Nota: </a:t>
            </a:r>
            <a:r>
              <a:rPr lang="es-MX" dirty="0" smtClean="0"/>
              <a:t>Todas las notificaciones de aprobación o rechazo serán notificadas por correo</a:t>
            </a:r>
            <a:r>
              <a:rPr lang="es-MX" dirty="0" smtClean="0"/>
              <a:t>.</a:t>
            </a:r>
          </a:p>
          <a:p>
            <a:pPr algn="just"/>
            <a:r>
              <a:rPr lang="es-MX" dirty="0"/>
              <a:t> </a:t>
            </a:r>
            <a:r>
              <a:rPr lang="es-MX" dirty="0" smtClean="0"/>
              <a:t>           En esta sección encontraras una guía para generar PDF menor a 1 MB.</a:t>
            </a:r>
            <a:endParaRPr lang="es-MX" dirty="0"/>
          </a:p>
          <a:p>
            <a:pPr algn="just"/>
            <a:endParaRPr lang="es-MX" dirty="0"/>
          </a:p>
        </p:txBody>
      </p:sp>
      <p:sp>
        <p:nvSpPr>
          <p:cNvPr id="10" name="CuadroTexto 9"/>
          <p:cNvSpPr txBox="1"/>
          <p:nvPr/>
        </p:nvSpPr>
        <p:spPr>
          <a:xfrm>
            <a:off x="2112135" y="5640947"/>
            <a:ext cx="1378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79" y="4872722"/>
            <a:ext cx="390525" cy="3429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42" y="1588949"/>
            <a:ext cx="390525" cy="342900"/>
          </a:xfrm>
          <a:prstGeom prst="rect">
            <a:avLst/>
          </a:prstGeom>
        </p:spPr>
      </p:pic>
      <p:sp>
        <p:nvSpPr>
          <p:cNvPr id="12" name="Recortar rectángulo de esquina sencilla 11"/>
          <p:cNvSpPr/>
          <p:nvPr/>
        </p:nvSpPr>
        <p:spPr>
          <a:xfrm>
            <a:off x="1860551" y="5628065"/>
            <a:ext cx="3767518" cy="940161"/>
          </a:xfrm>
          <a:prstGeom prst="snip1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/>
          <p:cNvSpPr txBox="1"/>
          <p:nvPr/>
        </p:nvSpPr>
        <p:spPr>
          <a:xfrm>
            <a:off x="2112134" y="5743979"/>
            <a:ext cx="2897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 registrar mostrará un mensaje diciendo que la solicitud fue guardada con </a:t>
            </a:r>
            <a:r>
              <a:rPr lang="es-MX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é</a:t>
            </a:r>
            <a:r>
              <a:rPr lang="es-MX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xito. Como se muestra en la siguiente página.</a:t>
            </a:r>
            <a:endParaRPr lang="es-CO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90" y="3309873"/>
            <a:ext cx="7856114" cy="225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/>
          <p:cNvSpPr txBox="1"/>
          <p:nvPr/>
        </p:nvSpPr>
        <p:spPr>
          <a:xfrm>
            <a:off x="2112135" y="5640947"/>
            <a:ext cx="1378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5 CuadroTexto"/>
          <p:cNvSpPr txBox="1"/>
          <p:nvPr/>
        </p:nvSpPr>
        <p:spPr>
          <a:xfrm>
            <a:off x="870220" y="971471"/>
            <a:ext cx="657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Gestión Solicitud Crédito Empresarial</a:t>
            </a:r>
            <a:endParaRPr lang="es-CO" sz="32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01" y="3346658"/>
            <a:ext cx="7237927" cy="3343829"/>
          </a:xfrm>
          <a:prstGeom prst="rect">
            <a:avLst/>
          </a:prstGeom>
        </p:spPr>
      </p:pic>
      <p:sp>
        <p:nvSpPr>
          <p:cNvPr id="7" name="3 CuadroTexto"/>
          <p:cNvSpPr txBox="1"/>
          <p:nvPr/>
        </p:nvSpPr>
        <p:spPr>
          <a:xfrm>
            <a:off x="522267" y="1580729"/>
            <a:ext cx="80994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    Al registrar la solicitud al final el sistema le indica estado de los documentos y solicitud. </a:t>
            </a:r>
            <a:r>
              <a:rPr lang="es-MX" dirty="0"/>
              <a:t>En el evento en que los documentos requeridos no carguen en su totalidad, deberá presionar el botón azul denominado </a:t>
            </a:r>
            <a:r>
              <a:rPr lang="es-MX" b="1" dirty="0"/>
              <a:t>“VERIFICAR </a:t>
            </a:r>
            <a:r>
              <a:rPr lang="es-MX" b="1" dirty="0" smtClean="0"/>
              <a:t>DOCUMENTO(s)” </a:t>
            </a:r>
            <a:r>
              <a:rPr lang="es-MX" dirty="0"/>
              <a:t>ubicado en la parte inferior </a:t>
            </a:r>
            <a:r>
              <a:rPr lang="es-MX" dirty="0" smtClean="0"/>
              <a:t>de la pantalla. </a:t>
            </a:r>
            <a:r>
              <a:rPr lang="es-MX" dirty="0"/>
              <a:t>Seguidamente, </a:t>
            </a:r>
            <a:r>
              <a:rPr lang="es-MX" dirty="0" smtClean="0"/>
              <a:t>el sistema lo </a:t>
            </a:r>
            <a:r>
              <a:rPr lang="es-MX" dirty="0"/>
              <a:t>direccionará al formulario   de cargue de archivos en el que podrá completar la labor de </a:t>
            </a:r>
            <a:r>
              <a:rPr lang="es-MX" dirty="0" smtClean="0"/>
              <a:t>cargue de </a:t>
            </a:r>
            <a:r>
              <a:rPr lang="es-MX" dirty="0"/>
              <a:t>documentos.</a:t>
            </a:r>
            <a:endParaRPr lang="es-MX" b="1" dirty="0" smtClean="0"/>
          </a:p>
        </p:txBody>
      </p:sp>
    </p:spTree>
    <p:extLst>
      <p:ext uri="{BB962C8B-B14F-4D97-AF65-F5344CB8AC3E}">
        <p14:creationId xmlns:p14="http://schemas.microsoft.com/office/powerpoint/2010/main" val="2488943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/>
          <p:cNvSpPr txBox="1"/>
          <p:nvPr/>
        </p:nvSpPr>
        <p:spPr>
          <a:xfrm>
            <a:off x="2112135" y="5640947"/>
            <a:ext cx="1378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5 CuadroTexto"/>
          <p:cNvSpPr txBox="1"/>
          <p:nvPr/>
        </p:nvSpPr>
        <p:spPr>
          <a:xfrm>
            <a:off x="870220" y="791165"/>
            <a:ext cx="657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Gestión Solicitud Crédito Empresarial</a:t>
            </a:r>
            <a:endParaRPr lang="es-CO" sz="32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17" y="3154623"/>
            <a:ext cx="7287602" cy="3188326"/>
          </a:xfrm>
          <a:prstGeom prst="rect">
            <a:avLst/>
          </a:prstGeom>
        </p:spPr>
      </p:pic>
      <p:sp>
        <p:nvSpPr>
          <p:cNvPr id="6" name="3 CuadroTexto"/>
          <p:cNvSpPr txBox="1"/>
          <p:nvPr/>
        </p:nvSpPr>
        <p:spPr>
          <a:xfrm>
            <a:off x="522267" y="1297391"/>
            <a:ext cx="80994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En el proceso de verificación de documentos le muestra el estado de estos. “No Cargado” son los archivos que no se registraron en el sistema, en caso contrario “Cargado” fueron exitosos. </a:t>
            </a:r>
            <a:endParaRPr lang="es-MX" dirty="0"/>
          </a:p>
          <a:p>
            <a:pPr algn="just"/>
            <a:r>
              <a:rPr lang="es-MX" dirty="0" smtClean="0"/>
              <a:t>Si el estado es  “No Cargado”, selecciona el archivo y dar clic en </a:t>
            </a:r>
            <a:r>
              <a:rPr lang="es-MX" b="1" dirty="0" smtClean="0"/>
              <a:t>Subir,</a:t>
            </a:r>
            <a:r>
              <a:rPr lang="es-MX" dirty="0" smtClean="0"/>
              <a:t> debe cambiar a estado </a:t>
            </a:r>
            <a:r>
              <a:rPr lang="es-MX" b="1" dirty="0" smtClean="0"/>
              <a:t>cargado</a:t>
            </a:r>
            <a:r>
              <a:rPr lang="es-MX" dirty="0" smtClean="0"/>
              <a:t>.</a:t>
            </a:r>
          </a:p>
          <a:p>
            <a:pPr algn="just"/>
            <a:r>
              <a:rPr lang="es-MX" dirty="0" smtClean="0"/>
              <a:t>Si el archivo esta “CARGADO” pero desea actualizar por algún error en el documento, seleccione el archivo y de clic en </a:t>
            </a:r>
            <a:r>
              <a:rPr lang="es-MX" b="1" dirty="0" smtClean="0"/>
              <a:t>Actualizar</a:t>
            </a:r>
            <a:r>
              <a:rPr lang="es-MX" dirty="0" smtClean="0"/>
              <a:t>.</a:t>
            </a:r>
            <a:endParaRPr lang="es-MX" dirty="0" smtClean="0"/>
          </a:p>
        </p:txBody>
      </p:sp>
    </p:spTree>
    <p:extLst>
      <p:ext uri="{BB962C8B-B14F-4D97-AF65-F5344CB8AC3E}">
        <p14:creationId xmlns:p14="http://schemas.microsoft.com/office/powerpoint/2010/main" val="728448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1927225" y="3090823"/>
            <a:ext cx="5422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smtClean="0"/>
              <a:t>GRACIAS</a:t>
            </a:r>
            <a:endParaRPr lang="es-CO" sz="4800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2112135" y="5640947"/>
            <a:ext cx="1378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0480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A654F170-5BD9-4588-B260-B2A7649F6EC5}"/>
</file>

<file path=customXml/itemProps2.xml><?xml version="1.0" encoding="utf-8"?>
<ds:datastoreItem xmlns:ds="http://schemas.openxmlformats.org/officeDocument/2006/customXml" ds:itemID="{BE6E3A29-E09C-480D-8F0C-41ACA40AE651}"/>
</file>

<file path=customXml/itemProps3.xml><?xml version="1.0" encoding="utf-8"?>
<ds:datastoreItem xmlns:ds="http://schemas.openxmlformats.org/officeDocument/2006/customXml" ds:itemID="{D1A42A2F-D857-4CE9-BA4C-65B689C91E6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8112</TotalTime>
  <Words>707</Words>
  <Application>Microsoft Office PowerPoint</Application>
  <PresentationFormat>Presentación en pantalla (4:3)</PresentationFormat>
  <Paragraphs>75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Gerardo Herrera</cp:lastModifiedBy>
  <cp:revision>131</cp:revision>
  <dcterms:created xsi:type="dcterms:W3CDTF">2017-01-26T20:10:20Z</dcterms:created>
  <dcterms:modified xsi:type="dcterms:W3CDTF">2020-12-29T20:28:58Z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