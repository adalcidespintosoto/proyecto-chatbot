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9" r:id="rId2"/>
    <p:sldId id="276" r:id="rId3"/>
    <p:sldId id="277" r:id="rId4"/>
    <p:sldId id="278" r:id="rId5"/>
    <p:sldId id="261" r:id="rId6"/>
    <p:sldId id="262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7681" autoAdjust="0"/>
  </p:normalViewPr>
  <p:slideViewPr>
    <p:cSldViewPr snapToGrid="0" snapToObjects="1" showGuides="1">
      <p:cViewPr varScale="1">
        <p:scale>
          <a:sx n="95" d="100"/>
          <a:sy n="95" d="100"/>
        </p:scale>
        <p:origin x="-85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26/02/2018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</a:t>
            </a:r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ADMINISTRAR EL MÓDULO DE AUTOEVALUACIÓN</a:t>
            </a: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seleccionar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«Portales»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97011" y="2634125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46079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«Portal Profesores y Administrativos»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309996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9507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su </a:t>
            </a:r>
            <a:r>
              <a:rPr lang="es-CO" sz="1600" dirty="0"/>
              <a:t>usuario y contraseña para acceder al sistema y luego presione sobre el botón </a:t>
            </a:r>
            <a:r>
              <a:rPr lang="es-CO" sz="1600" dirty="0" smtClean="0"/>
              <a:t>«Acceder»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39957" y="4333461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774025" y="1590261"/>
            <a:ext cx="801827" cy="3269974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16908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1885696"/>
            <a:ext cx="8513530" cy="421937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deberá seleccionar el módulo </a:t>
            </a:r>
            <a:r>
              <a:rPr lang="es-CO" sz="1600" dirty="0" smtClean="0"/>
              <a:t>“Autoevaluación”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7050310" y="3148394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875703" y="1926220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10 Rectángulo"/>
          <p:cNvSpPr/>
          <p:nvPr/>
        </p:nvSpPr>
        <p:spPr>
          <a:xfrm>
            <a:off x="5820310" y="2086656"/>
            <a:ext cx="1137081" cy="16089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6541475" y="1504790"/>
            <a:ext cx="466156" cy="2152809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82634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517" y="1751010"/>
            <a:ext cx="8397636" cy="47061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127000" y="1166236"/>
            <a:ext cx="8851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En la sección de Eventos se permitirá la visualización, creación, edición y cambio de estado de eventos. Para realizar la búsqueda de un evento, aplicar los filtros necesarios y presionar el botón «Buscar»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865751" y="2819401"/>
            <a:ext cx="5576449" cy="40640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7 Rectángulo"/>
          <p:cNvSpPr/>
          <p:nvPr/>
        </p:nvSpPr>
        <p:spPr>
          <a:xfrm>
            <a:off x="7745465" y="1797688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9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EVENTOS</a:t>
            </a:r>
            <a:endParaRPr lang="es-CO" sz="2200" b="1" dirty="0"/>
          </a:p>
        </p:txBody>
      </p:sp>
      <p:grpSp>
        <p:nvGrpSpPr>
          <p:cNvPr id="17" name="16 Grupo"/>
          <p:cNvGrpSpPr/>
          <p:nvPr/>
        </p:nvGrpSpPr>
        <p:grpSpPr>
          <a:xfrm>
            <a:off x="7505347" y="1751010"/>
            <a:ext cx="546453" cy="12715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014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517" y="1751010"/>
            <a:ext cx="8397636" cy="47061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127000" y="1166236"/>
            <a:ext cx="8851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realizar la creación de un evento, presionar el botón «Nuevo», completar el formulario solicitado y presionar el botón «Guardar»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865751" y="3197087"/>
            <a:ext cx="529580" cy="301486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7 Rectángulo"/>
          <p:cNvSpPr/>
          <p:nvPr/>
        </p:nvSpPr>
        <p:spPr>
          <a:xfrm>
            <a:off x="7732765" y="1806799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9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CREACIÓN DE EVENTOS</a:t>
            </a:r>
            <a:endParaRPr lang="es-CO" sz="2200" b="1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2142154" y="1570383"/>
            <a:ext cx="0" cy="1603384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11 Conector recto de flecha"/>
          <p:cNvCxnSpPr/>
          <p:nvPr/>
        </p:nvCxnSpPr>
        <p:spPr>
          <a:xfrm>
            <a:off x="2435087" y="3341204"/>
            <a:ext cx="1710193" cy="0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56" t="14644" r="29556" b="35746"/>
          <a:stretch/>
        </p:blipFill>
        <p:spPr bwMode="auto">
          <a:xfrm>
            <a:off x="4222416" y="2029422"/>
            <a:ext cx="4027064" cy="3053769"/>
          </a:xfrm>
          <a:prstGeom prst="rect">
            <a:avLst/>
          </a:prstGeom>
          <a:ln w="38100">
            <a:solidFill>
              <a:srgbClr val="F9A713"/>
            </a:solidFill>
            <a:miter lim="800000"/>
            <a:headEnd/>
            <a:tailEnd/>
          </a:ln>
          <a:effectLst>
            <a:outerShdw blurRad="292100" dist="50800" dir="1260000" sx="102000" sy="102000" algn="ctr" rotWithShape="0">
              <a:schemeClr val="tx1">
                <a:lumMod val="65000"/>
                <a:lumOff val="35000"/>
                <a:alpha val="76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902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517" y="1751010"/>
            <a:ext cx="8397636" cy="47061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417696" y="1212013"/>
            <a:ext cx="81937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modificar una acción, realizar la búsqueda del evento a través de los filtros necesarios</a:t>
            </a:r>
            <a:endParaRPr lang="es-CO" sz="1600" dirty="0"/>
          </a:p>
        </p:txBody>
      </p:sp>
      <p:sp>
        <p:nvSpPr>
          <p:cNvPr id="8" name="7 Rectángulo"/>
          <p:cNvSpPr/>
          <p:nvPr/>
        </p:nvSpPr>
        <p:spPr>
          <a:xfrm>
            <a:off x="7745465" y="1806799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9" name="CuadroTexto 1"/>
          <p:cNvSpPr txBox="1"/>
          <p:nvPr/>
        </p:nvSpPr>
        <p:spPr>
          <a:xfrm>
            <a:off x="0" y="769682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 smtClean="0"/>
              <a:t>EDICIÓN, ELIMINACIÓN Y CAMBIOS DE ESTADO DE EVENTOS</a:t>
            </a:r>
            <a:endParaRPr lang="es-CO" sz="2400" b="1" dirty="0"/>
          </a:p>
        </p:txBody>
      </p:sp>
      <p:sp>
        <p:nvSpPr>
          <p:cNvPr id="10" name="9 Rectángulo redondeado"/>
          <p:cNvSpPr/>
          <p:nvPr/>
        </p:nvSpPr>
        <p:spPr>
          <a:xfrm>
            <a:off x="1865751" y="2819401"/>
            <a:ext cx="5576449" cy="40640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1" name="10 Grupo"/>
          <p:cNvGrpSpPr/>
          <p:nvPr/>
        </p:nvGrpSpPr>
        <p:grpSpPr>
          <a:xfrm flipH="1">
            <a:off x="1244584" y="1550567"/>
            <a:ext cx="571472" cy="1481973"/>
            <a:chOff x="5729176" y="1775902"/>
            <a:chExt cx="1191284" cy="1140874"/>
          </a:xfrm>
        </p:grpSpPr>
        <p:cxnSp>
          <p:nvCxnSpPr>
            <p:cNvPr id="13" name="12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" name="13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6" name="5 Grupo"/>
          <p:cNvGrpSpPr/>
          <p:nvPr/>
        </p:nvGrpSpPr>
        <p:grpSpPr>
          <a:xfrm>
            <a:off x="644000" y="5205804"/>
            <a:ext cx="4780722" cy="584775"/>
            <a:chOff x="4363278" y="1200569"/>
            <a:chExt cx="4780722" cy="584775"/>
          </a:xfrm>
        </p:grpSpPr>
        <p:sp>
          <p:nvSpPr>
            <p:cNvPr id="16" name="CuadroTexto 2"/>
            <p:cNvSpPr txBox="1"/>
            <p:nvPr/>
          </p:nvSpPr>
          <p:spPr>
            <a:xfrm>
              <a:off x="4363278" y="1200569"/>
              <a:ext cx="47807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600" dirty="0" smtClean="0"/>
                <a:t>Ubicar el evento y presionar el icono correspondiente: Eliminar          Editar	        Cambiar estado</a:t>
              </a:r>
              <a:endParaRPr lang="es-CO" sz="1600" dirty="0"/>
            </a:p>
          </p:txBody>
        </p:sp>
        <p:pic>
          <p:nvPicPr>
            <p:cNvPr id="4099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387" t="44835" r="78945" b="52471"/>
            <a:stretch/>
          </p:blipFill>
          <p:spPr bwMode="auto">
            <a:xfrm>
              <a:off x="5202671" y="1509740"/>
              <a:ext cx="228726" cy="2071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7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118" t="44409" r="76523" b="51614"/>
            <a:stretch/>
          </p:blipFill>
          <p:spPr bwMode="auto">
            <a:xfrm>
              <a:off x="6117833" y="1468671"/>
              <a:ext cx="323570" cy="305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9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400" t="44409" r="74164" b="51614"/>
            <a:stretch/>
          </p:blipFill>
          <p:spPr bwMode="auto">
            <a:xfrm>
              <a:off x="8000175" y="1479647"/>
              <a:ext cx="334147" cy="3056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21" name="20 Grupo"/>
          <p:cNvGrpSpPr/>
          <p:nvPr/>
        </p:nvGrpSpPr>
        <p:grpSpPr>
          <a:xfrm flipH="1" flipV="1">
            <a:off x="1245854" y="3898709"/>
            <a:ext cx="530009" cy="1293769"/>
            <a:chOff x="5729176" y="1775902"/>
            <a:chExt cx="1191284" cy="1140874"/>
          </a:xfrm>
        </p:grpSpPr>
        <p:cxnSp>
          <p:nvCxnSpPr>
            <p:cNvPr id="22" name="21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3" name="22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4" name="23 Rectángulo redondeado"/>
          <p:cNvSpPr/>
          <p:nvPr/>
        </p:nvSpPr>
        <p:spPr>
          <a:xfrm>
            <a:off x="1775864" y="3757986"/>
            <a:ext cx="786467" cy="321643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01589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516" y="1751010"/>
            <a:ext cx="8397637" cy="47061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10518" y="1212013"/>
            <a:ext cx="8300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Cuando un evento se encuentre en estado «Ponderando», se podrán realizar acciones adicionales, para ello realizar </a:t>
            </a:r>
            <a:r>
              <a:rPr lang="es-CO" sz="1600" dirty="0"/>
              <a:t>la búsqueda del </a:t>
            </a:r>
            <a:r>
              <a:rPr lang="es-CO" sz="1600" dirty="0" smtClean="0"/>
              <a:t>evento</a:t>
            </a:r>
            <a:endParaRPr lang="es-CO" sz="1600" dirty="0"/>
          </a:p>
        </p:txBody>
      </p:sp>
      <p:sp>
        <p:nvSpPr>
          <p:cNvPr id="8" name="7 Rectángulo"/>
          <p:cNvSpPr/>
          <p:nvPr/>
        </p:nvSpPr>
        <p:spPr>
          <a:xfrm>
            <a:off x="7741207" y="1795705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9" name="CuadroTexto 1"/>
          <p:cNvSpPr txBox="1"/>
          <p:nvPr/>
        </p:nvSpPr>
        <p:spPr>
          <a:xfrm>
            <a:off x="0" y="769682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 smtClean="0"/>
              <a:t>PONDERAR FACTORES, LINEAMIENTOS Y AGREGAR PERMISOS</a:t>
            </a:r>
            <a:endParaRPr lang="es-CO" sz="2400" b="1" dirty="0"/>
          </a:p>
        </p:txBody>
      </p:sp>
      <p:sp>
        <p:nvSpPr>
          <p:cNvPr id="10" name="9 Rectángulo redondeado"/>
          <p:cNvSpPr/>
          <p:nvPr/>
        </p:nvSpPr>
        <p:spPr>
          <a:xfrm>
            <a:off x="1865751" y="2819401"/>
            <a:ext cx="5576449" cy="40640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1" name="10 Grupo"/>
          <p:cNvGrpSpPr/>
          <p:nvPr/>
        </p:nvGrpSpPr>
        <p:grpSpPr>
          <a:xfrm flipH="1">
            <a:off x="1244584" y="1550567"/>
            <a:ext cx="571472" cy="1481973"/>
            <a:chOff x="5729176" y="1775902"/>
            <a:chExt cx="1191284" cy="1140874"/>
          </a:xfrm>
        </p:grpSpPr>
        <p:cxnSp>
          <p:nvCxnSpPr>
            <p:cNvPr id="13" name="12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" name="13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6" name="5 Grupo"/>
          <p:cNvGrpSpPr/>
          <p:nvPr/>
        </p:nvGrpSpPr>
        <p:grpSpPr>
          <a:xfrm>
            <a:off x="644000" y="5205804"/>
            <a:ext cx="4780722" cy="1169551"/>
            <a:chOff x="4363278" y="1200569"/>
            <a:chExt cx="4780722" cy="1169551"/>
          </a:xfrm>
        </p:grpSpPr>
        <p:sp>
          <p:nvSpPr>
            <p:cNvPr id="16" name="CuadroTexto 2"/>
            <p:cNvSpPr txBox="1"/>
            <p:nvPr/>
          </p:nvSpPr>
          <p:spPr>
            <a:xfrm>
              <a:off x="4363278" y="1200569"/>
              <a:ext cx="4780722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600" dirty="0" smtClean="0"/>
                <a:t>Ubicar el evento y presionar el icono correspondiente: </a:t>
              </a:r>
            </a:p>
            <a:p>
              <a:r>
                <a:rPr lang="es-CO" sz="1600" dirty="0" smtClean="0"/>
                <a:t>Eliminar          Editar	       Cambiar estado</a:t>
              </a:r>
            </a:p>
            <a:p>
              <a:endParaRPr lang="es-CO" sz="300" dirty="0" smtClean="0"/>
            </a:p>
            <a:p>
              <a:r>
                <a:rPr lang="es-CO" sz="1600" dirty="0" smtClean="0"/>
                <a:t>Ponderar Factores          Lineamientos</a:t>
              </a:r>
            </a:p>
            <a:p>
              <a:endParaRPr lang="es-CO" sz="300" dirty="0" smtClean="0"/>
            </a:p>
            <a:p>
              <a:r>
                <a:rPr lang="es-CO" sz="1600" dirty="0" smtClean="0"/>
                <a:t>Agregar Permisos</a:t>
              </a:r>
              <a:endParaRPr lang="es-CO" sz="1600" dirty="0"/>
            </a:p>
          </p:txBody>
        </p:sp>
        <p:pic>
          <p:nvPicPr>
            <p:cNvPr id="4099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387" t="44835" r="78945" b="52471"/>
            <a:stretch/>
          </p:blipFill>
          <p:spPr bwMode="auto">
            <a:xfrm>
              <a:off x="5202671" y="1509740"/>
              <a:ext cx="228726" cy="2071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7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118" t="44409" r="76523" b="51614"/>
            <a:stretch/>
          </p:blipFill>
          <p:spPr bwMode="auto">
            <a:xfrm>
              <a:off x="6117833" y="1468671"/>
              <a:ext cx="323570" cy="305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9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400" t="44409" r="74164" b="51614"/>
            <a:stretch/>
          </p:blipFill>
          <p:spPr bwMode="auto">
            <a:xfrm>
              <a:off x="7939215" y="1479647"/>
              <a:ext cx="334147" cy="3056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21" name="20 Grupo"/>
          <p:cNvGrpSpPr/>
          <p:nvPr/>
        </p:nvGrpSpPr>
        <p:grpSpPr>
          <a:xfrm flipH="1" flipV="1">
            <a:off x="1245854" y="3898709"/>
            <a:ext cx="530009" cy="1293769"/>
            <a:chOff x="5729176" y="1775902"/>
            <a:chExt cx="1191284" cy="1140874"/>
          </a:xfrm>
        </p:grpSpPr>
        <p:cxnSp>
          <p:nvCxnSpPr>
            <p:cNvPr id="22" name="21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3" name="22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4" name="23 Rectángulo redondeado"/>
          <p:cNvSpPr/>
          <p:nvPr/>
        </p:nvSpPr>
        <p:spPr>
          <a:xfrm>
            <a:off x="1775864" y="3757986"/>
            <a:ext cx="946261" cy="42212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5125" name="Picture 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94" t="44945" r="74722" b="52423"/>
          <a:stretch/>
        </p:blipFill>
        <p:spPr bwMode="auto">
          <a:xfrm>
            <a:off x="2283064" y="5817872"/>
            <a:ext cx="230981" cy="202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" name="Picture 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09" t="44599" r="72563" b="52146"/>
          <a:stretch/>
        </p:blipFill>
        <p:spPr bwMode="auto">
          <a:xfrm>
            <a:off x="3849194" y="5786441"/>
            <a:ext cx="237031" cy="250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01" t="46072" r="71737" b="51705"/>
          <a:stretch/>
        </p:blipFill>
        <p:spPr bwMode="auto">
          <a:xfrm>
            <a:off x="2233754" y="6106478"/>
            <a:ext cx="214312" cy="190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5871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515" y="1751010"/>
            <a:ext cx="8397637" cy="47061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10518" y="1212013"/>
            <a:ext cx="8300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realizar la ponderación de los Factores digite los valores y presione el botón «Guardar». No se pueden ingresar valores en cero (0) y la </a:t>
            </a:r>
            <a:r>
              <a:rPr lang="es-CO" sz="1600" dirty="0"/>
              <a:t>suma de todas las </a:t>
            </a:r>
            <a:r>
              <a:rPr lang="es-CO" sz="1600" dirty="0" smtClean="0"/>
              <a:t>ponderaciones </a:t>
            </a:r>
            <a:r>
              <a:rPr lang="es-CO" sz="1600" dirty="0"/>
              <a:t>debe ser igual a </a:t>
            </a:r>
            <a:r>
              <a:rPr lang="es-CO" sz="1600" dirty="0" smtClean="0"/>
              <a:t>100.</a:t>
            </a:r>
            <a:endParaRPr lang="es-CO" sz="1600" dirty="0"/>
          </a:p>
        </p:txBody>
      </p:sp>
      <p:sp>
        <p:nvSpPr>
          <p:cNvPr id="8" name="7 Rectángulo"/>
          <p:cNvSpPr/>
          <p:nvPr/>
        </p:nvSpPr>
        <p:spPr>
          <a:xfrm>
            <a:off x="7745465" y="1800449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9" name="CuadroTexto 1"/>
          <p:cNvSpPr txBox="1"/>
          <p:nvPr/>
        </p:nvSpPr>
        <p:spPr>
          <a:xfrm>
            <a:off x="0" y="769682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 smtClean="0"/>
              <a:t>PONDERAR FACTORES</a:t>
            </a:r>
            <a:endParaRPr lang="es-CO" sz="2400" b="1" dirty="0"/>
          </a:p>
        </p:txBody>
      </p:sp>
      <p:sp>
        <p:nvSpPr>
          <p:cNvPr id="10" name="9 Rectángulo redondeado"/>
          <p:cNvSpPr/>
          <p:nvPr/>
        </p:nvSpPr>
        <p:spPr>
          <a:xfrm>
            <a:off x="6782637" y="3446585"/>
            <a:ext cx="1637882" cy="2672861"/>
          </a:xfrm>
          <a:prstGeom prst="roundRect">
            <a:avLst>
              <a:gd name="adj" fmla="val 4328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5" name="24 Rectángulo redondeado"/>
          <p:cNvSpPr/>
          <p:nvPr/>
        </p:nvSpPr>
        <p:spPr>
          <a:xfrm>
            <a:off x="4714351" y="5938576"/>
            <a:ext cx="1003161" cy="321547"/>
          </a:xfrm>
          <a:prstGeom prst="roundRect">
            <a:avLst>
              <a:gd name="adj" fmla="val 4328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27" name="26 Grupo"/>
          <p:cNvGrpSpPr/>
          <p:nvPr/>
        </p:nvGrpSpPr>
        <p:grpSpPr>
          <a:xfrm flipH="1">
            <a:off x="6139806" y="1825849"/>
            <a:ext cx="571472" cy="3102709"/>
            <a:chOff x="5729176" y="1775902"/>
            <a:chExt cx="1191284" cy="1140874"/>
          </a:xfrm>
        </p:grpSpPr>
        <p:cxnSp>
          <p:nvCxnSpPr>
            <p:cNvPr id="28" name="2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9" name="28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30" name="29 Grupo"/>
          <p:cNvGrpSpPr/>
          <p:nvPr/>
        </p:nvGrpSpPr>
        <p:grpSpPr>
          <a:xfrm flipH="1">
            <a:off x="4142879" y="1825850"/>
            <a:ext cx="571472" cy="4273500"/>
            <a:chOff x="5729176" y="1775902"/>
            <a:chExt cx="1191284" cy="1140874"/>
          </a:xfrm>
        </p:grpSpPr>
        <p:cxnSp>
          <p:nvCxnSpPr>
            <p:cNvPr id="31" name="30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2" name="31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38327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514" y="1751009"/>
            <a:ext cx="8397637" cy="47061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10518" y="1212013"/>
            <a:ext cx="8300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En la edición de lineamientos del evento, solo se podrán eliminar los «Aspectos», para ello seleccione el icono «      » correspondiente a cada aspecto</a:t>
            </a:r>
            <a:endParaRPr lang="es-CO" sz="1600" dirty="0"/>
          </a:p>
        </p:txBody>
      </p:sp>
      <p:sp>
        <p:nvSpPr>
          <p:cNvPr id="8" name="7 Rectángulo"/>
          <p:cNvSpPr/>
          <p:nvPr/>
        </p:nvSpPr>
        <p:spPr>
          <a:xfrm>
            <a:off x="7745465" y="1806799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9" name="CuadroTexto 1"/>
          <p:cNvSpPr txBox="1"/>
          <p:nvPr/>
        </p:nvSpPr>
        <p:spPr>
          <a:xfrm>
            <a:off x="0" y="769682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 smtClean="0"/>
              <a:t>LINEAMIENTOS DEL EVENTO</a:t>
            </a:r>
            <a:endParaRPr lang="es-CO" sz="2400" b="1" dirty="0"/>
          </a:p>
        </p:txBody>
      </p:sp>
      <p:sp>
        <p:nvSpPr>
          <p:cNvPr id="10" name="9 Rectángulo redondeado"/>
          <p:cNvSpPr/>
          <p:nvPr/>
        </p:nvSpPr>
        <p:spPr>
          <a:xfrm>
            <a:off x="5237098" y="3265715"/>
            <a:ext cx="189013" cy="2331217"/>
          </a:xfrm>
          <a:prstGeom prst="roundRect">
            <a:avLst>
              <a:gd name="adj" fmla="val 4328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27" name="26 Grupo"/>
          <p:cNvGrpSpPr/>
          <p:nvPr/>
        </p:nvGrpSpPr>
        <p:grpSpPr>
          <a:xfrm flipH="1">
            <a:off x="3887620" y="1786741"/>
            <a:ext cx="1319334" cy="2383326"/>
            <a:chOff x="5729176" y="1775902"/>
            <a:chExt cx="1191284" cy="1140874"/>
          </a:xfrm>
        </p:grpSpPr>
        <p:cxnSp>
          <p:nvCxnSpPr>
            <p:cNvPr id="28" name="2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9" name="28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908" t="39920" r="39048" b="56956"/>
          <a:stretch/>
        </p:blipFill>
        <p:spPr bwMode="auto">
          <a:xfrm>
            <a:off x="3790600" y="1504400"/>
            <a:ext cx="280423" cy="267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851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513" y="1751010"/>
            <a:ext cx="8397637" cy="47061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165100" y="1212013"/>
            <a:ext cx="8648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dirty="0"/>
              <a:t>Módulo para agregar permisos a profesores, estudiantes e invitados sobre un evento</a:t>
            </a:r>
            <a:r>
              <a:rPr lang="es-CO" sz="1400" dirty="0" smtClean="0"/>
              <a:t>. Para realizar la búsqueda digite la identificación o los nombres y apellido del usuario, y presione la opción deseada del listado.</a:t>
            </a:r>
            <a:endParaRPr lang="es-CO" sz="1400" dirty="0"/>
          </a:p>
        </p:txBody>
      </p:sp>
      <p:sp>
        <p:nvSpPr>
          <p:cNvPr id="8" name="7 Rectángulo"/>
          <p:cNvSpPr/>
          <p:nvPr/>
        </p:nvSpPr>
        <p:spPr>
          <a:xfrm>
            <a:off x="7745465" y="1806799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9" name="CuadroTexto 1"/>
          <p:cNvSpPr txBox="1"/>
          <p:nvPr/>
        </p:nvSpPr>
        <p:spPr>
          <a:xfrm>
            <a:off x="0" y="769682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 smtClean="0"/>
              <a:t>AGREGAR PERMISOS</a:t>
            </a:r>
            <a:endParaRPr lang="es-CO" sz="2400" b="1" dirty="0"/>
          </a:p>
        </p:txBody>
      </p:sp>
      <p:sp>
        <p:nvSpPr>
          <p:cNvPr id="10" name="9 Rectángulo redondeado"/>
          <p:cNvSpPr/>
          <p:nvPr/>
        </p:nvSpPr>
        <p:spPr>
          <a:xfrm>
            <a:off x="1892300" y="3048001"/>
            <a:ext cx="5334000" cy="444499"/>
          </a:xfrm>
          <a:prstGeom prst="roundRect">
            <a:avLst>
              <a:gd name="adj" fmla="val 4328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28" name="27 Conector recto de flecha"/>
          <p:cNvCxnSpPr/>
          <p:nvPr/>
        </p:nvCxnSpPr>
        <p:spPr>
          <a:xfrm>
            <a:off x="4634143" y="1786741"/>
            <a:ext cx="0" cy="1191663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4401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73" y="2029516"/>
            <a:ext cx="7917039" cy="443684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165099" y="1212013"/>
            <a:ext cx="881451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dirty="0" smtClean="0"/>
              <a:t>Para acceder al Módulo seleccionar en el menú ubicado a la izquierda la opción «Configuración», esta sección permite modificar los lineamientos que </a:t>
            </a:r>
            <a:r>
              <a:rPr lang="es-CO" sz="1400" dirty="0"/>
              <a:t>serán aplicados a los nuevos eventos</a:t>
            </a:r>
            <a:r>
              <a:rPr lang="es-CO" sz="1400" dirty="0" smtClean="0"/>
              <a:t>. Se </a:t>
            </a:r>
            <a:r>
              <a:rPr lang="es-CO" sz="1400" dirty="0"/>
              <a:t>permite agregar factores, características a estos factores y por último aspectos a cada </a:t>
            </a:r>
            <a:r>
              <a:rPr lang="es-CO" sz="1400" dirty="0" smtClean="0"/>
              <a:t>característica, presionando los iconos «    » o «    »</a:t>
            </a:r>
            <a:endParaRPr lang="es-CO" sz="1400" dirty="0"/>
          </a:p>
        </p:txBody>
      </p:sp>
      <p:sp>
        <p:nvSpPr>
          <p:cNvPr id="8" name="7 Rectángulo"/>
          <p:cNvSpPr/>
          <p:nvPr/>
        </p:nvSpPr>
        <p:spPr>
          <a:xfrm>
            <a:off x="7655292" y="2080251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9" name="CuadroTexto 1"/>
          <p:cNvSpPr txBox="1"/>
          <p:nvPr/>
        </p:nvSpPr>
        <p:spPr>
          <a:xfrm>
            <a:off x="0" y="769682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 smtClean="0"/>
              <a:t>CONFIGURACIÓN</a:t>
            </a:r>
            <a:endParaRPr lang="es-CO" sz="2400" b="1" dirty="0"/>
          </a:p>
        </p:txBody>
      </p:sp>
      <p:sp>
        <p:nvSpPr>
          <p:cNvPr id="10" name="9 Rectángulo redondeado"/>
          <p:cNvSpPr/>
          <p:nvPr/>
        </p:nvSpPr>
        <p:spPr>
          <a:xfrm>
            <a:off x="2075380" y="2988678"/>
            <a:ext cx="6390526" cy="3350477"/>
          </a:xfrm>
          <a:prstGeom prst="roundRect">
            <a:avLst>
              <a:gd name="adj" fmla="val 3075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28" name="27 Conector recto de flecha"/>
          <p:cNvCxnSpPr/>
          <p:nvPr/>
        </p:nvCxnSpPr>
        <p:spPr>
          <a:xfrm>
            <a:off x="4788256" y="1994867"/>
            <a:ext cx="0" cy="962989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6880" y="1733496"/>
            <a:ext cx="144000" cy="133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466" y="1762017"/>
            <a:ext cx="142559" cy="6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40997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513" y="1771105"/>
            <a:ext cx="8397636" cy="47061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165099" y="1212013"/>
            <a:ext cx="881451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dirty="0"/>
              <a:t>Para acceder al Módulo seleccionar en el menú ubicado a la izquierda la opción </a:t>
            </a:r>
            <a:r>
              <a:rPr lang="es-CO" sz="1400" dirty="0" smtClean="0"/>
              <a:t>«Lineamientos», </a:t>
            </a:r>
            <a:r>
              <a:rPr lang="es-CO" sz="1400" dirty="0"/>
              <a:t>esta sección permite </a:t>
            </a:r>
            <a:r>
              <a:rPr lang="es-CO" sz="1400" dirty="0" smtClean="0"/>
              <a:t> </a:t>
            </a:r>
            <a:r>
              <a:rPr lang="es-CO" sz="1400" dirty="0"/>
              <a:t>crear y eliminar lineamientos de tipo factor, característica y </a:t>
            </a:r>
            <a:r>
              <a:rPr lang="es-CO" sz="1400" dirty="0" smtClean="0"/>
              <a:t>aspecto, presionando el botones «           » o «       » según corresponda.</a:t>
            </a:r>
            <a:endParaRPr lang="es-CO" sz="1400" dirty="0"/>
          </a:p>
        </p:txBody>
      </p:sp>
      <p:sp>
        <p:nvSpPr>
          <p:cNvPr id="8" name="7 Rectángulo"/>
          <p:cNvSpPr/>
          <p:nvPr/>
        </p:nvSpPr>
        <p:spPr>
          <a:xfrm>
            <a:off x="7744299" y="181570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9" name="CuadroTexto 1"/>
          <p:cNvSpPr txBox="1"/>
          <p:nvPr/>
        </p:nvSpPr>
        <p:spPr>
          <a:xfrm>
            <a:off x="0" y="769682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 smtClean="0"/>
              <a:t>LINEAMIENTOS</a:t>
            </a:r>
            <a:endParaRPr lang="es-CO" sz="2400" b="1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25" t="52265" r="77461" b="44096"/>
          <a:stretch/>
        </p:blipFill>
        <p:spPr bwMode="auto">
          <a:xfrm>
            <a:off x="7967246" y="1465949"/>
            <a:ext cx="240456" cy="226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08" t="37657" r="75363" b="58760"/>
          <a:stretch/>
        </p:blipFill>
        <p:spPr bwMode="auto">
          <a:xfrm>
            <a:off x="7190292" y="1476473"/>
            <a:ext cx="400050" cy="22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61863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513" y="1771105"/>
            <a:ext cx="8397636" cy="47061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70339" y="1212013"/>
            <a:ext cx="890927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300" dirty="0"/>
              <a:t>Para acceder al Módulo seleccionar en el menú ubicado a la izquierda la opción </a:t>
            </a:r>
            <a:r>
              <a:rPr lang="es-CO" sz="1300" dirty="0" smtClean="0"/>
              <a:t>«Invitados»,  este módulo permite administrar los </a:t>
            </a:r>
            <a:r>
              <a:rPr lang="es-CO" sz="1300" dirty="0"/>
              <a:t>invitados para los procesos de </a:t>
            </a:r>
            <a:r>
              <a:rPr lang="es-CO" sz="1300" dirty="0" smtClean="0"/>
              <a:t>ponderación y </a:t>
            </a:r>
            <a:r>
              <a:rPr lang="es-CO" sz="1300" dirty="0"/>
              <a:t>calificación</a:t>
            </a:r>
            <a:r>
              <a:rPr lang="es-CO" sz="1300" dirty="0" smtClean="0"/>
              <a:t>, presionando los botones «            » </a:t>
            </a:r>
            <a:r>
              <a:rPr lang="es-CO" sz="1300" dirty="0"/>
              <a:t>o </a:t>
            </a:r>
            <a:r>
              <a:rPr lang="es-CO" sz="1300" dirty="0" smtClean="0"/>
              <a:t>«        » </a:t>
            </a:r>
            <a:r>
              <a:rPr lang="es-CO" sz="1300" dirty="0"/>
              <a:t>según </a:t>
            </a:r>
            <a:r>
              <a:rPr lang="es-CO" sz="1300" dirty="0" smtClean="0"/>
              <a:t>corresponda.</a:t>
            </a:r>
            <a:endParaRPr lang="es-CO" sz="1300" dirty="0"/>
          </a:p>
        </p:txBody>
      </p:sp>
      <p:sp>
        <p:nvSpPr>
          <p:cNvPr id="8" name="7 Rectángulo"/>
          <p:cNvSpPr/>
          <p:nvPr/>
        </p:nvSpPr>
        <p:spPr>
          <a:xfrm>
            <a:off x="7735676" y="1829051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9" name="CuadroTexto 1"/>
          <p:cNvSpPr txBox="1"/>
          <p:nvPr/>
        </p:nvSpPr>
        <p:spPr>
          <a:xfrm>
            <a:off x="0" y="769682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 smtClean="0"/>
              <a:t>INVITADOS</a:t>
            </a:r>
            <a:endParaRPr lang="es-CO" sz="2400" b="1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87" t="43218" r="78179" b="53282"/>
          <a:stretch/>
        </p:blipFill>
        <p:spPr bwMode="auto">
          <a:xfrm>
            <a:off x="6634310" y="1448186"/>
            <a:ext cx="262613" cy="226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25" t="32051" r="76130" b="64449"/>
          <a:stretch/>
        </p:blipFill>
        <p:spPr bwMode="auto">
          <a:xfrm>
            <a:off x="5850736" y="1448186"/>
            <a:ext cx="419101" cy="226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22592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513" y="1771105"/>
            <a:ext cx="8397636" cy="47061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70339" y="1212013"/>
            <a:ext cx="890927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300" dirty="0" smtClean="0"/>
              <a:t>Módulo que permite visualizar los reportes y gráficas de los resultados de las autoevaluaciones, por tipo de Nivel y Programa. Para generar un reporte aplique los filtros solicitados y presione el botón «Buscar»</a:t>
            </a:r>
            <a:endParaRPr lang="es-CO" sz="1300" dirty="0"/>
          </a:p>
        </p:txBody>
      </p:sp>
      <p:sp>
        <p:nvSpPr>
          <p:cNvPr id="8" name="7 Rectángulo"/>
          <p:cNvSpPr/>
          <p:nvPr/>
        </p:nvSpPr>
        <p:spPr>
          <a:xfrm>
            <a:off x="7735676" y="1829051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9" name="CuadroTexto 1"/>
          <p:cNvSpPr txBox="1"/>
          <p:nvPr/>
        </p:nvSpPr>
        <p:spPr>
          <a:xfrm>
            <a:off x="0" y="769682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 smtClean="0"/>
              <a:t>REPORTES</a:t>
            </a:r>
            <a:endParaRPr lang="es-CO" sz="2400" b="1" dirty="0"/>
          </a:p>
        </p:txBody>
      </p:sp>
      <p:sp>
        <p:nvSpPr>
          <p:cNvPr id="11" name="10 Rectángulo redondeado"/>
          <p:cNvSpPr/>
          <p:nvPr/>
        </p:nvSpPr>
        <p:spPr>
          <a:xfrm>
            <a:off x="1858944" y="2845128"/>
            <a:ext cx="4963888" cy="410538"/>
          </a:xfrm>
          <a:prstGeom prst="roundRect">
            <a:avLst>
              <a:gd name="adj" fmla="val 3075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2" name="11 Conector recto de flecha"/>
          <p:cNvCxnSpPr/>
          <p:nvPr/>
        </p:nvCxnSpPr>
        <p:spPr>
          <a:xfrm>
            <a:off x="4597344" y="1761057"/>
            <a:ext cx="0" cy="10840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0" name="19 Conector recto de flecha"/>
          <p:cNvCxnSpPr/>
          <p:nvPr/>
        </p:nvCxnSpPr>
        <p:spPr>
          <a:xfrm flipH="1" flipV="1">
            <a:off x="2510145" y="3793658"/>
            <a:ext cx="0" cy="1293769"/>
          </a:xfrm>
          <a:prstGeom prst="straightConnector1">
            <a:avLst/>
          </a:prstGeom>
          <a:ln>
            <a:solidFill>
              <a:srgbClr val="36A1B0"/>
            </a:solidFill>
            <a:headEnd type="arrow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2" name="21 Rectángulo redondeado"/>
          <p:cNvSpPr/>
          <p:nvPr/>
        </p:nvSpPr>
        <p:spPr>
          <a:xfrm>
            <a:off x="1889088" y="3536874"/>
            <a:ext cx="1175417" cy="211064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" name="5 Grupo"/>
          <p:cNvGrpSpPr/>
          <p:nvPr/>
        </p:nvGrpSpPr>
        <p:grpSpPr>
          <a:xfrm>
            <a:off x="968107" y="5095276"/>
            <a:ext cx="3372781" cy="1323439"/>
            <a:chOff x="644000" y="5095276"/>
            <a:chExt cx="3372781" cy="1323439"/>
          </a:xfrm>
        </p:grpSpPr>
        <p:sp>
          <p:nvSpPr>
            <p:cNvPr id="15" name="CuadroTexto 2"/>
            <p:cNvSpPr txBox="1"/>
            <p:nvPr/>
          </p:nvSpPr>
          <p:spPr>
            <a:xfrm>
              <a:off x="644000" y="5095276"/>
              <a:ext cx="3372781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600" dirty="0" smtClean="0"/>
                <a:t>Tipos de Gráficas</a:t>
              </a:r>
            </a:p>
            <a:p>
              <a:r>
                <a:rPr lang="es-CO" sz="1600" dirty="0" smtClean="0"/>
                <a:t>Barra		Burbujas	      Radar</a:t>
              </a:r>
            </a:p>
            <a:p>
              <a:r>
                <a:rPr lang="es-CO" sz="1600" dirty="0" smtClean="0"/>
                <a:t>Área		Puntos	      Área Ideal</a:t>
              </a:r>
            </a:p>
            <a:p>
              <a:endParaRPr lang="es-CO" sz="1600" dirty="0" smtClean="0"/>
            </a:p>
            <a:p>
              <a:endParaRPr lang="es-CO" sz="1600" dirty="0"/>
            </a:p>
          </p:txBody>
        </p:sp>
        <p:pic>
          <p:nvPicPr>
            <p:cNvPr id="12291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703" t="53387" r="75162" b="43612"/>
            <a:stretch/>
          </p:blipFill>
          <p:spPr bwMode="auto">
            <a:xfrm>
              <a:off x="2400577" y="5414787"/>
              <a:ext cx="228662" cy="200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4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296" t="53172" r="72459" b="43529"/>
            <a:stretch/>
          </p:blipFill>
          <p:spPr bwMode="auto">
            <a:xfrm>
              <a:off x="3358468" y="5405261"/>
              <a:ext cx="240408" cy="2207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5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299" t="53239" r="64566" b="43622"/>
            <a:stretch/>
          </p:blipFill>
          <p:spPr bwMode="auto">
            <a:xfrm>
              <a:off x="3722642" y="5650100"/>
              <a:ext cx="228664" cy="2100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6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637" t="53245" r="67211" b="43672"/>
            <a:stretch/>
          </p:blipFill>
          <p:spPr bwMode="auto">
            <a:xfrm>
              <a:off x="2279622" y="5653818"/>
              <a:ext cx="230523" cy="206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7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039" t="53312" r="69841" b="43549"/>
            <a:stretch/>
          </p:blipFill>
          <p:spPr bwMode="auto">
            <a:xfrm>
              <a:off x="1207738" y="5677645"/>
              <a:ext cx="227044" cy="2100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8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966" t="53238" r="77829" b="43595"/>
            <a:stretch/>
          </p:blipFill>
          <p:spPr bwMode="auto">
            <a:xfrm>
              <a:off x="1210133" y="5403633"/>
              <a:ext cx="236099" cy="2119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82151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DD6603E0-1F23-4415-91DB-C57DCBB6331C}"/>
</file>

<file path=customXml/itemProps2.xml><?xml version="1.0" encoding="utf-8"?>
<ds:datastoreItem xmlns:ds="http://schemas.openxmlformats.org/officeDocument/2006/customXml" ds:itemID="{EE185DEF-27BF-47AB-85C5-202921641A38}"/>
</file>

<file path=customXml/itemProps3.xml><?xml version="1.0" encoding="utf-8"?>
<ds:datastoreItem xmlns:ds="http://schemas.openxmlformats.org/officeDocument/2006/customXml" ds:itemID="{F692FEE0-FA4D-4862-98C5-D1B480CEB018}"/>
</file>

<file path=docProps/app.xml><?xml version="1.0" encoding="utf-8"?>
<Properties xmlns="http://schemas.openxmlformats.org/officeDocument/2006/extended-properties" xmlns:vt="http://schemas.openxmlformats.org/officeDocument/2006/docPropsVTypes">
  <TotalTime>1932</TotalTime>
  <Words>516</Words>
  <Application>Microsoft Office PowerPoint</Application>
  <PresentationFormat>Presentación en pantalla (4:3)</PresentationFormat>
  <Paragraphs>41</Paragraphs>
  <Slides>16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7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lastModifiedBy>Andrea Pastori Rojas</cp:lastModifiedBy>
  <cp:revision>54</cp:revision>
  <dcterms:created xsi:type="dcterms:W3CDTF">2017-01-26T20:10:20Z</dcterms:created>
  <dcterms:modified xsi:type="dcterms:W3CDTF">2018-02-26T22:23:51Z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  <property fmtid="{D5CDD505-2E9C-101B-9397-08002B2CF9AE}" pid="3" name="MediaServiceImageTags">
    <vt:lpwstr/>
  </property>
</Properties>
</file>