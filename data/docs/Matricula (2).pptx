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307" r:id="rId7"/>
    <p:sldId id="309" r:id="rId8"/>
    <p:sldId id="260" r:id="rId9"/>
    <p:sldId id="261" r:id="rId10"/>
    <p:sldId id="262" r:id="rId11"/>
    <p:sldId id="270" r:id="rId12"/>
    <p:sldId id="264" r:id="rId13"/>
    <p:sldId id="275" r:id="rId14"/>
    <p:sldId id="278" r:id="rId15"/>
    <p:sldId id="276" r:id="rId16"/>
    <p:sldId id="277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4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-738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 Angelica Barrios Perez" userId="S::rosa.barrios@unisimon.edu.co::61e37d19-e541-46a5-b81f-95b5523b9267" providerId="AD" clId="Web-{AA838744-12D0-4781-803C-CEF549F17A0F}"/>
    <pc:docChg chg="mod">
      <pc:chgData name="Rosa Angelica Barrios Perez" userId="S::rosa.barrios@unisimon.edu.co::61e37d19-e541-46a5-b81f-95b5523b9267" providerId="AD" clId="Web-{AA838744-12D0-4781-803C-CEF549F17A0F}" dt="2024-02-14T20:06:39.711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14/02/2024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MATRÍCULA DE ESTUDIANTES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ACCIONES DEL MÓDULO</a:t>
            </a:r>
          </a:p>
        </p:txBody>
      </p:sp>
    </p:spTree>
    <p:extLst>
      <p:ext uri="{BB962C8B-B14F-4D97-AF65-F5344CB8AC3E}">
        <p14:creationId xmlns:p14="http://schemas.microsoft.com/office/powerpoint/2010/main" val="109934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83467"/>
              </p:ext>
            </p:extLst>
          </p:nvPr>
        </p:nvGraphicFramePr>
        <p:xfrm>
          <a:off x="492369" y="1536031"/>
          <a:ext cx="8169309" cy="48774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3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3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3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256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Nuevo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 registro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Visualizar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 de registro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Editar</a:t>
                      </a:r>
                      <a:r>
                        <a:rPr lang="es-CO" baseline="0" dirty="0"/>
                        <a:t>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aseline="0" dirty="0"/>
                        <a:t>registro</a:t>
                      </a:r>
                      <a:endParaRPr lang="es-CO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19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Modificar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aseline="0" dirty="0"/>
                        <a:t>grupo</a:t>
                      </a:r>
                      <a:endParaRPr lang="es-CO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Anular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matrícula</a:t>
                      </a:r>
                      <a:endParaRPr lang="es-CO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Visualizar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horario</a:t>
                      </a:r>
                      <a:endParaRPr kumimoji="0" lang="es-CO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Consulta de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calificaciones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Imprimir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Reportes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Homologación</a:t>
                      </a:r>
                      <a:r>
                        <a:rPr lang="es-CO" sz="1800" baseline="0" dirty="0"/>
                        <a:t> de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aseline="0" dirty="0"/>
                        <a:t>transferencias</a:t>
                      </a:r>
                      <a:endParaRPr lang="es-CO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/>
                        <a:t>Aprobar o reprobar asignatura</a:t>
                      </a:r>
                      <a:endParaRPr lang="es-CO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Editar</a:t>
                      </a:r>
                      <a:r>
                        <a:rPr lang="es-CO" baseline="0" dirty="0"/>
                        <a:t>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aseline="0" dirty="0"/>
                        <a:t>calificaciones</a:t>
                      </a:r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uadroTexto 2"/>
          <p:cNvSpPr txBox="1"/>
          <p:nvPr/>
        </p:nvSpPr>
        <p:spPr>
          <a:xfrm>
            <a:off x="0" y="79371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Descripción de las acciones generales del módulo «Matrícula», estas opciones se encuentran en una o más secciones del sistema</a:t>
            </a:r>
          </a:p>
        </p:txBody>
      </p:sp>
      <p:sp>
        <p:nvSpPr>
          <p:cNvPr id="3" name="AutoShape 5" descr="data:image/png;base64,iVBORw0KGgoAAAANSUhEUgAAAE8AAABrCAYAAAA2Cd+mAAAI6klEQVR4Xu2df2hb1xXHvzVCC+FlpC5hMk7kddMgqKVEYVTFi0ewGorSP15Kp4QgMyIxZq2b9I89iuU/4jKsUWozkEYnZUMum41JtJI8RirKpiyjJkRlRGE0wlsVusgLUQlRQ/cIjSjeeIqdyk9P8nv33SfJ8n3/6v46n3vuPefee+7VEw8fPvwf2EdE4AkGj4hbNRODR86OwdPBjsFj8PQQ0JG3PXNeRYRYWW+1GRxn1iFC+7K2BF7lfhG5bBqZf2aRvVuEqCAvt9MGx143hgadGHraAnNP+6CordlQeOLNS5i/GEXqrhKuJk002cG/EMCIy45ek1pRWp/OGHhiHqlkGHGt0OTymxzw8xPwHuhtPRkVNVKHJy4vYGJxDvlVFbWrSmKGzX4avzzhRG+HDWWq8EpXZzFxMY2iKijaEpn7gkj4eVh3aMtnZGpq8NSB42Dtd2FojxUD37FCGoyVcgE3Vm4g++8PUag8NsGKMpv7xjAXcMPSIRpIB96KgOCZGPKNutnkgOfIKEaet4FrYgDElSwEYRbzn5bRCKP12SgSJ+zoBOdGP7zVAhbeDCD5QInc2nzlcWqyms3nTQs8niQCz7Ufn254xXQIvitKOmeG83ASEZeFbNq5n0X0N5MQlDplpw+J172wtXn46oNXySE6/XMIdZbVDKcrichhQnDruD9NI/z2LLIKlnvIfQFTgxxZx1DKpQte6f0QvEv1WkdzYq9ci4E/L9TPgTt8SEx6YaMEgqQYHfBKEGZHEL0vr9aO0I+j4PeRNEcpj4hM/Bgit+W/WeA/NQ/vt2nVo70ccnh30whHZ5GV19kfhhAYBs0BVbkeA/9uvfbZBpNIuK3apaaUgxzePxJwpVJ1zeBfeQ+hg5Qt4Woe8TdCSMnnvr4wUq8NV/3FdnzE8MqXJ+HJyPXOgfGfvQX3N2iLUkH2D0cR/pes3B4vYm/4YKddncryiOHlz76I4EfyWjyI/WLUEGEKwghG/16SVWhcfWr4bRl4yprO4KnpZBTTAfiuFLpD85SFGcbU62EM0TS1a7hyiy9ivM6l3KKaJ16NgL94SaYJZnhOvocA9Rm8COEtP6Kfy6rbM4ZUyL31rC1WBIyeiUE+kCwH41h4hbLff0dA8O36XRvzgSjSr1LvKVXTiJSI2GCgke/Vw2NmMggHRVevcH4Eo9fklhYwxKdUjU4PPACNhLIPJhGj5fk3WskY0EkauFWTkmuelLvBcAKs8J9K6l93rpaQjvsxc6d+a9SQ6UEjPX3wIOKD3x3H1C2FfV/TIYQDU3CRrjZWReRSIYx/pHQi4sR4aBruPRqlpZxcJzwA0p7brxU2CKSGmg4h9MNx8E9r9F2+LCHz+zAinygfJVm/G8ccT9koEYDVDw9A6fIkfJlsg3MHDo6DpzH+sgMWFUakfH0BEWEOuS8bSNMhu8j657zH8lWQPxtAUHGIrSfiYB/w4tghJxx7e8Ht4GA2AZUHIsR7ReTyGWQ+TCPb9AStFy7XDAKDVvSq6AgCZdKUhYrmVWtsMrlrapGqxBwcz0cw9bIdXBvPMejBWwP4wTthTDWYq1RxUUpkssFmKqDwxcYfuf4xJH7khqVN8Sx04VVlq6B4OYbpv6ZRoBBywfUHMTvixr3zCvt5AMycF5Gf+uDQaJOIO7ImowHw1koXC0j/cQbRm4WGB9jNBDBzw/C/FIBnLcinkk/At5hC/TpjzaqfCoMfaO1EaBy8dTKfF5H92zzmry8hv0k4BXp6Yd/nxtFBHm67fHN9E6PUY4OHjyBwsHWb8sbDq1GvyoMySsVbuFcuInen/OgXbgCOPgue2muFZTfXPKhxU6PEYehQFOGXrC0Jx2gpPBrzDL7II/6rEFKK4R1SDa0LSdt68CQ+TSIJHnuV/UHEThkbkrY14Uk2PZ/A6GKqeSzgTh6RnwTh3E1F5+sK2bLwJEnK12IYOy80B9jjRMh/2hBLvKXhSQCbr6vXlcUKz8k4Ana6rsyWhyc55ZuvqwFIgUETdMPSugCe2nU1/cCg7oAnjc5NXRjAc/IvVE/2ugfepi4M/TPl7oJXdWHmEDy7INuUoBSpKnNWug5eVb5yHuk/n8OFYgnY5cCxwx6499Nf83YnPGN84u5yklvEqGE1TPN09ACD10544koeH3/2kKwJ5qcw8K0GJ2GVEgrLd/BfspKxa88zsPXRXY7Jm0KueaslZM4EELmt8SKyvAU9Toy/Nr0hjlnZ3dBO0eh7asTwlMNctQtYzbE7iIUxHtX7Qo2ir4iKNoN/9QJCB4zRQGJ4ygHdRBICqInwbBQVRVi003UOkcP0fTypOQweYacweDrAMXgMXnMCbM7ToSEdDo80SrOMdPQ4Zu5KZLattWXwNA+Mr/w8R/Voz6U5PriEzG8DiFajLrat5mnmrpCBwdNBkcGjD2/3MLzf7NNe7mc5LNx6dMuvw62tdtnqczTQvGejyJwguFuWT8C1+OgKP4OntX8YPAD7RjHzAsFllRUB41eXOlfzxCtT4NOPGqj7q31OZDtsSUn3LqhcG5DfUdsW8NbUrVIuovCfeyA5xfjakwOw9fVWbwI9/rYTPN1DVl4Ag6cD6XaBJ36SRvJPAm6QjNkq310YeM6H0JGaO2S18PZPQ+Cf0d4Ty3PgBaFzrS1uLsD3zhyVx1U33J+thde1TvK7RxG83vyBVNUqU/sm1LaAp/iWVA2u2jdPajx+ZaBsY2AjFwav8cDb9NCbwWPwms3bxkUMMM1To3kWOPe7YJO/2f51J45L/ptUxO0lJK9+LCtMRGFZQLZ69X3bGgx2eqbaJVtP+JXBYPB0wGPDVge8BlmZwVBjMBg8pnmaCRgZGcqGLRu2hqwwlF/MJtB9KUvtlpS4hMibU8gQFiXP5jxyDpHvd1hAt5rnOdTKv/GNUZXX3tUU3sMjMhGE06B/rCJe20ptr9y6hGT6HHKk13RggeN7fvgHZS/wrJaRuxjHwnKR/AbQky54f+CBw6BnQST5dcFT0/ndnIbB09G7DB6Dp4OAjqxM8xg8HQR0ZGWax+DpIKAj6/8B4qwolDfd778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4" name="AutoShape 10" descr="data:image/png;base64,iVBORw0KGgoAAAANSUhEUgAAAFoAAABUCAYAAAACoiByAAAJkElEQVR4Xu2de1RXVRbHv6BN5itRJ0ypnNQ0xSfTKL41RSQHVFyo+CDjoTOAipQok0xpqSzjIQIqgiSRGa0w8FGjpkZN4SSIYJMPfCGZEoGikk4Bs/Zd8/stf3h/3Ne59/5w7v6HteCcfc75/Dbn7rPP3vdn19DQ0ID/SVlZGaqqqlBXV2f6lfGTEQE7E2iCXF9fDycnJ7Rs2ZKRekONiYAZdFFREZydnQ3IKtmGGXRBQQFcXFxUGsZQa4DWyAYM0P+PoGvu3sYXZ77FvpI85J8vwu17tSivvoa6+no8/lhbOLbvjG4OjpjwvCvcnUfi+Sd74JEWzePBbRMWffVGBaJyErDz2D78WvebaBvr0r4zVk8NxdxhnjYPXHfQ/ywtxPy0FSir+lE04MYN57t6IW7WCrRv1Va2DrU76gq66Mr38EoMAVm0Ugl9cS6ivcNt1rJ1A11dW4MZm5cg7+xxpYy5/i3s7ZEZsAEzXNyY6GOtRDfQGV/nIOi9KO5Bx0pe6N4fuaFJ6NzWgZVKZnp0AX3n3i+YnRKOT099yWwhJqveFRSLqYNfZKqXhTJdQBeXn8GkuEBU3q5msQYLHYvGzkLCrEjY2dkx161EoS6gPy48gFlbw5XM26Iv+dKjerkgcLQP9/OJdh0N0ERo7f6t+HtOomLQBHjJhPlY7u4Ph9btFetTU4EuFh38/hqk5GUpWtfwHoOR6rcGvRyfUaRHq86ag/6tvg5BO6LwXn6u7DUGjJqBGJ8ItP5dK9k6tO6oOWilHseUAWOxw3+d1VPgT7eqkX+hCN+cL0LFrSocv3SKO9bTNvPH7s7c/u3aYxCGPTsIv2+nnRvYrEAPfKoPPglOhJODo4VB0m3c1+dPIOzD9ThR9r1oY3Xu1gtveoViyoAxsLezF91PTsNmA7rVI4/iw4Wx8Og/2mKdtf+5i4iPY7AtL0vW4YdOlPNcvRDjs1zVWEmzAT1t8ARk+K8HATcJhVUDd0Qhu/CgHCOz6CO0JSkdoFmAJqtrfOKj7SLx8PtYlhWtlIG5f8TkAKzxWqyKD94sQFOA/8CyVFD82SRnr1/C5PggReHVxp9Q1w5P4EBYKnp3+QOzD8+kqFmAnjfMEyl+q9HSvoUZwIZ/bEdkdhxzIGunh+G1Sa8w19ssQKe9/BYouG8SpS5iUxTpCL87OJG7OmMpmoMmL2HOttewt/ioqHXQw2//kq1cDMMkpRWX4RYbgCvV10TpkNLIsX0nbvvo27WnlG6CbTUHTTNaumsdko7sFJwcNeBb+OHTx+CxMUiWOydm0H2Lt8Ct3wgxTUW30QV0xjc58H/3dVGTpAfT5+HpHHCTsI7+NZ5Iou/rWDhmpqj5iW2kC2gp8Wg+0OTW0SlQLYmbuQIh4+cwVa8L6Lu/3uNuvnefOCS4GL6Hk9qg3/QKQaTHQsG5SWmgC2iaoNg7w8nOo/BBUAzaPPqYeV2s4tnWQAWN9kHSnFVSOAq21Q00XWN5bgrGt5dKmpwkH2gW8eymBn2oQIu1agO04D+LcAM6eMxPi0DuySNWGxughTmKanHqh3N4KWGR1WwlA7QojOIa7Sv+Ar7bXgWdGhuLAVocQ1GtKOS5p/go5qUufwC2AVoUQmmN+DJL+UBvPJSBVz/aIE25hNYUvaMoHkvRzb2ztghy+7yTl3B3gCR8J0MpR3g5sB6aI3hTi28cAuULKv3rYjHc44Nw6+4dORyb7MMXLWQxiM1ZNF+sOSckyeJSturOTc5ToVQC1sJ3m8NiDJsCTQ/Fqzd/wivpkaBQqEka75nUbmV2HGIOpLNgYKFjwYjpSJ4bZXGbw2IQXUATKEpuoS3gq9JCLtnlfEUZ9zs+4QssUR/3+EBel1AuGNo29oQmY2zvP8lVYbWfZqApW4gecJn5e7C78CBu/nJb9GL49k0pEUCxA/F5OGL7CrVTFTRZbmlFGeIPZSAzP1eR9YW7LcC66WEWqQBUlvHnTX9RpNcEiPL4shbFYVK/kULMZP1dFdD1DfXcdhCZHW9202TN7r5OT3d8Ep8uTcFzjt3Nv6X/Esrr2HJ0l1L18Bvuhc1z31Ct2Ig56HPXL2NR5hvMioDuJ7hm6mJEuAdYWHV59XVMTQrBySunZcO2ltMnWyFPR2agKU7x1t7N3DYhpShTymIowYUuTik58X5RUkZHW8bOwHfw0oAxUqYiuS0T0HTt75e2Al+eK5A8AakdPAeOQ4Z/tMWNC+nYX5LHhVylPGS1gkzzUwz6u6ul8NkSBkrR0kIoD4+S0P86dvYDOXJSqnBpz6ekyRE9h2gxbWWgWeyPUlfZvXM3eA4cj5Uegbz1hOSLL975NiglwZp4D3FD7MwI0Faklci2aEqZ9UtbKTrjSO6CTBVXdP1P1texzeOCqoRuydVIJxCalCzQ5B9Hf5aKVZ8kCOmX/fdnOnVF2EQ/+A6dIrni6qEBfebaRbjFBTAplm/8SZBHsd57GSb2HS673OGhAa1GyizlPif4/g1eg8aLBkxRvJIfzuLYhWKUlJ9FYdm/cb2mUpTnYXrRypCn+6K/03MY+uwA9OvaE53adLCNRHRyn6YlhTBz5UxFmZEeQWjXqk2TW43pDTW7Cw8h9+RhUUCl7l30AYzvMwzzXD0xpvcLzOpaJO/Rl3++iomx/rhYWS51DQ+0JxcrfcFaLiXXWu02HX6OnD7GhUTJT1frMMS3GHIl6QFMp9FxfYYqOp5LBn36xwvw37EKN2prFIGmK6qNsyPxlEMXXj10e0JXVuv3b8O1mkpFY7HoTFsK1bhQManQfx7feJJBs5h0Uzoo/Ln9q2ys3pOMn+/cUHs4yfppa6HaRP+R3hYVYkKKbAo0BYZeTo8EJdXYupB3lDwniqvCFSM2AZrCqmTF4VnRTGLLYhbOog09yN+etpTLpRZ6LZzuoOnhRtVVmw5nqlYqwQJqUzqCx/lyvv/9xaaN2+sKmiBTefGmzzPVZqG6fqG3lOkGmo7xyUc/4LYLli+wUp2olQGaiioClcqid0oWRW8h8Ni4UJX3KimZl5K+HVq3w97QLdwp00JOvKMPaHLhqCor6/hnStZlk335btLzU/rrA7rg8ndcTsaN2ls2CUvJpKzlhuiyR6td7KMEFIu+fNmomoOWWqLMYuFa6+DbPjQHrWbBvNZArY1H4daDy7ZbvLNJc9C2AkPreRigNSJugDZAa0RAo2HMFm184Y26xM2gja9w0gg0DWN8KZl6sM0Wrd4QhmYiYIDWyA4M0AZojQhoNIxh0QZojQhoNMx/AWdOLAMsC+Ps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6" t="36179" r="54892" b="38689"/>
          <a:stretch/>
        </p:blipFill>
        <p:spPr bwMode="auto">
          <a:xfrm>
            <a:off x="1650193" y="1661294"/>
            <a:ext cx="488084" cy="476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t="4434" r="8669" b="48162"/>
          <a:stretch/>
        </p:blipFill>
        <p:spPr bwMode="auto">
          <a:xfrm>
            <a:off x="4347689" y="1657503"/>
            <a:ext cx="486913" cy="47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2" t="44202" r="85008" b="45770"/>
          <a:stretch/>
        </p:blipFill>
        <p:spPr bwMode="auto">
          <a:xfrm>
            <a:off x="7147081" y="1646539"/>
            <a:ext cx="489182" cy="46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" t="54290" r="89959" b="35764"/>
          <a:stretch/>
        </p:blipFill>
        <p:spPr bwMode="auto">
          <a:xfrm>
            <a:off x="1625083" y="2863060"/>
            <a:ext cx="503388" cy="4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5" t="54237" r="85574" b="35795"/>
          <a:stretch/>
        </p:blipFill>
        <p:spPr bwMode="auto">
          <a:xfrm>
            <a:off x="4391766" y="2862053"/>
            <a:ext cx="396240" cy="466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" t="64119" r="89996" b="25509"/>
          <a:stretch/>
        </p:blipFill>
        <p:spPr bwMode="auto">
          <a:xfrm>
            <a:off x="1581474" y="4090479"/>
            <a:ext cx="468771" cy="485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2" t="64150" r="85341" b="25720"/>
          <a:stretch/>
        </p:blipFill>
        <p:spPr bwMode="auto">
          <a:xfrm>
            <a:off x="7147081" y="2893751"/>
            <a:ext cx="457235" cy="473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" t="41291" r="91762" b="48305"/>
          <a:stretch/>
        </p:blipFill>
        <p:spPr bwMode="auto">
          <a:xfrm>
            <a:off x="1710363" y="5312320"/>
            <a:ext cx="331828" cy="486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7" t="41291" r="88487" b="48305"/>
          <a:stretch/>
        </p:blipFill>
        <p:spPr bwMode="auto">
          <a:xfrm>
            <a:off x="4463506" y="5299250"/>
            <a:ext cx="314269" cy="486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2" t="51695" r="89255" b="38385"/>
          <a:stretch/>
        </p:blipFill>
        <p:spPr bwMode="auto">
          <a:xfrm>
            <a:off x="7125557" y="5298880"/>
            <a:ext cx="482817" cy="464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0" t="11151" r="2305" b="14474"/>
          <a:stretch/>
        </p:blipFill>
        <p:spPr bwMode="auto">
          <a:xfrm>
            <a:off x="4328306" y="4090010"/>
            <a:ext cx="523160" cy="456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261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desde su navegador al sitio web de la Universidad: </a:t>
            </a:r>
            <a:r>
              <a:rPr lang="es-CO" sz="1600" dirty="0">
                <a:hlinkClick r:id="rId3"/>
              </a:rPr>
              <a:t>http://www.unisimon.edu.co/</a:t>
            </a:r>
            <a:r>
              <a:rPr lang="es-CO" sz="1600" dirty="0"/>
              <a:t> y seleccione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77761" y="2634125"/>
            <a:ext cx="55242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62375" y="1472666"/>
            <a:ext cx="1795192" cy="133339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25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8426"/>
            <a:ext cx="8423869" cy="4321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3329661" y="3834049"/>
            <a:ext cx="2432042" cy="16425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205587"/>
            <a:ext cx="0" cy="26114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Acceda a la sección «Portal Profesores y Administrativos»</a:t>
            </a:r>
          </a:p>
        </p:txBody>
      </p:sp>
    </p:spTree>
    <p:extLst>
      <p:ext uri="{BB962C8B-B14F-4D97-AF65-F5344CB8AC3E}">
        <p14:creationId xmlns:p14="http://schemas.microsoft.com/office/powerpoint/2010/main" val="46028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4492"/>
            <a:ext cx="8423869" cy="4174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1639957" y="4083204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22150" y="1244915"/>
            <a:ext cx="400913" cy="3365063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6061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</p:txBody>
      </p:sp>
    </p:spTree>
    <p:extLst>
      <p:ext uri="{BB962C8B-B14F-4D97-AF65-F5344CB8AC3E}">
        <p14:creationId xmlns:p14="http://schemas.microsoft.com/office/powerpoint/2010/main" val="365228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ACCESO AL MÓDULO</a:t>
            </a:r>
          </a:p>
        </p:txBody>
      </p:sp>
    </p:spTree>
    <p:extLst>
      <p:ext uri="{BB962C8B-B14F-4D97-AF65-F5344CB8AC3E}">
        <p14:creationId xmlns:p14="http://schemas.microsoft.com/office/powerpoint/2010/main" val="2874235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1071719" y="3128827"/>
            <a:ext cx="865238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1976285" y="1264580"/>
            <a:ext cx="2502664" cy="229303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al módulo «Matrícula»</a:t>
            </a:r>
          </a:p>
        </p:txBody>
      </p:sp>
    </p:spTree>
    <p:extLst>
      <p:ext uri="{BB962C8B-B14F-4D97-AF65-F5344CB8AC3E}">
        <p14:creationId xmlns:p14="http://schemas.microsoft.com/office/powerpoint/2010/main" val="389132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589939" y="2721873"/>
            <a:ext cx="7364359" cy="40912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8" name="7 Conector recto de flecha"/>
          <p:cNvCxnSpPr/>
          <p:nvPr/>
        </p:nvCxnSpPr>
        <p:spPr>
          <a:xfrm>
            <a:off x="4562246" y="1481304"/>
            <a:ext cx="0" cy="125040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Consulte al estudiante seleccionando el filtro de búsqueda de código,   documento,  apellidos, nombres o usuario. Posteriormente presione el botón «Guardar»</a:t>
            </a:r>
          </a:p>
        </p:txBody>
      </p:sp>
    </p:spTree>
    <p:extLst>
      <p:ext uri="{BB962C8B-B14F-4D97-AF65-F5344CB8AC3E}">
        <p14:creationId xmlns:p14="http://schemas.microsoft.com/office/powerpoint/2010/main" val="1663032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DETALLE DEL ESTUDIANTE</a:t>
            </a:r>
          </a:p>
        </p:txBody>
      </p:sp>
    </p:spTree>
    <p:extLst>
      <p:ext uri="{BB962C8B-B14F-4D97-AF65-F5344CB8AC3E}">
        <p14:creationId xmlns:p14="http://schemas.microsoft.com/office/powerpoint/2010/main" val="3956513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2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953723" y="3351121"/>
            <a:ext cx="334303" cy="231226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Presione el icono «      » sobre el registro correspondiente para visualizar el horario del estudiante</a:t>
            </a:r>
          </a:p>
        </p:txBody>
      </p:sp>
      <p:grpSp>
        <p:nvGrpSpPr>
          <p:cNvPr id="9" name="8 Grupo"/>
          <p:cNvGrpSpPr/>
          <p:nvPr/>
        </p:nvGrpSpPr>
        <p:grpSpPr>
          <a:xfrm>
            <a:off x="1366684" y="1491136"/>
            <a:ext cx="3112265" cy="2874386"/>
            <a:chOff x="5729176" y="1775902"/>
            <a:chExt cx="1131436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6" t="43043" r="89540" b="52073"/>
          <a:stretch/>
        </p:blipFill>
        <p:spPr bwMode="auto">
          <a:xfrm>
            <a:off x="2150783" y="927236"/>
            <a:ext cx="241161" cy="30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2710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737411" y="2426889"/>
            <a:ext cx="3785429" cy="35564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el programa correspondiente para visualizar el detalle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3372543" y="1226115"/>
            <a:ext cx="0" cy="118111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857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NUEVA MATRICULA</a:t>
            </a:r>
          </a:p>
        </p:txBody>
      </p:sp>
    </p:spTree>
    <p:extLst>
      <p:ext uri="{BB962C8B-B14F-4D97-AF65-F5344CB8AC3E}">
        <p14:creationId xmlns:p14="http://schemas.microsoft.com/office/powerpoint/2010/main" val="228555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4689978" y="2417057"/>
            <a:ext cx="629273" cy="35564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creación de una matrícula nueva presione el botón «Nuevo»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309519" y="1244915"/>
            <a:ext cx="338857" cy="1349962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1198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3" y="1870736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570262" y="3174140"/>
            <a:ext cx="7895312" cy="130937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Complete la información solicitada en el formulario dependiendo del semestre y tipo de </a:t>
            </a:r>
          </a:p>
          <a:p>
            <a:pPr algn="ctr"/>
            <a:r>
              <a:rPr lang="es-CO" sz="1600" dirty="0"/>
              <a:t>matrícula a realizar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621160" y="1481304"/>
            <a:ext cx="0" cy="166334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4 Rectángulo"/>
          <p:cNvSpPr/>
          <p:nvPr/>
        </p:nvSpPr>
        <p:spPr>
          <a:xfrm>
            <a:off x="5771534" y="3008670"/>
            <a:ext cx="491613" cy="827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12332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736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570262" y="2733368"/>
            <a:ext cx="7895312" cy="2812026"/>
          </a:xfrm>
          <a:prstGeom prst="roundRect">
            <a:avLst>
              <a:gd name="adj" fmla="val 662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749049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Verifique los pagos realizados por el estudiante y las fechas límite. Posteriormente para generar la matrícula presione el botón «Guardar»</a:t>
            </a:r>
          </a:p>
          <a:p>
            <a:pPr algn="ctr"/>
            <a:r>
              <a:rPr lang="es-CO" sz="1600" b="1" dirty="0"/>
              <a:t>Nota:</a:t>
            </a:r>
            <a:r>
              <a:rPr lang="es-CO" sz="1600" dirty="0"/>
              <a:t> si el estudiante tiene un saldo por pagar del valor de la matrícula, podrá generar un volante de pago por el monto restante en el botón «Volante de matrícula» 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621160" y="1816435"/>
            <a:ext cx="0" cy="85794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AutoShape 4" descr="data:image/png;base64,iVBORw0KGgoAAAANSUhEUgAABVYAAAKYCAYAAACYfKNYAAAgAElEQVR4Xuy9ebAl1X3n+Xtb8Wp/te/LK6oAISgKU5Y0omwrkGNwMDHQM+GwNCOEPEiasLojgBi3/miPoN2gkP9QjwOIcNsxFowFaEZ2OGYGOkw0EzLR9giNlkJAgSSWEkXt9aoo6tW+vKUmfpn33Hsyb6733rz3ZN5PBi8e9e5Zfudzfnlu5jd/+TsDn/nMZ64KBwQgAAEIQAACEIAABCAAAQhAAAIQgAAEIAABCGQmMICwmpkVBSEAAQhAAAIQgAAEIAABCEAAAhCAAAQgAAEIeAQQVnEECEAAAhCAAAQgAAEIQAACEIAABCAAAQhAAAI5CSCs5gRGcQhAAAIQgAAEIAABCEAAAhCAAAQgAAEIQAACCKv4AAQgAAEIQAACEIAABCAAAQhAAAIQgAAEIACBnAQQVnMCozgEIAABCEAAAhCAAAQgAAEIQAAC1SPw4YcfyvLly6s3MEYEAQgURgBhtTC0NAwBCEAAAhCAAAQgAAEIQAACEIBAWQggrJZlprATAu4QQFh1Zy6wBAIQgAAEINC3BM6cOSPXXHON98MBAQhAAAIQgAAEekEAYbUX1OkTAuUmgLBa7vnDeghAAAIdI3D06FFZs2ZNx9qjIQhkJXDixAk5cuSI3HTTTTI0NJS1GuUgAAEIQAACEIBARwkgrHYUJ41BoC8IIKz2xTQzSAhAAALpBBBW0xlRohgCH330kSxevBhRtRi8tAoBCEAAAhCAQEYCvRZWr169KvozOzvr/dbD/DZDGBgY8P5Xf+vP4OCg95sDAhDoDQGE1d5wp1cIQAACzhHIK6zqq9v79u2Tc+fOeWPRRP9bt26ti2O/+MUv5OMf/7j32czMjBw8eFAmJiZkenpaRkdHZePGjbJixQrRaMXjx49H8li5cqXMnz/f6yfq0PYvXLjgfb506dKmiNtf//rXcunSpbodpo1Dhw7JvHnzvDpRh2nT/kyFP43oNRGVcXarvZs3b25q9oMPPhAdj/ardZXftddeGyhnl9H/P3/+fFM7hql+oONQpjpGZbpq1SpZv359vU5UG2rfhg0bAvOkdcO2qD+o4Dk+Pu7ZnIWd4TY5OSnDw8OePTYLe3zanpZXv9CbGONDapvpz7R3ww03BERX5aeH+g8HBCAAAQhAAAIQ6BSBXgirRki1xdS84zECKyJrXnKUh0D7BBBW22dICxCAAAQqQSCPsKpC6euvvy7btm2TRYsW1YVTFQKN8PfKK6/I7bff7rFRAfDy5cueyKbCpIqK7733nldfc2rqZ3qEBTPzmQqnKvCFD+1b2/rVr37lCXm33XZbvYi2qTaqkGvs0A/V9rfeessrd8stt0TOnRGN7T6VjwqY5nV1M6awuKd22EKk6UCFZhUN1Watu3//ftmyZUtADLbL6P+r8KtCqH1ofT1UpDx9+rSo6Gg4vf32217kpxEzo9rQcSgTe57U5h07dgTym7766qteuY997GOezWnsVATVeVBmarfyV3uWLVtWF3vt8Zn5UYHdpKBQ2w4cOFC3RefhzTff9ET766+/vo5B+elhi8iVOAkZBAQgAAEIQAACPSXQTWFVhVS9Lg1HpLYLQEVWvd5WkZUDAhAongDCavGM6QECEIBAKQjkEVZV8NJIQzt6UgepgpcRu2xh1RbUDAxtQw8j2pn6YcEsri+7HbVFRU8VAY2oqeNRse/YsWMBYVX/rkKitquCXpQIGtfnO++844mGKqbmFffCwqoKixrZqUKt2bApLKwaITbsQFpXxWEVQ+2cpHpxvnv37rowGcVd27LnRv9/9erVHgcjcBqRVCNZbRuS2NlsjL1qpwrARhS17dFoYrtPU8cI1hpBa+ZBBV61w0QY52VfihMQIyEAAQhAAAIQ6DmBbgireQVVkx7AwDEpANJgFSGwTp3cK/tlk2xdNlLvPupvabbl/bwbfeS1KbL8uUPy6uklctu6YGBER9qmEWcJIKw6OzUYBgEIQKC7BPIIq0bA00jCJUuWRObHDEes6ivra9eu9cpGiZntCqsa2akCpREHVehTAVSjKO2IVY3EVEFSoz1PnTrV9Aq82hEnrOqr8RpVq0JhXnEvLKxqPyZ6N0p4jBNFtZ4RjcOv7+tntmAZ1YbW1Y2iTHSvzpMK0mZcpn0VRTUC2RZWk9j95Cc/kZ07dybmSbXt0fLhKFnt20SyfvKTn6zPg0bB6jwaITkv++6eSfQGAQhAAAIQgEBZCRQtrOo1tP6kHSqmXrlyxfsxKQL0b0ZUnTNnjpcGKktuVb3e7NTmoL0SVtN48TkEekkAYbWX9Ok7E4GDp47I+SsXMpXVQpuWrJO5c+bGlr945aLsP3U4c3vz58yTDUvWZi5PQQiUlUAeYVXHaPJjatSlRhSqyGrnx7SFVS2vYtjJkye9nKxR+UBNGf1tv+JtXgcPcx0bG/MiZo0IquKbphfQ1/uN8KvinG2HllUB0QiSRigMX2zGCav2383r/GG7Nm3aFPmKepSwquPUv6sYrNGY4YhVZWsfN998cz2VQJiTKWeLjtpeuA3lZudNNXxsYfSNN97w0jRoCgYjrKaxC8931Hlgjy+pvPkszFv9TNMcIKyWdZXBbghAAAIQgIDbBIoSVlUU1euYtNf+p6amPDFVHzSnldVX/TVYwbz5lERWBVh9YyuLEJvUTrqwel4Ovfq2THiNrJIbblsv86c+lL37RTZtXS5+nKuWOSVL9DPv/015EVl9g9y2TuTQ3osyOne/7L+4SbZvXS5Sj5S9Eiy/2P9c2z1/+FU5Oro9OZq2HlE6Rz7cu0f2n1Z7Fsum7Vtl+Yhtl/59Sj70DZflI377bx8zdPyxyeG9cnF0VPZ/cMlv47KJWLXbt1i47f5Y1yIBhNUWwVGtewTentgrKm5mEVeHB4dk9aIVsuCaBbEGnrt8To6dOSHTs+lPCk2/N6za2r0B0xMEekQgr7Bqm6kiq25ApVGpJmoxTjhT0VMjPzVq0s6/qe1FCWZZUwGoyKpCqb5ar3XM5lC2HRrNqUKjCrt6qMireU7DeVKTIlaVk/aVV9yLE1bt1/o1J6kRMpMiVpP61lfv9cLZiLamPfN6v50uQRkYPspG0zLoj6YZ0IjW8Kv7Sew6Jayqf/z4xz/2oozD86CCr4rCJo0EOVZ7tFjQLQQgAAEIQKCiBIoQVjXiVEXVqMMInVrm7NmzmcRXux3zur9GsM6dGx9cZOroNWI7uVfThFVb3PSESLlBblt5MV5YnZqSqZGRmuBqhMw1cmnP2yLX3ybra7f1pt81l/ZY4qmW3yOTS4Jiqs2nyd6asLp99KjsubTGe2Vfy+w5NSbbt86VibrgGxZWp2RqakRGahkQbHu8MZpX/yPa15bqLEgRUMmVA2G1ktNarUGpsKrHxKWzqQNbNbpQ1o+tThVWD00ey9yedoqwmoqeAhUgkEdYVWHPRA/aQ4+LSFTR7VOf+lTgNaQo8bJdYVVFRX1qr22rWKpRoEbwM1GsKiyaQ0VNFXjDm1jFCav2a/adElaNoKyv3ZtcoipuJgmrRiS1N+syY1Jx2Yin4TZU0NZ8tGYDLltYNWkOtG+z0Zipr2kWNHdrEjuTesHkQTX2qBhqNtiy7YnKyap1NKJYbdH0COF5MJueqSBvxOMKnHoMAQIQgAAEIAABRwh0WljNI6pqtGo7h14DL1iwwItKTYp2bUdcTRNWRaNT9+yX01Ykqfe32IjV2ohNPS96VIVVE9Hqf24LmacWNwuuds5Xm2GcsOpFxXqRsrWoWq9ScsRqzZJ6pOvizdtFhV7bHrGE1UAuWnKvtuPaztdFWHV+ijBQhdXR4Tly7spFORmTEmDx8DVeGT2yCKt7Pzwgp6cvy9zBYbk42/z0UNvTz027WYVVTTMwczUYCWuiZ+3PhgaGYtMV2OXmDM2RObVx6dhmZmfk4tTFulPMHZkrQ4NDTU5yZfqKXJm5Evh7K2Wz9hc1btN50lij7Lxw5aI35muG5iSmdLAHp+1MXjzt8dFDU0GMzV0ce/KEx+XViWEZVVajnXXMC0f9R6hJEdJxRmh9tXnN4tWZT3KNtg4fZy+d83kNz4kdQ9YO8girJg+mvppu8qWq2Kc7uEdFrKogqYedE1T/pq/gmx3s9fN2hVW1QdMB6EZWmgZADyOs6viMYGgzMa+923lfo4RVs2O9GV8nhVW1R+0wG3ClCataXkVKjbwNM9U2zKZiUeKsCpoqlEZtMqbpALRNTQOgPEx9FX3T2BnR1oioZj41l22UPcpY86ZG+ZAKuMogah5UPNfI6HXr1kWmXMjq75SDAAQgAAEIQAACYQKdFFaziKra/8WLF7289u0eGomqexmYFFdFiKupwqoZhBFK9dX+hIhVMa/Xe0LsYjntKbDdEFbN5lK1VARe/wkRq/qK/zua4MBPG7D4jL+JF8Jqu15bjfoIq9WYx0qPwoh2H3x0WC5MX4kUQlUgvXbpukzikhHKPjz3kVyavhIZubpszjwxaQXyCHwnz38kByeP1UXbDYtW1IUz/ezomRPeGNTWZfOXRs6blvv1R4e9caqwe/Oa6+viqQqIB04dlsMXJmXLolWyauHygPBqGjTpDrScHmllla0RrTctWCZrF6/22tX+jpw+JvvPnZR188Zk45J1kf2ZsWkbOheLajlula8K3nHCtNppRw9rxLGKlsaW68bWpAqP2vdbH+4XnbNl8xbL6UvnvDn92NL1snLhikjGNkctkDQ2m4GWNb6h/3/mykVvnnTM1y3fmCjmhg3Ze2KfN4+3rd6WWZg9evqYHDxzou4b5mGCctYHAWauW80JnEdY1b40svD999/3hDh98h1+rd5+NVyjRfU1dy2jT9JV/NN6KsLZ+U3jhFUVbKMOFeX00ChMI95pxKbmETWCo7HDjuS024raCCoqr2s4h2xcjlVt294sy/QVlwrAfK6i8GuvveYJjVmEVcPUsIxiGiWsmshds3FUVKoEEwlr6qtYHU4hoHaH2Rkmyl/tUb8wIq2WD9tjfEh9Qo+wD0UJq2r/66+/LqtWrUJYrfS3P4ODAAQgAAEIdJ9Ap4RVFTXjIlDtPKdaTh9Op+VTzUpi4cKFTTlX49oeGRnJnXO18dq8yZdqv44vXjTnpdW1iFKN0jw2Kts3iezfc0nWeDlV/ejTPR+M1nKU1tIF6Cvynhg7KWMpEauNPKrZUgGYV/79nKl7ZP/cG+QGebuRUsDrV+1bIqdePSqjXr5VvTBVMdXKnfqO+Dlja+1oCoIkYbXRL6kAsvpvWcshrJZ15vrQbhWV3p08Gjvy39l0ay4qYVHPrpwlpUBcZ8ZObSMsKOpnKvylRcBqlK5JfaCi39YV4/XuVOj7/w7/QtLGq+N79dh7Xr20sqZNLRsWJI3Qe9u6GyOjY41hUeNWG1TA3rxsY+zcRNlpRMcohnZDKpL/8OAeT4Dese7G+kdaP0uuXcMni7j5T/tf89q3y2r/+04e8ARSFVd3rLk+UngOD97mHZ7fNCc2vhEWnY+fPSG/+uiQV/2m5Ztihfuk9vMKq6Ytk+9SoyDTdhzVqEf9UcHNjhBNGzefxxMwTPX1ryybFxTNUoVPjbrIM8fGh1RQ5oAABCAAAQhAAAK9ItApYVVF1ShBM7x5lJbTt3s6dWieVX1gHe47zhYVV/MdNXHSNtnbcKoWAVp/pV9bNZtCGTG1Vmn1Kll1TJo3r1q8STZ5G1atlhWnr8qymhCrLTUiZfNtXlUXU2tdr1q9SiZkib9BlrVp1iqTz9UTU/2tt2TxKlkll2S0afOqxbJps79h1eoVp+Xq0kZqApMK4LZ1bF6Vz6/KXRphtdzz11fW95uwaqIhdZLDIpqKfGliaR5hVfswYmZYpDSbh6VFQSYJykmOGmWnaStNdDR1NYr0pjXX17vRv4fTKETZECWWxtkaV9aIu1HzFNeWHXmqZf6LdR/PJMhq2Thh1f4szCPrQtGqsJq1fcpBAAIQgAAEIAABCEDAZQKdEFb1IbP+hA9bVDX/f/HSRTl3tjndV6uM9I0wjVrVI4u4qukD9GE4BwQg0DoBhNXW2VGzywT6TVhdPLpAzl+56EVD6mFHIRYhrGq+zzeOv+/1ZaIyTWRlFuEvSlhtxU4VKt88+o73antaJKmmifjp0bc9mzW6VZlp3tO4fKlhl+2EsKptGrEzLcLW9P/64V/K5qXr5N0PD3iv9WuqhjTh2tRNElbtcyRNeI86fRFWu7yo0R0EIAABCEAAAhCAgFME2hVW4/KqRomqOnBNBdWJ/KoGoi2s6t+yiKvtbGbl1ORhDAR6RABhtUfg6TY/gX4UVjVH6K8m9no5R/VV85tXbfU2ZmpFsMxCXAU/FTQ1z6q+vq/MVdy1UxHEtRM3P2kCnx2xqgLj0XMnvS6yvlb/1tF3Ijc1y/I6fC+EVRWwVVD9xIab5eCpI/L+mQlvbtNSLSCsZvFgykAAAhCAAAQgAAEIQKB1Au0Kq1EpAOJEVbVSN67SHPOdOjTVVjgVgC2udi4lQKcsph0IlJ8Awmr557BSI9B8nqcunPY2ldJNnmxxrVVhVSMgD5467G2KZAuErudY1ehL3TFeozLfnNhb3yRJmXQ6x6pxIjtP564N273IUY2sHJu7ONXPwhGr5hX5PMLqJ9bcUI9ATdp8KmyMipXKyWxcpZ+rWKniZdLRaWE1S+SpplzQQ3PAXp6+4m28pUcWIVjLZYlYDadzSJ28WoF+i1jVCIHp6WlvoygOCEAAAhCAAAQg0M8E/A2FTovY+TL7EEg7wmpUtGo4p2r437rZ59mzZztGWtMAaJ5VPeIE1ShxlajVjk0BDfUhgZ4Iq7rgcEAgTGB6dlomzn4ol6cvBzYDGh70c75MnD2euHnVb224pQmqtmVESf1Qc5Xqq+LzRubJhakLgR3p7cpm8yotl/cwdmob163YEqiun6n4F/57uI93T7zvvda+auFK7yO11Wy0pPkzNYI1arx2O3adtLKm3lW56m0GpYfarwL39jU3ZEIQNW61IY1h2E7TjtkMysx/lBFqr4qqS+aO1T/WOTfpAdLG/f8efMOrpykH0uyMK2szS2tHfVxFcWVrDmWsUcIqhmZhrb6hG5upLxv/MG2ZzzTieOOS9ZnmzS40MTHh7bTeD4dGE+zevVu2bNnSN2Puh3lljBCAAAQgAIEyEJg59b4vYnqb+2yRpUMRVs98JO/v2S9eqc3bZcuSqEJJo70oR157WyZW3yC3rvGFtvgjT9kWCF84Iq+9MyGrrr9V1ua/vWqhw9arfPTRR7J06dKWGtC8qrZomSSqms+uXLkik5N+6rd2D21z8eLFMmfOnHpTWcVVrZu2CW279lEfAkUT0JzBvTgKFVYRUHsxpeXqU3N4apTqifOTcnrmsiweukbGrlkg80fneVGSQ4ONCwiNiNx7prZDX8QwwyKatr33xH6ZvjrjtW2OVXMWynWrtohGrB6ZPC4TV5qfEGqZtWMrZcE1C3IDNXaqMHjrmhsCY3h34n1ZODrPi0RNOqLKKadffnSwXi1NNNTxvXb81175tLK2LQdOHpL9F/zX8bcuWpVqq6lrxm34mr/rWDYsWeOlMIg6wnZqpOsvjr3nzVm4rXB9M4c6n+bQef/J0V95vrR9bbworBGuuyfe9arduvLa1Lk2wmq4rOG1bnRMtqzYlDivyujUhbNy45pt9XL2vGaxQ3mqz4bnxrQT5XdZnbifIlaPHDkily9flvHx8ax4KAcBCEAAAhCAAAQ6QmDq5Pvy1gF/m/LFG2+SLcuad2bPUibZmPNy5LV3ZWLVdXLr2tqO7TEVvL5OL5KbtiyXvHvEZwJy7oi89t6ErNp2q6zNf3uVqYtOFWo1YlUFTH1wbx9xKQDsv6sYq2JuVBRp3jFpu2NjY56watrLKqxqXyMjIxIWg/PaQHkIuEqgSNG148IqYqqrbuSWXSp+HTl9TA6eOyVr5i2SJfMWy8JrFiTujO4Jd5MJwuqmYMSq9qHC7C+OvudFBGo/Ry+c8V4RHxud572KfWTymExcOt8EZ9XofFk7tjpVbIui6gl7h3/lXygNXyMrFvjRlCqoaXqD7Wu2JY7TCMLz5lwjG5asCwizH5w84DHT47dC47VtUXFSX+s3vG5euTnT6/zahic4HvUFx0+u+1jm3eo1X+gHZ06IRtRuXLrGS72gbR0+c1J2bvh4pAOG7bx1tS9wahTqm8c/8OpsHYsXdz1R9tivvTLL5vtPlg+cOuzNc9KYtV8VIt/56IhX5/qla736tpBvG2zPqZadN2eu9xr/yXMfef6jvjW+bGNsfcP1vRP7ZdHoPC9/rTnsttXvrl0xntjOL4++50Usb1iwRJYvWOpxnrxw2vML9bdtKzbFithpq0A7wuqZM2e8HUU1r1PSoa/f68WjHtdcc40XEZD0dDypXRVG9Sd8zJ8/P7JNbSvpMPVMu0njMW2ZOnpRrBsPRPVtLpiNrTrmJE5hRpqqQFm1ehjbtI2odkxKhHD7USkSWmGj7Sovu/+kNAxhlkls1Ze0LT2UqUZpGH+K8w97nMamOAZpPm36CM97mq+pDco3PLYwp/CcxLHotM+06mvUgwAEIACBbAT0tfu3DogsXHhWzsoGuWlrWNCckg/3viUHZaEs1NfEN94kWyPE1+Tezsuh196VEyuvk1vXpQirU1OeqFbYce6QvPbeCVmx7VZZX1FhVb+j9cc+jEiZJLCq8HnixImOCKvatwqr5novr7iq11BErRZ2FtCwQwQ6LbJ2TFhNElSjTmiHmGJKlwmo2ParE+/L2OgCWb94TWbhTl8RTxJWb4/Ip6l9/Xxir6wYnS9L5y6Wd04dkbmDg3JxdlZ2rNwih89MyIkIYVXLr1u0SuZfk3wREofu/OXzMnHuQ5m8dM7rSw8V39YsXJkqeh32NozyhYIV85bKkvmN19z1b/r5qQuTclPCK/qnzk/KiQu+eGWODYvjo0bD4zhw6pAMDQ7LupTIWlNPOR88fTTWk+JSHyTZqTboa/J6xNmuouSxs8flwwun65yXzBmV9YtWy6K5jdftw4ZF2ZvEx54Tu635c+bJ2OjCTH6ir+mbw55X++/6ubYZxz2Kl9YZHZ4jC+csaPKVvKd2q6kA9PWld955x+tu586dkRdkeqH57rvvegKbEaGMILZ582ZZtmxZk7lp7WrU6cGDjShuuwEVra677rqALT/5yU8SkXz84x/3kv3b7UaNx7bL1NFNB37xi1+I+bfp6OTJk/LBB/5DAhX+jDAWZV8UI309THNvrVmzRjZubAjyeeb2wIEDoqK5cr/pppuaqv7qV7/y5iXqCPfbChttV9lv2LBB1q5d63Vj+rz++uu9GwD7CLOMYqu+895773lsjABs/OljH/uYxzrJP+rrYs2mJAYqrqqd6hvh46233vIE9TCnNF/Tdj75yU96m1XYfqPt6RE1T/p3M5fGL4vymTz+RVkIQAACEMhPYOrU+/LLAyIbNo7KwQOXZMONW2SprWtOfSTv//KgjG7cIJcOHBTZeKNsWRIoIB+9/0s5GHjxboVsvWWteHcv54/IG3tPWIYt9PpYeE77HZWttyyW02/slRPi/33pyJTfnmyQG7csbUStNrVj9SEi/ji0vVq/9R7Py5E39solY3etnRVbb5FG8Gytz7gx5MfakRqtpgIIb1qVFq1qPtd6nUoFoAA0WlUfNJsjrMUkbWSlNhUqsHdkhmgEAtkIqD+nRWB3SmDtiLAaJapG/U1P4k6EuGfDSClXCbx19F05O3tZbli6wTPx9IWzcu7KRe9vuvmPyRupUYW/mvi13LTmOq/c1PSUTM0GX6+wxzhvTnOk3KFTh+XDi2dky7L18v7JQ7JpyRqZOHNShgeHZNOSdXJu6ryoOKfHxSuXZXhwUEaGRzyxd8HIfO//OSDQLwRaFVb379/vbQKl4pyKf2GRVMWft99+28O4bdu2et4n/fuhQ4fk+PHjcvPNN8vo6GgAdVq7KpwdPnxYfvM3fzNQTy9Ota4KYjfccENdXP3Zz34m69atq4t7cfNq2tX6UePRtvWiW8esIp4KbiqQqThn/q1tq6j6/vvve23YuWu1rIqCKghee+21dTNUYFMhVRnZIp7OiwpqKt6tX58/d+4bb7zhiZfK+ZZbbgnk3dLOjSiu4qE5dG70VThloRG2mzb5aS5aYaP1wuy1TxONvH379oAAHmYZxVbrq6iqAqSJrFCb9+7d60Ww3nrrrU3TGzVOUyjuM50PnSv9HW5T/6ZsV65c6d0QKduoI8p+Uy78mfGZqHnSOmYuzXwU5TP9suYxTghAAAK9IjB16gNfWL1xlVz65btyZeONstkSTv3P58h1N47KxC99YbXx+ZR89EFNBN3cEEEvHn1D3j2+WDbcuLkm0l6UI2/4Eau31HKs+u36uV0b5ZRCc5um7Iptt9TyotbKnF4h192yVjTJV93O2r8bPP2+6+O6cETe8CJWQ22pkJs4hu7PUCvCqmocel0YdUQJrPbf9LpFH9J26jDpAPQ6Vo+0qNVwv1ovTYzqlK20A4GiCMSJqnFCarsCa1vCapqgGv4cYbUotylXu68ffUcuzza+eJaMjMrS+WOi/nL28nm5dvlmb0AfnvfzfM4bmSsfnZ+UOcMjntCpGxVdunLJ++zY2ROyedkGuXDlgugmRyqImkP/9uaJfTK+aKUX0bhozjyvH/3bzSvGxRZiD506IocvnJLl18yv918uqq1bqykDlPvZqctyw7JNMjonKG613nJ1ah49fdzbQEwZ3bxqa+Kr+mUetQpvKhLlOVTMev3110WjTlUk0otDFRftQ9vVyFIVT+1k+lpG6+/Zs0dWrFgREA2ztHvs2DFPWL3tttuaTL548aL88pe/9ITU1av9nMavvvpq4N9x4zTtLl++3LtItsVPrfPaa695YqMKjyaSUceu4pwd2WjKGRHM7s/0sWPHDk8YNJGtN954Y30n16jyUXMCnb4AACAASURBVAyT5ksFv1//+tcee7VvyZIlTeKsCod6qKAbPszcmXG1wiaKvYk2Vb5hgTnMMopt3FxqWY3OVQHa7IhrxpQ0zqTPDMNw1Ko+FDh16pQ352+++abnJ+HoW+07yn5jU/izuPNBy4ftKMpn8pz/lIUABCAAgdYIqCD59iGRdTdslrkfvSl7L66TG2yBceJN2Stb5ealF+WDtw+LrL+hIaxOfeT9bfTam2W1HVdS+3uj7EU59uZeObFyq9y8yt/rwO/3rKwI1/WE1bflsBg7muv6Dfh9mz789kZl682rPaG1cfj1Lxm7LxyTN399otFv5jG0xredWq0Iq3ofawurSdGqYdFSr53NWzft2G3X1WurqA2ssoispAPo1CzQTi8JRAmrtngaJaS2I662LKwmiabmM33yohElZnc8olV76Vru9K0Rorpzu75qrmKp2fX9wpWL3ivwY6OL5OTFSbk4MyWLhkflzLQvoppjwfA1cm76sgwPDMrI4JBXTv9/+uqsjI/5r5nqTu2HTk94n48MDMmsXJUVC5bJ0TPHvWhV7WNgcMDrW1+rn7xyQeYOjcj8kVHPLs2hmeXQfvS1f/XtBaMLZEAGslRzpowyn7hwSkYHh2X5vCVE6EbMzNlLZ+XDS2c9/1g+f0ndX52ZxA4acvbsWVm4MD6FQlRXWkfFJY3K1FeZNKJRX/e2XyNSoUu/qOyozTSzs7R7+vRpT2yKEi61fc1XpRe5Gumph0aaqvBlvx4VZYdpV0VmFRZ1bPbrWjpG85mKtprHSnNtquho/q3CrtY1/04br0al6hHHSNcYjVrNYr/dlzLQQ4Vrm6ldJq1v7Vf9QkXZVthEsTd96iv7egOjPI0QGmYZ/re2p4K64WUiMtphnMRAxU8VMcN+rVyUibKxOYftiLLflIn6TPvSayd9KGAf4b+nzVurPpPGkc8hAAEIQKB9AjMXTsqxUyJjq5fJ/JnTcviEyIp1i8UPEbkip/0/yOKh83Ly2KTIktWybF5jU99IC2bCZf12zi1cIesW+S0H+g00NyPnTx6TSRmT1cvmy9AVtemcLFAbGnErTd367Q1btpsift/Txu6M7UnTGNpnnbcFkzM/Tz3VP2x9JClKNSys6hswUXsG5Ok/XFbfArOvxZME1bBGo9fs7QhM7dhNXQh0koARV/VhgZ4TmhZND+PfaeJrHltaElbDoqr5t/mtN9f6it+XvvQl+cM//EPvhokkyHmmhbIQgAAEIAABCEAAAhCAAAQgAAEIQAACEIBAKwQ0yFODXf7mb/5Gvvvd73pvypmHDkZgDT9IaOXBQtvCalhU1X9r9NKf//mfy1133dXK2KkDAQhAAAIQgAAEIAABCEAAAhCAAAQgAAEIQKBtAv/wD/8gf/zHf+y9cRYWVdPSBKR1nltYtaNVTc5U/Zv5fw2d/4M/+AP5xje+kdY3n0MAAhCAAAQgAAEIQAACEIAABCAAAQhAAAIQKJTAN7/5Tfm7v/s7Ly2ASQWgomo4LUDeqNW2hFU7l4j5f82V9vLLL8uGDf6O7xwQgAAEIAABCEAAAhCAAAQgAAEIQAACEIAABHpFQPfc+N3f/V1vI2I7n3A4t3ChwqodrWqnADCiquYv0M0VdHfdrJtJ9Aoo/UIAAhCAAAQgAAEIQAACEIAABCAAAQhAAALVJ6D7QW3btk2WL1/u7QNlBNWofKt5xNVcEathYdUIqmFhVVVgDghAAAIQgAAEIAABCEAAAhCAAAQgAAEIQAACLhDYtGmTLFu2rElYbSdqNbOwmhStqpGq+vn09LQXsXrw4EEXeGEDBCAAAQhAAAIQgAAEIAABCEAAAhCAAAQgAAEvbakKq/qWvYqpduSq4omKXk3D1rKwGhWtalIBHDp0KK1fPocABCAAAQhAAAIQgAAEIAABCEAAAhCAAAQg0BUC69evr0esGlFVf+sGVq1GrbYtrNrRqvr/unnV4cOHuwKETiAAAQhAAAIQgAAEIAABCEAAAhCAAAQgAAEIpBFYt26dt3mViqkatRrOtWrnVs2aZzW3sHr16lXRH41YDYuqmgrg1KlTcuTIkbSx8DkEIAABCEAAAhCAAAQgAAEIQAACEIAABCAAga4QWLt2rSxZsqQuqobFVY1c1R89ChNWTa5VI6rqb/1RUdUIq0ePHu0KEDqBAAQgAAEIQAACEIAABCAAAQhAAAIQgAAEIJBGYM2aNU0Rqxq1aiJXw4JqFnE1U8RqeOMq/bdGrRpR1RZWJycnBWE1bSr5HAIQgAAEIAABCEAAAhCAAAQgAAEIQAACEOgWARVWNWLVTgVgC6sm16qxp1Bh1WxeZURV/T01NeWlApiYmOgWE/qBAAQgAAEIQAACEIAABCAAAQhAAAIQgAAEIJBIYNWqVV7EqkkB0Ik8qy1HrJocq1GpABBW8WQIQAACEIAABCAAAQhAAAIQgAAEIAABCEDAFQIqrGrE6sjISMc2sOqYsKrRqiqyErHqirtgBwQgAAEIQAACEIAABCAAAQhAAAIQgAAEIKAEjLCqr/8bcdVOBaCv/tuv/xeeCsBOA6AbVyGs4qgQgAAEIAABCEAAAhCAAAQgAAEIQAACEICAawRsYVXTAJhUAGbzqp4Lqyqu6uZVpAJwzXWwBwIQgAAEIAABCEAAAhCAAAQgAAEIQAAC/UsAYbV/556RQwACEIAABCAAAQhAAAIQgAAEIAABCEAAAi0SUGF1bGzMi1RN2sDKNN/1VABErLY4s1SDAAQgAAEIQAACEIAABCAAAQhAAAIQgAAECiOAsFoYWhqGAAQgAAEIQAACEIAABCAAAQhAAAIQgAAEqkoAYbWqM+vcuE7K8w/cKY/Jw/LSk/fIMufswyAIQAACEIAABCAAAQhAAAIQgAAEIACBshOYnZ2VU6dOycKFC2XOnDmRw9EyuqfTokWLvFf4Wz36RFjdI4/vvF+ei6P06fbEvpMvPCh3Piry8ItPyD0r80xFWGwsn/iYfexFjq3ItpPms+FX935ntzy0o7nsnid3yv3P3CtP735ItudxDcpCAAIQgAAEIAABCEAAAhCAAAQgAAEI5CZw/PhxOXjwoJf7dOPGjTIyMhJoQ9OOHj582BNfN23aJEuWLMndh6nQX8JqpIBaE+V+JBInjqXRzS4uhlvqJ2E1jWI7n/deWBWJFk8RVtuZV+pCAAIQgAAEIAABCEAAAhCAAAQgAIF8BK5evSoTExOeeBoWV6empjzR9cyZM57ounTp0nyNh0ojrHpAjLjaWmQhwmor0bpt+W2osgvCqojc97TsfiAYl4qw2sl5pi0IQAACEIAABCAAAQhAAAIQgAAEIJBOIEpc1df/Dxw4IOfPn++IqKpWIKyauXj9cdn5lefk9kdekifutjOANiJa/aK3W6/8hz8LiWu1Nu3pDrafNWI1yYY4Z/JfU9/3yEvyiDwqdz76Sq2gsT+UHiEqmjfR/rixS3O/nuC4LiLHanMbQT6NMQTnRMQXs8drr9jHCKup/NNPxOQSNYb3PS1Py/1y/zO2b/g1m4XVrGMyPWfxv6gHAlFMQm21mQKjXXrUhwAEIAABCEAAAhCAAAQgAAEIQAACRRGwxdUFCxaIpgDQiNVORKoamxFW67NXE8kCYlNDODORiFHRqZERqzVRL5Be4Pjz8uBdj8kr9cjGLMJqNhuandASTq1ISl/oCwnETXaJSCb7jcBpR6xG91uPCq5vXhXBu0nczipCRoiIGe1v7+S158YXlJ8LiZXtCavpc+/73ivNaSxqcyr1BwVh3u1FabfHjdoQgAAEIAABCEAAAhCAAAQgAAEIQKB4AhqleujQITlx4oTX2bp162T16tUd6xhhtY6yWWgKRkWagulil5b0BLW9zZtiBYW2dGE1qw3xwmoomjEmMjcsAGazP0FYbYqGDI5VYjb8CtrRurCa1f72zqSgL0SJnO0Iq5nmPkoU1+QWIb6R4n+T+NoeDWpDAAIQgAAEIAABCEAAAhCAAAQgAAFXCBCxOj3thelOTk56SWdbP6KiUcOthYXV+LydYbEsT47VfMJqdhtihdVw3s+oSM66EGderY8nnT72ZuHZb80eyy754QN3ymP16NW4/loXVmNb9CJ2W8ulm864WZxvXVjNPvfNfdTqbjU5X+Pa6lVu2tbPZGpCAAIQgAAEIAABCEAAAhCAAAQgAIE0AuRYnZnxRNXeCauhHKRNM9YQ5+KF1bg2TN20iNXsNsSJfppjNZCfNJewmmZ/fMRqU78BYXVcntXX5iM2ewqOo11hNd3+Jm4mAtT6IJDOIVAhQkQORQS3LqzmmPvwnNbGMP6d3fLQDjU4TuyOygGbtjTxOQQgAAEIQAACEIAABCAAAQhAAAIQcJdAlKg6MjLiGaw5Vg8ePChnzpzpSK5VUgHU/SAc1RovRoVdJ0pYbeQyFRHrtfjkTZfCQmt2GzotrGaz311hNav9HRdW6xtW+RtZjX8/HCGbVSzOM/fBNptTCCCsurvcYxkEIAABCEAAAhCAAAQgAAEIQAACnSRw/PhxTzwdGxvzxFMjqpo+NIjz8OHDcurUKdm0aZMsWbKk5e4RVg26ptyj2V+TbhJWE3JX5hNWs9vQUWE1s/2tCqvxqQCy5lhNTKmQw/6WzxyvYpxg2RDpH976mDwWSD0QL6wmp4lItrSRU7bGtp4GQOuRCqC9eaY2BCAAAQhAAAIQgAAEIAABCEAAAmUhoBtWqWi6cOFCmTNnTqTZWkZTjy5atEiGh4dbHhrCqocueod0X+jyIw/vWWkYh/NXRoiLMa/bN/eTlgrAvKqdbkNHhdXM9rcqrN4j/uZV4ZyuYaEyRbiUmJQKOexv+cxJFFYNl1dqzds5XbOOKefce2PeJw9/5w55+SuPSSMNgG8Cm1e1N9PUhgAEIAABCEAAAhCAAAQgAAEIQAACYQIIq3VRNSxeikjEjuuRApURteoCbNRmWUa81SkwfaULq5ltaPLtmMjITDlWs9ovIjFjT86xeo8si4j2jBKym/9mc4zLVZvD/rbWhKTX9aPs9DvLNqYc/meLvN7/R23OFWYS/TChLRxUhgAEIAABCEAAAhCAAAQgAAEIQAACfUSgv4TVuIm1cqA2FwlvIhQhwBqRUCubDZmaNkGq1ZPn5cG7HpNXPPHri7LvgTvlMXlYXnpSxca4V7az2BC2vB1h1RL16s1G2f+QbG8au8jjO++XdGFVG7bFxzhB0AiRjfHd/shL8og8akW8RnDLxF/tb+dIyYNat6FZ6AzkgFWpvWlMxq7sc++L/q94bQU2LKsPMcQ70e/b4UJdCEAAAhCAAAQgAAEIQAACEIAABCBQfQJ9IqxWfyIZIQQgAAEIQAACEIAABCAAAQhAAAIQgAAEINA9Agir3WNNTxCAAAQgAAEIQAACEIAABCAAAQhAAAIQgEBFCCCsVmQiGQYEIAABCEAAAhCAAAQgAAEIQAACEIAABCDQPQIIq91jTU8QgAAEIAABCEAAAhCAAAQgAAEIQAACEIBARQggrFZkIhkGBCAAAQhAAAIQgAAEIAABCEAAAhCAAAQg0D0ChQirv33zqqtZhjA7q6WuyuxV/RGZnb0qM7Wf6ZlZmZ7x/z157oocn7yYpUnKQAACEIAABCAAAQhAAAIQgAAEIAABCEAAAhAonMCqZfNl8cJRGR4a9H+GB2VocFCGhgZkcHBQBgfE+xEZlIFBEe9/U46B39oi2YRVbWjW+09UZNXfM/p7VmT6qsi0/p4RmbwkcuJspibTbONzCEAAAhCAAAQgAAEIQAACEIAABCAAAQhAAAJtE1g5Nixj84dkeGhAhgcHPEF1eFBk0PtRcXVABmu96N+yHAO/dW0HhFUVVWs/GqyKsJoFPWUgAAEIQAACEIAABCAAAQhAAAIQgAAEIACBbhBYNTYiixcMe6Lq8JB4AuuQCqx1cXWwLqxmjlj9zNZ0YdXLAqBHRMSqCqozM0FhdYKI1W74A31AAAIQgAAEIAABCEAAAhCAAAQgAAEIQAACGQis0ojVBYNelKonqqq4OiieuOpHrGoSgNph/39C2wML1s/N/t5+TWH1fmkOAK3p5VvV31flquZZvTIrU+enMwyHIhCAAAQgAAEIQAACEIAABCAAAQhAAAIQgAAEiicwtHiZDM5fJDI4JJ6qOjgkA7UfL6mqp6rWpNWUXAAmH+uArFmQW1ith656AquKqrVQ1qtXRS7PyNWLU8XToAcIQAACEIAABCAAAQhAAAIQgAAEIAABCEAAAhkIDC5eIQMqrA4NycDQsC+w6s+A/lZhVberyiasmu4GBtbOb0FY1TDVWrVatKr3b/25MiOzF4hYzTCfFIEABCAAAQhAAAIQgAAEIAABCEAAAhCAAAS6QGBw8XJLWB2RAU9MRVjtAnq6gAAEIAABCEAAAhCAAAQgAAEIQAACEIAABMpKAGG1rDOH3RCAAAQgAAEIQAACEIAABCAAAQhAAAIQgEDPCCCs9gw9HUMAAhCAAAQgAAEIQAACEIAABCAAAQhAAAJlJYCwWtaZw24IQAACEIAABCAAAQhAAAIQgAAEIAABCECgZwQQVnuGno4hAAEIQAACEIAABCAAAQhAAAIQgAAEIACBshJAWC3rzGE3BCAAAQhAAAIQgAAEIAABCEAAAhCAAAQg0DMCCKs9Q0/HEIAABCAAAQhAAAIQgAAEIAABCEAAAhCAQFkJIKyWdeawGwIQgAAEIAABCEAAAhCAAAQgAAEIQAACEOgZAYTVnqGnYwhAAAIQgAAEIAABCEAAAhCAAAQgAAEIQKCsBEojrB7ae6CsjLEbAhCAAAQgAAEIQAACEIAABCAAAQhAAAIQqBiB9R/bLgPzF4kMDcnA0IgMDA6KDA6JDAyJeP8/ICKD/qj13xmOgYG1869mKOcXmTUlr4rM1qrp367W/q1/uzIjsxemMzdJQQhAAAIQgAAEIAABCEAAAhCAAAQgAAEIQAACcQTOnDnTNpyxDVsQVtumSAMQgAAEIAABCEAAAhCAAAQgAAEIQAACEIBAaQggrJZmqjAUAhCAAAQgAAEIQAACEIAABCAAAQhAAAIQcIWAs8Lqrl27MqUCmJ318wDob/MzMzPj/f/09LTo/09NTcnp06flxIkTrnDHDghAAAIQgAAEIAABCEAAAhCAAAQgAAEIQKDEBDohrF577bWyePFiGRkZkaGhIRkeHvZ+Dw4OBn4Uk/4tyzGAsJoFE2UgAAEIQAACEIAABCAAAQhAAAIQgAAEIACBXhBAWO0FdfqEAAQgAAEIQAACEIAABCAAAQhAAAIQgAAESk0AYbXU04fxEIAABCAAAQhAAAIQgAAEIAABCEAAAhCAQC8IIKz2gjp9QgACEIAABCAAAQhAAAIQgAAEIAABCEAAAqUmkCasfulLX5Lvfve7iWMkx2qpXQDjIQABCEAAAhCAAAQgAAEIQAACEIAABCAAgbwEkoRVFVXNkSSuIqzmpU55CEAAAhCAAAQgAAEIQAACEIAABCAAAQhAoNQE4oRVW1RNE1cRVkvtAhgPAQhAAAIQgAAEIAABCEAAAhCAAAQgAAEI5CUQJaxGiapJ4irCal7qlIcABCAAAQhAAAIQgAAEIAABCEAAAhCAAARKTSAtx2qWwSGsZqFEGQhAAAIQgAAEIAABCEAAAhCAAAQgAAEIQKAyBCotrF6ZuixTM1MyNX1Fzp4+JydPfFSZiWMgEIAABCAAAQhAAAIQgAAEIAABCEAAAhCAQO8IdEJYHb92syxavECGh+fInKE5MjIyR4aGhmRwcDDwo6PUv2U5Bnbt2nU1S8HZ2VmvmP42PzMzMzI1c1kuXrkoxycn5fyli3L18pTMXpjO0iRlIAABCEAAAhCAAAQgAAEIQAACEIAABCAAAQgkEuiEsDq2eqkMXDMi80fnycqxxTJ3zlyZMzzaO2F1euaKnL98Xt6fOOKJrTJ7VeTKDMIqJwMEIAABCEAAAhCAAAQgAAEIQAACEIAABCDQEQKdElZlzpDI4IAMDg3KlpXrZP4182R4aE5vIlavzFySAx8ek9MXzvmiKsJqR5yFRiAAAQhAAAIQgAAEIAABCEAAAhCAAAQgAAGfQKeFVRVXF89bKBuXr5I5Q8GoVe2vK6kALs2cl7cP7ZcZE62KsIq/QwACEIAABCAAAQhAAAIQgAAEIAABCEAAAh0kUISwOjQ4KB9bv1muGZrXm4hVFVZ/cfADkau1aFWE1Q66DE1BAAIQgAAEIAABCEAAAhCAAAQgAAEIQAACRQirMjAgN20YR1jFvSAAAQhAAAIQgAAEIAABCEAAAhCAAAQgAIFqEkBYrea8MioIQAACEIAABCAAAQhAAAIQgAAEIAABCECgQAKVE1ZnZmbk8uwFUgEU6DQ0DQEIQAACEIAABCAAAQhAAAIQgAAEIACBfidQpLA6Z3CuDA0N1fOsKuvCN69CWO13l2b8EIAABCAAAQhAAAIQgAAEIAABCEAAAhAonkDlhNXp6Wm5cvUiEavF+w49QAACEIAABCAAAQhAAAIQgAAEIAABCECgbwkUKayODIzK8PBwdyNWp6amZEouIaz2rUszcAhAAAIQgAAEIAABCEAAAhCAAAQgAAEIFE8AYbV4xvQAAQhAAAIQgAAEIAABCEAAAhCAAAQgAAEIVIwAwmrFJpThQAACEIAABCAAAQhAAAIQgAAEIAABCEAAAsUTQFgtnjE9QAACEIAABCAAAQhAAAIQgAAEIAABCEAAAhUjgLBasQllOBCAAAQgAAEIQAACEIAABCAAAQhAAAIQgEDxBBBWi2dMDxCAAAQgAAEIQAACEIAABCAAAQhAAAIQgEDFCCCsVmxCGQ4EIAABCEAAAhCAAAQgAAEIQAACEIAABCBQPAGE1eIZ0wMEIAABCEAAAhCAAAQgAAEIQAACEIAABCBQMQIIqxWbUIYDAQhAAAIQgAAEIAABCEAAAhCAAAQgAAEIFE8AYbV4xvQAAQhAAAIQgAAEIAABCEAAAhCAAAQgAAEIVIwAwmrFJpThQAACEIAABCAAAQhAAAIQgAAEIAABCEAAAsUTQFgtnjE9QAACEIAABCAAAQhAAAIQgAAEIAABCEAAAhUjgLBasQllOBCAAAQgAAEIQAACEIAABCAAAQhAAAIQgEDxBBBWi2dMDxCAAAQgAAEIQAACEIAABCAAAQhAAAIQgEDFCCCsVmxCGQ4EIAABCEAAAhCAAAQgAAEIQAACEIAABCBQPAGE1eIZ0wMEIAABCEAAAhCAAAQgAAEIQAACEIAABCBQMQIIqxWbUIYDAQhAAAIQgAAEIAABCEAAAhCAAAQgAAEIFE8AYbV4xvQAAQhAAAIQgAAEIAABCEAAAhCAAAQgAAEIVIwAwmrFJpThQAACEIAABCAAAQhAAAIQgAAEIAABCEAAAsUTQFgtnjE9QAACEIAABCAAAQhAAAIQgAAEIAABCEAAAhUjgLBasQllOBCAAAQgAAEIQAACEIAABCAAAQhAAAIQgEDxBBBWi2dMDxCAAAQgAAEIQAACEIAABCAAAQhAAAIQgEDFCCCsVmxCGQ4EIAABCEAAAhCAAAQgAAEIQAACEIAABCBQPAGE1eIZ0wMEIAABCEAAAhCAAAQgAAEIQAACEIAABCBQMQIIqxWbUIYDAQhAAAIQgAAEIAABCEAAAhCAAAQgAAEIFE8AYbV4xvQAAQhAAAIQgAAEIAABCEAAAhCAAAQgAAEIVIxAZYXV2ZlZmZmekZmZaZmanpGzp8/JyRMfVWz6GA4EIAABCEAAAhCAAAQgAAEIQAACEIAABCDQCwKdEFbHr90sixYvkOHhYRkaGpKh4SHv98jAqPe3wcFB70cP8zttrAO7du26mlZIP5+dnfWK6W/9mZqakim5JCMyKjMzMzI9Pe39TE5OysTERJYmKQMBCEAAAhCAAAQgAAEIQAACEIAABCAAAQhAIJFAJ4TVbdu2ydjYmCeiGnF1Wi4jrOJ7EIAABCAAAQhAAAIQgAAEIAABCEAAAhCAQDUJIKxWc14ZFQQgAAEIQAACEIAABCAAAQhAAAIQgAAEIFAgAYTVAuHSNAQgAAEIQAACEIAABCAAAQhAAAIQgAAEIFBNAgir1ZxXRgUBCEAAAhCAAAQgAAEIQAACEIAABCAAAQgUSABhtUC4NA0BCEAAAhCAAAQgAAEIQAACEIAABCAAAQhUkwDCajXnlVFBAAIQgAAEIAABCEAAAhCAAAQgAAEIQAACBRJAWC0QLk1DAAIQgAAEIAABCEAAAhCAAAQgAAEIQAAC1SSAsFrNeWVUEIAABCAAAQhAAAIQgAAEIAABCEAAAhCAQIEEEFYLhEvTEIAABCAAAQhAAAIQgAAEIAABCEAAAhCAQDUJIKxWc14ZFQQgAAEIQAACEIAABCAAAQhAAAIQgAAEIFAgAYTVAuHSNAQgAAEIQAACEIAABCAAAQhAAAIQgAAEIFBNAgir1ZxXRgUBCEAAAhCAAAQgAAEIQAACEIAABCAAAQgUSABhtUC4NA0BCEAAAhCAAAQgAAEIQAACEIAABCAAAQhUkwDCajXnlVFBAAIQgAAEIAABCEAAAhCAAAQgAAEIQAACBRJAWC0QLk1DAAIQgAAEIAABCEAAAhCAAAQgAAEIQAAC1SSAsFrNeWVUEIAABCAAAQhAAAIQgAAEIAABCEAAAhCAQIEEEFYLhFuupvfI4zvvl+cSjL73O7vloR3lGlXD2qqPr6zzgt0QgAAEIAABCEAAAhCAAAQgAAEIQKCcBBBWyzlvBVhdEx4//bC89OQ9sizUw8kXHpQ7H31Fbn/kJXni7vCnBZjT8SarPr6OA6NBCEAAAhCAAAQgAAEIQAACEIAABCAAgQQCCKu4R41AsvAoclKef+BOeUyihVf3MVZ9fO7PABZCAAIQgAAEIAABCEAAAhCAAAQgAIEqEUBYrdJstjWWjMLjj+6Vp3c/JNtNDboadwAAIABJREFUX68/Lju/EkwgEB3VGnwVX8s8Io/KnY+OB9szAu6Pah1ERNCa6NnGcG+Xh198Qu5ZmQQg7/j88vvqdr4ict/TsvsBM/Ka0Jxgp29N2rhT+knlG1Hf69cwCaVAiIpITu2jLceiMgQgAAEIQAACEIAABCAAAQhAAAIQqCQBhNVKTmsrg0oTHiM+rwlygdyrx5+XB+96TF6xRciIvzXEUVuoDfdhxMtGmT1P7pT7nwmKu35bkiKu5h2fJUgGBFVLLK2LlM12ejOQadwJ/WTiG13f52QLrNH2SKY+WvEn6kAAAhCAAAQgAAEIQAACEIAABCAAgWoTQFit9vzmGF2y8GiEOltE9f62tzk1QFj8jBJD66kFrAjYSIG0Jk6Kl9v1cD2KNJjntWZ7kwBqDz/v+OLLp9vp56DNNu74frLxNcJqdCRxOHo4cm4yzGEOR6IoBCAAAQhAAAIQgAAEIAABCEAAAhDoCwIIq30xzVkGGXplvKlKltft/UpB8S4+N2u2cnb9cXl25/3ynIRExCzDC72S31wlPL44sTZuPOG/Zx13FlE4aG2QW0z9qEhUEfFF4XD6hWYa0aJwJtAUggAEIAABCEAAAhCAAAQgAAEIQAACfUEAYbXK02xeRbfGGHhtPzD2tFfl40DFCbJG/IwXDoMiX3w5W+Rb5wmDrwSNSYxUNUXzjq+RuzRrdGwmwbNJ3IzrJ2R3E/4gX80FG7Azl7CaNodVPkkYGwQgAAEIQAACEIAABCAAAQhAAAIQaI0Awmpr3MpRq2BhtZHHU0SsTZGyCqZZyyW/Ut+YiuhNs8orrObh26qwmq2Pcrg7VkIAAhCAAAQgAAEIQAACEIAABCAAgW4SQFjtJm2n+8oZ0RnIfernFDVHUDCNfyU+W7n4+laP8vwDd8pjVr7WZtQ5x1dLHdAkWEr7qQCiBOWmfjLzjYl4zRKxmrkPpx0X4yAAAQhAAAIQgAAEIAABCEAAAhCAQE8IIKz2BLuLneYUHmOEu8ybUhmBMs/mVRuflZ1feU6i0hmk5w7NOb5YYdXkKRV5+MUn5J6VtbmMECkjN7lqGnc+YbSZb776AU455tBFj8UmCEAAAhCAAAQgAAEIQAACEIAABCDQSwIIq72k71TfrQmPz1kpABqinw7M3gyqOX+qL/BprlR7I6qwDbXo0Lr4Gv53vKjZjLa18TVHrGrLaXaa3rOMOyWXayrfNoTVpnGo3YZxeA6dclaMgQAEIAABCEAAAhCAAAQgAAEIQAACPSeAsNrzKXDFgLzCo4g05XCtianyvDx412PySpRoaoZ739Py0uanInaot4W9YO7Wulz55E65/5kgt/hNuUIiZ0CoTGKftqlUup1+66GNoZrGndBPJr53yMs775dWc6zmm0NXfBU7IAABCEAAAhCAAAQgAAEIQAACEIBA7wkgrPZ+DvrWAm/jpL0Py0tP3iPBLK3VRtKv4672rDI6CEAAAhCAAAQgAAEIQAACEIAABPqNAMJqv814D8br7zxvv/KvRjS/Jt8D0wrtsl/HXShUGocABCAAAQhAAAIQgAAEIAABCEAAAo4QQFh1ZCIqbUZtkyS572nZ/cB2b6i+6GjnYa0ggX4ddwWnkiFBAAIQgAAEIAABCEAAAhCAAAQgAIEwAYRVfKI7BIzIWO+t4qKqGWe/jrs7XkUvEIAABCAAAQhAAAIQgAAEIAABCECgZwQQVnuGno4hAAEIQAACEIAABCAAAQhAAAIQgAAEIACBshJAWC3rzGE3BCAAAQhAAAIQgAAEIAABCEAAAhCAAAQg0DMCCKs9Q0/HEIAABCAAAQhAAAIQgAAEIAABCEAAAhCAQFkJIKyWdeawGwIQgAAEIAABCEAAAhCAAAQgAAEIQAACEOgZAYTVnqGnYwhAAAIQgAAEIAABCEAAAhCAAAQgAAEIQKCsBBBWyzpz2A0BCEAAAhCAAAQgAAEIQAACEIAABCAAAQj0jADCas/Q0zEEIAABCEAAAhCAAAQgAAEIQAACEIAABCBQVgIIq2WdOeyGAAQgAAEIQAACEIAABCAAAQhAAAIQgAAEekYAYbVn6OkYAhCAAAQgAAEIQAACEIAABCAAAQhAAAIQKCsBhFXHZ+7999933ELMgwAEIAABCEAAAhCAAAQgAAEIQAACEIBAewS2bNnSXgM9qI2w2gPoebpUYXVw2VSeKl0tO3tyxGn7ugqDziCQkwDnT05gFIcABAohwFpUCNbKNIp/VGYqCxsIPlIY2tI1jC+Ubsp6ZjC+0jP0TnesfoGwOizDw8MyNDQk03JZRgZGvX8PDg56P3qY32mTObBr166raYX089nZWa+Y/tafqakpmZJLMiKjMjMzI9PT097P5OSkTExMZGnSqTIIq05NB8ZAoKMEuKDoKE4agwAEWiTAWtQiuD6phn/0yUS3MUx8pA14FauKL1RsQgscDr5SINwSN42wOuaJqAirHXZihNUOA6U5CDhEgAsKhyYDUyDQxwRYi/p48jMMHf/IAKnPi+Ajfe4A1vDxBXwhKwF8JSup/iqHsIqwWojHI6wWgpVGIeAEAS4onJgGjIBA3xNgLep7F0gEgH/gH2kE8JE0Qv3zOb7QP3Pd7kjxlXYJVrM+wirCaiGejbBaCFYahYATBLigcGIaMAICfU+AtajvXQBhFRdoiwBrSFv4KlUZX6jUdBY6GHylULylbRxhFWG1EOdFWC0EK41CwAkCXFA4MQ0YAYG+J8Ba1PcugLCKC7RFgDWkLXyVqowvVGo6Cx0MvlIo3tI2jrCKsFqI8yKsFoKVRiHgBAEuKJyYBoyAQN8TYC3qexdAWMUF2iLAGtIWvkpVxhcqNZ2FDgZfKRRvaRtHWEVYLcR5EVYLwUqjEHCCABcUTkwDRkCg7wmwFvW9CyCs4gJtEWANaQtfpSrjC5WazkIHg68Uire0jSOsIqwW4rwIq4VgpVEIOEGACwonpgEjIND3BFiL+t4FEFZxgbYIsIa0ha9SlfGFSk1noYPBVwrFW9rGEVYRVgtxXoTVQrDSKAScIMAFhRPTgBEQ6HsCrEV97wIIq7hAWwRYQ9rCV6nK+EKlprPQweArheItbeMIqwirhTgvwmohWGkUAk4Q4ILCiWnACAj0PQHWor53AYRVXKAtAqwhbeGrVGV8oVLTWehg8JVC8Za2cYRVhNVCnBdhtRCsNAoBJwhwQeHENGAEBPqeAGtR37sAwiou0BYB1pC28FWqMr5QqeksdDD4SqF4S9s4wirCaiHO20lh9d3/9QvyJ397l3zr++vk7z//1/Lzz/2p/P3/uK0tu/tnQXxPnvnsn8oLsbTukm/94xfkurZoFlt58j99W77y7dflN77+F/InvzdWbGe0nolA/5w/mXBUuFDa+iEiWdbjt74nv//giyKf+Kp85892yKv/5l/JX/5U5O4nvif33dSMr51zvp26FZ7Iyg6temtR45xrOj9O/Gf5ll4DSfy54010vZz73+9FO6Zz/mHNYeTYs6ynRUOz2w+s3Z+RxCuwPGW7OYaUvpzzkRxs/Puj+Apx37GZujC+6ppPZjK+tUIu+kJjjoPrubnWsa/BAv7gXW/Z52wnrudMGzvka9//unx2RWucq1DLPV+x5jdwzk7KPzZdczf+5s1F5DmecC3SNIFRfVRhlvOPAWEVYTW/12SoUYiw+oTInzz4YkcENvcWxAxQWyqSZ2FsqYPCKyGUFI44dwf9c/7kRlOxCh1aP3LecLdzzrdTt2KT1xfDqeJaFHXDrJNZ/7ukCKYIq3Xfd84/6nMTEiYswdWph8g51+4yLjrO+UgOiHUhrQjxE2E1x0wUVzQgllrz3PQ9UTtXvfVj/T94D7ODa0knrucQVs1Mu7duBIXzxkOVZtHT+I6WufuQH7zU/BAmj78grNp+sWXLluIWhIJaPnPmTNstb9u2TcbGEFbbBhnVQOeE1drJKl+Vb/3Oz+RPIk/+/ENwb0HMP4ZsNbIsjKEnV6Zh87TTu7j6maz/nMgLf/u6iOyQ//a/fl3+z3l3yd1/+2ItGvYu+VZN+Nbq9gLduBm0LG56ktr4LPgEfofcXev3N/7oCyJ/9T0vWsc+om9C/HEf+sQO+flP1Wb/qJc1NwuBlqyb1UBUyQ75jU+8Lj+vRdh96kdREQL9FRnUP+dPtrOsuqWyrB86er+cfO4ueeFvXwyeb7UL/PofP/EF+ZJ8T75rRazGnvNf/zP55D/9Gy+6Ne6cj69LhHt1/bIxskquRZHCaON72r5xDs5x7XsoUP+/koO1aJVA2YTv9ypFIjnnH3HCqgTn9/cP/KuISERzndG83t794F3ywhONtde+3omOaoxvq163ae3+qvwvv/Mz+eNvN66pPJ8yvmSLsP+TyH+oRVenX6/1dqVyzkdy4MgirCbOf1QEtRHvYqKrzfV93mv7HMPqWVEXfSE8f038zXx1SFg1/XnfM7e9br0l8aciD9pvQNbuBf9jeLoS1ql/91U59G/t+0m/rj+mlHvRnnlFdMfu+Uo4ItnMQ2eEVU+A/ae1cre8KC/Ur8m1j+ZrjLu9efbfrola/721w27rE3fLf/nTF2Q06h7i98Yk+TvMLccgYhVhtRCP7IiwGil+1cxt8+msewtiIdNQFzw0FUDcK0H1Basudlpfbsr5vzlc/2I1wmTg1RSTokGFy7qQ2YjG0LJ/v7EhcgS+tEOv9jdF5FgXdqtEZMIWRxNfi2x8wTRfHNSe0B34F/WUEsEnv1JPnxC+gb3zv98hL/3velPREFKb+RU1l+602z/njzvMe2NJPmHVSzkSWjO8dUfiUwGYp+X1cyoQufWvZf23fyDr6q+cBaMlbnvVf9IeXRdhtTc+091eq7kWRUR/hAQ5z/fjvsPq39l3yR997kX5K31VOMf3e3dnsNjenPOPDBGrN//ex+XN//SLhOuMdfKCSfEUtd6uaqSMSL9mSWkrsHZ/Ro4nXc8ZIbZ2k/z/ZL5eK9YH0lp3zkfSDLY+TxNWo6LcG9esvpjRmKcTwWtfS1QLXgv71/cb/q/s1/Y5htTToi76Qv2eqX5/5d9/rKylSWslFUByiojGdZYJKmkEsDQ++9IfiXz3r5Luh0Jri6bwC0fm1x/eWCJt3HdVmykAO+1Y7vlK87z5vrGiI6kAGtfqjfPfS0PSlOKrIcDX/SZ0vx5u67MrQmkMLN0h/TssJUVNpyc+pT2EVYTVQlyuI8KqWma9ivIt+VP5k7/tTF4X9xbEQqYhIKxG9aBfriYC0478DFysWTdpJh9rUBwVa9E2C2p4niKeREaI40k5g4yw2rggSBJ9wq+rRJdtegrmfUGYiwEzhkbd+gIf9TpOQhRuUbPbq3b75/zpFWFX+k3LyRU+R8y/Q8JQFmHVOqeaHr5ERM7YrzBF3Vg49TqtK9NZQTsquxaFXsGWiJtonc7I77B6tGBDWM3z/V4lN3HOPzLkWP3Oxv/bf2AUe50RukYRI6Q2RyjVr1ms65P6dVbk9U7S2m1uYGOu5z7901ou7YZgl+16rbce55yP5MCRmGP1c38qdV+KnH8zT8FACBVLggEJwQjEF8S+vs92bZ9jSD0t6qIv2NdD9Uh2e24zBxplvZ4TkUBgk/1GXoSwmnlticr/3WjPexPyP1pvFtrfb5nH2D33cc9X7PvefyGHP+9HF9/9xF/Iuu8l72sQTS1431wXQ0MR0knCatz639RW7a23xtrSWFfKdt+NsIqwWsgq1AlhNemCoa2E7CLi3oJYyDTkiljNc+MVLazqxZZZzJtFSU0hoE+561FmGYVVcxNghNU4gTi4CU6SsNr4ktG2miPqwsJqeRf4oryqf86fogiWpd28EaudEVbreVL/u8/Kz/+Pf/RhRWx81Xxx1shDibBaFh9rz87qrkVxN0nNr0w2fYchrNadyjn/iE0F0DgPoh4wJ4qhTcJqRFtRp1luYdWKQIu6nosQVrNdr7W3BrRb2zkfyTGg7BGrEY3WI4tjAlaaUpJEr0lZru1zDKmnRV30heD9lhVVbCJYM4uOWa/ndApCb/3V3y6MiliN8q2oIBWE1WKdO3TfO1F7U0yC6eyiNowtSliNW/8RVov1hFZaJ8dqK9S6WKcTwqqa20iwXIuE7FBUoItfnsVMT/oXadSr+a1FrEYIqxEX/EkXgvkiVpOIJQmrzVG1WSM4yvbkrBif6qcHE0URLEu76euHP5Lw+daZiNX6K7H1G4eUJ+hWhAPCall8rD07q/xdXn/AYG6g69c/4fPN2thKyyCs9rmwGvEwOPbaOcfabflV+O0lL7o2MWK1vfO8yNplXkMyC6uR89+8jkTn14yIWP0Pvyk/+ZeaQzEiLVZmoa/IWW2tbRd9oekeLZwmLzPvrNdz9kaJyjF7xGqQerN/NVIBNPsUEaut+WyjVvz5bMrkC0rrZMRqcGzN9/rx30Nlu+8mYpWI1XbP5Mj6nRVWRb72xG/KTx78a/l55i+Q5GG5+OVZyERYTx3bz7HafAHlixcmFUCSsFqLDLVyf9mvuZmxZ8mxWq9Xv7iI2jgq9LQ1JgG7b3/jCbAfFdeIyiDHarRX9s/5U8xZWZ5Ws16I57g5/7Md8mptM53A6/zm4t16VTaca7CeU6wWaZ6cn5Ucq+Xxs9YtrfRaFHptvDnPnXltMvQdFiGspudYreYGjM75R56I1dhc7nGpAJqvsxr56ZrfJghe/2R428DakMq7ngxfz0VFrIZfGw2INK2f952s6ZyP5BhcZmG1/vq+vUma5jD/997rwuFr4dRUAHVhNdu1fY4h9bSoi76QGPyitDLfF2e8nrMile/+3IvygubRbHq4vUMaOVazri3ZIlZjv6vIsZpybkQI2ZYGoJW7LazG3a835wfOIKyWZG8ThFWE1UK+xDolrPpfKDvka19fK3/57Rcbu7q3abWLX55tDimmepYv0pSdGCN2KM6eCiCcq6cxl3GLfDgFhNkQ6zf+6Asif/W90C6DcTeDjXHbYKISaXt2fP2rcujb/g6G4c2u9DUnk8DdzkkbBF7Nm9I4n+yf86eYs7I8rUafRwH7vQtus+FbzM25fQP+iS/Il+R78t2fNi7yYs/5r/+FBHbH/sRX5Wvjfy1/qRf6tYss8b4jGhbV1wvvoclYeVBjaUsEqr4WNc6N0Ou6IdE18B1W/66M3rHXA20i2CK+31uaCEcrOecfGYRVRRmdCish12XEZq/Nm41a62R9fUx5KBZYu78q3/nCYfnKgy/WGgpdzz14l7zwxIu+b1kibKNXN6+TnPORHOdSmrAa50tx18Je10ZES0wF8HX5bP1VY62Ufm2fY1g9K+qiL0Rv+Gtdm7UgrMYC/ty/lq/t+/fylz9tvhfyRTn7ftHacMpqMGqjK00D99kVycLq177/VZE/93OBBo4Ovanaaadyz1eihNXgPXhxwqq/saG5Fr/7331VDv1b/546av3PE7FatvtuhFWE1U6vNV57nRJWCzGur3KsFkXQ9XbNF0wnLuRjvqxcR1Cgfe5dUBQ4WJqGAAScJcBa5OzUOGEY/tHFaQhtuFaWx1r4SBd9xPGu8AXHJ8gh8/AVhybDIVMQVhFWC3FHhNVCsNJoZgLtCav2E+J/KX/t79Dr4CtsmXF0uCAXFB0GSnMQgEBLBFiLWsLWN5Xwjy5ONcJqF2HTVREEWC+KoFrNNvGVas5ru6NCWEVYbdeHIusjrBaClUYzE2hPWLV3xPS7jNk1NbM91SrIBUW15pPRQKCsBFiLyjpz3bEb/+gOZ7FSEZRt40B8pEs+UoJu8IUSTJIjJuIrjkyEY2YgrCKsFuKSCKuFYKVRCDhBgAsKJ6YBIyDQ9wRYi/reBRIB4B/4RxoBfCSNUP98ji/0z1y3O1J8pV2C1ayPsIqwWohnI6wWgpVGIeAEAS4onJgGjIBA3xNgLep7F0BYxQXaIsAa0ha+SlXGFyo1nYUOBl8pFG9pG0dYRVgtxHkRVgvBSqMQcIIAFxROTANGQKDvCbAW9b0LIKziAm0RYA1pC1+lKuMLlZrOQgeDrxSKt7SNI6wirBbivAirhWClUQg4QYALCiemASMg0PcEWIv63gUQVnGBtgiwhrSFr1KV8YVKTWehg8FXCsVb2sYRVhFWC3FehNVCsNIoBJwgwAWFE9OAERDoewKsRX3vAgiruEBbBFhD2sJXqcr4QqWms9DB4CuF4i1t4wirCKuFOC/CaiFYaRQCThDggsKJacAICPQ9AdaivncBhFVcoC0CrCFt4atUZXyhUtNZ6GDwlULxlrZxhFWE1UKcF2G1EKw0CgEnCHBB4cQ0YAQE+p4Aa1HfuwDCKi7QFgHWkLbwVaoyvlCp6Sx0MPhKoXhL2zjCKsJqIc6LsFoIVhqFgBMEuKBwYhowAgJ9T4C1qO9dAGEVF2iLAGtIW/gqVRlfqNR0FjoYfKVQvKVtHGEVYbUQ50VYLQQrjULACQJcUDgxDRgBgb4nwFrU9y6AsIoLtEWANaQtfJWqjC9UajoLHQy+Uije0jaOsIqwWojzIqwWgpVGIeAEAS4onJgGjIBA3xNgLep7F0BYxQXaIsAa0ha+SlXGFyo1nYUOBl8pFG9pG0dYRVgtxHlVWOWAAAQgAAEIQAACEIAABCAAAQhAAAIQgECVCWzZsqV0wztz5kzbNm/btk3GxhBW2wYZ1YAKqy47luv2FTIpNAqBDhHg/OkQSJqBAATaIsBa1Ba+ylfGPyo/xW0PEB9pG2FlGsAXKjOVhQ8EXykccSk7KKtfIKw67m6uO5br9jk+vZjX5wQ4f/rcARg+BBwhwFrkyEQ4agb+4ejEOGQWPuLQZPTYFHyhxxNQou7xlRJNVhdNLatfIKx20Ula6cp1x3LdvlaYUwcC3SLA+dMt0vQDAQgkEWAtwj/wD3ygHQKsIe3Qq1ZdfKFa81nkaPCVIumWt+2y+gXCquM+57pjuW6f49OLeX1OgPOnzx2A4UPAEQKsRY5MhKNm4B+OToxDZuEjDk1Gj03BF3o8ASXqHl8p0WR10dSy+gXCahedpJWuXHcs1+1rhTl1INAtApw/3SJNPxCAQBIB1iL8A//AB9ohwBrSDr1q1cUXqjWfRY4GXymSbnnbLqtfIKw67nOuO5br9jk+vZjX5wQ4f/rcARg+BBwhwFrkyEQ4agb+4ejEOGQWPuLQZPTYFHyhxxNQou7xlRJNVhdNLatfIKx20Ula6cp1x3LdvlaYUwcC3SLA+dMt0vQDAQgkEWAtwj/wD3ygHQKsIe3Qq1ZdfKFa81nkaPCVIumWt+2y+gXCquM+57pjuW6f49OLeX1OgPOnzx2A4UPAEQKsRY5MhKNm4B+OToxDZuEjDk1Gj03BF3o8ASXqHl8p0WR10dSy+gXCahedpJWuXHcs1+1rhTl1INAtApw/3SJNPxCAQBIB1iL8A//AB9ohwBrSDr1q1cUXqjWfRY4GXymSbnnbLqtfIKw67nOuO5br9jk+vZjX5wQ4f/rcARg+BBwhwFrkyEQ4agb+4ejEOGQWPuLQZPTYFHyhxxNQou7xlRJNVhdNLatfIKx20Ula6cp1x3LdvlaYUwcC3SLA+dMt0vQDAQgkEWAtatA5+cLj8sNPPST3rMRnDAH8A19II4CPpBHqn8/xhf6Z63ZHiq+0S7Ca9cvqFwirjvtjpx1rz5M75X55WnY/sL0jI89n3x55fOf9It/ZLQ/tCHfvf/ZcpFX3ytO7HxK12LP/mdvl4RefaOGmR/t4We7w2jopzz/wqMg3WmmnI+hoBAKSfv7EnBefflheevIeWdbEUP36TnlM7M/jz7v6evD5ffLgXS/LHS8+IvLNO+Xl331Jnrg72PrJFx6UO39wh7z05Lg8WzuP7/hnPR+jJ/Le7+wW//PG+euVPP68PHjXPvmydx52Ynw4EgQg0C6B9LWo3R5KUN9bmx6TV4ypaevsj2oF74u/pvLWzUdNi421MPh3bSfiuiawVob51dZ6Y4O28IhZt5vXVV2P9bqrqd/YMQb7wz8Mj3i2JfDwQk3M5yPR1yX+Nb4xM3Tt8Prj8uCBL8oTdx9uul8w/i2vPy47v9K4k6j/vdbknicflH2f1+v+4Dw2zp2k86rWiHde6vWSff8Q8ouENaHQSXCk8Wy+0MxawutRJGt/kNH3s8F5aMx/0nkb5wsWzKa1OHt70ue+kOaS+IqlfeArdXfJ5hdp3tX9zxFWu888V4+dcqzAxXQHT9xs9gW/PMMXOrWvSHl851MyniiY6hdZWpkkvLawmmsaKAyBQgiknz9RPm/Op9BNh1qoNxX/LHLvM/sC51LSBaj3oGNt40Zh14+NgGoLt36fvuDq39RoPRVOn9rcLMLWb0HNTZK95jQJq+FzOv/4CpkcGoVAHxFIX4uqDsO/Ud73yEvyiDzrRayOfz96fdP1tLHuJTww1vX46fH6QzB7HdZrskflkaYHWA3KCeug1ARS70FXbZ2uicLj5oGW/QDdE5v2ycPP3CEv32cLQrU+tqY/bMc/YsQcw7alh/3VOqey+Uj8/YB/nzIeDKSw/NhEkut5GQgQCfj3Y6LngBe80SSGnZTnn/yh7Hpgl/zwgTtl3/12Of+8aLr+sc6rh3bYYpr9ICR8HiUFkVRrzuNGk90X4gJc4liHHg4F7mf9eQjOq/8QX8JBRfXz1g8miPKFxhsLzWtx0zV1qL3H6msqvpDm8fiK+f7FV2xfyeYXad7V/c8RVrvPPFePnXYs78Llgy/3KGI19KUXIJFFNA1HnN4pj1nRGnXBNhR14v/dvphTQeqLss+LWA19qRpxSm+GviHyaKbolVxTSmEI1Amkn99x50X0DbG54f/yB3cGBc+oyCf7pj8QFRDRZ0SUaVZh9anND8v4oy83hN5UYVXx5BwfPgUBCLRFIH0taqv5ElRurHu7ftxIBXDy+ElZttKO3m9+QBt3XaXr8cu/bb2hY619eqMf+CxEyBde75DxR/fV3rJsJoG+AAAgAElEQVQJFmgWZhvXV/rAK9h2bWwqrP6VyCPW2w5Zrwnxj4awGskWYTXDGzi2D0fcD3gPhu+o358EfVPLPyvjT/oiWax/32fehmlcRwREs++PyxP6hs43g+eBuXZ6RB4NPfCIum9pvkYKnutJ9zolWAo7YGK29SJLsEv8vWHT2hV6kGUPo2kt9t6WekrGI9bE4IMzX8gNr8Wx7b34hPdAruGf+EKaO+Er5hoBX0FY9Qls27ZNxsbGZHh42PsZGhqSabksIwOj3r8HBwe9Hz3M77TzbGDXrl1X0wrp57Ozs14x/a0/U1NTMiWXZERGZWZmRqanp72fyclJmZiYyNKkU2WyLTjZTc56EZ21xXz2tSOs2sLo7fI//P4r8r8dsV539p4Wijy9+w55uRZ14r3K3CTiNKcC8J5QW2Kz/6X6uIw/+pAXvWJeie50GoWsjClXXQLp50+Oi0pzoag3eEeCkVJGqKzfYNReo6pHXYVet4q6sGycI42nqlkiVrUPvVmp188krNaiEgIPgSwWTeOrro8wMgh0g0D6WtQNK3rbh4mYe/gREcmRYzW8XsaOon7j70fM2Q+GG68ia20jOOj1jLlmCbaKsNobX0kSVPo9J2++NSROsLSv0UORhCqKPrDdewU8j7BqUhvpOfPsxiciUpE1bPnigXAkeTZh1X9bqCYKJ6bw6I3fdrvXTL4QTr0SlQ7Fvq4N5bwO38/6/x6Xe595rp5WzgTcZD9vw/MdvRYntqfXp/hCZpfDV1g3opwlk19k9rLuFSRitXusW+qp047ltrAanWM1mDfMv+jSJ9aBV5DrFzJ6IxKXLiAc8Vp7BUXCOR+1/pdl313BdjrNriWHoFKlCKSf3zmE1cDT+uZ6Qf8NfR7OYxVoK+pCs5EKIDLHai1P1uH6eSqNV7S8tAN2jtXo8zU5GiFLhHulXIXBQKBQAulrUaHdO9S49Qpqhvyjfk7IiLQs4RHVcj/ab9DEvX7auGmPj+hCWO2Ny2QXaHpjXy97zbeGRAmW4Zyb1uv2rz8uj8tDniiaLKxaqQBq55y5h9jz5OMiD/j7NTSOWp+1vPTSlKIjo7CaOT9zL2eoe31n8oWQAN3I42+nocp+Dew/GJPGHhzWdW0witQ8vIpJQ2XtURC3FieuA949ZZZc3d2bD5d7wlfwFYTVIAEiVgtcsTItODn677Q4mM++diJWzRdhQ1htFnT05qYFYXWlZZeYSD/doAdhNYdrUbQFAunnT/aLyuCmD74xgSgo+yI2/MpU0wYBVr+BBw/mPMyeY7X+AMT06aXYyC+spo6vBf5UgQAEfALpa1H/kDK5HMNvswQImE1yUsVXI9Qmb7pZj3rd+Kz1OjTCqmteh7AaPyP51pDm+wHvO35v4000W2g7XN90KkFYNW/r1Devulfuve85ES8dxx55/IF98sVwGgzdWM7K05n0wKKx6W74usw/xxtvuPlji9oE1DV/LsqefL5grIi63s1+Ddx8f9uomyas1vchsXO2BlJTBNfi+HVAg3LwhTx+ha+YN2NZN2y/ac0v8nheMWWJWC2Ga8da7bRjVUlYjd40JymSLSZidWXjteOXNj9Vy6+kG/QgrHbMkWkokkD6+R3nz1GbJYSevjflmwrm4GuO+A7ucmvnHAvmZc6fCsBOp/GU3CvyjHgbCmyPfc2rlfHhZBCAQKsE0teiVlsuST3rwdO6F2o5VmNSjjRFRsUNsRbFJlZKobiidn7sqLcAwpt+ErHaG79CWC1WWI3OSXyHvGyJotnnQK8jam+mHXlcHjzwxWBqr4hI89aF1WDKjk7fa/XG21vvtbXvk/aE1UA6Bs/0bMKqtxlahC9EPczXVnUtjs1j7b3tiC/k8Rx8pRFF3+/rBsKqT4CI1TwrSM6yrS048Z10+qTNZ1+HI1bDT7a9fIwSfHKcIceqlxerFrEnnxa54xtPyD0rw0+g/afkgZ1Ic84lxSEQJpB+/kRdaJrX5Rqvn0af1xF1vSfwIvc+I8ENUZoiVmvnxDf3ybjsk3HvnDDWty6s+ueZvvZibO/w+HAxCECgJQLpa1FLzZankrX79xcP+MKq3nA3P8DNnoYkNvdqeL2NWn/rwkB8jtU7f3CHvGQi8Cz79aY/ftd0+wFa9CaBUZPW9/5Rg9J0HVjfDdz+jiyP23fS0nw+EhOxKmaHbBFPKNO9E14cl5d/vEse0n0TavnhI/07lMLLjngV87Ckfr1vb3LVoND0Orp1XqVFrOqGnqZMv98vZPGFMOt2UwHYQqp9X3dHbUOp+DUx2heC50ZzxGq8D/pvdOEL2VYXfAVfqdI1BxGr2c77npXKsuDkMc45YbV+Q+G/PvFc5GBsESaY2L6x+YOV4yyU66gR6WELUl+UfeZJticYBfMseZdv5EzK41qUbYFA+vlt5fuz2w+8fhr/wKL5xr7Wnv26U93XgxGrkedE/WY/Jceq9VQ/LEyYDWKerkesRpz3LY+vhUmgCgQgQCoA9QHzer/xh/A6GXVdECrbEFTWea8D2xtU+UVr1yqhvsIRqX7ZUCqAgAAbzkdpp35p/t4w7ddfeTV2p6Yy8Aumf1f1y0kUz7ZfCMSNM5+PxOUuta8H/PQZmpIjuOlUwhwEzitzX6B9PSvjT9Yiw8LneW1AfuokPx98/MZy5ryMeEOonoJARDKeV1X1may+EIwKjcpVnT0VgMcydl2N8RlN/2bPW8AXfCE/ci321ubgtWt9DQ/7V5/7QpqP4yuW8oGv1N0lq1+k+Ve3P0dY7TbxnP257liu25cTN8Uh0FUCnD9dxU1nEIBADAHWogYYk2O133d5t10F/2DpSCOAj6QR6p/P8YX+met2R4qvtEuwmvXL6hcIq477o+uO5bp9jk8v5vU5Ac6fPncAhg8BRwiwFjkyEY6agX84OjEOmYWPODQZPTYFX+jxBJSoe3ylRJPVRVPL6hcIq110kla6ct2xXLevFebUgUC3CHD+dIs0/UAAAkkEWIvwD/wDH2iHAGtIO/SqVRdfqNZ8FjkafKVIuuVtu6x+gbDquM+57liu2+f49GJenxPg/OlzB2D4EHCEAGuRIxPhqBn4h6MT45BZ+IhDk9FjU/CFHk9AibrHV0o0WV00tax+gbDaRSdppSvXHct1+1phTh0IdIsA50+3SNMPBCCQRIC1CP/AP/CBdgiwhrRDr1p18YVqzWeRo8FXiqRb3rbL6hcIq477nOuO5bp9jk8v5vU5Ac6fPncAhg8BRwiwFjkyEY6agX84OjEOmYWPODQZPTYFX+jxBJSoe3ylRJPVRVPL6hcIq110kla6ct2xXLevFebUgUC3CHD+dIs0/UAAAkkEWIvwD/wDH2iHAGtIO/SqVRdfqNZ8FjkafKVIuuVtu6x+gbDquM+57liu2+f49GJenxPg/OlzB2D4EHCEAGuRIxPhqBn4h6MT45BZ+IhDk9FjU/CFHk9AibrHV0o0WV00tax+gbDaRSdppSvXHct1+1phTh0IdIsA50+3SNMPBCCQRIC1CP/AP/CBdgiwhrRDr1p18YVqzWeRo8FXiqRb3rbL6hcIq477nOuO5bp9jk8v5vU5Ac6fPncAhg8BRwiwFjkyEY6agX84OjEOmYWPODQZPTYFX+jxBJSoe3ylRJPVRVPL6hcIq110kla6ct2xXLevFebUgUC3CHD+dIs0/UAAAkkEWIvwD/wDH2iHAGtIO/SqVRdfqNZ8FjkafKVIuuVtu6x+gbDquM+57liu2+f49GJenxPg/OlzB2D4EHCEAGuRIxPhqBn4h6MT45BZ+IhDk9FjU/CFHk9AibrHV0o0WV00tax+gbDaRSdppSvXHct1+1phTh0IdIsA50+3SNMPBCCQRIC1CP/AP/CBdgiwhrRDr1p18YVqzWeRo8FXiqRb3rbL6hcIq477nDoWBwQgAAEIQAACEIAABCAAAQhAAAIQgAAEqkxgy5YtpRsewqrjU+a6Yu+6fY5PL+b1OQHOnz53AIYPAUcIsBY5MhGOmoF/ODoxDpmFjzg0GT02BV/o8QSUqHt8pUST1UVTy+oXCKtddJJWunLdsVy3rxXm1IFAtwhw/nSLNP1AAAJJBFiL8A/8Ax9ohwBrSDv0qlUXX6jWfBY5GnylSLrlbbusfoGw6rjPue5Yrtvn+PRiXp8T4Pzpcwdg+BBwhABrkSMT4agZ+IejE+OQWfiIQ5PRY1PwhR5PQIm6x1dKNFldNLWsfoGw2kUnaaUr1x3LdftaYU4dCHSLAOdPt0jTDwQgkESAtQj/wD/wgXYIsIa0Q69adfGFas1nkaPBV4qkW962y+oXCKuO+5zrjuW6fY5PL+b1OQHOnz53AIYPAUcIsBY5MhGOmoF/ODoxDpmFjzg0GT02BV/o8QSUqHt8pUST1UVTy+oXCKtddJJWunLdsVy3rxXm1IFAtwhw/nSLNP1AAAJJBFiL8A/8Ax9ohwBrSDv0qlUXX6jWfBY5GnylSLrlbbusfoGw6rjPue5Yrtvn+PRiXp8T4Pzpcwdg+BBwhABrkSMT4agZ+IejE+OQWfiIQ5PRY1PwhR5PQIm6x1dKNFldNLWsfoGw2kUnaaUr1x3LdftaYU4dCHSLAOdPt0jTDwQgkESAtQj/wD/wgXYIsIa0Q69adfGFas1nkaPBV4qkW962y+oXCKuO+5zrjuW6fY5PL+b1OQHOnz53AIYPAUcIsBY5MhGOmoF/ODoxDpmFjzg0GT02BV/o8QSUqHt8pUST1UVTy+oXCKtddJJWunLdsVy3rxXm1IFAtwhw/nSLNP1AAAJJBFiL8A/8Ax9ohwBrSDv0qlUXX6jWfBY5GnylSLrlbbusfoGw6rjPue5Yrtvn+PRiXp8T4Pzpcwdg+BBwhABrUQsTcfx5efzHu+Shu5e1ULlcVfCPcs1XL6zFR3pB3c0+8QU358VFq/AVF2el9zaV1S8QVnvvO4kWdM6x9sjjO++X52q93f7IS/JEB24Gctt3/Hl58K598uXdD8n2hJHveXKn3P/MvfJ0SrlWpk/bfvm3d8tDO9Jr+3ZEl7v3OzFt6Bi/KfLIk/dIJ2+3Tr7woDwqj/jz9vrjsvOf75DdDyRRTB8fJXpLIO/5E3VeeH+Tp0O+cFKef+BOeWzr/yz3PvOfZfzFJ+SelY2xqi/d+cGX/TreOfmYvBJGcV+4zVoB9b2vPCex/i8iceeNWXfiPm9qM8I2e+3y27ldHo4a36OvhGysMfmRNdBPPywvhc/T2vgCOCwWTbwjyjfGUVt3QywD/GNcUMs8u/EJf50K9GGPN7iue03V+vL6eNSfVZtroF398PXH5cEDX+zI90FvzyZ6b4dA3rWonb7KXze8ljSvQTrG6HXOL7vrx43z0+cRbsM/tyXuOqN27upabI6mdccCbT6z1wXv46g1MGKC+ts/4q6fM36nlN/hM40gm480MwvcjwS+80PnRPi7yiv7stwR+v6vn3tN10V6Tj4o+z6v10PZ57Tpfimy39B3cdz1UyaS5S/UEV8oPwZGkIEAvpIBUh8WyeYX7oFBWHVvTgIWdcax/AuZfffXhMCEi5G8OPLZZy6oUgRTT5jcJ+MqAxub8xqWUD6vsPrU5pwidDeE1Q7yoKneEch1/sSeFxE34CrEPT0uLz05Ls/ufCqDsBp+2FG7SWi66dZz+FHZt1XkOakJsxH49BxrOm9qN0zj39ktd/xzxOeeeLivIZLWyov9ECj0NyNcBG98GjduDaGh9jexhdSIv0WKxn65l3/XXwcCwmpU+cDfGjdbYXGzLmxHuZ+9hoQeRnnCyA/uqAnC2v7Lckf4AZRdJ7Ae7ZHHnxR5KPBAxp9T+UZQfO/dWUHPvSCQay3qhYEO9emtAXsflpe+IfKsRqxufLa23qY9TG2cf4EHpYGxBYWn+AdYeu5ba7u1fo5/P/SwzXz2zB3y8n22EGUewMU8RLPs6l//SLp+Zu20XTeLjwS/v6T+YFevCx7aEeHT3nWMf16dfOFx+eGnHgqJokHxNfDgoEncPCnPP/lD2fXALvlhzD2R98Cj/v0aZZ8JULH7DZ9HGR6KOLSeFWFK+75QhFW06SIBfMXFWem9TVn8ovdWNluAsOrirHT6YjZC6IsUPlpgkcfx/RuJO2T80X3NQoDVt4nmemnzU42oOgld3Gr5gHhkiQvhaE472uvTD8vDWx+TfRqxujYYqRd1A5ONU+hG6JGHZd8PNGJVRa0Yu2Ij0EJRLkbYssp7IpLeyGnE6m+/HLqhsznFPJFP6LsFF6BKGwTynj8qxgXPi1rn9XNBb0DCPtCKsKrt+v6zr0nY3CdffnFcnkqIPI8+bxp2RQqrXn/G1oi+DeewQCv3iuwdb0SIRwjQdSGkKYrcuiH6/D4vcte/wQtOqj2eurCaUN6PMFWR+Muy766nZPyRcXnsB/YNohUxHCNMm6j6ZgHG4iQx0fExwqrUb0xDnRIB38ZZXI2qedaiaoy49VHU14NP/bCRCuD4STm5ctn/z97bANl1XPedh1+2PtYObIiURVBYDgwqkSMzMAWCDIkVtaArVGAbkBzWErX4UAUEtKJUO0BpF5USQyAIIEOVwq5rZqokag1gXCKALTJLRyLshYWsiIhekAFJiJ4gsp1IlEYLE7RJBTbMlGhJAMmtvp/d9+v1e+9+dL/3myoUOTP9us/9nXPP3Pd/p09X7FJRueawTMyEu3V6f8Bb8Myjm2zkfPWLVORTwqq5KyfKGUpY/ZK5m8amel7NPrbxUfn8fL74g63BQ8vrV9rESP7vWRrnG89V/V00758QVEaILXgfYezqUr58dEKm1d/uzK6y+J7eJXvSnWHBfEX3YX5d837uce967WU744eNBZsdhXaWMMp1AsSK6x7qxj6buOjGsupVEVZd9IpmUzOBVd8ffXv74sqqVXKyqMIquWbNtkD41CrpMm8kUrEj83CriwSaCKNvqd1w8IRMzGpVWoEQIrnWAzbCqina6FVwJcJqVpDRr8sQOMxKueJWAGJWrWiCiugtD5Iq5UjoibZO5aoHHL8fRs08+/un4r7IPPybb06K33jkWwEUt+fIxn/6ukVmFXzGMYNXrMb3YPkbJv2NTijQzsqqr59MBIuwTcaE7Hxxb1KlX3UfJ9cU3JeWbUrUFsPK8bH98f22S+Rz6a6BajGj6trjCprIzlwbgnQ3QL4VQFG1auQ4yxYto3b/cT0pAftcBLW4fcrErp0iYtdj1RSUemyHLhV0KthrAuD5XLsjhNX6ojb7t1hvo1PcEqK+td2eySaHVAmrwd9z9UHpI0ei1kQaz1gUNXZb9Ces5trgFLzvUM9PScutPoRVoz0Xf0+tPoipigWEVbfv9TqtGzZvECt1esOduWziwh1rU0sQVl30SqPCatGW2MEh2AZ++mluydbV2ATjgSQrAGcr2uJq0MycOWFVF0vKROViu0p7rGpbpHOiTa9KWksBRyHRHzzKeqzq65cLNnE1iynwDO55XlkHAdv7J3wjH8dxSQwnvcmyPTgHrVgNq6rSLf3mulXi4GA9VvUWIf0Iqyfk/u/fk1RohblGfXCSCpndC6vTslZVl0Y+XKT3uM0GUtWbsmx7hIIPm/L9dsMFzs5MiUyW9bbuIebWEezM4TQB61zk9FW0a1ya53oJatnni6rt5fE1WH4Ant3NErUroWK1iVjIPD9XtmlpYn2357TJIb2EVeNsBb3gYW5KpmR7ZjdJf8Jq8d9A06ein2XQj7CaPH9FPrLsXey2Rwe3bthYQCwbnL1vryRWfPNYO/baxEU7lvS3CsJqf7xaH11nYCUVTDU2Vbeyz6jCrBZWcwcrKOKZg2OU0KO266Q9CvsRVrNb8PTKkXzvV9uKVaOfZFI5UlWx2qMyruDNUpmwmrZEyPSNiqK16M2fLnxVHULUesCP2YJW908ksMcHESWICu7jfLzWWLGafeMQGBLdM/rv7tgpU0v3yv9V0Zu48L4yqsb7E1aT1hiTqoJbfeCyUea1HmpOCKvXpUK1mb8yQV8orKZ5qvJ+LRNlk9PLJTzULDjAy1bIHrObckwv1zYXjSme4suO76vbT1VWu5f3U02nzecoS2E1niLZlTIttAKoP0rtnp/H+wMqmxzSS1jNPUtHH0ZKcuiU7tt+hNWzMjU5Lxu1dkBFPrWrosyum21dZO42qz8a3Z9x2FhAWHXfx3VZSKzURXK05rGJCxevGGHVRa9oNtUVWKGQ1uPQqAFY2NhXVr2WFwgK3khkhYLozYPc8bRMJAdbmcJqr23OQUXbL++U+R1qC1dcaVJesdrr8KrcG6ISYdVmy3HCSjvZO96WVCqsJn2m1LZjvYo3bLIfck77r+mnw5uVkAMEAC8ZioDN/VPY46tEQKtXWDXfLOQrVMvf+Pf6QKK8VUD8gUMfPVYDATdqB3JQZLPqPTxptiow23XoLrPrsapfezBX0gqguCdrrsdqcmpx+IZMNlUc/pXzbcjiiM0HYqVxEVar6pWypj/HWxAY6iYekRfb5aIRudihLsPcCj6lDq8K8k9+Z0C4TMnf3owN/Qqrxfk4bG+EsDqUg3Mvtn9+Hu88apNDevVYNbbhJ3/PVsnJjCgaOqkPYXVuSrad2xgcQBm8suQ90eDCqnmIZHW7n3rj08XZho0FhFUXvdqMTcRKM1x9n9UmLly8RoRVF71St7DaYL+f/gO/omI1dxhD/KYk3dIbi0x7n8lWW20WSQTEe2Tv0uiU22yP1fj7/UpYTU/HDT+5nqihx2r0wKZODA4Oryqwq6LHquqNlm7lzQtbyUNn5rCZ4E3Zi3fK00vjk9rD14ZMooO+1GE6wanAmb61Bb1lHb8tRsY8q/vH6r6I3mYYW/fjNx6ZA6iiwxjMeyRbQR2Jecl2NovKV80rwwur6Wm8kjs8a6/EP9PXiT+USD9IKMgbou7L+OTugrYoUaW4+aGPJr5O3hy+IVPCqur1VjTe+FmeW+/KJ/M1PVsuxLbEbxa17wOXJNWqC4PWInGlf68PoEbmJuNCrAhY5SKrmUZ9kPlhTCCsqsMktdPLDQJFz19adWnwQWf2+2CCHhWr2b7w2veqv7rREiQ+TC/4+58+9yTPU/HzUoXrxjY+Kp6fgxyqnSCf/X7U74Ts9dnESI6R/oxedK6Cej49PiEngw8wQlE0/bIXVi/oBzf24dOkn7JxqGVxxWryvF32t3iMAmLoWMgcIDpG6MbuUomVsXO51QXbxIXVRC0PQlhtGXi/y9USWLkDTkIrgtPlcw8q/VnYv30ZYTWzfa2oOjQrLBRuq9OuccOmDXJEVNWaOns3FhVV7ab62iAbNh0R+dAZCQ752fN0xEIdgLM5FWSj0WXVtsFMyYOWeRDFnZu0U8rL7DJ8ku2JGVaaBlt1VQVecLr4tKx9WR2wdST0m3ojF1TmmddoCEL6GptmZVY2y+YXd8qjv3pS1kXXbV5Hf75n9PAEbO6fMpGySHArrwTVD9gQEb3/V+EWf7MFR9puIhYlo2u3rpw1WRVfU0GVaoFtet4y5jGEhiJRIn9gjMEhNrEoX2Z6KudFizi/RFkmyQ1Fb/xMobYoiooEY3NcnDMy15Tr66Z+n55Enn4wFeWXM2HP1XGvrhn+TvZ/Bptc5P9V1nUF0QdPyXTlu4FK761MnrHfwZP9QDh8hpFk9436/6x96fNKrt2SZS/IsY2PHs/P5jNi/bvC6orYNuaxi5Hqg9vM+Az/zq08vU0OL57O9FeN47y4Uty87zJ/Byt9qrfLie6s3Hulgr/r2Tkt76s2/NLFGnXEQhd2s2b7BIiV9pn7sKJdXLh3JQir7vnEsMj1wOrCvrOFvZYcdyTmQaCAQBf3D47wgEDSTiQjZDdiut1W5UaWZlJnCJCLBnCFVg0+wKu9egnx4ZW7OjGWGOkEu5OLEgtOusVJo4gVJ93SuVG+xgXCauehU22A64HVqn1x9ZpNr0HH/Yp5EFAEWr1/QO4VAVVxU1ylU/NlZHrP1Tw703lCgFzkiaM6MpP46Ai8R8sSIx45q2FTiYWGAY/Q9MTKCDmzxkvxNS4QVmsMgiamcj2wXLevCZ8wJwTqIsD9UxdJ5oEABIYhQC4aht7ov5b4GH0fD3uFxMiwBEfn9cTC6Piy6SshVpom7Of8vsYFwqrj8eZ6YLlun+PuxbwxJ8D9M+YBwOVDwBEC5CJHHOGoGcSHo45xyCxixCFndGwKsdCxAzxanljxyFktmuprXCCsthgkgyzlemC5bt8gzHkNBNoiwP3TFmnWgQAEqgiQi4gP4oMYGIYAOWQYeqP1WmJhtPzZ5NUQK03S9XduX+MCYdXxmHM9sFy3z3H3Yt6YE+D+GfMA4PIh4AgBcpEjjnDUDOLDUcc4ZBYx4pAzOjaFWOjYAR4tT6x45KwWTfU1LhBWWwySQZZyPbBct28Q5rwGAm0R4P5pizTrQAACVQTIRcQH8UEMDEOAHDIMvdF6LbEwWv5s8mqIlSbp+ju3r3GBsOp4zLkeWK7b57h7MW/MCXD/jHkAcPkQcIQAucgRRzhqBvHhqGMcMosYccgZHZtCLHTsAI+WJ1Y8claLpvoaFwirLQbJIEu5Hliu2zcIc14DgbYIcP+0RZp1IACBKgLkIuKD+CAGhiFADhmG3mi9llgYLX82eTXESpN0/Z3b17hAWHU85lwPLNftc9y9mDfmBLh/xjwAuHwIOEKAXOSIIxw1g/hw1DEOmUWMOOSMjk0hFjp2gEfLEyseOatFU32NC4TVFoNkkKVcDyzX7RuEOa+BQFsEuH/aIs06EIBAFQFyEfFBfBADwxAghwxDb7ReSyyMlj+bvBpipUm6/s7ta1wgrDoec64Hluv2Oe5ezBtzAtw/Yx4AXD4EHCFALnLEEY6aQXw46hiHzCJGHHJGx6YQCx07wKPliRWPnNWiqb7GBcJqi0EyyFKuB5br9g3CnNdAoC0C3D9tkWYdCECgigC5iPggPoiBYQiQQ4ahN1LlhF8AACAASURBVFqvJRZGy59NXg2x0iRdf+f2NS4QVh2PORVYfEEAAhCAAAQgAAEIQAACEIAABCAAAQhAYJQJLFmyxLvLQ1j1zmUYDAEIQAACEIAABCAAAQhAAAIQgAAEIAABCHRNAGG1aw+wPgQgAAEIQAACEIAABCAAAQhAAAIQgAAEIOAdAYRV71yGwRCAAAQgAAEIQAACEIAABCAAAQhAAAIQgEDXBBBWu/YA60MAAhCAAAQgAAEIQAACEIAABCAAAQhAAALeEUBY9c5lGAwBCEAAAhCAAAQgAAEIQAACEIAABCAAAQh0TQBhtWsPsD4EIAABCEAAAhCAAAQgAAEIQAACEIAABCDgHQGEVe9chsEQgAAEIAABCEAAAhCAAAQgAAEIQAACEIBA1wQQVrv2AOtDAAIQgAAEIAABCEAAAhCAAAQgAAEIQAAC3hFAWPXOZRgMAQhAAAIQgAAEIAABCEAAAhCAAAQgAAEIdE0AYbVrD7A+BCAAAQhAAAIQgAAEIAABCEAAAhCAAAQg4B0BhFXvXIbBEIAABCAAAQhAAAIQgAAEIAABCEAAAhCAQNcEYmF1bm6ub1OWLVsWvOamm26SBQsWyNVXXx38u+qqq+Sy/FiuueJtwfdXXnll8E99xf/ttdgVK1eufKvXIPX7N998Mxim/qv+Xbp0SS7Jj+QaeZu88cYbcvny5eDfxYsX5ZVXXrGZkjEQgAAEIAABCEAAAhCAAAQgAAEIQAACEIAABCoJIKwSIBCAAAQgAAEIQAACEIAABCAAAQhAAAIQgAAE+iSAsNonMIZDAAIQgAAEIAABCEAAAhCAAAQgAAEIQAACEEBYJQYgAAEIQAACEIAABCAAAQhAAAIQgAAEIAABCPRJAGG1T2AMhwAEIAABCEAAAhCAAAQgAAEIQAACEIAABCCAsEoMQAACEIAABCAAAQhAAAIQgAAEIAABCEAAAhDokwDCap/AGA4BCEAAAhCAAAQgAAEIQAACEIAABCAAAQhAAGGVGIAABCAAAQhAAAIQgAAEIAABCEAAAhCAAAQg0CcBhNU+gTEcAhCAAAQgAAEIQAACEIAABCAAAQhAAAIQgADCKjEAAQhAAAIQgAAEIAABCEAAAhCAAAQgAAEIQKBPAgirfQJjOAQgAAEIQAACEIAABCAAAQhAAAIQgAAEIAABhFViAAIQgAAEIAABCEAAAhCAAAQgAAEIQAACEIBAnwQQVvsExnAIQAACEIAABCAAAQhAAAIQgAAEIAABCEAAAgirxAAEIAABCEAAAhCAAAQgAAEIQAACEIAABCAAgT4JIKz2CYzhEIAABCAAAQhAAAIQgAAEIAABCEAAAhCAAAQQVokBCEAAAhCAAAQgAAEIQAACEIAABCAAAQhAAAJ9EkBY7RMYwyEAAQhAAAIQgAAEIAABCEAAAhCAAAQgAAEIIKwSAxCAAAQgAAEIQAACEIAABCAAAQhAAAIQgAAE+iSAsNonMIZDAAIQgAAEIAABCEAAAhCAAAQgAAEIQAACEEBYJQYgAAEIQAACEIAABCAAAQhAAAIQgAAEIAABCPRJAGG1T2AMhwAEIAABCEAAAhCAAAQgAAEIQAACEIAABCCAsEoMQAACEIAABCAAAQhAAAIQgAAEIAABCEAAAhDokwDCap/AGA4BCEAAAhCAAAQgAAEIQAACEIAABCAAAQhAAGGVGIAABCAAAQhAAAIQgAAEIAABCEAAAhCAAAQg0CcBhNU+gbU9/Hvf+17bS7IeBCAAAQhAAAIQGGsCS5YsEZ7BxjoEuHgIQAACEIAABDogoJ7BfPtCWHXcY+qh/sqFlxy3EvMg0JvAmxeuIZZ7Y2IEBJwmwH3stHswriYCKs5jYZVnsJqgMg0EIAABCEAAAhDoQSB+BvMNFMKq4x5DWHXcQZhnTQBBxhoVAyHgLAHuY2ddg2E1EkBYrREmU0EAAhCAAAQgAAFLAgirC+Tqq68O/l111VVyWX4s11zxtuD7K6+8MvinvuL/9sJ6xcqVK9/qNUj9/s033wyGqf+qf5cuXZJL8iO5Rt4mb7zxhly+fDn4d/HiRXnllVdspnRqDMKqU+7AmCEIIMgMAY+XQsARAtzHjjgCMxolgLDaKF4mhwAEIAABCEAAAoUEEFYRVhu5NRBWG8HKpB0QQJDpADpLQqBmAtzHNQNlOicJIKw66RaMggAEIAABCEBgxAkgrCKsNhLiCKuNYGXSDgggyHQAnSUhUDMB7uOagTKdkwQQVp10C0ZBAAIQgAAEIDDiBBBWEVYbCXGE1UawMmkHBBBkOoDOkhComQD3cc1Amc5JAgirTroFoyAAAQhAAAIQGHECCKsIq42EOMJqI1iZtAMCCDIdQGdJCNRMgPu4ZqBM5yQBhFUn3YJREIAABCAAAQiMOAGEVYTVRkIcYbURrEzaAQEEmQ6gsyQEaibAfVwzUKZzkgDCqpNuwSgIQAACEIAABEacAMIqwmojIY6w2ghWJu2AAIJMB9BZEgI1E+A+rhko0zlJAGHVSbdgFAQgAAEIQAACI04AYRVhtZEQR1htBCuTdkAAQaYD6CwJgZoJcB/XDJTpnCSAsOqkWzAKAhCAAAQgAIERJ4CwirDaSIgjrDaClUk7IIAg0wF0loRAzQS4j2sGynROEkBYddItGAUBCEAAAhCAwIgTQFhFWG0kxBFWG8HKpB0QQJDpAHofS377d9bLg4+JyIqtcvDzH5YFfbyWoeNDgPvYY1//4Buyb90BeUFE1kwflU0f8PhaGjYdYbVhwEwPAQg0ToDnusYRswAEINAAAYRVhNUGwkoEYbURrEzaAYFxEWQufm2/bNk/V0r4lh1fkAc/Mqhs+R155O7dcqwG8TN+4A7sueH/lnu3HRe5b7c8/omb+ouObx0NXxvYtEy++dlPy8PP1STcxEJQDdfb30UxuoyA3/fxRXkyis/8fRjdWyLS6x417p2B7+W6Yyy2f5k88OgOufva7PzxtZf93t4eN6/f3n6bkQirNpQYAwEI2BLQnw2zH2wlAmgfH3ol85U9t8XPZoM81+kXZTzj8aG7rb8ZBwEIDE4AYRVhdfDoqXglwmojWJm0AwJ+CzL2wJKH3UbEwGaE1U/JAdly7qP9i6o5LKlwVUtFHMKqfeC1NNL7+7jsTWL8c+ktPLopLPYSVtXvvyqLCkXX/oLHzevv7xp6jUZY7UWI30MAAv0QMD50N8TO9EM9NZ/ts1MvYTX4fR3PdQir/biZsRCAQA0EEFYRVmsIo/wUCKuNYGXSDgh4L8hYMrMSVhMRx5w0fKBOxcn0t6tl35Pr5X1iPoDHv08q7ArnjV9rrmWKIz8IK2FjUUnUluHn5Yb7RI49Flbf3rJjt9z21O6gGtVoF5A8dK+Xj8tR+bL6ffS1ZttqOTZ9PEeu9I1Dxv5b7lst8thxeWFFfu5g0hLxOvDBUyK3PDcXbHsOv2IORXzNKkW9euSWFcvkhefmwrU+I/LFaCu1flG9KhwtQ8eLYf7fx8UCZOLz4A3vtUlla5Gf9Xvn3nOfDltoGF/m/Sr3rZZjj4X3QWGlkqyWNY8dl2NxnE6LPKiqwDPjC6vhg3tgkRwL7t/4a5k88MVb5dlP6ffwMvn4J0W+/KW5qDK96BqzeSYWmc0PTG5/JmwbYlS7F16/FyFdaCTCqr++w3IIuEjAzN/ac1nmuSf9G1H8vKd+v+alzM6o++6XNY8dEvNvzW6Rbelz3Xu/ErV70v9ORB+0ZT8sM0TbO54r3JU0rs9ALsYWNkFg1AggrCKsNhLTCKuNYGXSDgj4L8jYQesprBb1OdSq5X7zN+bk3/x+Khq+avQ+1QQUJQB97LzRMzF42NYqFKoqGnoLq2EvRiWepOLRMrllxZy8oMTTuOKirBXAv9wqL/2LTD/HqqrAHBdNAH2PiPyFLqRqvyvY5pa+gQnfvEiOoV65ZwptH/xm/IZFvfbX5M+jreOyYo38o+eOyb/Vt4qPYc/KUbiP8xWX6RvY8E1ttrrTjJH4Deovf+Tvy3/82p9oor2I2dMuc78WtNlIRfzVsu/RRfJ4JNwngr5WQavGPr44bSXSzz2s2o/o+WCf7DZ6Khfnmd7CarbavVcVlV0W7X4Uwmr3PsACCIwSgTg3xrk9FlCDPD6/LPkgOBFWg+eL83Jv8KG6iCTPG+FzzXVx26ngGUiiD8e1Z7Pkg3jtQ7XoA+bktdH38TNS/CFxubCq/qaVPz/lW9CMkge5FghAoC0CCKsIq43EGsJqI1iZtAMCoyDI2GCr7LFqVD1qW46TB+ZlEguruSpUozKtWPCID6PRKy4DmwsqO+1EmaiqQhNP9931vDyoeshaC6vF15nrA5l50xC8kYjXjYVVTUQ1KwzNvrBZcadQ7NZE0divRiVItFb62lhY1beKZwU5mwjxe8xI3MfZWCvb6lgSI3HFZiKsanFpxlosrJa3FzDvQ0kqZddMm9VG6RvWgopr4411tFZQda4+2Egro4qE1UHyjFGxGvWYtck5PkU+wqpP3sJWCLhPIM6/a3ZslZf2H5AXtLz90o6tcsP+A8Gug9yOntxOpDDHJx8CF+X/oMd2+oGguVvhppxIay+sRj1WS/42ciCi+3GIhRDwgQDCKsJqI3GKsNoIVibtgMBICDIW3PqpWM1PVyCsGoOy25j1LbpfkEVHw4Oj1FfwcC76wVLmoQMDCav37ZaDi78aHs5lLawWQSsQmoqE1fhnsbBaNFVVxWpOHN0qB9efly3RNuuiA7eSLXa560NYVfhH4z4uvm8KW2oUHMrWvLCq7o+Pyvl1WnuOa/VtoRZvrPsVVq3zzFFJhdXPy21PfdY651ikT2eGIKw64woMgcBIEEiE1en4WW217Avavrys5ftUWM33ZI2rUi3yfy9hNUPUuhVAj+cnhNWRCFUuAgKdE0BYRVhtJAgRVhvByqQdEBgNQaY3OHthtbiKLbdN2aimy1bA6QJRvsKtypb2hNXehwEFVPusWK3yRFXF6v9+1/Pyv+jCsNa3tqhiNamaTVoBULF65cJLvW8E10ck91W8BbO4svPxYPu+WZncibBaIJSaVdvmm+67+xVWK/NM8fXfsuN/lRv2/29pb+ZrJW030Mjhfe0FFcJqe6xZCQLjQCAVVjM9UjN9so0WAXEva7UzQNvZ1HTFqvG3Reux2uv5CWF1HCKZa4RA8wQQVhFWG4kyhNVGsDJpBwQQViPo2haqXD+rFVvlsxMH5PPqMJxImLDvfRgLq/FBTPGBVDW2AhiwYrXoOg9+3qygTd80xBUbBT1Wk23N1Vvwq3qsJm8Mcr3GwnXTQyHosVqUJkbnPs4cDFK0nb8kRnLCqrbdvrjHar+tAAoqVhOhNLo/3h1v9Y976g0mrFbnmTCXBH1U1YcRUSV8WrEaC6t2OaeDPzsDL4mwOjA6XggBCBQQ0IXVTVr+Dp+P0ue1rLCay9FR3+2BWgH06LGaO6RT/V0sElZL/jYirBL6EIBAHQQQVhFW64ij3BwIq41gZdIOCIyOIFMNr2fFqnp5rmdWycFMyVJ2p3XrD+uBCBL38tIPXIrmbKZi9cOSCMFq/W2r5dh0eLp58lVVyZblsiKqJlyxXj4uR+XLUZuDeK5cL7LoF8V9btOKRKMf5Iqt8sDEAXk4ONk9c9iV4rZimbzw3FwodH9G5IvR4UL6JSVbyDu4r9pecpTuYz1OsrFUFSOfvO+4fCmqJEoPdtM9UXa/5r1V3GO1qBVANm8skwd2XC8P7w/vrzXJ9lL13TJ54Iu3yrOfKu+x+vgnrk36uaZWaSdVGz300kPrFCejx+oH55ID9HrlnLZjdZj1EFaHocdrIQCBLAFDWP1A/MFx/KFb0YfFmX7a922VB+YPhK1X1POIvi3/vvtlzWOHjN0Deo9VVeEaH7qY2qV/4GeulTz3ZIRV9YG4/oyn7Mg+PwX98fmCAAQgMAQBhFWE1SHCp/ylCKuNYGXSDgiMkiDTAT6W7INAcvpuUAmyoI9X5oeOyinnQ0HQXsx9XBdJ5nGZAMKqy97BNghAAAIQgAAERpUAwirCaiOxjbDaCFYm7YAAgkwH0Md0yaGEVaPX6wo5fbc6QCje6jycSDsK7uA+HgUvcg29CCCs9iLE7yEAAQhAAAIQgED9BBBWEVbrjyoRQVhtBCuTdkAAQaYD6GO65FDCqmgH8MT8tP6bY4o0uWzu43GPgPG4foTV8fAzVwkBCEAAAhCAgFsEEFYRVhuJSITVRrAyaQcEEGQ6gM6SEKiZAPdxzUCZzkkCCKtOugWjIAABCEAAAhAYcQIIqwirjYQ4wmojWJm0AwIIMh1AZ0kI1EyA+7hmoEznJAGEVSfdglEQgAAEIAABCIw4AYRVhNVGQhxhtRGsTNoBAQSZDqCzJARqJsB9XDNQpnOSAMKqk27BKAhAAAIQgAAERpwAwirCaiMhjrDaCFYm7YAAgkwH0FkSAjUT4D6uGSjTOUkAYdVJt2AUBCAAAQhAAAIjTgBhFWG1kRBHWG0EK5N2QABBpgPoLAmBmglwH9cMlOmcJICw6qRbMAoCEIAABCAAgREngLCKsNpIiCOsNoKVSTsggCDTAXSWhEDNBLiPawbKdE4SQFh10i0YBQEIQAACEIDAiBNAWEVYbSTEEVYbwcqkHRBAkOkAOktCoGYC3Mc1A2U6JwkgrDrpFoyCAAQgAAEIQGDECSCsIqw2EuIIq41gZdIOCCDIdACdJSFQMwHu45qBMp2TBBBWnXQLRkEAAhCAAAQgMOIEEFYRVhsJcYTVRrAyaQcEEGQ6gM6SEKiZAPdxzUCZzkkCCKtOugWjIAABCEAAAhAYcQIIqwirjYQ4wmojWJm0AwIIMh1AZ0kI1EyA+7hmoEznJAGEVSfdglEQgAAEIAABCIw4AYRVhNVGQlwJq3xBAAIQgAAEIAABCLRHYMmSJcIzWHu8WQkCEIAABCAAAQgoAuoZzLev1157LTB5bm6ub9OXLVsWvOamm26SBQsQVvsGaPMCKlZtKDHGBwK+fvrkA1tshEBbBNTfJB8fdtriwzqjQSCOc+J9NPzJVQxHgPtgOH6j/GpiY5S9y7VBoBsCvuYVhNVu4sV6VYRVa1QMdJwAwqrjDsI8CFgQ8PVhx+LSGAKBhADCKsEAgZQAeZ9oKCNAbBAbEIBA3QR8zSsIq3VHQs3zIazWDJTpOiOAsNoZehaGQG0EfH3YqQ0AE40FAYTVsXAzF2lJgLxvCWoMhxEbY+h0LhkCDRPwNa8grDYcGMNOj7A6LEFe7woBhFVXPIEdEBicgK8PO4NfMa8cRwIIq+Poda65jAB5n9ggNogBCECgLQK+/s1BWG0rQgZcB2F1QHC8zDkCCKvOuQSDINA3AV8fdvq+UF4w1gQQVsfa/Vx8hgB5n5BAWCUGIACBtgj4+jcHYbWtCBlwHYTVAcHxMucIIKw65xIMgkDfBHx92On7QnnBWBNAWB1r93PxCKvEgCUBngksQTEMAhCwJuBrXkFYtXZxNwMRVrvhzqr1E0BYrZ8pM0KgbQK+Puy0zYn1/CaAsOq3/7C+XgLk/Xp5jtJsxMYoeZNrgYAbBHzNKwirbsRPqRUIq447CPOsCSCsWqNiIAScJeDrw46zQDHMSQIIq066BaM6IkDe7wi8B8sSGx44CRMh4BkBX/MKwqrjgYaw6riDMM+aAMKqNSoGQsBZAr4+7DgLFMOcJICw6qRbMKojAuT9jsB7sCyx4YGTMBECnhHwNa8grDoeaAirjjsI86wJIKxao2IgBJwl4OvDjrNAMcxJAgirTroFozoiQN7vCLwHyxIbHjgJEyHgGQFf8wrCquOBhrDquIMwz5oAwqo1KgZCwFkCvj7sOAvUAcMuHJuSU7dvl7XXOWCMIyYgrMaOuCBPTN4jJ3/1hEyvWeiIdzCjbQLkfUX8rEzNiGyfvLlt/E6vR2w47R6Mg4CXBHzNKwirjoebtbD6g2/IvnUH5AXtem7Z8QV58CML7K9QzfHbIp/6jMgX1X8//2Hp49Xl68Tz1jWf/RUx0iECCKstO2NuSpZvOaItukFmz2yX4C1B5ncbDp6R7cv0N9KHZWJmuyw6tk3u2fN0OscdO+XEzFpRb68vGL/T5lajX31Ctj06IdOTN5ePq7IvWvHszHLZLLNyRnsjE/zskdikzLotIx7H5Xx92BlHX/W8ZnWfrt4ryR2u3d/ma0Nxbe8z0U9Lx52VqeWbxcg6UW4x84WIJHNk5lZLlM1fmrcGWbeajrWwGtgkaW5Npg1tEiO3ZtdU175H5KHpTkVt5Zs9sqtYOJ2bkm3nNg4uqio+f7TKyOE945IBzhEY97xvPneImM9Mmrsqn63SceX5sDyXZZ/b1GzFdpTn64HW7RGNvWIjt6Y23527qj+wqcxNTd0l6u/i50R2bZ6Xe+rMXQPkwoDd11eFz93B3+uTsup4+Pei6Pm4KSTMC4G2CfTKK23bY7sewqotqY7GWQmrkagqupBa9LNe14AA2osQvx+CAMLqEPD6fmn+TX3wEPbiTjnxkMie1XtlIn7DHzyszcv9segaV2Wsmzce4kSih/Wls3LmQydl+exEIrLmHvDmpmRKtst2mSoZJznRIbFvZq2ILtpuSoXV8AF9IhExeLDsOzCGfoGvDztDX/jITRDmiPldJ2SXHA4qViceXS6Hbsy/0Q3uu+/fH4ljWh7IVG4V5YHlW+Zl5yOr5OSm9A2hkUsmF1mKi8reQzIRvakMRYZ52Xl8OrDb+AAm/l3lutVVZ9bCqsqXRQJqqeCqB5L7wuqFVy/IwuuGqFQdQEwYuVttBC5onPN++tyxSk6qitXg2Uh/ZoodXJ6jjN0AGYFMz4ezsrk4l6m897LdhxSl+brima5y3R47GXrFhmlPfzdDp8JqVETQn8X1jkZYrZcns/lDoFdecfVKEFZd9UxkV29h9TvyyN275aWi6tRIXL1h+qhs+oDIt39nvZxevFVe2n9Awp9dlCc/+2l5+LlwsTU7tspLT2UqViOx9baJA/LwYyKyYqscjCtPM1Wya6J1RJRNz8miHS/Lw/uvl32PLpLHtQpYZceDai71pc/nuC8wbzgCCKvD8evv1eoB/6SsSsTSqEpViaGBsKq/KQiFkvnNUdVqXKF0+6nwU3vt4TJ+QFYP4Sc/pFW5ZsTZszPbZH5dKHgUj1slJ8vsK1gvqVjNvEkf5oG9P56Mjgn4+rCDB7MEUhFg5em0FUBeSMvkBzVNiVimhFXjfg9Ex0MyoQTOLxXnkjOT6kOWTK4qcpZaU/swJxQjwmrPXJ6xWrcuYTWq3k+E59B4xSIVqc0qtLRKSxNWlWii7zDIfKC0R1bJxJ69gRBubMmPqqtWLd0rex8RUXPvkj1yzx4JRGdd0DGq7uKqYK3CLrAryvvBfOqDuJkJOZz4J1MJp9lo+l77+2PEShkH7k7XCYxz3k+fM0RrBXBBLry6UBbqomNFjsoJq7bPVnEuOz4tK09XVJYnAVSRr5WwOsC6vVrE9IqNns9pWaE52kkx8c82yJF/Fe5/KM5Na+W8voNJ2+lQVWEc5Kobd8r8nrjAwMxrG3btlPmvmxWrocAb5mBlkVFpm9n5kVQR67lZ5VKjAtYuFyKsup4Zsa8pAr3ySlPrDjsvwuqwBBt+vZ2w+lVZ9OgOufvarDGhcHp+fSqsPjifCqOBwJl8H4msslUO6q0ADHE2HPPsXarFgMiTnz0g8plo3W8dlXu3iex7cr28LxBWNbFXr4RV455ZIY9/4iYR0eerpelAw95g+mEIIKwOQ6/f1/YvrMY99GJRdK1E26GqhM7YLOMNxVmZmpyXjUWf9ifj9Dfr0SS5NyVFgoV+XQVvIPrFxPi+Cfj6sNP3hY7BC+JKrJ27RKSPHqt5ATUVE/sWVoMqKq0dgdyZEwQLXRFv15wJ31z3vW6PPon2FatR65Ns1b9WXWvwMkSESFj9pKro1XYRRLsD4pycrdQ3eERv6iUQXM+HrRg2zcqJGw+lW0jVCwyB0+ybalSFxaJG0sIgzbkS73oIcruZf22E1XIOY3CzeX6J45334+r+nTLx/Qn7HqtajjJqvgt+XvqhtSasBpX5SRskEdE+2KgKr+S+u778mS73Ybm2buPCqpGf1A6GtKdzZW4qyWnhB0vpzqagNVV2C33woVHY1krfLRXntb1iCqFGDi7K4XE7F32nQjaXavba5kKEVc8TJ+YPTMDXvzkIqwO7vJ0X1i2sPr447buqhFX9e1Gi59FFBcLqebk3EExFLn5tv3xRthb0bg2rVG9PhFVN7K1oMVA+Xzt8WaU9Agir7bEODlmorFjV3sRHFUvhJ/AiT8yckpWTUT+nkuoGvedp3PdL/5R+6vRK2Z496CRaJxxXYV+lkJvtx2gpwrSJfsTX8vVhZ8TdMsTlaZUzpb1T1fT6vVfc23igitXMtlrjjWTRVWUrLNcsDN4YdyqsZkTGICca1bX6hejb/3Vh1dxarFe8VlZ85XYLRJWyBTsODCu0vqp58SLTGib6W6KE1aJWEWpeG2HVdKcbbRCGuHHG6qXkfbOvfGmP1VgkjKrPC3uIDiGsZqvgy3s4F+TrAdetRVjVe/Und47+dyT6oGbpBjnyYtpmqjo3ZTJKlNMCYdXYQWC2aDB3E2R3F2i7u7QK03x7hbLe2NqzbbbNVmlblPJciLA6VmmWi9UI+Po3B2HV8TCuW1g9fUdYvaq+csJq0eFVGVE0L4Tq7QRWaxWrscgqIkXCalDhejywo+9Dthz3GeYVE0BYbTMyegiXxgELG2TDpiMiamu/qmiIDp0KPuWvFFZjQcYUN9WD4OHF09phWEXjBhNWzcqC6I1O3Ni/TbxjvJavDztj7LKel37hWNgKQG01Nd+QFr+0rLdxPQJnpk9hmfVa1VDXrQAC2VnrQ5t94x5fQro9Nc6Z9sJq6eFSmTxdVZ0W2FEgTOfECyPvmxWrdQireQ49Q5QBHRMg16XsYgAAIABJREFU7ysHnI1aAaj2JVq/Z4scVUcrgKzA2XOLfWRXkq9dbQUQ88tVy4d5Ncl9ZRXAmZxmI6zqH8Tl8nXB4VVmr9ciIdRCyC4QVnvlQoTVjhMfy3dGwNe/OQirnYWM3cJ2wmofPVbrElY/OCf71h2QF2SZPBC0IchWrBYLq6/G/VXv2x20A6Bi1S4ORmEUwmqbXrQTLkOL0odEJawkomiVsBpt3w23n+qb3NRch2ViZrsEHQyNbar6ODv7sm8ccsJN7uCtNhmP51q+PuyMp7cqrlq7dxZFwmpwOEqu0rJA6Ky1x2q212mxsJoXEdzpsRpQTniq/tG66JJWBIdVboNVrA4rrCZv4KPtw7pQULuwquflJFbCAwtVf8I8B+5O1wmMc95PhbfzkbAabldP+tJHzqvKUe0JqxX52mlh1bJiVfvQpyyntSqsqpZZQSub+MOyTMWq/iHVALkQYdX1zIh9TRHw9W8OwmpTEVHTvL2F1agidN0BEf0Aq6g3qv6z4PCqjLBa2HM122NVO3gqEUIDYfV5uS3q7ap+vkUdVJW0AqgQViUUVcNDrkpE4Zr4MY07BBBW2/RF/qTqtNpT9TdN3/jrD27nZ6ZEJnVRtPgkb9WPq7hyKa7oCMWSssqtsFXBZtG3sWWrUQPJ1ziNPOqFJbPR6eRx9ZXIrH5IV5uYx3AtXx92xtBV1ZesVQdtPBdWrKrKz/x9bfbjjFsCxP0/9UVylaxBJdG87FSHV20qziXZXqClrQD03nVqUe37oPdnLi9Ur2u0Mykg1VeP1ej1wQc/skGOyKo0R2VzXcwkOFjKvsdqLcJqwijuGRl+MNaPsLo56U2Y77Ea+8DoR5gRE5Kcb3Dg7nSdwDjnfePZaUZke6Z9SeK7ihxlfHyUPawpbrOydFbUs1VhLjt+v8yv1p+Z8s9QoR0V+Vq1B9F6jSbtXSrXNQ/AK4rTXrFhU1lbVvFflZvMvzdpTrPpsZqtWE3zmtZzNdMKIM3B2odjgbCa/m3L9WKtEFZtciHCquuZEfuaItArrzS17rDzIqwOS7Dh11sJq8qGSEh9QbMnu8U+K6zGh0c9/Fz4olvuWy0yv0g+ZSOsfmRBUG26Zf9c+Nodu+W2p3bLwxNKNBWt32q2FUAoph4LXrVa9k2LPLjt5ajqtWGYTN8pAYTVlvEb2/3V2lo/q0wrgFCYzB86FT4kPp0aHvRgXCmnJu+Rvc9kr2eDzB4UOXRuY1TFmu2HGo+P7KiyLxqafyA3T1IV24NuWkY/ysv5+rAzyj4Z+Nqy92DpYSiZ+y5zGnwqBGTvz7g60exPGNhbeoKzlqcyAoSZj/QWJIOtW8VtEGE11286XkDnvCkSTwKBUuXSqFefqhaO+jIGL9MYm9tQM1ZbtwLQGYW5erMSvZXAG62tn7y9K+l1nT8wMMn9Rrxo82/aIBseEVml/q7o1c2lHMJDZPhyl8B453373u6lOaoyl+n5sDyXxTuA4icyvX9rkcioqsOLckn+mU7dfxXr9gjLXrGRe47U5guuYfHh8AO44MOmdKfThKrwlzAvluemsAo+eL7Vclr2oC+9J26+ZY3p3zs3bRB5cUJ22Qir15l/2+7cNSurvr5Z9i6dlTPZCuEBciHCqrs5EcuaJdArrzS7+uCzI6wOzq6VV1oLq61YwyIQGJwAwurg7HglBFwh4OvDjiv8XLQj7rHa65ASF21vyqaBhNWmjGFeCHRMgLyvHGDuyOnYJc4sT2w44woMgcDIEPA1ryCsOh6CCKuOOwjzrAkgrFqjYiAEnCXg68OOs0AxzEkCCKtOugWjOiJA3u8IvAfLEhseOAkTIeAZAV/zCsKq44GGsOq4gzDPmgDCqjUqBkLAWQK+Puw4CxTDnCSAsOqkWzCqIwLk/Y7Ae7AsseGBkzARAp4R8DWvIKw6HmgIq447CPOsCSCsWqNiIAScJeDrw46zQDHMSQIIq066BaM6IkDe7wi8B8sSGx44CRMh4BkBX/MKwqrjgYaw6riDMM+aAMKqNSoGQsBZAr4+7DgLFMOcJICw6qRbMKojAuT9jsB7sCyx4YGTMBECnhHwNa8grDoeaAirjjsI86wJIKxao2IgBJwl4OvDjrNAMcxJAgirTroFozoiQN7vCLwHyxIbHjgJEyHgGQFf8wrCquOBhrDquIMwz5oAwqo1KgZCwFkCvj7sOAsUw5wkgLDqpFswqiMC5P2OwHuwLLHhgZMwEQKeEfA1ryCsOh5oCKuOOwjzrAkgrFqjYiAEnCXg68OOs0AxzEkCCKtOugWjOiJA3u8IvAfLEhseOAkTIeAZAV/zCsKq44GGsOq4gzDPmgDCqjUqBkLAWQK+Puw4CxTDnCSAsOqkWzCqIwLk/Y7Ae7AsseGBkzARAp4R8DWvIKw6HmgIq447CPOsCSCsWqNiIAScJeDrw46zQDHMSQIIq066BaM6IkDe7wi8B8sSGx44CRMh4BkBX/MKwqrjgYaw6riDMM+aAMKqNSoGQsBZAr4+7DgLFMOcJICw6qRbMKojAuT9jsB7sCyx4YGTMBECnhHwNa8grDoeaAirjjsI86wJIKxao2IgBJwl4OvDjrNAMcxJAgirTroFozoiQN7vCLwHyxIbHjgJEyHgGQFf8wrCquOBhrDquIMwz5oAwqo1KgZCwFkCvj7sOAsUw5wkgLDqpFswqiMC5P2OwHuwLLHhgZMwEQKeEfA1ryCsOh5oKrD4ggAEIAABCEAAAhBoj8CSJUuEZ7D2eLMSBCAAAQhAAAIQUATUM5hvXwirjnuMilXHHYR51gSoWLVGxUAIOEvA10+RnQWKYU4SoGLVSbdgVEcEyPsdgfdgWWLDAydhIgQ8I+BrXkFYdTzQEFYddxDmWRNAWLVGxUAIOEvA14cdZ4FimJMEEFaddAtGdUSAvN8ReA+WJTY8cBImQsAzAr7mFYRVxwMNYdVxB2GeNQGEVWtUDISAswR8fdhxFiiGOUkAYdVJt2BURwTI+x2B92BZYsMDJ2EiBDwj4GteQVh1PNAQVh13EOZZE0BYtUbFQAg4S8DXhx1ngWKYkwQQVp10C0Z1RIC83xF4D5YlNjxwEiZCwDMCvuYVhFXHAw1h1XEHYZ41AYRVa1QMhICzBHx92HEWKIY5SQBh1Um3YFRHBMj7HYH3YFliwwMnYSIEPCPga15BWHU80BBWHXcQ5lkTQFi1RsVACDhLwNeHHWeBYpiTBBBWnXQLRnVEgLzfEXgPliU2PHASJkLAMwK+5hWEVccDDWHVcQdhnjUBhFVrVAyEgLMEfH3YcRYohjlJAGHVSbdgVEcEyPsdgfdgWWLDAydhIgQ8I+BrXkFYdTzQEFYddxDmWRNAWLVGxUAIOEvA14cdZ4FimJMEEFaddAtGdUSAvN8ReA+WJTY8cBImQsAzAr7mFYRVxwMNYdVxB2GeNQGEVWtUDISAswR8fdhxFiiGOUkAYdVJt2BURwTI+x2B92BZYsMDJ2EiBDwj4GteQVh1PNAQVh13EOZZE0BYtUbFQAg4S8DXhx1ngWKYkwQQVp10C0Z1RIC83xF4D5YlNjxwEiZCwDMCvuYVhFXHAw1h1XEHYZ41AYRVa1QMhICzBHx92HEWqAOGXTg2Jadu3y5rr3PAGEdMQFh1xBGY4QQB8r5yw1mZmhHZPnmzEz5xxQhiwxVPYAcERoeAr3kFYdXxGOwtrH5HHrl7txwrvI7Vsu/J9fK+0mtUr31Obq8cUz+gb//Oejl9xxdk0dEDIp/ZIXdfW8caF+XJz/Y7X8hOpo/Kpg/UYQNzVBFAWG05PuamZPmWI9qiG2T2zHYJ3hJkfrfh4BnZviweekGemDwsEzPbZdGxbXLPnqfTOe7YKSdm1spCEblg/E6bW41+9QnZ9uiETE/eXD6uyr5oxbMzy2WzzMoZ7Y1M8LNHYpMy67aMeByX8/VhZxx91fOa1X26eq8kd7h2f5uvVTnhHtn7TPTT0nFnZWr5ZjGyTpRbzHwhIskcmbnVEmXzl+atQdatpjOQsBrxlF0nZHqNypLhl7r2PbLL+FlP37g+QF3r50R2zayV8zPL5eSH9L8hwxk/kryGQ9L5q8c975vPHSLmM5Pmnspnq3RceT4sz2XZ5zY1W7Ed5fl6oHV7RN+4x0bnNycGQGAECfiaVxBWHQ9GO2H1q7Lo0UEEyi6FVRfETITVNsMfYbVN2uHDuWiCafDG4MWdcuIhkT2r98pE/LtADJiX+2PRNa7KWDcv21aflFXHp6NKtuhhfemsnPnQSVk+O5GIrDkBdG5KpmS7bJepknFSbt/MWhFdtN2UCqvhm4KJRCAuEl7bpDyOa/n6sDOOvqq+5jBHzO86IbvkcFCxOvHocjl0oykKxsLgPd+/P/qAQ8sDmcqtojywfMu87HxklZzcVJJLJhfJE5N7RB6K80yZ1creQzIR56NAwJiXncenA7uND2Di31WuW111Noiwqq7/pGyQIy+muXEchNVUQq7nLkNYrYdjnbOMc95PnztWyUlVsRo8G+nPTDHp8hxl7AYInrmK8+GsbC7OZSrvvTwly/9olfFBc5GPA3uL8nXFM13luj12MoxzbNR5jzEXBCCQEvA1ryCsOh7FdQirqkL0Qdktj3/ipuBqg+/n18vH5ah8+Tn1k7CyVVQl6eKt8tL+A3KDquJ89zdk37oD8kLEaE1c2fkD8+eyYqsc/PyHZYEap3732yK3TRyQh+ejn3/rqNy77Xg4y4qt8sDEATlvVKyGAu+iHS/Lw/vnEnviStvA3sciI7S1gsrXxF6zAvbi1/bLlmCu9PrylbsIq22GP8Jqm7TVA/5JWZWIpVGVqhJDA2FVf1MQCiXzm6OKo7kp2XZuo0zffiqpSIrfOMcP7Ooh3KhQyoizZ2e2yfy6UPAoHrdKTpbZF1XE5gWd6Bq0NxbmG4g2+Y7vWr4+7Iyvx3oLlStPp60ALrx6QRZep0tlmfygplPCZcEb/EBYNCoXI6FBCZxfCqsbs7nkzKT6kCWTq4pMVmtqH+aIKLtCQTaXZ9SHQ0qErVy3bmE1FlXul/nVmgCcVKyukok9e4Nq3rTKLFute2cgFAciTFQRumrpXtmrKvS1Kt7y6jmz2u3OTOVsjDUULkN7lLB+//fv0XYBiBivy1Q1J7YXVayqD9KMXRJqxeiaxKyONirtjDU2yM5d83JSduXsSl9jd53c8/URGOe8nz5niNYK4IJceHWhLNRFx4oclRNWo2rvns9WcS47Pi0rT9tUvlfkayWsDrBurxYx4xwb9d1hzAQBCOgEfM0rCKuOx3EdwqqItk3+FSVyStQiwKxYDQXXWCTNbK0PxFH1uhVy+u7d8tKOL8iDHwmk1FCojYXbSHQNhFm1vT77fSSyrpnWhdBQ4IznNOZT459ZEYnCyqZPy7N3hWuX2iuhuPupSOzNCsupyxFW2wx/hNU2afcvrJ781bBSLRZF16o3wiUP4frW/OCqjDcUZ2Vqcl42aiJKcuXJuAk5PIiwGrzJiEWYgjcQbSIe07V8fdgZU3dVXnZcibVzl4j00WM1L6CGywwkrAZVVFo7gliI69XvtXIregfCqpYD1dZ4vfLXqLTXqtWCSlu1iyDOlUGlrYQV+ZHYGO4sCHOdytG7ZI9RtR8IsFH1m1FxnKuKS0NBtyds95LuAtDnW3tdKl4H4krWvh6tANIK5kxVsj5PkNPDyumgfUJ03T9Zs0KeP/a+tH3NANfJPV8fgfHO+3GM7pSJ70/Y91jVcpRR1V3w89IPrTVhNcgXSRskEdF281R5OsnL15c/0+U+LNfWRVit7z5iJghAwI6Ar39zEFbt/NvZKDthtbjH6i2a+ClKoDwqskaOi6yPt+HnhdXHF6eCqXnR8VglrJqtB4Lq0HMfDcXPQEg9L/fGfVuz3wci76fl/PqssKrNaYipphVqrS/K1kRYTe2t6LFaOh/CapuBjbDaJu1ewqrWCiDqCRZWKYk8MXNKVk6ulYUVD/+GsBq9Xq9kmjq9UrZrPQYT8XXLkahaq8K+qorVoEpN6/VoK8K0iX7E1/L1YWfE3TLE5WnVf6W9U9X0+r1X3Nt4cGE1raAPBIavr0rFxuyVaT0M48rKgdbtcQBNv60AlA2JmJqpXDMr69PtwrnWC3rlf2YXQLw9PhBWk22+gZydtEhQFW3m74rDQrcnX/Wf2c5sTKHl7R49Vqv9qOf//HqK5cMXV8jzCz6pbXvu/zqHuCl4aYYAed/sK1/aY1VxK8hRBs4hhNX0A5t8uyfTZQX5esB1EVZJBxCAQNsEfP2bg7DadqT0uZ6dsGrXY9Ws8FSG5IXV03dke5+GQujDScsAC2FVqxbNCa1Rhat5eFWm12uREKq1E4gF4/AQrNjeAmFVb1lwX9oKIXUBwmqf4TjUcITVofD1+eIewqVxwMIG2bDpiIjawqsqGqJDp+KtqMXbd9U22liQ0bavRtteDy+e1g7DKho3mLCa9InVD9CqEmH6pMbw3gR8fdjpfWXjO+LCsbAVgK0wV9bbuB6Bs0rY03yUqWDsvwVBna0A8gfOJFvgr8seXtWHsKrtGLARVtOq0uj4sJKKNr2Hae4wmwCxmdMLRfUqYdWoSNXvqyJxPu9vZdNDc5dKhVXb6xzfO7r+KyfvRx9iqB6rQfsSs91HIfGyqvGaBE7bVkhJvqYVQP03BjNCAAKNEPD1bw7CaiPhUN+ktQmrlhWriVCZiJLL5IHgYKw+KlZrFFaT/qqRMJqtWC0SVj/4zai/atyPlYrV+gJyiJkQVoeA1/dL7YTLcNp0u6cSVhJRtKpiNdq+mz39OpzrsEzMbJdAtig5JTsUZUt6wFZUrOaEm9zBW32D4gV9EvD1YafPyxz94dq9sygSVoPDUYw+ppGYkBURau2xmhU4i4XVvIjgUI/VXG/FsC1CXF02cMXqIMJqErnlrVJywqpRAZsVr1WbhlhotahY1Q4VSyrdkh6qBfMUbDm2ElYtrnP0b+L2rnCc8356L5+Peqyq1hZaX/rIDVU5qo4eq9nK0WJhtSB/xvkaYbW9G4aVIACBoQj4+jcHYXUotzf/4nqEVSWKRlWtqv9oslW/omI1EFafl9sCUVUkPAzqerseqzlhNToMy+i5mm0F8JzcHrcP0IRQsz9qvhdrqbD61K3RgVpRxe0EFavNR2v1CgirbXogv00srfZU/U3Tagt9y+b5mSmRSV0ULT+5tuj08EAwDSo6QrHE2B5rXH6VfUUH3KTz5U//jnoStol3jNfy9WFnjF1WfOlaD8+N58KK1dzW9OSDl7C/Z9ADM2oJkH6fTp+rZI1FNnWI1KbiXHLixkPG1v/SLeTZKkjte5lZXnySdsW6uT7RGUr2rQBKBExNbBW9j2k/PVbLhNXCnqi7RD6niz3lW4XzFataj1VdJM5U3OV6xWZ7rKodD8Zp5xHUqnmyPVaj7/9zaY9V++vknq+PwDjnfePZST3fBB8s6weARpwrcpTx8VGukjWq5F46K6rXaf4ZZ152HleH4m0WCXouxx946d/Hvk77MefytTqQ1Lg/bdaNDtOrCKVxjo367jBmggAEdAK+5hWEVcfj2E5YLe6xKrJa9j35a/Lnaiu/JiymLQGWyTeDbf5q3HoRY2t9LKbOBYRu2bFbbntqdzjPx87LvnUH5IWYXVwZqr5XgqwurKqfadv4lU1r7jsucoedsBq2K4ivb7XsmxZ5cNvLQRXte79S1gpAb1+wTB6YvlWe3aaJu4nPaQXQZvgjrLZJ2+zzFa6s9UXMtAIIDktRb2gzh07ltokGPRhXyimjz2l8XRtk9qDIoXMbDQFm7zPZ647sMGzI2Be9pLj/3+bgZO3wK7tltWXGY7icrw87Y+iq3pecvQdLD0PJbHXXxplian5LfNyLsDiXhB+imKfca3mqUJB7uuDeH2zdKkDWwmpp1bzZE3TP10Wefia0Pe3PWNEzOrNjQBdDTV7afEllaHRlFq0A1Ehzvnxrl3v2hHbfuWtWVn19s+xdOitntOo3dViXasWw6o8yh+tEZqjr3XhOHZJVMI/6EM6w+07ZsElk/sZdcv/37zEO69H7eBsHnlke4tP7hmBEGYHxzvv2vd3NPKfdS5W5TESS/tblucy8T9T9GH/YFd3DMhv1JC7P1+V5uGLdHrfFeMcGOQMCEGiCgK95BWG1iWiocc7ewmqNizEVBBokgLDaIFymhkBLBHx92GkJj5fLxD1Wex1S4uXFDWi0tbA64Py8DAI+ESDvBx9BGDtyfPJfk7YSG03SZW4IjCcBX/MKwqrj8Yqw6riDMM+aAMKqNSoGQsBZAr4+7DgLFMOcJICw6qRbMKojAuT9jsB7sCyx4YGTMBECnhHwNa8grDoeaAirjjsI86wJIKxao2IgBJwl4OvDjrNAMcxJAgirTroFozoiQN7vCLwHyxIbHjgJEyHgGQFf8wrCquOBhrDquIMwz5oAwqo1KgZCwFkCvj7sOAsUw5wkgLDqpFswqiMC5P2OwHuwLLHhgZMwEQKeEfA1ryCsOh5oCKuOOwjzrAkgrFqjYiAEnCXg68OOs0AxzEkCCKtOugWjOiJA3u8IvAfLEhseOAkTIeAZAV/zCsKq44GGsOq4gzDPmgDCqjUqBkLAWQK+Puw4CxTDnCSAsOqkWzCqIwLk/Y7Ae7AsseGBkzARAp4R8DWvIKw6HmgIq447CPOsCSCsWqNiIAScJeDrw46zQDHMSQIIq066BaM6IkDe7wi8B8sSGx44CRMh4BkBX/MKwqrjgYaw6riDMM+aAMKqNSoGQsBZAr4+7DgLFMOcJICw6qRbMKojAuT9jsB7sCyx4YGTMBECnhHwNa8grDoeaAirjjsI86wJIKxao2IgBJwl4OvDjrNAMcxJAgirTroFozoiQN7vCLwHyxIbHjgJEyHgGQFf8wrCquOBhrDquIMwz5oAwqo1KgZCwFkCvj7sOAsUw5wkgLDqpFswqiMC5P2OwHuwLLHhgZMwEQKeEfA1ryCsOh5oCKuOOwjzrAkgrFqjYiAEnCXg68OOs0AxzEkCCKtOugWjOiJA3u8IvAfLEhseOAkTIeAZAV/zCsKq44GGsOq4gzDPmgDCqjUqBkLAWQK+Puw4CxTDnCSAsOqkWzCqIwLk/Y7Ae7AsseGBkzARAp4R8DWvIKw6HmgIq447CPOsCSCsWqNiIAScJeDrw46zQDHMSQIIq066BaM6IkDe7wi8B8sSGx44CRMh4BkBX/MKwqrjgaYCiy8IQAACEIAABCAAgfYILFmyRHgGa483K0EAAhCAAAQgAAFFQD2D+faFsOq4x6hYddxBmGdNgIpVa1QMhICzBHz9FNlZoBjmJAEqVp10C0Z1RIC83xF4D5YlNjxwEiZCwDMCvuYVhFXHAw1h1XEHYZ41AYRVa1QMhICzBHx92HEWKIY5SQBh1Um3YFRHBMj7HYH3YFliwwMnYSIEPCPga15BWHU80BBWHXcQ5lkTQFi1RsVACDhLwNeHHWeBYpiTBBBWnXQLRnVEgLzfEXgPliU2PHASJkLAMwK+5hWEVccDDWHVcQdhnjUBhFVrVAyEgLMEfH3YcRYohjlJAGHVSbdgVEcEyPsdgfdgWWLDAydhIgQ8I+BrXkFYdTzQEFYddxDmWRNAWLVGxUAIOEvA14cdZ4FimJMEEFaddAtGdUSAvN8ReA+WJTY8cBImQsAzAr7mFYRVxwMNYdVxB2GeNQGEVWtUDISAswR8fdhxFiiGOUkAYdVJt2BURwTI+x2B92BZYsMDJ2EiBDwj4GteQVh1PNAQVh13EOZZE0BYtUbFQAg4S8DXhx1ngWKYkwQQVp10C0Z1RIC83xF4D5YlNjxwEiZCwDMCvuYVhFXHAw1h1XEHYZ41AYRVa1QMhICzBHx92HEWKIY5SQBh1Um3YFRHBMj7HYH3YFliwwMnYSIEPCPga15BWHU80BBWHXcQ5lkTQFi1RsVACDhLwNeHHWeBYpiTBBBWnXQLRnVEgLzfEXgPliU2Qif9xSt/Ka//8HW58oorPPAaJrpG4M233pJ3vPMd8p53/4JrpnVij695BWG1k3CxXxRh1Z4VI90mgLDqtn+wDgI2BHx92LG5NsZAICaAsEosQCAlQN4nGsoIEBuhqPrH5/5Mjv3ZU/L6pb8lWCDQN4F3XPN2WfP+u+RXFr8fcVVEfM0rCKt9h367L0BYbZc3qzVHAGG1ObbMDIG2CPj6sNMWHx/XuXBsSk7dvl3WXuej9c3YjLDaDFdm9ZMAed9PvyVWv/qETJ1eKdvXLKz9QogNke9+73uy/9QjiKq1R9d4TajE1R0rN8kvLlkyXhdecLW+5hWEVcdDt7ew+h155O7dcqzwOlbLvifXy/tKr1G99jm5vXJM/YC+/Tvr5fQdX5BFRw+IfGaH3H1tHWtclCc/2+98ITuZPiqbPiCi7HpQdsvjn7ipDoOYI0MAYbXlkJibkuVbjmiLbpDZM9vlZvWTzO82HDwj25fFQy/IE5OHZWJmuyw6tk3u2fN0OscdO+XEzFpRj+YXjN9pc6vRrz4h2x6dkOnJm8vHVdkXrXh2Zrlsllk5MxlYHXwFP3sk/i6zbsuIx3E5Xx92xtFXPa9Z3aer90pyh2v3t/lalRPukb3PRD8tHXdWppZvFiPrRLnFzBciksyRmVstUTZ/ad4aZN1qOtbCamCTpLk1zVQBCzFya3ZNde17RB6aRtTuGawM6JIAeb9L+sOsnc2vd8rO40X5pjyH9lqd2BCZn5+Xf3HyS71Q8XsI9CTwL1d9UiYmJnqOG/UBvuYVhFXHI9NOWP2qLHp0EIGyS2E1FDO7/UJYbZM/wmqbtMOHZP1NfSBIvrhTTjwksmf1XpmI3/AH4sq83B+LrnJWpmZEtq+bl22rT8qq5CE8ekBfOitnPnRSls9OJCJrTgCdm5Ip2S7bZapknJTbN7NWRBdtN6XCaijOTCQiRpHw2iblcVzL14fY8gR0AAAgAElEQVSdcfRV9TWHOWJ+1wnZJYeDitWJR5fLoRtPyHSmqim4775/f/QBh5YHtA881FpFeWD5lnnZ+cgqObmpJJdMLrIUF5W9h2QizkeBoDkfiATKbuMDmPh3leumH9YUcbIWVlW+LBJQSwVXfTWEVe5LPwiQ9/3wU9ZK/bnvsKpYXXzYeCaLx5fm7kIR1lyF2EBY9fPucNNqhNXQL77mFYRVN++rxKo6hNVsJWbw/fx6+bgclS8/p5YKK1tFVZIu3iov7T8gN6gqznd/Q/atOyAvRNasiSo75Qfmz2XFVjn4+Q/LAjVO/e63RW6bOCAPz0c//9ZRuXfb8XCWFVvlgYkDct6oWA0F3kU7XpaH988l9sSVtoG9j0VGaGsFla+JvWYF7MWv7ZctwVzp9eUrdxFW2wx/hNU2aas3+ydlVSKWRlWqSgwNhFVdSA2FkvnNUdXq3JRsO7dRpm8/Jds+J7IrqlBV1scCy6xslpMf0qpcM+Ls2ZltMr8uFDyKx62Sk2X2FayXVKwqseKPViUVrKbg0ybf8V3L14ed8fVY2ZWnQuXK02krgAuvXpCF1+nbRTP5QU2XuQ/1N+fG/R6IjodkQgmcXyrOJWcm1YcsmVxVZLJaU/swRyQVJXN5xmrduoTVNC9mK+tTkdqsBrtzVyxea8Lqy5kdBpkPlPbIKpnYszcQwrPCt1HFX1btq3L05+ZlQo7IEVV5rM0vkTgcVxqn9gVZP61W3rRBNjwiyd+Vsl0L6udV9nIv+keAvO+fz5TFKjcEeej2U2krgFcvyIXrFgY7j3rmboRVK8dTsWqFiUEWBBBWQ0i+/s1BWLUI8i6H1CGsimjb5F9RIqdELQLMitVQcI1F0szW+kAcVa9bIafv3i0v7fiCPPiRQEo1t9BHomsgzKqK1Oz3kci6ZloXQkOBM57TEILV+GdWRNvzlU2flmfvCtcutVdCcfdTkdhbvsUfYbXN2EZYbZN2/8LqyV8N37DHouhaUW/Ey8SQjChhiB5nZWpyXjZqAmly5cm4CTk8iLAaCACxCFMg+LSJeEzX8vVhZ0zdVXnZcQX4zl0i0kePVfVm3RRQw2XyP7cQVoPKeK0dgZRtVc1cSiAUhvnpfM4ei3Uz1bZZUPYVq1Hrk2zVv1Zda3AJPoSKq3cjYfWTqqJX20UQiZlxTs5W6hu2GiJ3mBPj1xnjorYP4U4Fc1y5fVEVstrpkOwkiHYMaPyVQKNXvFXay43oJQHyvpduC9syqR1Ku3aKSHmP1dLcjbBq5XiEVStMDLIggLCKsHrTTTfJggUL5Oqrrw7+XXXVVXJZfizXXPG24Psrr7wy+Ke+4v/2Cq0rVq5c+VavQer3b775ZjBM/Vf9u3TpklySH8k18jZ544035PLly8G/ixcvyiuvvGIzpVNj7ITV4h6rt2jipyiB8qjIGjkusj7ehp8XVh9fnAqmJoh4rBJWzdYDQXXouY+G4mcgpJ6Xe+O+rdnvA5H303J+fVZY1eY0xFTTCrXWF2VrIqym9lb0WC2dD2G1zWBHWG2Tdi9hVXsTH/UtDKuURJ6YOSUrJ9fKwswbZ2V9YYVo9PqkT2vZIQnGuAr7qipW9eqpAKelCNMm+hFfizfYo+ZgrZqytHdqcPdrfVaLexsPLqymFfRBjvn6qqTNSI621mc1rqwcaN06hdWIjV71b1bX6lehb//XhVV9F4FWabZmYXHeLQnDsFp0V66qNRRY0jWSSrbcYTZmewJjXK5tjGaEJvCyk2DUcoS/1UOj54nBriitai9+ZkJYHYxr/CqE1eH48eqUAMJqyMLX9xpUrDp+N9sJq3Y9Vs0KT3XheWH19B3Z3qehEPpw0jLAQljVqkVzQmtU4WoeXpXp9VokhGrtBGLBODwEK7a3QFjVWxbcV3QoFcJqm+GPsNom7R7CpXEIzAbZsOmIiNraf3166FTwRryyYjUWZMwHdfWm+vDiae0wrKJxgwmrSb8w/QCtKhGmTeRjspavDztj4p6BLvPCsbAVwMrTei/V8qnKehvXI3BmeqmWmaFVfnbdCiD7oVOZaJkXN+yF1UKxVGdTIDgb6AoqTLP9dIvEF/NaCvK2fgBa1F6gVNwdKDp5kQsEyPsueGEIG+IPvFWLJ6O6PpwTYXUItjJ4j9XJuzfJu3/253OLP//9b8lX//jrwxnFq70kgLCKsErFaoO3bm3CqmXFaiJUJqLkMnkgOBirj4rVGoXVpL9qJIxmK1aLhNUPfjPqrxr3Y6VitcEItZ8aYdWe1fAj7YTLcJ20QkkJK4koWiWsRtt3JdfvT811WCZmtkvQLCB6050fZ2dftvIp9/BfVUE1PERmKCDAG+wRCQvt3lkUCatrVZ9Po49p8JbbPDRK/ajWHqvZXqfFwmq+CtKdHqtBRCQ8Vf9o7ZAtrX9pWNU/WMVqmbCaiKG9RM3SitXzweFbqr9q3j6zcjaMhbAVy6L4gMG4yjlTsdpTCB6R22hcLoO876OntXZJ1z8R9VhV97uenxBW6/DsoBWrn/8nn5FFC96dM+Gpbz8vh/7fx+swjTksCNz/390rt03cLF9+5qvy9IvxyTIWL2xgCMIqwirCagM3VjxlPcKqEkWjqlbVfzTZql9RsRoIq8/LbYGoKhIeBnW9XY/VnLAaHYZl9FzNtgJ4Tm6P2wdoQqjZHzXfi7VUWH3q1uhArajidoKK1QbD1GpqhFUrTDUNyp9UnVZ7qv6m6YO1vvX2/MyUyKQuihaf5K0Oryo6PTx44z0jsj3aZlu+3bTKvrXJoQpFwmr+9G+RWf2QrpoIMk0xAd5gj0hkaD03N54LK1ZV5Wf+vs727Szv41l6srQ6vGpTcS45ceMhY+t/aSuAoCJTu9e172VmueTzwrzsrFhXP2iqyKN99ViNJgg++JENckTSA/big6EkEFUjUXrLvOwMehfa91itFFZlNjrQL8yrRQdcJb0Wcz1WQ2G12D6zx+pCjXkgrCa7BaI2EUtDO6hYHZEcoV0Ged9Hn2r35br5UFhdfLjgwzOzR3JwpcG9Huep6msnNvqrWJ249r1y/d+51iqg3njzTfn2K/PyVz/8m2D8nUtvkY/f8VF5dv5sTnhVIq36+uzv/Xbh3L90/VK5f+U/kadf/GP5Ny/8W6v1s4PUGi++em5o0beueWwvQnH7H279x/Kvn//DnHCquGz8h2vkD/7DNwYSVevgql8HwirCKsKq7Z09wDg7YbW4x6rIatn35K/Jn6ut/JqwmLYEWCbfDLb5q3HrRYyt9bGYOhdYfcuO3XLbU7vDeT52XvatOyDJZzpxZagaqARZXVhVP9O28Sub1tx3XOQOO2E1bFcQX99q2Tct8uC2l4Mq2vd+pawVgN6+YJk8MH2rPLtNE3cTP9AKYICQHPglCKsDoxvshcZ2fzWF1hcx0wogFCbzh06Zpz6LSFCdtFJOTd4je9XJ0sbXBpk9KHLo3Maov5/ek1EfGNlRZV80PF+lZp6uTY/VwUJjmFfxJmoYeo69NnsPGifF67Zm7jttnCmmZu/PuAoy6s+85+l0Uq2fq3GqvZ6njIOesnPoLUgGW7fKG4MIq6EYcSSq/NRm1zlvmhX1wdTm4EAolUv3iDw0LUG18BZVNxp9aYyrhUr92sMcvLlIEAl2IMzLhByRIyp3674utU99yKXl8U0bZMMjElSs3mz03L1Tdh5cJSe3hL27N54r6fPqWPhjjj0B8r49K7dGZnNjcX/s+AMgLQPl81jJhREb/Qmrv/Wx7fL2n3pb8O+dP/X2ynB566235Bvffl5+99TvJeOKBNQqwTV+YR0CYF2CaF3z2N5rvYTVn3vHzw4kqqr16+CqXwfCakjD17xCj1Xbu7Kjcb2F1Y4MY1kI9EkAYbVPYAyHgIMEfH3YcRClMybFPVbXXueMSZ0bMpCw2rnVFQYUtHaxMldv+6D+P9cqwmoWBnlOgLzvuQPLDhWt4bKIjf6E1b0fnZQ/efm7suRdN8jfe8+Snh7ItgX4zVv+kdz9/tvl/3z2DxIxUG1lv/mGvyv/x1OPyT/8xWVy1/tuTeY9f/GVoIo1KwD+s3+8Vf7+9UuDcT+69ONkG7ya/86lvxL8/Nqf+Xn569dfC+b9jX/w3yfjlU3qS18nHvenL7+YuyZlXzxWjbv8xmV5+W9+IIt//j2iRM34q6wFghJiX//xj2TiXTfI5Tcvy9e+dUo+8oGVcuGHF40KXWX7r9/8Ybn6qquCKdV8//67c/I/3XVfsE58nb/+Dz6czPf0d1+Qd/03PxeM/1d/eEB0Wy+/8Yb8wdlvBBW+MZdDp35P1DUqfurr9//DvzMqgcu49nR0NABhNQTha15BWLWN9I7GIax2BJ5layeAsFo7UiaEQOsEfH3YaR0UC3pNAGE1dp++86D4RHGvHY3xVgTI+1aYxnIQsdGfsFrWV7UseLJioxJIlVB49qX/nGzJV3NefP2/ynde+f8CYVGJhapHazz25YuvGgKgWkuJp7FIqFfBxuKkmiMWJdXrlegYV5r+9Q9fK11HjdO/9PmUTbFw+fpP/lZ+fPlSINoqobKqz6lad+E7FwTi78qbPih/990TwTWqvqhxW4SscKzPp+zRWwGo+d7xU29P1o5F0iw/XbD+e7+wxGBWJKxWcbVNDgirCKu0ArC9WwYYh7A6ADRe4iQBhFUn3YJREOiLAG+i+sLFYE8JjJyw6qkfMNsNAuR9N/zgohXExuDC6qU3LsnZl74tf3vpx4lrf+Fn3yVLr1ucfF9UxalEvQXv+JmgWlNtc/8fb/t1efLPTgevyVazxqJrtrJSjyUlIKo11XzZithYQMwKq2XrFAmr+thY7P3pq6+R+f9yPhBs1VdRJW5sY3wNaqw+TlWelvV81bf/FwmrSoiO19aF1ex1xTbYVqyWcbW9dxFWEVYRVm3vlgHGIawOAI2XOEkAYdVJt2AUBPoiwJuovnAx2FMCCKueOg6zGyFA3m8E60hMSmz0J6zuXvM/y5Jrbwh8r2/Bj4NB34r+5ltvyf/zp0/L0dO/b8SKLi6qdgJxGwBVVdmPsKpvnY9bBpQJiEUVq/GW+9i4P3n5xUSs1AXJIpvU1nxVNap/FfFQv9d7sur2qUOnssJqLNzqW/+LhFX9dXULq0VcbW92hFWEVYRV27tlgHEIqwNA4yVOEkBYddItGAWBvgjwJqovXAz2lADCqqeOw+xGCJD3G8E6EpMSG/0Jq7rTH/r1B+Tf/adnjYOTlLCqvtS2+bIvvR2AqjSNqy+Lqj6LKlZvevd/G/RLjfuiqr6sesWq3ibAtmK1zNYym5TwqVesVt0MNsJqLGaqeVRf1Fde+y/J9v8mhNV+udre7AirCKsIq7Z3ywDjEFYHgMZLnCSAsOqkWzAKAn0R4E1UX7gY7CkBhFVPHYfZjRAg7zeCdSQmJTbaF1ZV4MT9P9X//+vn/zAQZ7P9TMt6rCph9foF1wU9RtWX6tmqep7GrQBshFW9l6vejkAd9KR/ZW2Kv//JGz8xeqzq7Q2yN4atsKoOtFIHWykb1Hy/eO17g76s/Qir+nVle6zG8yvR9uN3fFS++4M/N3rXVnG1vdkRVhFWEVZt75YBxiGsDgCNlzhJAGHVSbdgFAT6IsCbqL5wMdhTAgirnjoOsxshQN5vBOtITEpsDC6sfv43PxOcSP+WvJXEwpVXXhkcGlVVsaoGKzFTiXsXfngxEETjL72VgPpZvMVfP9zpP/3l9wIxVVWNqpPv/+P5b8svL3pfcCCUOpiqTFiNT7xXfV/V113vuzVZt6gNQJFNaru/6il77q/+Qhb//HsCG9RXWRsA9TsbYVWNi+1T/68OonrXz/xcIBgf/vfHgut9+zU/HQit2d6selWuzk+xUdWvsVgcz69+/tev/428+l//yhBWq7j28mfMCmE1JOFrXnnttdcC++fm5vrO78uWLQteg7DaNzr7FyCs2rNipNsEEFbd9g/WQcCGgK8POzbXxhgIxAQQVokFCKQEyPtEQxkBYmNwYZWogkCWAMIqwirCaoN5AWG1QbhM3SoBhNVWcbMYBBohwJuoRrAyqWMEEFYdcwjmdEqAvN8pfqcXJzYQVp0OUM+MQ1hFWEVYbfCmRVhtEC5Tt0oAYbVV3CwGgUYI8CaqEaxM6hgBhFXHHII5nRIg73eK3+nFiQ2EVacD1DPjEFYRVhFWG7xpEVYbhMvUrRJAWG0VN4tBoBECvIlqBCuTOkYAYdUxh2BOpwTI+53id3pxYgNh1ekA9cw4hFWEVYTVBm9ahNUG4TJ1qwQQVlvFzWIQaIQAb6IawcqkjhFAWHXMIZjTKQHyfqf4nV6c2EBYdTpAPTMOYRVhFWG1wZsWYbVBuEzdKgGE1VZxsxgEGiHAm6hGsDKpYwQQVh1zCOZ0SoC83yl+pxcnNhBWnQ5Qz4xDWEVYRVht8KZVf7D4ggAEIAABCEAAAhBoj8CSJUsE0aA93qzkLgHuA3d907VlxAbCatcxOErrI6wirCKsNnhHU7HaIFymbpUAFaut4mYxCDRCgDdRjWBlUscIULHqmEMwp1MC5P1O8Tu9OLGBsOp0gHpmHMIqwirCaoM3LcJqg3CZulUCCKut4mYxCDRCgDdRjWBlUscIIKw65hDM6ZQAeb9T/E4vTmyIfPd735P9px6R1y/9rdO+wji3CbzjmrfLjpWb5BeXLHHb0Bas8zWvvPbaawGdubm5viktW7YseA3Cat/o7F+AsGrPipFuE0BYdds/WAcBGwK+PuzYXBtjIBATQFglFiCQEiDvEw1lBIgNkb945S/lj8/9mRz7s6cQV7lVBiKgRNU1779LfmXx++U97/6FgeYYpRf5mlcQVh2PQoRVxx2EedYEEFatUTEQAs4S8PVhx1mgGOYkAYRVJ92CUR0RIO93BN6DZYmN0ElKXH39h6/LlVdc4YHXMNE1Am++9Za8453vQFSNHONrXkFYde3OytiDsOq4gzDPmgDCqjUqBkLAWQK+Puw4CxTDnCSAsOqkWzCqIwLk/Y7Ae7AsseGBkzARAp4R8DWvIKw6HmgIq447CPOsCSCsWqNiIAScJeDrw46zQDHMSQIIq066BaM6IkDe7wi8B8sSGx44CRMh4BkBX/MKwqrjgYaw6riDMM+aAMKqNSoGQsBZAr4+7DgLFMOcJICw6qRbMKojAuT9jsB7sCyx4YGTMBECnhHwNa8grDoeaAirjjsI86wJIKxao2IgBJwl4OvDjrNAMcxJAgirTroFozoiQN7vCLwHyxIbHjgJEyHgGQFf8wrCquOBhrDquIMwz5oAwqo1KgZCwFkCvj7sOAsUw5wkgLDqpFswqiMC5P2OwHuwLLHhgZMwEQKeEfA1ryCsOh5oCKuOOwjzrAkgrFqjYiAEnCXg68OOs0AxzEkCCKtOugWjOiJA3u8IvAfLEhseOAkTIeAZAV/zCsKq44GGsOq4gzDPmgDCqjUqBkLAWQK+Puw4C9QBwy4cm5JTt2+Xtdc5YIwjJiCsOuIIzHCCAHnfCTc4aQSx4aRbMAoCXhPwNa8grDoedr2F1e/II3fvlmOF17Fa9j25Xt5Xeo3qtc/J7ZVj6gf07d9ZL6fv+IIsOnpA5DM75O5r61jjojz52X7nC9nJ9FHZ9AERZdeDslse/8RNIj/4huxb97zc9mhd9tVxjX7PgbDasv/mpmT5liPaohtk9sx2uVn9JPO7DQfPyPZl8dAL8sTkYZmY2S6Ljm2Te/Y8nc5xx045MbNWForIBeN32txq9KtPyLZHJ2R68ubycVX2RSuenVkum2VWzkwGVqtV5YnJe2TvM9G3mj0t0x3b5Xx92Blbh1VduLpPV++V5A4vvZ9s77uzMrV8sxhZJ8otZr4QkWStzNzK3jI7SvPWIOtWRwTCKncMBFIC5H2ioYwAsUFsQAACdRPwNa8grNYdCTXPZyesflUWDSQAdimshmJmt18Iq23yR1htk3YoNIgmmAYi5Ys75cRDIntW75WJ+HeBuDIv98eiq5yVqRmR7evmZdvqk7Lq+HRUyRYJIEtn5cyHTsry2YlEZM0JoHNTMiXbZbtMlYyTcvtm1oroou2mVFhNriESd9X3h248IdNrlNTLVxsEfH3YaYONX2uEOWJ+1wnZJYeDitWJR4vvp0AU/f790QccWh5IPvAIr7woDyzfMi87H1klJzeV5JLJRfLE5B6Rh+I8U0ZR2XtIJuJ8FIis87Lz+HRgt/EBTPy7ynXjD2uK19OFVb/8irUQgAAEIAABCEDAbwJLlizx7gIQVh13WR3CqlGJKVFl5vx6+bgclS8/pwCEla2iKkkXb5WX9h+QG1QV57tV1eYBeSFitCaq7AyrOdOfy4qtcvDzH5YFapz63W+L3DZxQB6ej37+raNy77bj4SwrtsoDEwfkvFGxGgq8i3a8LA/vn0vsiSttA/sfi4zQ1goqXxN7zQrYi1/bL1uCudLry1fuIqy2Gf4Iq23SViLESVmViKVRlaoSQwNhVRdSQ6FkfnNUtTo3JdvObZTp20/Jts+J7IpETGV9LLDMymY5+SGtyjUjzp6d2Sbz60LBo3jcKjlZZl/BenHFak5IVQKKJvC2SXhc10JYHRXPp0LlytNpK4ALr16QhdfpH1Rk8oO6fHXf/dEqrZI8ZKLuT+N+Vx/SKDFUCZxfKs4lZybVhyyZXFWEOHevK7tCQTaXZ6zWtRNWR8XbXAcEIAABCEAAAhCAQHMEEFabY1vLzHUIqyLaNvlXlMgpUYsAs2I1EDBjMVR/jdqqH4ij6nUr5PTdu+WlHV+QBz8SSKkFW+gjYVZVpEYibCDUqu8jkXXNtC6EhgJnPKchBKvxz6wIt+cHNn1anr0rXLvUXgnF3U9FYm9WWE4dg7BaS5BaToKwagmqlmH9C6snfzWs/IxF0bXyRKmwmm7Nj4w1RI+zMjU5Lxs1gTS5pGTchByuS1jdImmLg1rYMUkVAYTV0YmPcHv+hOzcJSJ99FjNC6hDCKtBZbzWjkDuDKpQe/Z7VR/mRB/8nB9I0EVYHZ1I5kogAAEIQAACEIBAtwQQVrvl33N1O2G1uMfqLZr4GQiaR0XWyHGR9fE2/Lyw+vjiVDA1jYvHKmHVbD0QVIee+6jWm/S83Bv3bQ2EVe37SBw9vz4rrGpzGmKqaYVa64uyNRFWU3sreqyWzoew2jMAaxyAsFojzJ5T9RJWtVYAUd/CO3cpYVXkiZlTsnJyrSzUhIu4fs3cEqyJqluOSNKn9dUnZOr0Stme3Z4frROOq7CvR8Vq0M4gGBP3Zsz0d+3JhgHDEEBYHYaei6/V+pNW9izWe6EW33MDVawGwmpaQR/kmK+vStqM5IhpfVbDnKU+DBqkUhZh1cVoxCYIQAACEIAABCDgIwGEVce9Zies2vVYNSs81YXnhdXTd2R7n4ZVog8nLQMshFWtWjSsWNWF1bDC1Ty8KtPrtUgI1doJxIJxOE9sb4GwqrcsuC86lMrwN8Jqm+GPsNom7R7CpXEIzAbZsOmIiNraf3166FRwAFVJK4CwYjUWZMwKMyWMHF48rR2GVTRuMGE1e3jVnZs2iLw4YbQraJPyOK6FsDp6Xr9wLGwFsPK03ku1/Drzh8qFY+sRODO9VMvMCNqPhH1baQUwejHJFUEAAhCAAAQgAAGfCCCsOu6t2oRVy4rVRKhMRMll8kBwMFYfFas1CqtJf9VIGM1WrBYJqx/8ZtRfNe7HSsWqE1GOsNqmG+yEy9CitFehElYSUbRKWI2270pUMZZemZrrsEzMbJegHiw6dTw/zs6+wgpZHWNJr8c2SY/bWgirI+JxrS/yokhYXftyUc/iAqGz1h6r2crRYmE1nwvosToikchlQAACEIAABCAAAe8JIKw67sJ6hFUlikZVrar/aFJBWlGxGgirz8ttgagqEh4Gdb1dj9WcsFrUczXbCuA5uT1uH6AJoWZ/1Hwv1lJh9albowO1oorbCSpWuw51hNU2PRBWiUqw7T5cN6gyC7bRq/6m6ena+tbb8zNTIpO6KFp8krc6vOrQjeE2XPPrrEzNiGyPTgvPHTaVDK6yT23zjyRf4zTy9PAsvWJWv8Y2CY/rWgirI+L56EOPiYNnZOO5sGJVVX7m7+uwBUDcgzmuGk+/T3nkKlmDyvh52akOr9pUnEtO3HjI2Ppf2gogmEvrp6x9Lyq3yWx6mJbFurk+0Rm3EucjEudcBgQgAAEIQAACEGiBAMJqC5CHWcJOWC3usSqyWvY9+Wvy52orvyYspi0Blsk3g23+atx6EWNrfSymzgXm37Jjt9z21O5wno+dl33rDsgL8YXFlaHqeyXI6sKq+pm2jV/ZtOa+4yJ32AmrYbuC+PpWy75pkQe3vRxU0b73K2WtAPT2Bcvkgelb5dltmribOIRWAMPEZr+vRVjtl9iQ443t/mourS9iphXA7BklpuYPnQoPt3k6NSTowbhSTk3eI3ufydq3QWYPihw6tzESXPWejPrYyI4q+6LhxVVq6dpxj8UhSfHyPgggOPUBy/Wh2XtwkyZOGrZrfVjVz7VxppiaGaeyTvThTnEuCT9ECeZ4JF5Qy1Padn91mJU5h96CZLB1q9xDnLsevNgHAQhAAAIQgAAE3CGAsOqOLwot6S2sOn4BmAeBiADCKqEAAf8JIDj578PsFcQ9VpV4yVdIgDgnEiAAAQhAAAIQgAAEbAkgrNqS6mgcwmpH4Fm2dgIIq7UjZUIItE4Awal15CzYAQHivAPoLAkBCEAAAhCAAAQ8JYCw6rjjEFYddxDmWRNAWLVGxUAIOEsAwclZ12BYjQSI8xphMhUEIAABCEAAAhAYcQIIq447GGHVcQdhnjUBhFVrVAyEgLMEEJycdQ2G1UiAOK8RJlNBAAIQgAAEIACBESeAsOq4gxFWHXcQ5lkTQFi1RsVACDhLAMHJWddgWI0EiPMaYTIVBCAAAQhAAAIQGHECCKuOOxhh1XEHYZ41AYRVa2nQF8gAACAASURBVFQMhICzBBCcnHUNhtVIgDivESZTQQACEIAABCAAgREngLDquIMRVh13EOZZE0BYtUbFQAg4SwDByVnXYFiNBIjzGmEyFQQgAAEIQAACEBhxAgirjjsYYdVxB2GeNQGEVWtUDISAswQQnJx1DYbVSIA4rxEmU0EAAhCAAAQgAIERJ4Cw6riDEVYddxDmWRNAWLVGxUAIOEsAwclZ12BYjQSI8xphMhUEIAABCEAAAhAYcQIIq447GGHVcQdhnjUBhFVrVAyEgLMEEJycdQ2G1UiAOK8RJlNBAAIQgAAEIACBESeAsOq4gxFWHXcQ5lkTQFi1RsVACDhLAMHJWddgWI0EiPMaYTIVBCAAAQhAAAIQGHECCKuOOxhh1XEHYZ41AYRVa1QMhICzBBCcnHUNhtVIgDivESZTQQACEIAABCAAgREngLDquIMRVh13EOZZE0BYtUbFQAg4SwDByVnXYFiNBIjzGmEyFQQgAAEIQAACEBhxAgirjjtYPdzzBQEIQAACEIAABCDQHoElS5a0txgrQQACEIAABCAAAQh4SwBh1VvXYTgEIAABCEAAAhCAAAQgAAEIQAACEIAABCDQFQGE1a7Isy4EIAABCEAAAhCAAAQgAAEIQAACEIAABCDgLQGEVW9dh+EQgAAEIAABCEAAAhCAAAQgAAEIQAACEIBAVwQQVrsiz7oQgAAEIAABCEAAAhCAAAQgAAEIQAACEICAtwQQVr11HYZDAAIQgAAEIAABCEAAAhCAAAQgAAEIQAACXRFAWO2KPOtCAAIQgAAEIAABCEAAAhCAAAQgAAEIQAAC3hJAWPXWdRgOAQhAAAIQgAAEIAABCEAAAhCAAAQgAAEIdEUAYbUr8qwLAQhAAAIQgAAEIAABCEAAAhCAAAQgAAEIeEsAYdVb12E4BCAAAQhAAAIQgAAEIAABCEAAAhCAAAQg0BUBhNWuyLMuBCAAAQhAAAIQgAAEIAABCEAAAhCAAAQg4C0BhFVvXYfhEIAABCAAAQhAAAIQgAAEIAABCEAAAhCAQFcEEFa7Is+6EIAABCAAAQhAAAIQgAAEIAABCEAAAhCAgLcEEFa9dR2GQwACEIAABCAAAQhAAAIQgAAEIAABCEAAAl0RQFjtijzrQgACEIAABCAAAQhAAAIQgAAEIAABCEAAAt4SQFj11nUYDgEIQAACEIAABCAAAQhAAAIQgAAEIAABCHRFAGG1K/KsCwEIQAACEIAABCAAAQhAAAIQgAAEIAABCHhLAGHVW9dhOAQgAAEIQAACEIAABCAAAQhAAAIQgAAEINAVAYTVrsizLgQgAAEIQAACEIAABCAAAQhAAAIQgAAEIOAtAYRVb12H4RCAAAQgAAEIQAACEIAABCAAAQhAAAIQgEBXBBBWuyLPuhCAAAQgAAEIQAACEIAABCAAAQhAAAIQgIC3BBBWvXUdhkMAAhCAAAQgAAEIQAACEIAABCAAAQhAAAJdEUBY7Yo860IAAhCAAAQgAAEIQAACEIAABCAAAQhAAALeEkBY9dZ1GA4BCEAAAhCAAAQgAAEIQAACEIAABCAAAQh0RQBhtSvyrAsBCEAAAhCAAAQgAAEIQAACEIAABCAAAQh4SwBh1VvXYTgEIAABCEAAAhCAAAQgAAEIQAACEIAABCDQFQGE1a7Isy4EIAABCEAAAhCAAAQgAAEIQAACEIAABCDgLQGEVW9dh+EQgAAEIAABCEAAAhCAAAQgAAEIQAACEIBAVwQQVrsiz7oQgAAEIAABCEAAAhCAAAQgAAEIQAACEICAtwQQVr11HYZDAAIQgAAEIAABCEAAAhCAAAQgAAEIQAACXRFAWO2KPOtCAAIQgAAEIAABCEAAAhCAAAQgAAEIQAAC3hJAWPXWdRgOAQhAAAIQgAAEIAABCEAAAhCAAAQgAAEIdEUAYbUr8qwLAQhAAAIQgAAEIAABCEAAAhCAAAQgAAEIeEsAYdVb12E4BCAAAQhAAAIQgAAEIAABCEAAAhCAAAQg0BUBhNWuyLMuBCAAAQhAAAIQgAAEIAABCEAAAhCAAAQg4C0BhFVvXYfhEIAABCAAAQhAAAIQgAAEIAABCEAAAhCAQFcEEFa7Is+6EIAABCAAAQhAAAIQgAAEIAABCEAAAhCAgLcEEFa9dR2GQwACEIAABCAAAQhAAAIQgAAEIAABCEAAAl0RQFjtijzrQgACEIAABCAAAQhAAAIQgAAEIAABCEAAAt4SQFj11nUYDgEIQAACEIAABCAAAQhAAAIQgAAEIAABCHRFAGG1K/KsCwEIQAACEIAABCAAAQhAAAIQgAAEIAABCHhLAGHVW9dhOAQgAAEIQAACEIAABCAAAQhAAAIQgAAEINAVAYTVrsizLgQgAAEIQAACEIAABCAAAQhAAAIQgAAEIOAtAYRVb12H4RCAAAQgAAEIQAACEIAABCAAAQhAAAIQgEBXBBBWuyLPuhCAAAQgAAEIQAACEIAABCAAAQhAAAIQgIC3BBBWvXUdhkMAAhCAAAQgAAEIQAACEIAABCAAAQhAAAJdEUBY7Yo860IAAhCAAAQgAAEIQAACEIAABCAAAQhAAALeEkBY9dZ1GA4BCEAAAhCAAAQgAAEIQAACEIAABCAAAQh0RQBhtSvyrAsBCEAAAhCAAAQgAAEIQAACEIAABCAAAQh4SwBh1VvXYTgEIAABCEAAAhCAAAQgAAEIQAACEIAABCDQFQGE1a7Isy4EIAABCEAAAhCAAAQgAAEIQAACEIAABCDgLQGEVW9dh+EQgAAEIAABCEAAAhCAAAQgAAEIQAACEIBAVwQQVrsiz7oQgAAEIAABCEAAAhCAAAQgAAEIQAACEICAtwQQVr11HYZDAAIQgAAEIAABCEAAAhCAAAQgAAEIQAACXRFAWO2KPOtCAAIQgAAEIAABCEAAAhCAAAQgAAEIQAAC3hJAWPXWdRgOAQhAAAIQgAAEIAABCEAAAhCAAAQgAAEIdEUAYbUr8qwLAQhAAAIQgAAEIAABCEAAAhCAAAQgAAEIeEsAYdVb12E4BCAAAQhAAAIQgAAEIAABCEAAAhCAAAQg0BUBhNWuyLMuBCAAAQhAAAIQgAAEIAABCEAAAhCAAAQg4C0BhFVvXYfhEIAABCAAAQhAAAIQgAAEIAABCEAAAhCAQFcEEFa7Is+6EIAABCAAAQhAAAIQgAAEIAABCEAAAhCAgLcEEFa9dR2GQwACEIAABCAAAbcJvHjxRfndb/2u/OmFP5XLb15221iPrbv6yqvllxb+kvzTD/xTWbpgqcdXgukQgAAEIAABCEDALwIIq375C2shAAEIQAACEICAFwSUqLrjqR1yzdXXyE9d/VNyhVzhhd0+GvmWvCU/ufwTuXT5kuy/az/iqo9OxGYIQAACEIAABLwkgLDqpdswGgIQgAAEIAABCLhN4J+f+ufynb/5jvz01T/ttqEjZN2PL/9Ybvo7N8lvrfytEboqLgUCEIAABCAAAQi4SwBh1V3fYBkEIAABCEAAAhDwlsDHnviYvPNt76RStUUPqsrVH/7oh/KVtV9pcVWWggAEIAABCEAAAuNLAGF1fH3PlUMAAhCAAAQgAIHGCPzGV35DFrxjQWPzM3ExgYuvX5Tf/9jvgwcCEIAABCAAAQhAoAUCCKstQGYJCEAAAhCAAAQgMG4EEFa78TjCajfcWRUCEIAABCAAgfEkgLA6nn7nqiEAAQhAAAIQgECjBBBWG8VbOjnCajfcWRUCEPj/27ufEEnO8w7A7/zpmVFvtDOyVwkrx7JxtLYRNr5IOS1sIAGDDjaGgK2DCQFjQy65xAjFZ2NsH4wvCQaBCYLoaOyDwIccFmRDIggYjAixD7KMtSjeWLNStnd2ev6Er7q/7qqa7pnunumeme5npKZ3pqu++ur5qnfhN2+/RYAAAQKLKSBYXcx1d9YECBAgQIAAgakKCFanyitYPR9eRyVAgAABAgQIVAQEqy4IAgQIECBAgACBMxcQrJ456UgDqlgdiclGBAgQIECAAIEzERCsngmjQQgQIECAAAECBMoCgtXzuR4Eq+fj7qgECBAgQIDAYgoIVhdz3Z01AQIECBAgQGCqAtMOVh+/fitu3LsdP29N9TQu3eCC1Uu3ZCZMgAABAgQIXGIBweolXjxTJ0CAAAECBAhcVIFpBquPf/jv48VPPhNbD34eL/3nPwtXSxeBYPWiviPMiwABAgQIEJhHAcHqPK6qcyJAgAABAgQInLPAtILVHKo+vtw5wfb92/H9116KXww634+8GD/45NPRLL3W+sMr8bXXX52xznPx4l8+Hx99b/rHFqzOeGkdjgABAgQIEFhoAcHqQi+/kydAgAABAgQITEdgGsFqPVSNaMfbv/t+vPDLAbFqN1SNWpD6lZsvx60rb8ftn74QL03n1AeMKlidGbUDESBAgAABAgRmKCBYnSG2QxEgQIAAAQIEFkVg0mD1I3/2YvzdB9+Mf/2PVypVqGOFqp/6drz8oSdicHXq7ELO/lrP7pgqVhflHeY8CRAgQIAAgYsgIFi9CKtgDgQIECBAgACBOROYJFhNoeo/PtX56H5r+9X4p3/vhKtjhapDKlWH8hbbfzTe/K+vxbd+09mqqGqN2/Hl116K6Ia05f3LgW3a9tmHt+PNq7fi6XgjXvm3b8WrtRYErT90Xu+0Angivv3ZW/FEecC97n4R8dyzP4jn11+P23FrospaweqcvZGcDgECBAgQIHChBQSrF3p5TI4AAQIECBAgcDkFxg9W/yr+4S/+Jj6z3j/fFK7+y9t/HH/9yWci91Q99uP/adduqLn9uy/HC7/sj1UElh8odVvNYeYJwepzH3kuXv1NuSfrV+Lbn302trtBbKe1QCve6AWz6fVb8cT9bjCbw9IPNDsVtP8T8dxvXo3KiEU42+m/muf5dm3+o14FgtVRpWxHgAABAgQIEDi9gGD19IZGIECAAAECBAgQqAmMH6xGRPO5ePHPn4+nS+FqddhjeqrmDYcEq5VxUhXqn2yXqkuPqVgtdux8lP/p1f4oOfisVLcWL3eC1agEo0dbARwJertBbPHzq2925jbBVSVYnQDNLgQIECBAgACBCQUEqxPC2Y0AAQIECBAgQGC4wETBahpuaLg6Qqia9h+hFUAlvDy2YvXtbqB6tCI1B6fjBqs/js8XlbP1dgK59YBg1buKAAECBAgQIHB5BASrl2etzJQAAQIECBAgcGkEJg5WB4arI4aqWefYm1d1P6o/UiuAGFB9Wq1IHTdYfX39+X7/1u58y2MIVi/NJW6iBAgQIECAAIEQrLoICBAgQIAAAQIEzlzgVMFqJVwdM1TNZzKocrV8U6lKsPp09Hqy5m2Kj+Z3gtVyv9ROT9WIk1oBlPfJN8BKVapFsHrl7bj90xfipTTXfHMsrQDO/Bo0IAECBAgQIEBg2gKC1WkLG58AAQIECBAgsIACpw5Wu+Hq83/6u3jlv38xmWA5SO2O0LmB1GfiB09F/Dj3Mc3hZtpm7424/d5H49b66/Hl117qtRbIt71Kgeqvtvo3rPr9h18+UoGa2xH0bpV1/3bcjlvdG1RFtV9rClS3b8TLH3qiaA9QtArQY3Wy9bYXAQIECBAgQGDGAoLVGYM7HAECBAgQIEBgEQTOJFhdBKgzPkc3rzpjUMMRIECAAAECBI4REKy6PAgQIECAAAECBM5cQLB65qQjDShYHYnJRgQIECBAgACBMxEQrJ4Jo0EIECBAgAABAgTKAoLV87keBKvn4+6oBAgQIECAwGIKCFYXc92dNQECBAgQIEBgqgKC1anyDh1csHo+7o5KgAABAgQILKaAYHUx191ZEyBAgAABAgSmKiBYnSqvYPV8eB2VAAECBAgQIFAREKy6IAgQIECAAAECBM5cQLB65qQjDahidSQmGxEgQIAAAQIEzkRAsHomjAYhQIAAAQIECBAoCwhWz+d6EKyej7ujEiBAgAABAospIFhdzHV31gQIECBAgACBqQoIVqfKO3Rwwer5uDsqAQIECBAgsJgCgtXFXHdnTYAAAQIECBCYqsAXfvyFuLJxJZZiaarHMXhf4DAO4/7O/fjR53+EhQABAgQIECBAYAYCgtUZIDsEAQIECBAgQGDRBL7x2jfiV/d+Feur64t26ud2vg/3HsaNzRvxzZvfPLc5ODABAgQIECBAYJEEBKuLtNrOlQABAgQIECAwI4Ffb/86vn7769FYbcTa6prK1Sm6p0rV3b3daO+147u3vhtPbT01xaMZmgABAgQIECBAIAsIVl0LBAgQIECAAAECUxFI4eoPf/nDeON/34i9g72pHMOgEavLq/H0B5+Ov/3U3wpVXRAECBAgQIAAgRkKCFZniO1QBAgQIECAAAECBAgQIECAAAECBAjMh4BgdT7W0VkQIECAAAECBAgQIECAAAECBAgQIDBDAcHqDLEdigABAgQIECBAgAABAgQIECBAgACB+RAQrM7HOjoLAgQIECBAgAABAgQIECBAgAABAgRmKCBYnSG2QxEgQIAAAQIECBAgQIAAAQIECBAgMB8CgtX5WEdnQYAAAQIECBAgQIAAAQIECBAgQIDADAUEqzPEdigCBAgQIECAAAECBAgQIECAAAECBOZDQLA6H+voLAgQIECAAAECBAgQIECAAAECBAgQmKGAYHWG2A5FgAABAgQIECBAgAABAgQIECBAgMB8CAhW52MdnQUBAgQIECBAgAABAgQIECBAgAABAjMUEKzOENuhCBAgQIAAAQIECBAgQIAAAQIECBCYDwHB6nyso7MgQIAAAQIECBAgQIAAAQIECBAgQGCGAoLVGWI7FAECBAgQIECAAAECBAgQIECAAAEC8yEgWJ2PdXQWBAgQIECAAAECBAgQIECAAAECBAjMUECwOkNshyJAgAABAgQIECBAgAABAgQIECBAYD4EBKvzsY7OggABAgQIECBAgAABAgQIECBAgACBGQoIVmeI7VAECBAgQIAAAQIECBAgQIAAAQIECMyHgGB1PtbRWRAgQIAAAQIECBAgQIAAAQIECBAgMEMBweoMsR2KAAECBAgQIECAAAECBAgQIECAAIH5EMjB6mnO5saNG7G1tRWrq6vFY2VlJfbiYTSWNorvl5eXi0f6ys8nHW/p5s2bhydtlF4/ODgoNkvP6dFut6MdO9GIjdjf34+9vb3isb29He+8884oQ9qGAAECBAgQIECAAAECBAgQIECAAAECxwoIVl0gBAgQIECAAAECBAgQIECAAAECBAgQGFNAsDommM0JECBAgAABAgQIECBAgAABAgQIECAgWHUNECBAgAABAgQIECBAgAABAgQIECBAYEwBweqYYDYnQIAAAQIECBAgQIAAAQIECBAgQICAYNU1QIAAAQIECBAgQIAAAQIECBAgQIAAgTEFBgWrP/nJT4aO8rnPfe7Iazdu3Iitra1YXV0tHisrK7EXD6OxtFF8v7y8XDzSV34+aZpLN2/ePDxpo/T6wcFBsVl6To92ux3t2IlGbMT+/n7s7e0Vj+3t7XjnnXdGGdI2BAgQIECAAAECBAgQIECAAAECBAgQOFZgWMXqoHB1UKiaBhesusgIECBAgAABAgQIECBAgAABAgQIEFgogeNaAZTD1WGh6oUMVvdiJ1ZVrC7UhexkCRAgQIAAAQIECBAgQIAAAQIECMxS4KQeqylcPS5UzcHqY489VrQAOPdWAOlj/+3DB4LVWV5FjkWAAAECBAgQIECAAAECBAgQIEBgwQROClZH4UitAC5YsJoqVtd7PVZTr9V3331Xj9VRVtM2BAgQIECAAAECBAgQIECAAAECBAicKDCNYDVVrbYPd4qbVzUajVhaWprdzas6Faudg6dANd3MKj2nm1f99re/LSbkiwABAgQIECBAgAABAgQIECBAgAABAqcROItg9eMf/3hsbW0VrQBSbpmeU7a5tvxI0RpgZsHq4eFhEaTmg6eQNT/u3bsXP/vZz+JjH/vYabzsS4AAAQIECBAgQIAAAQIECBAgQIAAgTiLYPUTn/hEbG5u9kLVFKbuHjwogtVcILq8vFxo5+eT6Jdu3rx5eNJG6fWDg4Nis/ScgtXcY7Wx9Ejx51y1+uDBg/jiF78Y3/nOd0YZ1jYECBAgQIAAAQIECBAgQIAAAQIECBAYKnAWweqnP/3paDabvRtXdVoBPIiUbc40WE1n2alY7Rw8hao5XE3P77//fnzve9+LL33pSy4JAgQIECBAgAABAgQIECBAgAABAgQITCxwFsHqM888UwlVO60A+sFqagWQHulrahWrqVq11wogdmKtFKyWK1dbrVZRufrVr341nnrqqVhfX58Yz44ECBAgQIAAAQIECBAgQIAAAQIECCymwFkEq88+++yRYHU3BavRuXlVOUydWrCali+1AygqVmMn1peblWrVVL2aHzs7O7G7u1tsn1sJpFC2/FX/fjEvD2dNgAABAgQIECBAgAABAgQIECBAgMA4ArnCtLxPvglVCkfX1tZiY2OjuFFVfqQWAOnPucfqaqyfT7C6Fw+LBq8pNM3VquVgNf05h6q5N2sOUsuBqnB1nEvGtgQIECBAgAABAgQIECBAgAABAgQWV6AeqObv88f5U6ia/lwOVAeFq7sHrViNjSJkHffGVUl/5JtXpY3LN7AqblYVD2JtqVn8PAeqOWDNP8vBagpPc7iaxhKmLu7F78wJECBAgAABAgQIECBAgAABAgQInJVAOVjNoWp6zo96tWr6Pr22e9iKRjxSBLAzC1ZTKJoC1NQKYGPlShGqlqtW66FqOVwdVLEqaD2ry8g4BAgQIECAAAECBAgQIECAAAECBOZbYJSK1Xqwmr7PLQDyn3f27xc9VlPF6rg3rkrCE1Wsph1Tj9X91ApgpVOxWg5Tc9CannOlar1adVjAOt/L7uwIECBAgAABAgQIECBAgAABAgQIEDitQDlcHdQKoNwOIAep5eeiYvWgFSuHnR6r+WvUG1eNHaymHXI7gCJYXX4YGyt/dCRYLYes5RYA6c/1QFVLgNNeRvYnQIAAAQIECBAgQIAAAQIECBAgsFgCg6pWc4/VfAOr/Jw/6l8PVnf2/6/XCiDpjROqnipY7fRYTcFqs1i1etVqrlAttwEoB7PlpRauLtaF72wJECBAgAABAgQIECBAgAABAgQInEagHqzmYLT8kf56v9VywJq239lPPVbXixYBMwlWczha3KyqVLGaq1HrN6vKAWu5WnVYwHoaTPsSIECAAAECBAgQIECAAAECBAgQILB4ArlSNZ15vWq1Hq7m19PPU8XqykEnWB23WrU41s2bNw/H5c4f9d+P3WisbMTK8kqvRUD9RlW5FUA6Rj1cVak6rrztCRAgQIAAAQIECBAgQIAAAQIECBDIAvVeq+WK1UEha9ovhaj7B/vR3t+JlVibbbCaJpB6rLb3HsbK2nKsl9oBpNdyH9b8nAPVcpBaD1ldDgQIECBAgAABAgQIECBAgAABAgQIEBhHoHzjqrRfvXo1V6LWnx/ut2J/9yAaq9WbV4117EkqVtMBUiuAhw8fxuHyfqw2VmJtZSOWYrk4dj1QTT8bdOOqcSZqWwIECBAgQIAAAQIECBAgQIAAAQIECAwSGBSwpu3qgephHMTu/k7stfdj6WAl1tf7PVbHlZ2oFUA5WE0B69LyYVG5upRy1YP0/0F/HsX3qdtAt+NAfhq7AcG4p2Z7AgQIECBAgAABAgQIECBAgAABAgTmXWBpqXuG+TmWOv91akCLr+VUELoccXgQRaXq4cFS0QLg3IPVNLlcpTpooY57bd4X1vkRIECAAAECBAgQIECAAAECBAgQIDBbgeNuRpVfuzDBaqYZN0Qdd/vZLoGjESBAgAABAgQIECBAgAABAgQIECBw0QSOC06HzbW+z7kGq7u7u0Wv1fJNqcoTF5petEvOfAgQIECAAAECBAgQIECAAAECBAgslsCgEDb1ZE3B6traWvE8ydfEPVZTaJqC1b29vaHBqpB1kiWxDwECBAgQIECAAAECBAgQIECAAAECkwqMUs2agtXV1dUiWB1l+0FzmThYTVWqKVRtt9tFf9VhVauTAtiPAAECBAgQIECAAAECBAgQIECAAAECZy2QQtUUpjYajSJcTd9P8nWqYDWHqylgzR/7F7BOsgz2IUCAAAECBAgQIECAAAECBAgQIEBgmgI5QE2hagpUc6g682A1nWQKUdMj9VnNvVYFq9NcfmMTIECAAAECBAgQIECAAAECBAgQIDCJQApQc2/V1Fc1fz/JWGmfiStW8wFzkJpD1kknYj8CBAgQIECAAAECBAgQIECAAAECBAhMU6Acpk5aqZrnd+pgdZonamwCBAgQIECAAAECBAgQIECAAAECBAhcRAHB6kVcFXMiQIAAAQIECBAgQIAAAQIXRaB1N9662xo4m8bm9bi+2Th2pu17d+LOvXaMsu3ggVpx96270WpsxfXrV+P4o52E1h0rmnHtyWvRPGnzMV5v3X0r7rbOftwxpjCDTdvx3p07sd1uxNb163F1wsXoWNWnW7U7ct3k6/DY6yDP7+zXIc+nee3JuNa7cMa7nga/F/IYZY+ub7vz3pv8vXPyJTHKWhwZpbsWaV6b7TudtWxeiyf7MCcfeOwt8tr2dyzWovFe3LmzHe3SeP01yral67X299lpbQWrYy+kHQgQIECAAAECBAgQIECAwCIKjBciZSHB6jxdK6cPVvP1UIkRG41ot9sRpdB0smB11tbjvScGvRdysNkL+EYKkM/uPPPxcxjZC1qPC0p7werjcaX1+9jdLIfNZze38kgVu+aDbpi6EVcaO3E/XTrplzyNe91fAjXjsc12vHsvx605WO2H2M1r1yLu3o1OJjz5/AWr01lvoxIgQIAAAQIECBAgQIAAgTkTGBAi1atZu8FYdKtUK+HZZieE2S6VlnUCjXrFXr3aReyvfwAAB9pJREFUMFesPhqPxvvx/qT7V1ajGZ1cpVQ2meaeflaqfiuHL53djwY0xY+b1+Ja3K1VYVarDnuHH2JUqZxrV6vwhs6jW9HYG7sIw6JT4ds/YGxd34zdO/2fNa5sRPv+Ti9Q6oVrV5vReq9cSprWYjP2iirVymoeGbNnM3BO3RLP7nk1ms1otVqdKsfNvbhzZzeubLZju1TZfGywWqzT/YhGO1Iem9fgyWuNbkVtN3CLbpVz9mxciY32/dg5zubIddpZx0dancrro2tRXABx7fpa3KtUTlb3q74X+pXex/7iofv+Wt1Yjb2dve4Qjdi6diXu381VmsdcZ0Od+rXa9WC1Op/2gGvpelwtVdKm6z65bDQbsdOKbiVzP4C/stGO+33wo++ViSrR8/g5WK2/L/PfIfVfBJS/L3BOXX0tWJ2zf+acDgECBAgQIECAAAECBAgQmI5APVitfsx29V7n492NRx+NeP/9aBcft++Hcr1wqBempWCoGVebrUhZXidYTEHOvVirfMy8e5yVlYj9/VIYN9r+lYrAXkXbeqzHw3jYDUoHz71IKDvnVK6Ga2zFY43teLf4+bW40rpbhI7r6xEPH3Y/Et1sdSrnekFeJ/gZdpxGCqLbm/2PUveC1U5ANHgeOSQsBWv31kpzK1Xw1eZxtdENmBqlILYccJUC805g1q65NyIHZlWbwXPqtXAozms3NruhdqVSsPTx8tRe4uRgNa1/OvcckKUpXo+1eyksy8F5uxKK5jU6bs45QO18tL0T1KaKzPSR9xQgDhyj3FqiFIoPey/UP35+tIq3Gpb23juNrdhqbMd2yr4bW3GteT/upqrME6+zulO/QnNwK4Da9Vq7/q9v7sadbouCHKzmwLmdts0VpaWq1/5x6u/5cftJ9FsCNHoh+KjBasSR850o2O3/DStYnc6/NkYlQIAAAQIECBAgQIAAAQJzJjAsWO1Wh+VgLAertcrMHA51QqXoVhZ29i2Cxfyx3SNBRzVYHXf/akVePoccrFaXqBeEdefQHtQLtBSsloPBgcfpBV41o16I3K8irYSMvQrLTsXlsHlcv/5IPChVk1Z6XpZPrT6PiG5w2ehV7vZDqrRjM7a6FaQ5WK2694PVStVx4XZ0Tr0+vLVgtV+xej+ubDZi+16/n+hIwWrtGqsEq082o/XW3Wj3wu9+oFdZ9QE2UanErl6jOVitVluXx27EVj6XIe+F4/t6lt5n3QC68t7Jvxwo/4Ji2HU25PjDr9t0YeRq6f45HVnjgcHqk9FsvRV32/3At/nYVrTf7VbWNrdiq71dhN75lymDPoJfCT5r7Qj6AXQOUusVqfW/o2qv52rq2vv7NH1WBatz9s+c0yFAgAABAgQIECBAgAABAtMRmKRitV9tObhitfxR3nLl4YAbBA2sWD15/0rFaq83Yz9YHSnQrAU8/TGPVqxWQ6hqBWevYrX7UfwiWOxVt5ZuzjUsWC3Po7xNr4VBKeCrzHlAG4dKu4FqRWO5ErdSsdprMzCkYnV1I1b3dmKv0lah1NohtwLoVZZ2r9TmtaI/ZvkmZ70Qrd46oTz2scFq/9orjlJu13CMTa4OTutYBIXdiuVcmVmpWO1dT1X33BaiWrFaqzwubvo24OZK5WrlsYPVIZXRR5yOVqz23ge9ULlWWZoD3TTWkGA1nXf/Rnfl9gjl9gXHB6vD/u4a3DKhXL1a7bHauTndkGC1Vk0vWJ3OvxhGJUCAAAECBAgQIECAAAECBHoCU+qxWgljBt1d/IQeq6PuX1nJAT1W06FzhV2vanbAHdsH9TEthXbDqvt6hx9Q1dnv3drdqhasNnoBXOkkBvR1HdyzNp3Y1Wi23otW+SPrKdbLFbk5aKz1du0crX+DoP7RU4BX7duazyGHx3nbelViv+qwH7jWQ9TOh8OP3gW+6GWaArOaT+7pW61YLW03rDduEbjWbOoGR0LJ/k2P+h5pXp0K2XKH2mTSKRqtNKjttr3ofgS+3qe4O2jh1r22T65Y7YedlessB+4jBKv1v+gGX0vVFgUpkOy3AkhhbS3oLLV0qIy/EhFFV4/Rbxo1uGXBoN625XGP3mxNKwD/pBEgQIAAAQIECBAgQIAAAQIECFxagaEhWVFl6IvA5RHQCuDyrJWZEiBAgAABAgQIECBAgAABAgQIECBwQQQEqxdkIUyDAAECBAgQIECAAAECBAgQIECAAIHLIyBYvTxrZaYECBAgQIAAAQIECBAgQIAAAQIECFwQAcHqBVkI0yBAgAABAgQIECBAgAABAgQIECBA4PIICFYvz1qZKQECBAgQIECAAAECBAgQIECAAAECF0RAsHpBFsI0CBAgQIAAAQIECBAgQIAAAQIECBC4PAKC1cuzVmZKgAABAgQIECBAgAABAgQIECBAgMAFERCsXpCFMA0CBAgQIECAAAECBAgQIECAAAECBC6PgGD18qyVmRIgQIAAAQIECBAgQIAAAQIECBAgcEEEBKsXZCFMgwABAgQIECBAgAABAgQIECBAgACByyMgWL08a2WmBAgQIECAAAECBAgQIECAAAECBAhcEAHB6gVZCNMgQIAAAQIECBAgQIAAAQIECBAgQODyCAhWL89amSkBAgQIECBAgAABAgQIECBAgAABAhdEQLB6QRbCNAgQIECAAAECBAgQIECAAAECBAgQuDwC/w9AI8QJA5dpY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98476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EDITAR MATRICULA</a:t>
            </a:r>
          </a:p>
        </p:txBody>
      </p:sp>
    </p:spTree>
    <p:extLst>
      <p:ext uri="{BB962C8B-B14F-4D97-AF65-F5344CB8AC3E}">
        <p14:creationId xmlns:p14="http://schemas.microsoft.com/office/powerpoint/2010/main" val="4103864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884895" y="3134812"/>
            <a:ext cx="196653" cy="226309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editar la observación de una matrícula presione el icono «     » correspondiente al registro a actualizar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1140541" y="1244915"/>
            <a:ext cx="3572090" cy="3021446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7" t="44241" r="91768" b="52209"/>
          <a:stretch/>
        </p:blipFill>
        <p:spPr bwMode="auto">
          <a:xfrm>
            <a:off x="5363701" y="976072"/>
            <a:ext cx="227026" cy="224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12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63831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629265" y="3917580"/>
            <a:ext cx="7944464" cy="101821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Realice la edición del campo «Observación». Para almacenar el cambio presione el botón «Editar»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621160" y="1244915"/>
            <a:ext cx="0" cy="258966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130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MODIFICAR GRUPO</a:t>
            </a:r>
          </a:p>
        </p:txBody>
      </p:sp>
    </p:spTree>
    <p:extLst>
      <p:ext uri="{BB962C8B-B14F-4D97-AF65-F5344CB8AC3E}">
        <p14:creationId xmlns:p14="http://schemas.microsoft.com/office/powerpoint/2010/main" val="3599477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1032375" y="3134812"/>
            <a:ext cx="196653" cy="226309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modificar el grupo de una matrícula presione el icono «     » correspondiente al registro a actualizar.</a:t>
            </a:r>
          </a:p>
          <a:p>
            <a:pPr algn="ctr"/>
            <a:r>
              <a:rPr lang="es-CO" sz="1600" b="1" dirty="0"/>
              <a:t>Nota:</a:t>
            </a:r>
            <a:r>
              <a:rPr lang="es-CO" sz="1600" dirty="0"/>
              <a:t> el grupo solo se puede modificar cuando la matrícula sea de 1er. semestre.</a:t>
            </a:r>
            <a:endParaRPr lang="es-CO" sz="1600" b="1" dirty="0"/>
          </a:p>
        </p:txBody>
      </p:sp>
      <p:grpSp>
        <p:nvGrpSpPr>
          <p:cNvPr id="6" name="5 Grupo"/>
          <p:cNvGrpSpPr/>
          <p:nvPr/>
        </p:nvGrpSpPr>
        <p:grpSpPr>
          <a:xfrm>
            <a:off x="1229027" y="1491135"/>
            <a:ext cx="3483603" cy="2775225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7" t="44155" r="90039" b="51714"/>
          <a:stretch/>
        </p:blipFill>
        <p:spPr bwMode="auto">
          <a:xfrm>
            <a:off x="5272087" y="963920"/>
            <a:ext cx="219075" cy="261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46246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3261225" y="3620587"/>
            <a:ext cx="2644275" cy="29699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Realice la modificación del grupo, y almacene el cambio presionando el botón «Cambiar Grupo»</a:t>
            </a:r>
            <a:endParaRPr lang="es-CO" sz="1600" b="1" dirty="0"/>
          </a:p>
        </p:txBody>
      </p:sp>
      <p:sp>
        <p:nvSpPr>
          <p:cNvPr id="2" name="1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630685" y="1254440"/>
            <a:ext cx="0" cy="230791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12 Rectángulo redondeado"/>
          <p:cNvSpPr/>
          <p:nvPr/>
        </p:nvSpPr>
        <p:spPr>
          <a:xfrm>
            <a:off x="4070851" y="4582612"/>
            <a:ext cx="977400" cy="29699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4630685" y="3917580"/>
            <a:ext cx="0" cy="66503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929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ANULAR MATRÍCULA</a:t>
            </a:r>
          </a:p>
        </p:txBody>
      </p:sp>
    </p:spTree>
    <p:extLst>
      <p:ext uri="{BB962C8B-B14F-4D97-AF65-F5344CB8AC3E}">
        <p14:creationId xmlns:p14="http://schemas.microsoft.com/office/powerpoint/2010/main" val="3676740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1165725" y="3134812"/>
            <a:ext cx="196653" cy="226309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anular una matrícula presione el icono «     » correspondiente al registro a anular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1381428" y="1244915"/>
            <a:ext cx="3209622" cy="3021445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1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3" t="29905" r="88562" b="65933"/>
          <a:stretch/>
        </p:blipFill>
        <p:spPr bwMode="auto">
          <a:xfrm>
            <a:off x="4788830" y="948334"/>
            <a:ext cx="173695" cy="26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3232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4211480" y="4582068"/>
            <a:ext cx="729750" cy="28466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anulación de la matrícula presione el botón «Anular»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4478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601189" y="1274104"/>
            <a:ext cx="0" cy="324873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921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3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4763930" y="2727062"/>
            <a:ext cx="729750" cy="35903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Finalice el proceso realizando la confirmación del proceso de anulación</a:t>
            </a:r>
          </a:p>
        </p:txBody>
      </p:sp>
      <p:grpSp>
        <p:nvGrpSpPr>
          <p:cNvPr id="6" name="5 Grupo"/>
          <p:cNvGrpSpPr/>
          <p:nvPr/>
        </p:nvGrpSpPr>
        <p:grpSpPr>
          <a:xfrm flipH="1">
            <a:off x="4400550" y="1254441"/>
            <a:ext cx="363380" cy="1661666"/>
            <a:chOff x="5729176" y="178244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6" y="178244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7910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CALIFICACIONES</a:t>
            </a:r>
          </a:p>
        </p:txBody>
      </p:sp>
    </p:spTree>
    <p:extLst>
      <p:ext uri="{BB962C8B-B14F-4D97-AF65-F5344CB8AC3E}">
        <p14:creationId xmlns:p14="http://schemas.microsoft.com/office/powerpoint/2010/main" val="918834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1327650" y="3134812"/>
            <a:ext cx="196653" cy="226309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consultar la notas de un estudiante, presione el icono «     » correspondiente al registro a consultar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>
            <a:off x="1562100" y="1244915"/>
            <a:ext cx="2990849" cy="3021445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0" t="43932" r="86548" b="52118"/>
          <a:stretch/>
        </p:blipFill>
        <p:spPr bwMode="auto">
          <a:xfrm>
            <a:off x="5267325" y="960249"/>
            <a:ext cx="235744" cy="249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9954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7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Visualización de calificaciones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819274" y="2114550"/>
            <a:ext cx="3899297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641850" y="2747931"/>
            <a:ext cx="7873500" cy="1338294"/>
          </a:xfrm>
          <a:prstGeom prst="roundRect">
            <a:avLst>
              <a:gd name="adj" fmla="val 795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4630685" y="1206815"/>
            <a:ext cx="0" cy="149349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494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HOMOLOGACIÓN DE TRANSFERENCIAS</a:t>
            </a:r>
          </a:p>
        </p:txBody>
      </p:sp>
    </p:spTree>
    <p:extLst>
      <p:ext uri="{BB962C8B-B14F-4D97-AF65-F5344CB8AC3E}">
        <p14:creationId xmlns:p14="http://schemas.microsoft.com/office/powerpoint/2010/main" val="3565470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7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homologación de transferencias, presione el icono «    » correspondiente al registro a homologar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819274" y="2114550"/>
            <a:ext cx="3899297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784725" y="2938431"/>
            <a:ext cx="177300" cy="1119219"/>
          </a:xfrm>
          <a:prstGeom prst="roundRect">
            <a:avLst>
              <a:gd name="adj" fmla="val 795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1028700" y="1491136"/>
            <a:ext cx="3524249" cy="2006904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5" t="27454" r="92815" b="68793"/>
          <a:stretch/>
        </p:blipFill>
        <p:spPr bwMode="auto">
          <a:xfrm>
            <a:off x="6002654" y="975863"/>
            <a:ext cx="150938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944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8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Finalice el proceso realizando la confirmación del proceso de homologación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828799" y="2114550"/>
            <a:ext cx="1771651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9 Rectángulo redondeado"/>
          <p:cNvSpPr/>
          <p:nvPr/>
        </p:nvSpPr>
        <p:spPr>
          <a:xfrm>
            <a:off x="4763930" y="2727062"/>
            <a:ext cx="729750" cy="35903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3" name="12 Grupo"/>
          <p:cNvGrpSpPr/>
          <p:nvPr/>
        </p:nvGrpSpPr>
        <p:grpSpPr>
          <a:xfrm flipH="1">
            <a:off x="4400550" y="1254441"/>
            <a:ext cx="363380" cy="1661666"/>
            <a:chOff x="5729176" y="1782442"/>
            <a:chExt cx="1131436" cy="1140874"/>
          </a:xfrm>
        </p:grpSpPr>
        <p:cxnSp>
          <p:nvCxnSpPr>
            <p:cNvPr id="14" name="13 Conector recto de flecha"/>
            <p:cNvCxnSpPr/>
            <p:nvPr/>
          </p:nvCxnSpPr>
          <p:spPr>
            <a:xfrm>
              <a:off x="6856166" y="178244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14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30271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APROBAR O REPROBAR ASIGNATURAS DE SEMINARIO</a:t>
            </a:r>
          </a:p>
        </p:txBody>
      </p:sp>
    </p:spTree>
    <p:extLst>
      <p:ext uri="{BB962C8B-B14F-4D97-AF65-F5344CB8AC3E}">
        <p14:creationId xmlns:p14="http://schemas.microsoft.com/office/powerpoint/2010/main" val="826447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7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aprobar o reprobar una asignatura de un seminario, presione el icono «    » correspondiente al registro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819274" y="2114550"/>
            <a:ext cx="3899297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899025" y="2938431"/>
            <a:ext cx="177300" cy="1119219"/>
          </a:xfrm>
          <a:prstGeom prst="roundRect">
            <a:avLst>
              <a:gd name="adj" fmla="val 795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1104900" y="1244915"/>
            <a:ext cx="3476624" cy="2253125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" t="27454" r="91486" b="68793"/>
          <a:stretch/>
        </p:blipFill>
        <p:spPr bwMode="auto">
          <a:xfrm>
            <a:off x="6425519" y="956575"/>
            <a:ext cx="172913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1827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28" y="1880505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finalizar el proceso seleccione la opción «Aprobar» o «Reprobar» según sea el caso.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828799" y="2114550"/>
            <a:ext cx="1771651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9 Rectángulo redondeado"/>
          <p:cNvSpPr/>
          <p:nvPr/>
        </p:nvSpPr>
        <p:spPr>
          <a:xfrm>
            <a:off x="4249581" y="2736587"/>
            <a:ext cx="1179670" cy="35903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3" name="12 Grupo"/>
          <p:cNvGrpSpPr/>
          <p:nvPr/>
        </p:nvGrpSpPr>
        <p:grpSpPr>
          <a:xfrm flipH="1">
            <a:off x="3848100" y="1263966"/>
            <a:ext cx="363380" cy="1661666"/>
            <a:chOff x="5729176" y="1782442"/>
            <a:chExt cx="1131436" cy="1140874"/>
          </a:xfrm>
        </p:grpSpPr>
        <p:cxnSp>
          <p:nvCxnSpPr>
            <p:cNvPr id="14" name="13 Conector recto de flecha"/>
            <p:cNvCxnSpPr/>
            <p:nvPr/>
          </p:nvCxnSpPr>
          <p:spPr>
            <a:xfrm>
              <a:off x="6856166" y="178244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14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82654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EDITAR CALIFICACIONES</a:t>
            </a:r>
          </a:p>
        </p:txBody>
      </p:sp>
    </p:spTree>
    <p:extLst>
      <p:ext uri="{BB962C8B-B14F-4D97-AF65-F5344CB8AC3E}">
        <p14:creationId xmlns:p14="http://schemas.microsoft.com/office/powerpoint/2010/main" val="23611501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74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cambiar la calificación de una asignatura, presione el icono «     » correspondiente al registro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819274" y="2114550"/>
            <a:ext cx="3899297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032375" y="2938431"/>
            <a:ext cx="177300" cy="1119219"/>
          </a:xfrm>
          <a:prstGeom prst="roundRect">
            <a:avLst>
              <a:gd name="adj" fmla="val 795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1295400" y="1244915"/>
            <a:ext cx="3286124" cy="2253125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2" t="41342" r="89655" b="54792"/>
          <a:stretch/>
        </p:blipFill>
        <p:spPr bwMode="auto">
          <a:xfrm>
            <a:off x="5974912" y="953003"/>
            <a:ext cx="241103" cy="245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3282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33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la nueva calificación y presione el botón «Calcular Definitiva», posteriormente presione el botón «Guardar» para aplicar los cambios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819274" y="2114550"/>
            <a:ext cx="3899297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2849811" y="2471706"/>
            <a:ext cx="3465263" cy="2338419"/>
          </a:xfrm>
          <a:prstGeom prst="roundRect">
            <a:avLst>
              <a:gd name="adj" fmla="val 469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4564010" y="1468070"/>
            <a:ext cx="0" cy="96488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607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HORARIO DEL ESTUDIANTE</a:t>
            </a:r>
          </a:p>
        </p:txBody>
      </p:sp>
    </p:spTree>
    <p:extLst>
      <p:ext uri="{BB962C8B-B14F-4D97-AF65-F5344CB8AC3E}">
        <p14:creationId xmlns:p14="http://schemas.microsoft.com/office/powerpoint/2010/main" val="248925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1451475" y="3134812"/>
            <a:ext cx="196653" cy="226309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consultar el horario de clases del estudiante, presione el icono «     » correspondiente al registro a consultar</a:t>
            </a:r>
          </a:p>
        </p:txBody>
      </p:sp>
      <p:sp>
        <p:nvSpPr>
          <p:cNvPr id="2" name="1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>
            <a:off x="1724025" y="1244915"/>
            <a:ext cx="2828924" cy="3021445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4" t="43994" r="84700" b="52113"/>
          <a:stretch/>
        </p:blipFill>
        <p:spPr bwMode="auto">
          <a:xfrm>
            <a:off x="6057900" y="964266"/>
            <a:ext cx="257175" cy="24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8790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COMPARA ASIGNATURAS</a:t>
            </a:r>
          </a:p>
        </p:txBody>
      </p:sp>
    </p:spTree>
    <p:extLst>
      <p:ext uri="{BB962C8B-B14F-4D97-AF65-F5344CB8AC3E}">
        <p14:creationId xmlns:p14="http://schemas.microsoft.com/office/powerpoint/2010/main" val="12326261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5268346" y="2438400"/>
            <a:ext cx="691130" cy="32477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comparación de las asignaturas aprobadas de la malla académica del estudiante presione el botón «Compara»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280941" y="1491136"/>
            <a:ext cx="958829" cy="1103740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94471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62" y="1880505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4724400" y="2438400"/>
            <a:ext cx="638175" cy="32477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el programa del estudiante que desea consultar, y posteriormente presione el botón «Buscar»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628468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280939" y="1244915"/>
            <a:ext cx="443459" cy="1349961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92428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62" y="1880505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666750" y="3305174"/>
            <a:ext cx="7905750" cy="1304925"/>
          </a:xfrm>
          <a:prstGeom prst="roundRect">
            <a:avLst>
              <a:gd name="adj" fmla="val 711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 mostrará en color azul las asignaturas aprobadas por el estudiante, y en color rojo las asignaturas no aprobadas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628468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4010" y="1477595"/>
            <a:ext cx="0" cy="175138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1482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62" y="1880505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analizar el detalle de las asignaturas por periodo y semestre presione el botón «Analizar»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628468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6 Rectángulo redondeado"/>
          <p:cNvSpPr/>
          <p:nvPr/>
        </p:nvSpPr>
        <p:spPr>
          <a:xfrm>
            <a:off x="5923937" y="2438400"/>
            <a:ext cx="722671" cy="32477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8" name="7 Grupo"/>
          <p:cNvGrpSpPr/>
          <p:nvPr/>
        </p:nvGrpSpPr>
        <p:grpSpPr>
          <a:xfrm flipH="1">
            <a:off x="4339930" y="1244915"/>
            <a:ext cx="1539758" cy="1349961"/>
            <a:chOff x="5729176" y="1775902"/>
            <a:chExt cx="1131436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46888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62" y="18805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En la siguiente ventana se mostrarán todas las asignaturas pertenecientes a la malla académica del estudiante, por periodo, y semestre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864435" y="2114550"/>
            <a:ext cx="3680955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6 Rectángulo redondeado"/>
          <p:cNvSpPr/>
          <p:nvPr/>
        </p:nvSpPr>
        <p:spPr>
          <a:xfrm>
            <a:off x="653847" y="2497394"/>
            <a:ext cx="7782230" cy="3205318"/>
          </a:xfrm>
          <a:prstGeom prst="roundRect">
            <a:avLst>
              <a:gd name="adj" fmla="val 439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4436194" y="1491136"/>
            <a:ext cx="0" cy="98659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889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REPORTES</a:t>
            </a:r>
          </a:p>
        </p:txBody>
      </p:sp>
    </p:spTree>
    <p:extLst>
      <p:ext uri="{BB962C8B-B14F-4D97-AF65-F5344CB8AC3E}">
        <p14:creationId xmlns:p14="http://schemas.microsoft.com/office/powerpoint/2010/main" val="41311915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75" y="1870980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5927978" y="2438400"/>
            <a:ext cx="669466" cy="32477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los reportes relacionados a la matrícula del estudiante seleccionado, presione el botón «Reportes»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485900" y="2114550"/>
            <a:ext cx="30861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261276" y="1491136"/>
            <a:ext cx="1656869" cy="1103740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37192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07" y="1870980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2860927" y="2438400"/>
            <a:ext cx="3473197" cy="1479180"/>
          </a:xfrm>
          <a:prstGeom prst="roundRect">
            <a:avLst>
              <a:gd name="adj" fmla="val 7071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el tipo de reporte a generar, el estado de la matrícula, periodo, programa y semestre. Posteriormente presione el botón «Generar»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497806" y="2114550"/>
            <a:ext cx="12192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9 Rectángulo redondeado"/>
          <p:cNvSpPr/>
          <p:nvPr/>
        </p:nvSpPr>
        <p:spPr>
          <a:xfrm>
            <a:off x="4180139" y="4505325"/>
            <a:ext cx="772862" cy="285750"/>
          </a:xfrm>
          <a:prstGeom prst="roundRect">
            <a:avLst>
              <a:gd name="adj" fmla="val 7071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50494" y="1500661"/>
            <a:ext cx="0" cy="85201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4598119" y="3955680"/>
            <a:ext cx="0" cy="49329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889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DF058A-3826-4710-BB89-D828C1B76AD1}">
  <ds:schemaRefs>
    <ds:schemaRef ds:uri="http://schemas.microsoft.com/office/2006/metadata/properties"/>
    <ds:schemaRef ds:uri="http://schemas.microsoft.com/office/infopath/2007/PartnerControls"/>
    <ds:schemaRef ds:uri="d5c1a6a5-0428-459c-81cd-cf402d4ff623"/>
    <ds:schemaRef ds:uri="4b5fc4ab-1594-4dd7-8d7e-2e0a7577b23f"/>
  </ds:schemaRefs>
</ds:datastoreItem>
</file>

<file path=customXml/itemProps2.xml><?xml version="1.0" encoding="utf-8"?>
<ds:datastoreItem xmlns:ds="http://schemas.openxmlformats.org/officeDocument/2006/customXml" ds:itemID="{5955FE87-30AB-44CB-B40A-80E3BC7C2F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c1a6a5-0428-459c-81cd-cf402d4ff623"/>
    <ds:schemaRef ds:uri="4b5fc4ab-1594-4dd7-8d7e-2e0a7577b2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BDE33B-C40C-4493-891F-B61FA90B81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4500</TotalTime>
  <Words>694</Words>
  <Application>Microsoft Office PowerPoint</Application>
  <PresentationFormat>Presentación en pantalla (4:3)</PresentationFormat>
  <Paragraphs>97</Paragraphs>
  <Slides>50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Pastori Rojas</cp:lastModifiedBy>
  <cp:revision>67</cp:revision>
  <dcterms:created xsi:type="dcterms:W3CDTF">2018-01-24T15:16:31Z</dcterms:created>
  <dcterms:modified xsi:type="dcterms:W3CDTF">2024-02-14T20:07:14Z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  <property fmtid="{D5CDD505-2E9C-101B-9397-08002B2CF9AE}" pid="4" name="MSIP_Label_f535a957-b352-4c2d-aa57-80f72177303d_Enabled">
    <vt:lpwstr>true</vt:lpwstr>
  </property>
  <property fmtid="{D5CDD505-2E9C-101B-9397-08002B2CF9AE}" pid="5" name="MSIP_Label_f535a957-b352-4c2d-aa57-80f72177303d_SetDate">
    <vt:lpwstr>2024-02-14T20:06:39Z</vt:lpwstr>
  </property>
  <property fmtid="{D5CDD505-2E9C-101B-9397-08002B2CF9AE}" pid="6" name="MSIP_Label_f535a957-b352-4c2d-aa57-80f72177303d_Method">
    <vt:lpwstr>Standard</vt:lpwstr>
  </property>
  <property fmtid="{D5CDD505-2E9C-101B-9397-08002B2CF9AE}" pid="7" name="MSIP_Label_f535a957-b352-4c2d-aa57-80f72177303d_Name">
    <vt:lpwstr>defa4170-0d19-0005-0004-bc88714345d2</vt:lpwstr>
  </property>
  <property fmtid="{D5CDD505-2E9C-101B-9397-08002B2CF9AE}" pid="8" name="MSIP_Label_f535a957-b352-4c2d-aa57-80f72177303d_SiteId">
    <vt:lpwstr>34303541-74ec-4d4a-8c5a-8049d2fd6ce6</vt:lpwstr>
  </property>
  <property fmtid="{D5CDD505-2E9C-101B-9397-08002B2CF9AE}" pid="9" name="MSIP_Label_f535a957-b352-4c2d-aa57-80f72177303d_ActionId">
    <vt:lpwstr>a88e4dc0-74f0-47c8-83da-0a00ac7091de</vt:lpwstr>
  </property>
  <property fmtid="{D5CDD505-2E9C-101B-9397-08002B2CF9AE}" pid="10" name="MSIP_Label_f535a957-b352-4c2d-aa57-80f72177303d_ContentBits">
    <vt:lpwstr>0</vt:lpwstr>
  </property>
</Properties>
</file>