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6" r:id="rId5"/>
    <p:sldId id="260" r:id="rId6"/>
    <p:sldId id="268" r:id="rId7"/>
    <p:sldId id="269" r:id="rId8"/>
    <p:sldId id="270" r:id="rId9"/>
    <p:sldId id="259" r:id="rId10"/>
    <p:sldId id="272" r:id="rId11"/>
    <p:sldId id="275" r:id="rId12"/>
    <p:sldId id="273" r:id="rId13"/>
    <p:sldId id="274" r:id="rId14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66" d="100"/>
          <a:sy n="66" d="100"/>
        </p:scale>
        <p:origin x="15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2B198-C48F-4F3A-BB9E-A0BA3565D4CA}" type="datetimeFigureOut">
              <a:rPr lang="es-CO" smtClean="0"/>
              <a:t>20/08/2021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6C7AED-4793-4A0F-8891-FD0A861AA3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6046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6C7AED-4793-4A0F-8891-FD0A861AA3B0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8665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20/08/2021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38926" y="2620610"/>
            <a:ext cx="606614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3200" dirty="0">
                <a:solidFill>
                  <a:schemeClr val="bg1"/>
                </a:solidFill>
              </a:rPr>
              <a:t>Módulos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Inscripción para grados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Oferta de inscripciones para grados</a:t>
            </a:r>
          </a:p>
          <a:p>
            <a:pPr algn="ctr"/>
            <a:r>
              <a:rPr lang="es-CO" sz="3200" dirty="0">
                <a:solidFill>
                  <a:schemeClr val="bg1"/>
                </a:solidFill>
              </a:rPr>
              <a:t>Actualización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618978" y="1435125"/>
            <a:ext cx="8229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La actualización incluye las siguientes funcionalidades:</a:t>
            </a:r>
          </a:p>
          <a:p>
            <a:pPr algn="just"/>
            <a:endParaRPr lang="es-CO" dirty="0"/>
          </a:p>
          <a:p>
            <a:pPr algn="just"/>
            <a:r>
              <a:rPr lang="es-CO" b="1" dirty="0"/>
              <a:t>Inscripciones para grado</a:t>
            </a:r>
          </a:p>
          <a:p>
            <a:pPr algn="just"/>
            <a:endParaRPr lang="es-CO" dirty="0"/>
          </a:p>
          <a:p>
            <a:pPr marL="342900" indent="-342900" algn="just">
              <a:buFont typeface="+mj-lt"/>
              <a:buAutoNum type="arabicPeriod"/>
            </a:pPr>
            <a:r>
              <a:rPr lang="es-MX" dirty="0"/>
              <a:t>Anulación de inscripciones y reporte de información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/>
              <a:t>Cambio de periodo y/o mes de Ceremonia  (usuario: </a:t>
            </a:r>
            <a:r>
              <a:rPr lang="es-MX" dirty="0" err="1"/>
              <a:t>aredondo</a:t>
            </a:r>
            <a:r>
              <a:rPr lang="es-MX" dirty="0"/>
              <a:t>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/>
              <a:t>Liberar inscripción (usuario: </a:t>
            </a:r>
            <a:r>
              <a:rPr lang="es-MX" dirty="0" err="1"/>
              <a:t>aredondo</a:t>
            </a:r>
            <a:r>
              <a:rPr lang="es-MX" dirty="0"/>
              <a:t>)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dirty="0"/>
              <a:t>Aprobación de inscripciones luego de finalización de oferta</a:t>
            </a:r>
          </a:p>
          <a:p>
            <a:pPr marL="342900" indent="-342900" algn="just">
              <a:buFont typeface="+mj-lt"/>
              <a:buAutoNum type="arabicPeriod"/>
            </a:pPr>
            <a:endParaRPr lang="es-MX" dirty="0"/>
          </a:p>
          <a:p>
            <a:pPr algn="just"/>
            <a:r>
              <a:rPr lang="es-MX" b="1" dirty="0"/>
              <a:t>Ofertas de inscripción para grado</a:t>
            </a:r>
          </a:p>
          <a:p>
            <a:pPr algn="just"/>
            <a:endParaRPr lang="es-MX" dirty="0"/>
          </a:p>
          <a:p>
            <a:pPr marL="342900" indent="-342900" algn="just">
              <a:buFont typeface="+mj-lt"/>
              <a:buAutoNum type="arabicPeriod"/>
            </a:pPr>
            <a:r>
              <a:rPr lang="es-MX" dirty="0"/>
              <a:t>Agregar programa a excepción de acta de grado</a:t>
            </a:r>
            <a:endParaRPr lang="es-CO" dirty="0"/>
          </a:p>
          <a:p>
            <a:pPr marL="342900" indent="-342900" algn="just">
              <a:buFont typeface="+mj-lt"/>
              <a:buAutoNum type="arabicPeriod"/>
            </a:pPr>
            <a:r>
              <a:rPr lang="es-MX" dirty="0"/>
              <a:t>Modificación de fecha de inscripción y grado en ofertas (usuario: </a:t>
            </a:r>
            <a:r>
              <a:rPr lang="es-MX" dirty="0" err="1"/>
              <a:t>aredondo</a:t>
            </a:r>
            <a:r>
              <a:rPr lang="es-MX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93148C7-E59C-4AB3-8D35-8325B884A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4" y="2433711"/>
            <a:ext cx="8834511" cy="3954097"/>
          </a:xfrm>
          <a:prstGeom prst="rect">
            <a:avLst/>
          </a:prstGeom>
        </p:spPr>
      </p:pic>
      <p:pic>
        <p:nvPicPr>
          <p:cNvPr id="5" name="Imagen 4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30D37013-BFFA-48AE-9668-FB805FAEF1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419"/>
          <a:stretch/>
        </p:blipFill>
        <p:spPr>
          <a:xfrm>
            <a:off x="3652837" y="1004670"/>
            <a:ext cx="1838325" cy="127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0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uadroTexto"/>
          <p:cNvSpPr txBox="1"/>
          <p:nvPr/>
        </p:nvSpPr>
        <p:spPr>
          <a:xfrm>
            <a:off x="372977" y="5114998"/>
            <a:ext cx="83980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dirty="0"/>
              <a:t>Cambio de periodo y/o mes de Ceremonia. </a:t>
            </a:r>
            <a:r>
              <a:rPr lang="es-MX" b="1" dirty="0"/>
              <a:t>Nuevo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Liberar inscripción. </a:t>
            </a:r>
            <a:r>
              <a:rPr lang="es-MX" b="1" dirty="0"/>
              <a:t>Nuevo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Anulación de inscripciones y reporte de información. </a:t>
            </a:r>
            <a:r>
              <a:rPr lang="es-MX" b="1" dirty="0"/>
              <a:t>Nuevo</a:t>
            </a:r>
            <a:endParaRPr lang="es-MX" dirty="0"/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Aprobación de inscripciones luego de finalización de oferta. </a:t>
            </a:r>
            <a:r>
              <a:rPr lang="es-MX" b="1" dirty="0"/>
              <a:t>Ajuste</a:t>
            </a:r>
            <a:endParaRPr lang="es-MX" dirty="0"/>
          </a:p>
          <a:p>
            <a:pPr marL="342900" indent="-342900">
              <a:buFont typeface="+mj-lt"/>
              <a:buAutoNum type="arabicPeriod"/>
            </a:pPr>
            <a:endParaRPr lang="es-MX" dirty="0"/>
          </a:p>
        </p:txBody>
      </p:sp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2C44EAA6-656D-4FF7-9B1D-1251F1EEB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" y="961643"/>
            <a:ext cx="8707902" cy="1931476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C05ECCAA-53CA-4B92-8EF7-379622D5A1B5}"/>
              </a:ext>
            </a:extLst>
          </p:cNvPr>
          <p:cNvGrpSpPr/>
          <p:nvPr/>
        </p:nvGrpSpPr>
        <p:grpSpPr>
          <a:xfrm>
            <a:off x="1383192" y="2969843"/>
            <a:ext cx="5849893" cy="2039253"/>
            <a:chOff x="1383192" y="2969843"/>
            <a:chExt cx="5849893" cy="2039253"/>
          </a:xfrm>
        </p:grpSpPr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37921834-9C47-45BE-B27F-2B2F582DFAC5}"/>
                </a:ext>
              </a:extLst>
            </p:cNvPr>
            <p:cNvGrpSpPr/>
            <p:nvPr/>
          </p:nvGrpSpPr>
          <p:grpSpPr>
            <a:xfrm>
              <a:off x="2082018" y="2969843"/>
              <a:ext cx="4389122" cy="1756902"/>
              <a:chOff x="2082018" y="2969843"/>
              <a:chExt cx="4389122" cy="1756902"/>
            </a:xfrm>
          </p:grpSpPr>
          <p:grpSp>
            <p:nvGrpSpPr>
              <p:cNvPr id="7" name="Grupo 6">
                <a:extLst>
                  <a:ext uri="{FF2B5EF4-FFF2-40B4-BE49-F238E27FC236}">
                    <a16:creationId xmlns:a16="http://schemas.microsoft.com/office/drawing/2014/main" id="{32AAECE2-0F5F-4BEE-B8A1-976B3960AA54}"/>
                  </a:ext>
                </a:extLst>
              </p:cNvPr>
              <p:cNvGrpSpPr/>
              <p:nvPr/>
            </p:nvGrpSpPr>
            <p:grpSpPr>
              <a:xfrm>
                <a:off x="2999843" y="2969843"/>
                <a:ext cx="3144314" cy="1322797"/>
                <a:chOff x="2890726" y="3094349"/>
                <a:chExt cx="3144314" cy="1322797"/>
              </a:xfrm>
            </p:grpSpPr>
            <p:pic>
              <p:nvPicPr>
                <p:cNvPr id="5" name="Imagen 4" descr="Icono&#10;&#10;Descripción generada automáticamente">
                  <a:extLst>
                    <a:ext uri="{FF2B5EF4-FFF2-40B4-BE49-F238E27FC236}">
                      <a16:creationId xmlns:a16="http://schemas.microsoft.com/office/drawing/2014/main" id="{D21106CB-B12A-473A-AC6F-FD59B69793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4419" r="6096" b="27950"/>
                <a:stretch/>
              </p:blipFill>
              <p:spPr>
                <a:xfrm>
                  <a:off x="3108960" y="3094349"/>
                  <a:ext cx="2926080" cy="1198291"/>
                </a:xfrm>
                <a:prstGeom prst="rect">
                  <a:avLst/>
                </a:prstGeom>
              </p:spPr>
            </p:pic>
            <p:sp>
              <p:nvSpPr>
                <p:cNvPr id="6" name="Rectángulo: esquinas redondeadas 5">
                  <a:extLst>
                    <a:ext uri="{FF2B5EF4-FFF2-40B4-BE49-F238E27FC236}">
                      <a16:creationId xmlns:a16="http://schemas.microsoft.com/office/drawing/2014/main" id="{52897AAD-3114-4D9D-80C6-9872DCABE492}"/>
                    </a:ext>
                  </a:extLst>
                </p:cNvPr>
                <p:cNvSpPr/>
                <p:nvPr/>
              </p:nvSpPr>
              <p:spPr>
                <a:xfrm>
                  <a:off x="2890726" y="3721553"/>
                  <a:ext cx="2616591" cy="695593"/>
                </a:xfrm>
                <a:prstGeom prst="roundRect">
                  <a:avLst/>
                </a:prstGeom>
                <a:noFill/>
                <a:ln w="57150"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</p:grpSp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DFB7C8EC-35E8-49A7-8F41-62FA57A987AA}"/>
                  </a:ext>
                </a:extLst>
              </p:cNvPr>
              <p:cNvCxnSpPr/>
              <p:nvPr/>
            </p:nvCxnSpPr>
            <p:spPr>
              <a:xfrm flipH="1">
                <a:off x="2082018" y="3944843"/>
                <a:ext cx="1136059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de flecha 35">
                <a:extLst>
                  <a:ext uri="{FF2B5EF4-FFF2-40B4-BE49-F238E27FC236}">
                    <a16:creationId xmlns:a16="http://schemas.microsoft.com/office/drawing/2014/main" id="{A69C2C8C-9492-4649-8FDD-F652D50A75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6847" y="3916707"/>
                <a:ext cx="1454293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: angular 12">
                <a:extLst>
                  <a:ext uri="{FF2B5EF4-FFF2-40B4-BE49-F238E27FC236}">
                    <a16:creationId xmlns:a16="http://schemas.microsoft.com/office/drawing/2014/main" id="{B5252E58-CD83-4E21-8F2A-540A8FEBB15C}"/>
                  </a:ext>
                </a:extLst>
              </p:cNvPr>
              <p:cNvCxnSpPr/>
              <p:nvPr/>
            </p:nvCxnSpPr>
            <p:spPr>
              <a:xfrm>
                <a:off x="4107766" y="4168134"/>
                <a:ext cx="1856936" cy="558611"/>
              </a:xfrm>
              <a:prstGeom prst="bentConnector3">
                <a:avLst>
                  <a:gd name="adj1" fmla="val 0"/>
                </a:avLst>
              </a:prstGeom>
              <a:ln w="762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B0A5C2A1-A518-459A-AAFB-E3F390EBD3AB}"/>
                </a:ext>
              </a:extLst>
            </p:cNvPr>
            <p:cNvGrpSpPr/>
            <p:nvPr/>
          </p:nvGrpSpPr>
          <p:grpSpPr>
            <a:xfrm>
              <a:off x="1383192" y="3597047"/>
              <a:ext cx="5849893" cy="1412049"/>
              <a:chOff x="1383192" y="3597047"/>
              <a:chExt cx="5849893" cy="1412049"/>
            </a:xfrm>
          </p:grpSpPr>
          <p:sp>
            <p:nvSpPr>
              <p:cNvPr id="39" name="Elipse 38">
                <a:extLst>
                  <a:ext uri="{FF2B5EF4-FFF2-40B4-BE49-F238E27FC236}">
                    <a16:creationId xmlns:a16="http://schemas.microsoft.com/office/drawing/2014/main" id="{42CA3708-CBBD-4AD9-908F-8FC666B95762}"/>
                  </a:ext>
                </a:extLst>
              </p:cNvPr>
              <p:cNvSpPr/>
              <p:nvPr/>
            </p:nvSpPr>
            <p:spPr>
              <a:xfrm>
                <a:off x="1383192" y="3682868"/>
                <a:ext cx="633046" cy="564702"/>
              </a:xfrm>
              <a:prstGeom prst="ellipse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56DECBDC-AAC9-4C71-B7B1-C435539E6F32}"/>
                  </a:ext>
                </a:extLst>
              </p:cNvPr>
              <p:cNvSpPr/>
              <p:nvPr/>
            </p:nvSpPr>
            <p:spPr>
              <a:xfrm>
                <a:off x="6144157" y="4444394"/>
                <a:ext cx="633046" cy="564702"/>
              </a:xfrm>
              <a:prstGeom prst="ellipse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</a:t>
                </a:r>
              </a:p>
            </p:txBody>
          </p:sp>
          <p:sp>
            <p:nvSpPr>
              <p:cNvPr id="42" name="Elipse 41">
                <a:extLst>
                  <a:ext uri="{FF2B5EF4-FFF2-40B4-BE49-F238E27FC236}">
                    <a16:creationId xmlns:a16="http://schemas.microsoft.com/office/drawing/2014/main" id="{81A0148D-D4EE-4046-A398-0697B80934D2}"/>
                  </a:ext>
                </a:extLst>
              </p:cNvPr>
              <p:cNvSpPr/>
              <p:nvPr/>
            </p:nvSpPr>
            <p:spPr>
              <a:xfrm>
                <a:off x="6600039" y="3597047"/>
                <a:ext cx="633046" cy="564702"/>
              </a:xfrm>
              <a:prstGeom prst="ellipse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3790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7610DA19-EBD8-417F-8869-481D2E123983}"/>
              </a:ext>
            </a:extLst>
          </p:cNvPr>
          <p:cNvSpPr txBox="1"/>
          <p:nvPr/>
        </p:nvSpPr>
        <p:spPr>
          <a:xfrm>
            <a:off x="467750" y="991017"/>
            <a:ext cx="82084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MX" dirty="0"/>
              <a:t>Cambio de periodo y/o mes de Ceremonia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Al seleccionar un registro, podrá asignar un nuevo año, periodo y mes de ceremonia de graduación. Para guardar este campo, diligencie todos los campos y seleccione el botón “guardar”.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La longitud máxima del campo “observación” es de 180 caracteres, incluidos espacios.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3D105E2C-5DD9-4BC5-947A-853BA7EE5B49}"/>
              </a:ext>
            </a:extLst>
          </p:cNvPr>
          <p:cNvGrpSpPr/>
          <p:nvPr/>
        </p:nvGrpSpPr>
        <p:grpSpPr>
          <a:xfrm>
            <a:off x="2771335" y="3052693"/>
            <a:ext cx="3971925" cy="3555608"/>
            <a:chOff x="2771335" y="2795953"/>
            <a:chExt cx="3971925" cy="365760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44078C1F-AE1C-458D-9AAA-F92786B4D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1335" y="2795953"/>
              <a:ext cx="3971925" cy="3657600"/>
            </a:xfrm>
            <a:prstGeom prst="rect">
              <a:avLst/>
            </a:prstGeom>
          </p:spPr>
        </p:pic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80E37F2D-10CE-4663-BB2B-FD5EE2C985FA}"/>
                </a:ext>
              </a:extLst>
            </p:cNvPr>
            <p:cNvSpPr/>
            <p:nvPr/>
          </p:nvSpPr>
          <p:spPr>
            <a:xfrm>
              <a:off x="2901368" y="3319976"/>
              <a:ext cx="3682311" cy="804618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E82340CB-EA38-4FB4-A4EF-B1D87F0C8387}"/>
                </a:ext>
              </a:extLst>
            </p:cNvPr>
            <p:cNvSpPr/>
            <p:nvPr/>
          </p:nvSpPr>
          <p:spPr>
            <a:xfrm>
              <a:off x="2916141" y="4222444"/>
              <a:ext cx="3682311" cy="1533028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589B35B5-1C16-4013-B472-25FA112AD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852"/>
          <a:stretch/>
        </p:blipFill>
        <p:spPr>
          <a:xfrm>
            <a:off x="4878743" y="870451"/>
            <a:ext cx="667701" cy="76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3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711D32FC-C942-4A74-85CE-B9D0654DCF14}"/>
              </a:ext>
            </a:extLst>
          </p:cNvPr>
          <p:cNvGrpSpPr/>
          <p:nvPr/>
        </p:nvGrpSpPr>
        <p:grpSpPr>
          <a:xfrm>
            <a:off x="604801" y="2852998"/>
            <a:ext cx="7934398" cy="2040832"/>
            <a:chOff x="602053" y="3693501"/>
            <a:chExt cx="7934398" cy="2040832"/>
          </a:xfrm>
        </p:grpSpPr>
        <p:pic>
          <p:nvPicPr>
            <p:cNvPr id="3" name="Imagen 2" descr="Interfaz de usuario gráfica, Aplicación&#10;&#10;Descripción generada automáticamente">
              <a:extLst>
                <a:ext uri="{FF2B5EF4-FFF2-40B4-BE49-F238E27FC236}">
                  <a16:creationId xmlns:a16="http://schemas.microsoft.com/office/drawing/2014/main" id="{4C36A755-9DE6-4D58-BDCD-A5AE78568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053" y="3693501"/>
              <a:ext cx="3206042" cy="2031309"/>
            </a:xfrm>
            <a:prstGeom prst="rect">
              <a:avLst/>
            </a:prstGeom>
          </p:spPr>
        </p:pic>
        <p:pic>
          <p:nvPicPr>
            <p:cNvPr id="5" name="Imagen 4" descr="Interfaz de usuario gráfica, Texto, Aplicación, Chat o mensaje de texto&#10;&#10;Descripción generada automáticamente">
              <a:extLst>
                <a:ext uri="{FF2B5EF4-FFF2-40B4-BE49-F238E27FC236}">
                  <a16:creationId xmlns:a16="http://schemas.microsoft.com/office/drawing/2014/main" id="{59C5DB36-67EB-4F67-91A0-2EF40E08D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9841" y="3703026"/>
              <a:ext cx="3356610" cy="2031307"/>
            </a:xfrm>
            <a:prstGeom prst="rect">
              <a:avLst/>
            </a:prstGeom>
          </p:spPr>
        </p:pic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4B0C259E-1726-4BC1-AB6F-63AB411047F2}"/>
                </a:ext>
              </a:extLst>
            </p:cNvPr>
            <p:cNvCxnSpPr/>
            <p:nvPr/>
          </p:nvCxnSpPr>
          <p:spPr>
            <a:xfrm>
              <a:off x="3995225" y="4684541"/>
              <a:ext cx="1069144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06028F8-9A22-4E31-AAB8-8878FC2D0891}"/>
              </a:ext>
            </a:extLst>
          </p:cNvPr>
          <p:cNvGrpSpPr/>
          <p:nvPr/>
        </p:nvGrpSpPr>
        <p:grpSpPr>
          <a:xfrm>
            <a:off x="442363" y="1037847"/>
            <a:ext cx="8208499" cy="1341228"/>
            <a:chOff x="442363" y="1037847"/>
            <a:chExt cx="8208499" cy="1341228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610DA19-EBD8-417F-8869-481D2E123983}"/>
                </a:ext>
              </a:extLst>
            </p:cNvPr>
            <p:cNvSpPr txBox="1"/>
            <p:nvPr/>
          </p:nvSpPr>
          <p:spPr>
            <a:xfrm>
              <a:off x="442363" y="1178746"/>
              <a:ext cx="820849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dirty="0"/>
                <a:t>2. Liberar inscripción</a:t>
              </a:r>
            </a:p>
            <a:p>
              <a:endParaRPr lang="es-MX" dirty="0"/>
            </a:p>
            <a:p>
              <a:r>
                <a:rPr lang="es-MX" dirty="0"/>
                <a:t>Esta opción permite liberar la inscripción del usuario que la esté gestionando, con el fin de que pueda ser gestionado por otro usuario.</a:t>
              </a:r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2FED8006-BC31-4A98-BB93-3F6AE1B77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4621" y="1037847"/>
              <a:ext cx="655016" cy="5695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04664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2EB05B09-B8AB-4E0B-99F0-383FC2182351}"/>
              </a:ext>
            </a:extLst>
          </p:cNvPr>
          <p:cNvSpPr txBox="1"/>
          <p:nvPr/>
        </p:nvSpPr>
        <p:spPr>
          <a:xfrm>
            <a:off x="442362" y="4647697"/>
            <a:ext cx="8208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Para listar las inscripciones anuladas, seleccione en el campo “estado” la opción “Anuladas”, aparecerá automáticamente un botón, en el que podrá descargar el listado en formato Excel.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C41E0AC5-52A6-4146-A4DD-5C2A494DCF59}"/>
              </a:ext>
            </a:extLst>
          </p:cNvPr>
          <p:cNvGrpSpPr/>
          <p:nvPr/>
        </p:nvGrpSpPr>
        <p:grpSpPr>
          <a:xfrm>
            <a:off x="2243796" y="5628712"/>
            <a:ext cx="4656407" cy="875771"/>
            <a:chOff x="2218407" y="5294028"/>
            <a:chExt cx="4656407" cy="875771"/>
          </a:xfrm>
        </p:grpSpPr>
        <p:pic>
          <p:nvPicPr>
            <p:cNvPr id="4" name="Imagen 3" descr="Tabla&#10;&#10;Descripción generada automáticamente con confianza media">
              <a:extLst>
                <a:ext uri="{FF2B5EF4-FFF2-40B4-BE49-F238E27FC236}">
                  <a16:creationId xmlns:a16="http://schemas.microsoft.com/office/drawing/2014/main" id="{2B3E36DE-D1F1-45BD-A12A-CA5E38A46B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56" r="2525"/>
            <a:stretch/>
          </p:blipFill>
          <p:spPr>
            <a:xfrm>
              <a:off x="2218407" y="5294028"/>
              <a:ext cx="4656407" cy="875771"/>
            </a:xfrm>
            <a:prstGeom prst="rect">
              <a:avLst/>
            </a:prstGeom>
          </p:spPr>
        </p:pic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B95116C0-B5F0-4C51-A9DE-6FEE4C20FDAF}"/>
                </a:ext>
              </a:extLst>
            </p:cNvPr>
            <p:cNvSpPr/>
            <p:nvPr/>
          </p:nvSpPr>
          <p:spPr>
            <a:xfrm>
              <a:off x="5700841" y="5626790"/>
              <a:ext cx="1173973" cy="436385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pic>
        <p:nvPicPr>
          <p:cNvPr id="14" name="Imagen 13" descr="Interfaz de usuario gráfica, Aplicación, Sitio web&#10;&#10;Descripción generada automáticamente">
            <a:extLst>
              <a:ext uri="{FF2B5EF4-FFF2-40B4-BE49-F238E27FC236}">
                <a16:creationId xmlns:a16="http://schemas.microsoft.com/office/drawing/2014/main" id="{726C7387-79C2-439F-B9CB-46703BC89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58" y="2649800"/>
            <a:ext cx="2447925" cy="1543050"/>
          </a:xfrm>
          <a:prstGeom prst="rect">
            <a:avLst/>
          </a:prstGeom>
        </p:spPr>
      </p:pic>
      <p:pic>
        <p:nvPicPr>
          <p:cNvPr id="16" name="Imagen 1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5F6C8D3-C9BB-4DBC-91AB-50979E2A2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735" y="2368388"/>
            <a:ext cx="3359432" cy="2208247"/>
          </a:xfrm>
          <a:prstGeom prst="rect">
            <a:avLst/>
          </a:prstGeom>
        </p:spPr>
      </p:pic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A0108609-A9E2-4E79-A6DE-979F41DD2AF9}"/>
              </a:ext>
            </a:extLst>
          </p:cNvPr>
          <p:cNvCxnSpPr/>
          <p:nvPr/>
        </p:nvCxnSpPr>
        <p:spPr>
          <a:xfrm>
            <a:off x="3502856" y="3502896"/>
            <a:ext cx="1069144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D86296AE-E5D1-490E-9609-D8BC27068286}"/>
              </a:ext>
            </a:extLst>
          </p:cNvPr>
          <p:cNvGrpSpPr/>
          <p:nvPr/>
        </p:nvGrpSpPr>
        <p:grpSpPr>
          <a:xfrm>
            <a:off x="442363" y="1121061"/>
            <a:ext cx="8208499" cy="981015"/>
            <a:chOff x="442363" y="1121061"/>
            <a:chExt cx="8208499" cy="981015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610DA19-EBD8-417F-8869-481D2E123983}"/>
                </a:ext>
              </a:extLst>
            </p:cNvPr>
            <p:cNvSpPr txBox="1"/>
            <p:nvPr/>
          </p:nvSpPr>
          <p:spPr>
            <a:xfrm>
              <a:off x="442363" y="1178746"/>
              <a:ext cx="820849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MX" dirty="0"/>
                <a:t>3. Anulación de inscripciones y reporte de información</a:t>
              </a:r>
            </a:p>
            <a:p>
              <a:endParaRPr lang="es-MX" dirty="0"/>
            </a:p>
            <a:p>
              <a:r>
                <a:rPr lang="es-MX" dirty="0"/>
                <a:t>Esta opción permite anular la inscripción.</a:t>
              </a:r>
            </a:p>
          </p:txBody>
        </p:sp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82B034AE-73BC-4248-B03B-AB16DF80C4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7783"/>
            <a:stretch/>
          </p:blipFill>
          <p:spPr>
            <a:xfrm>
              <a:off x="5724826" y="1121061"/>
              <a:ext cx="479749" cy="437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150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, Sitio web&#10;&#10;Descripción generada automáticamente">
            <a:extLst>
              <a:ext uri="{FF2B5EF4-FFF2-40B4-BE49-F238E27FC236}">
                <a16:creationId xmlns:a16="http://schemas.microsoft.com/office/drawing/2014/main" id="{66EC5A27-0E0F-43AA-9529-B3085A101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576" y="3200190"/>
            <a:ext cx="7538071" cy="2003474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76149A27-F0CD-4C30-8358-256FA8EB966F}"/>
              </a:ext>
            </a:extLst>
          </p:cNvPr>
          <p:cNvGrpSpPr/>
          <p:nvPr/>
        </p:nvGrpSpPr>
        <p:grpSpPr>
          <a:xfrm>
            <a:off x="442363" y="1040716"/>
            <a:ext cx="8208499" cy="1615358"/>
            <a:chOff x="442363" y="1040716"/>
            <a:chExt cx="8208499" cy="1615358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9C558E9-DB21-451E-8905-7D6D5DD1051F}"/>
                </a:ext>
              </a:extLst>
            </p:cNvPr>
            <p:cNvSpPr txBox="1"/>
            <p:nvPr/>
          </p:nvSpPr>
          <p:spPr>
            <a:xfrm>
              <a:off x="442363" y="1178746"/>
              <a:ext cx="8208499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s-MX" dirty="0"/>
                <a:t>4. Aprobación de inscripciones luego de finalización de oferta</a:t>
              </a:r>
            </a:p>
            <a:p>
              <a:pPr algn="just"/>
              <a:endParaRPr lang="es-MX" dirty="0"/>
            </a:p>
            <a:p>
              <a:pPr algn="just"/>
              <a:r>
                <a:rPr lang="es-MX" dirty="0"/>
                <a:t>En el caso de que las fechas de la oferta de inscripción para grados hayan finalizado, el sistema lo informará y mostrará la opción de aprobarla, haciendo la aclaración de que el volante de pago deberá ser entregado de forma “manual”.</a:t>
              </a: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CFB078F-B98F-44CE-B583-7811FDC212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8797"/>
            <a:stretch/>
          </p:blipFill>
          <p:spPr>
            <a:xfrm>
              <a:off x="6330461" y="1040716"/>
              <a:ext cx="514350" cy="5067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cono&#10;&#10;Descripción generada automáticamente">
            <a:extLst>
              <a:ext uri="{FF2B5EF4-FFF2-40B4-BE49-F238E27FC236}">
                <a16:creationId xmlns:a16="http://schemas.microsoft.com/office/drawing/2014/main" id="{4CB094C8-4B94-437F-9C6F-15ABC2A92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449" y="1430048"/>
            <a:ext cx="2491474" cy="1555652"/>
          </a:xfrm>
          <a:prstGeom prst="rect">
            <a:avLst/>
          </a:prstGeom>
        </p:spPr>
      </p:pic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C31D2900-0EEF-470D-A4A7-47CAE5C8C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7" y="3137808"/>
            <a:ext cx="7324725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41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481CB6D-CE39-413A-8A6B-E9678CF1AFF1}"/>
              </a:ext>
            </a:extLst>
          </p:cNvPr>
          <p:cNvSpPr txBox="1"/>
          <p:nvPr/>
        </p:nvSpPr>
        <p:spPr>
          <a:xfrm>
            <a:off x="467750" y="991017"/>
            <a:ext cx="82084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1. Programas con excepción de “acta de sustentación de grado”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Esta funcionalidad permite agregar programas a la excepción del requisito de acta de grado, así como anular las excepciones ya existentes (botones “Agregar” y “Anular”). 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En caso de que sea necesario que una excepción ya anulada entre en funcionamiento nuevamente, seleccione el botón “Activar”.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F36099A-FB62-4E16-A053-57758CC7FF27}"/>
              </a:ext>
            </a:extLst>
          </p:cNvPr>
          <p:cNvGrpSpPr/>
          <p:nvPr/>
        </p:nvGrpSpPr>
        <p:grpSpPr>
          <a:xfrm>
            <a:off x="467750" y="3012295"/>
            <a:ext cx="8254434" cy="3664276"/>
            <a:chOff x="467750" y="3012295"/>
            <a:chExt cx="8254434" cy="3664276"/>
          </a:xfrm>
        </p:grpSpPr>
        <p:pic>
          <p:nvPicPr>
            <p:cNvPr id="31" name="Imagen 30" descr="Interfaz de usuario gráfica, Texto, Aplicación&#10;&#10;Descripción generada automáticamente">
              <a:extLst>
                <a:ext uri="{FF2B5EF4-FFF2-40B4-BE49-F238E27FC236}">
                  <a16:creationId xmlns:a16="http://schemas.microsoft.com/office/drawing/2014/main" id="{6B594A5D-660B-446D-8D46-78E27DF0BF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4345"/>
            <a:stretch/>
          </p:blipFill>
          <p:spPr>
            <a:xfrm>
              <a:off x="467752" y="3012295"/>
              <a:ext cx="8208498" cy="1100363"/>
            </a:xfrm>
            <a:prstGeom prst="rect">
              <a:avLst/>
            </a:prstGeom>
          </p:spPr>
        </p:pic>
        <p:pic>
          <p:nvPicPr>
            <p:cNvPr id="33" name="Imagen 32" descr="Interfaz de usuario gráfica, Texto, Aplicación, Correo electrónico&#10;&#10;Descripción generada automáticamente">
              <a:extLst>
                <a:ext uri="{FF2B5EF4-FFF2-40B4-BE49-F238E27FC236}">
                  <a16:creationId xmlns:a16="http://schemas.microsoft.com/office/drawing/2014/main" id="{C07AD091-4299-483C-B944-32089B1E49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6849"/>
            <a:stretch/>
          </p:blipFill>
          <p:spPr>
            <a:xfrm>
              <a:off x="467750" y="4252626"/>
              <a:ext cx="8208500" cy="2423945"/>
            </a:xfrm>
            <a:prstGeom prst="rect">
              <a:avLst/>
            </a:prstGeom>
          </p:spPr>
        </p:pic>
        <p:cxnSp>
          <p:nvCxnSpPr>
            <p:cNvPr id="5" name="Conector recto de flecha 4">
              <a:extLst>
                <a:ext uri="{FF2B5EF4-FFF2-40B4-BE49-F238E27FC236}">
                  <a16:creationId xmlns:a16="http://schemas.microsoft.com/office/drawing/2014/main" id="{527EE500-A53F-4B93-A251-5E3AD86CC3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8115" y="3947886"/>
              <a:ext cx="1451428" cy="58057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576A7483-59E0-4F39-9F54-10CD2D844359}"/>
                </a:ext>
              </a:extLst>
            </p:cNvPr>
            <p:cNvSpPr/>
            <p:nvPr/>
          </p:nvSpPr>
          <p:spPr>
            <a:xfrm>
              <a:off x="6093609" y="3518562"/>
              <a:ext cx="2628575" cy="594096"/>
            </a:xfrm>
            <a:prstGeom prst="roundRect">
              <a:avLst/>
            </a:prstGeom>
            <a:noFill/>
            <a:ln w="5715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</p:spTree>
    <p:extLst>
      <p:ext uri="{BB962C8B-B14F-4D97-AF65-F5344CB8AC3E}">
        <p14:creationId xmlns:p14="http://schemas.microsoft.com/office/powerpoint/2010/main" val="3479347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481CB6D-CE39-413A-8A6B-E9678CF1AFF1}"/>
              </a:ext>
            </a:extLst>
          </p:cNvPr>
          <p:cNvSpPr txBox="1"/>
          <p:nvPr/>
        </p:nvSpPr>
        <p:spPr>
          <a:xfrm>
            <a:off x="467750" y="991017"/>
            <a:ext cx="82084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/>
              <a:t>2. Modificación de fecha de inscripción y  fecha de grado de ofertas</a:t>
            </a:r>
          </a:p>
          <a:p>
            <a:pPr algn="just"/>
            <a:endParaRPr lang="es-MX" dirty="0"/>
          </a:p>
          <a:p>
            <a:pPr algn="just"/>
            <a:r>
              <a:rPr lang="es-MX" dirty="0"/>
              <a:t>Luego de realizar la búsqueda, al seleccionar una o más ofertas, podrá asignar nuevas fechas (inicio y fin) para inscripción y/o grado, seleccionado los botones </a:t>
            </a:r>
            <a:r>
              <a:rPr lang="es-MX" b="1" dirty="0"/>
              <a:t>“Fechas Inscripción” y/o “Fechas Grados”. </a:t>
            </a:r>
            <a:r>
              <a:rPr lang="es-MX" dirty="0"/>
              <a:t>Se abrirá una ventana donde deberá ingresar las nuevas fechas.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1E34DAE-7599-495F-949E-780BEA45BE17}"/>
              </a:ext>
            </a:extLst>
          </p:cNvPr>
          <p:cNvGrpSpPr/>
          <p:nvPr/>
        </p:nvGrpSpPr>
        <p:grpSpPr>
          <a:xfrm>
            <a:off x="422544" y="3047510"/>
            <a:ext cx="8467725" cy="2539828"/>
            <a:chOff x="422544" y="3047510"/>
            <a:chExt cx="8467725" cy="2539828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3241ECE2-4D87-447D-A7FD-43FDB9EFD8FE}"/>
                </a:ext>
              </a:extLst>
            </p:cNvPr>
            <p:cNvGrpSpPr/>
            <p:nvPr/>
          </p:nvGrpSpPr>
          <p:grpSpPr>
            <a:xfrm>
              <a:off x="422544" y="3047510"/>
              <a:ext cx="8467725" cy="2539828"/>
              <a:chOff x="338137" y="3911460"/>
              <a:chExt cx="8467725" cy="2539828"/>
            </a:xfrm>
          </p:grpSpPr>
          <p:pic>
            <p:nvPicPr>
              <p:cNvPr id="10" name="Imagen 9" descr="Interfaz de usuario gráfica, Aplicación&#10;&#10;Descripción generada automáticamente">
                <a:extLst>
                  <a:ext uri="{FF2B5EF4-FFF2-40B4-BE49-F238E27FC236}">
                    <a16:creationId xmlns:a16="http://schemas.microsoft.com/office/drawing/2014/main" id="{DDD7A1BF-6246-4E5E-B4DA-43BE42BFF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8137" y="3911460"/>
                <a:ext cx="8467725" cy="1162050"/>
              </a:xfrm>
              <a:prstGeom prst="rect">
                <a:avLst/>
              </a:prstGeom>
            </p:spPr>
          </p:pic>
          <p:pic>
            <p:nvPicPr>
              <p:cNvPr id="12" name="Imagen 11" descr="Interfaz de usuario gráfica, Aplicación, Sitio web&#10;&#10;Descripción generada automáticamente">
                <a:extLst>
                  <a:ext uri="{FF2B5EF4-FFF2-40B4-BE49-F238E27FC236}">
                    <a16:creationId xmlns:a16="http://schemas.microsoft.com/office/drawing/2014/main" id="{B293413C-884F-4732-AFCE-E35310834C6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19280"/>
              <a:stretch/>
            </p:blipFill>
            <p:spPr>
              <a:xfrm>
                <a:off x="338137" y="5386140"/>
                <a:ext cx="8467725" cy="882379"/>
              </a:xfrm>
              <a:prstGeom prst="rect">
                <a:avLst/>
              </a:prstGeom>
            </p:spPr>
          </p:pic>
          <p:sp>
            <p:nvSpPr>
              <p:cNvPr id="28" name="Rectángulo: esquinas redondeadas 27">
                <a:extLst>
                  <a:ext uri="{FF2B5EF4-FFF2-40B4-BE49-F238E27FC236}">
                    <a16:creationId xmlns:a16="http://schemas.microsoft.com/office/drawing/2014/main" id="{A1DA9F9D-79AE-470B-B1EC-94FB3F5830F1}"/>
                  </a:ext>
                </a:extLst>
              </p:cNvPr>
              <p:cNvSpPr/>
              <p:nvPr/>
            </p:nvSpPr>
            <p:spPr>
              <a:xfrm>
                <a:off x="3717295" y="4447644"/>
                <a:ext cx="896909" cy="782181"/>
              </a:xfrm>
              <a:prstGeom prst="roundRect">
                <a:avLst/>
              </a:prstGeom>
              <a:noFill/>
              <a:ln w="571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29" name="Rectángulo: esquinas redondeadas 28">
                <a:extLst>
                  <a:ext uri="{FF2B5EF4-FFF2-40B4-BE49-F238E27FC236}">
                    <a16:creationId xmlns:a16="http://schemas.microsoft.com/office/drawing/2014/main" id="{8D4FE4C1-FAB1-4D4B-9F31-158BEA65A969}"/>
                  </a:ext>
                </a:extLst>
              </p:cNvPr>
              <p:cNvSpPr/>
              <p:nvPr/>
            </p:nvSpPr>
            <p:spPr>
              <a:xfrm>
                <a:off x="6191981" y="5669107"/>
                <a:ext cx="2484268" cy="782181"/>
              </a:xfrm>
              <a:prstGeom prst="roundRect">
                <a:avLst/>
              </a:prstGeom>
              <a:noFill/>
              <a:ln w="57150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</p:grpSp>
        <p:cxnSp>
          <p:nvCxnSpPr>
            <p:cNvPr id="8" name="Conector recto de flecha 7">
              <a:extLst>
                <a:ext uri="{FF2B5EF4-FFF2-40B4-BE49-F238E27FC236}">
                  <a16:creationId xmlns:a16="http://schemas.microsoft.com/office/drawing/2014/main" id="{A4D1320E-FCDA-46F1-ABC6-B0B5817801BD}"/>
                </a:ext>
              </a:extLst>
            </p:cNvPr>
            <p:cNvCxnSpPr>
              <a:cxnSpLocks/>
            </p:cNvCxnSpPr>
            <p:nvPr/>
          </p:nvCxnSpPr>
          <p:spPr>
            <a:xfrm>
              <a:off x="4656406" y="4339421"/>
              <a:ext cx="1410565" cy="46573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869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abla&#10;&#10;Descripción generada automáticamente con confianza media">
            <a:extLst>
              <a:ext uri="{FF2B5EF4-FFF2-40B4-BE49-F238E27FC236}">
                <a16:creationId xmlns:a16="http://schemas.microsoft.com/office/drawing/2014/main" id="{48BDB221-ACA8-44FF-B728-BD1CCB7F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62" y="1261836"/>
            <a:ext cx="3876675" cy="2476500"/>
          </a:xfrm>
          <a:prstGeom prst="rect">
            <a:avLst/>
          </a:prstGeom>
        </p:spPr>
      </p:pic>
      <p:pic>
        <p:nvPicPr>
          <p:cNvPr id="7" name="Imagen 6" descr="Una captura de pantalla de un celular&#10;&#10;Descripción generada automáticamente con confianza media">
            <a:extLst>
              <a:ext uri="{FF2B5EF4-FFF2-40B4-BE49-F238E27FC236}">
                <a16:creationId xmlns:a16="http://schemas.microsoft.com/office/drawing/2014/main" id="{08687648-F0C0-4B29-A744-C58B5F969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66" y="4023178"/>
            <a:ext cx="7008067" cy="188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812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6D10F4BB-27FF-4296-AA81-DBDD4D4C0BBB}"/>
</file>

<file path=customXml/itemProps2.xml><?xml version="1.0" encoding="utf-8"?>
<ds:datastoreItem xmlns:ds="http://schemas.openxmlformats.org/officeDocument/2006/customXml" ds:itemID="{A97E1956-0803-4229-8283-8D5D469E9D9E}"/>
</file>

<file path=customXml/itemProps3.xml><?xml version="1.0" encoding="utf-8"?>
<ds:datastoreItem xmlns:ds="http://schemas.openxmlformats.org/officeDocument/2006/customXml" ds:itemID="{8F87D189-860A-49BC-8840-CAE3DD972571}"/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448</Words>
  <Application>Microsoft Office PowerPoint</Application>
  <PresentationFormat>Presentación en pantalla (4:3)</PresentationFormat>
  <Paragraphs>48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Rosa Angelica Barrios Perez</cp:lastModifiedBy>
  <cp:revision>48</cp:revision>
  <dcterms:created xsi:type="dcterms:W3CDTF">2018-01-24T15:16:31Z</dcterms:created>
  <dcterms:modified xsi:type="dcterms:W3CDTF">2021-08-20T20:30:03Z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