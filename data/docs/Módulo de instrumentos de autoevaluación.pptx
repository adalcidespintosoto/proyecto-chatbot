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8" r:id="rId7"/>
    <p:sldId id="274" r:id="rId8"/>
    <p:sldId id="27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981B"/>
    <a:srgbClr val="FFFFFF"/>
    <a:srgbClr val="A5A5A5"/>
    <a:srgbClr val="EF8D4B"/>
    <a:srgbClr val="5B9BD5"/>
    <a:srgbClr val="FFC000"/>
    <a:srgbClr val="9C9C9C"/>
    <a:srgbClr val="008000"/>
    <a:srgbClr val="BC8C00"/>
    <a:srgbClr val="507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A634C9-B50D-446B-A504-3786CA69F627}" v="18" dt="2023-04-25T15:15:04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94" autoAdjust="0"/>
    <p:restoredTop sz="94660"/>
  </p:normalViewPr>
  <p:slideViewPr>
    <p:cSldViewPr snapToGrid="0">
      <p:cViewPr>
        <p:scale>
          <a:sx n="50" d="100"/>
          <a:sy n="50" d="100"/>
        </p:scale>
        <p:origin x="76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45" Type="http://customschemas.google.com/relationships/presentationmetadata" Target="metadata"/><Relationship Id="rId5" Type="http://schemas.openxmlformats.org/officeDocument/2006/relationships/slide" Target="slides/slide1.xml"/><Relationship Id="rId49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4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avo Junior Marriaga Caballero" userId="S::gustavo.marriaga@unisimon.edu.co::9673d268-2e23-46d6-a99f-8766c810583c" providerId="AD" clId="Web-{F2A634C9-B50D-446B-A504-3786CA69F627}"/>
    <pc:docChg chg="modSld">
      <pc:chgData name="Gustavo Junior Marriaga Caballero" userId="S::gustavo.marriaga@unisimon.edu.co::9673d268-2e23-46d6-a99f-8766c810583c" providerId="AD" clId="Web-{F2A634C9-B50D-446B-A504-3786CA69F627}" dt="2023-04-25T15:15:01.338" v="10" actId="20577"/>
      <pc:docMkLst>
        <pc:docMk/>
      </pc:docMkLst>
      <pc:sldChg chg="modSp">
        <pc:chgData name="Gustavo Junior Marriaga Caballero" userId="S::gustavo.marriaga@unisimon.edu.co::9673d268-2e23-46d6-a99f-8766c810583c" providerId="AD" clId="Web-{F2A634C9-B50D-446B-A504-3786CA69F627}" dt="2023-04-25T15:15:01.338" v="10" actId="20577"/>
        <pc:sldMkLst>
          <pc:docMk/>
          <pc:sldMk cId="3840142057" sldId="316"/>
        </pc:sldMkLst>
        <pc:spChg chg="mod">
          <ac:chgData name="Gustavo Junior Marriaga Caballero" userId="S::gustavo.marriaga@unisimon.edu.co::9673d268-2e23-46d6-a99f-8766c810583c" providerId="AD" clId="Web-{F2A634C9-B50D-446B-A504-3786CA69F627}" dt="2023-04-25T15:15:01.338" v="10" actId="20577"/>
          <ac:spMkLst>
            <pc:docMk/>
            <pc:sldMk cId="3840142057" sldId="316"/>
            <ac:spMk id="5" creationId="{62D7204A-EB50-502B-140F-F825959B30A8}"/>
          </ac:spMkLst>
        </pc:spChg>
        <pc:cxnChg chg="mod">
          <ac:chgData name="Gustavo Junior Marriaga Caballero" userId="S::gustavo.marriaga@unisimon.edu.co::9673d268-2e23-46d6-a99f-8766c810583c" providerId="AD" clId="Web-{F2A634C9-B50D-446B-A504-3786CA69F627}" dt="2023-04-25T15:14:30.429" v="4" actId="20577"/>
          <ac:cxnSpMkLst>
            <pc:docMk/>
            <pc:sldMk cId="3840142057" sldId="316"/>
            <ac:cxnSpMk id="11" creationId="{00A5234B-D38F-FCE6-A758-F60BC3F040C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7901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8394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ortal.unisimon.edu.co/siaaf/index.php/home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1177473" y="1776300"/>
            <a:ext cx="9610809" cy="349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14999"/>
              </a:lnSpc>
            </a:pPr>
            <a:r>
              <a:rPr lang="es-CO" sz="4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lang="es-CO" sz="1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114999"/>
              </a:lnSpc>
            </a:pPr>
            <a:r>
              <a:rPr lang="es-MX" sz="4800" b="1" dirty="0">
                <a:solidFill>
                  <a:schemeClr val="lt1"/>
                </a:solidFill>
              </a:rPr>
              <a:t>MÓDULO DE INSTURMENTOS DE AUTOEVALUACIÓN</a:t>
            </a:r>
            <a:endParaRPr lang="es-MX" dirty="0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MX"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42219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4400"/>
            </a:pPr>
            <a:r>
              <a:rPr lang="es-CO" sz="4400">
                <a:solidFill>
                  <a:schemeClr val="lt1"/>
                </a:solidFill>
              </a:rPr>
              <a:t>Ingreso a la plataforma</a:t>
            </a:r>
            <a:endParaRPr lang="es-CO"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: esquinas redondeadas 14">
            <a:hlinkClick r:id="" action="ppaction://noaction"/>
            <a:extLst>
              <a:ext uri="{FF2B5EF4-FFF2-40B4-BE49-F238E27FC236}">
                <a16:creationId xmlns:a16="http://schemas.microsoft.com/office/drawing/2014/main" id="{02B4A9B4-C1DB-108C-E497-6E54F0FA78C6}"/>
              </a:ext>
            </a:extLst>
          </p:cNvPr>
          <p:cNvSpPr/>
          <p:nvPr/>
        </p:nvSpPr>
        <p:spPr>
          <a:xfrm>
            <a:off x="380482" y="3929817"/>
            <a:ext cx="8455294" cy="2409338"/>
          </a:xfrm>
          <a:prstGeom prst="roundRect">
            <a:avLst/>
          </a:prstGeom>
          <a:noFill/>
          <a:ln>
            <a:solidFill>
              <a:srgbClr val="D9B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4416E76-F85E-C6CA-9EE4-C7A9BB020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11" y="4125020"/>
            <a:ext cx="8091334" cy="182742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F273168-5052-82F9-32D7-B8C2A8C6D0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680"/>
          <a:stretch/>
        </p:blipFill>
        <p:spPr>
          <a:xfrm>
            <a:off x="565079" y="2075022"/>
            <a:ext cx="8086366" cy="1582578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380482" y="905554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acceder </a:t>
            </a:r>
            <a:r>
              <a:rPr lang="es-MX" sz="2000" dirty="0">
                <a:solidFill>
                  <a:schemeClr val="dk1"/>
                </a:solidFill>
              </a:rPr>
              <a:t>al módulo de medición de apreciaciones 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ingrese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aquí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Posteriormente ingrese su usuario y contraseña institucional, y presione el botón </a:t>
            </a:r>
            <a:r>
              <a:rPr lang="es-MX" sz="2000" dirty="0">
                <a:solidFill>
                  <a:schemeClr val="dk1"/>
                </a:solidFill>
              </a:rPr>
              <a:t>“</a:t>
            </a:r>
            <a:r>
              <a:rPr lang="es-MX" sz="2000" b="1" dirty="0">
                <a:solidFill>
                  <a:schemeClr val="dk1"/>
                </a:solidFill>
              </a:rPr>
              <a:t>iniciar sesión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lang="es-MX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1B5D2FB-57A2-A350-84FF-729FC4CDED99}"/>
              </a:ext>
            </a:extLst>
          </p:cNvPr>
          <p:cNvSpPr/>
          <p:nvPr/>
        </p:nvSpPr>
        <p:spPr>
          <a:xfrm>
            <a:off x="3719246" y="2573264"/>
            <a:ext cx="1489752" cy="10843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hlinkClick r:id="" action="ppaction://noaction"/>
            <a:extLst>
              <a:ext uri="{FF2B5EF4-FFF2-40B4-BE49-F238E27FC236}">
                <a16:creationId xmlns:a16="http://schemas.microsoft.com/office/drawing/2014/main" id="{909ED719-9EF2-300B-3A26-2709B542CC43}"/>
              </a:ext>
            </a:extLst>
          </p:cNvPr>
          <p:cNvSpPr txBox="1"/>
          <p:nvPr/>
        </p:nvSpPr>
        <p:spPr>
          <a:xfrm>
            <a:off x="9173857" y="2001174"/>
            <a:ext cx="2802788" cy="92333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rgbClr val="70AD47"/>
                </a:solidFill>
                <a:latin typeface="Arial"/>
                <a:cs typeface="Arial"/>
              </a:rPr>
              <a:t>Ingrese al módulo de Medición de apreciaciones</a:t>
            </a:r>
            <a:endParaRPr lang="es-CO" sz="1200" dirty="0">
              <a:solidFill>
                <a:srgbClr val="70AD47"/>
              </a:solidFill>
              <a:latin typeface="Arial"/>
              <a:cs typeface="Arial"/>
            </a:endParaRP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478393C8-ACA9-F59B-08AD-87F1E6331FB6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8835776" y="2924504"/>
            <a:ext cx="1739475" cy="548157"/>
          </a:xfrm>
          <a:prstGeom prst="bentConnector2">
            <a:avLst/>
          </a:prstGeom>
          <a:ln w="38100">
            <a:solidFill>
              <a:schemeClr val="accent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125B879-63A7-2371-B907-CC77854976B5}"/>
              </a:ext>
            </a:extLst>
          </p:cNvPr>
          <p:cNvSpPr/>
          <p:nvPr/>
        </p:nvSpPr>
        <p:spPr>
          <a:xfrm>
            <a:off x="380482" y="1986738"/>
            <a:ext cx="8465568" cy="177360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CuadroTexto 15">
            <a:hlinkClick r:id="" action="ppaction://noaction"/>
            <a:extLst>
              <a:ext uri="{FF2B5EF4-FFF2-40B4-BE49-F238E27FC236}">
                <a16:creationId xmlns:a16="http://schemas.microsoft.com/office/drawing/2014/main" id="{25BE4506-719C-D422-1CDF-ED3F08FE0BBB}"/>
              </a:ext>
            </a:extLst>
          </p:cNvPr>
          <p:cNvSpPr txBox="1"/>
          <p:nvPr/>
        </p:nvSpPr>
        <p:spPr>
          <a:xfrm>
            <a:off x="9173857" y="3943204"/>
            <a:ext cx="2761678" cy="1754326"/>
          </a:xfrm>
          <a:prstGeom prst="rect">
            <a:avLst/>
          </a:prstGeom>
          <a:noFill/>
          <a:ln w="9525" cap="flat" cmpd="sng" algn="ctr">
            <a:solidFill>
              <a:srgbClr val="D9BC6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accent4">
                    <a:lumMod val="75000"/>
                  </a:schemeClr>
                </a:solidFill>
                <a:latin typeface="Arial"/>
                <a:cs typeface="Arial"/>
              </a:rPr>
              <a:t>1. En el panel de navegación dar clic en </a:t>
            </a:r>
            <a:r>
              <a:rPr lang="es-CO" sz="1800" b="1" dirty="0">
                <a:solidFill>
                  <a:schemeClr val="accent4">
                    <a:lumMod val="75000"/>
                  </a:schemeClr>
                </a:solidFill>
                <a:latin typeface="Arial"/>
                <a:cs typeface="Arial"/>
              </a:rPr>
              <a:t>Encuestas.</a:t>
            </a:r>
          </a:p>
          <a:p>
            <a:br>
              <a:rPr lang="es-CO" sz="1800" dirty="0">
                <a:solidFill>
                  <a:schemeClr val="accent4">
                    <a:lumMod val="75000"/>
                  </a:schemeClr>
                </a:solidFill>
                <a:latin typeface="Arial"/>
                <a:cs typeface="Arial"/>
              </a:rPr>
            </a:br>
            <a:r>
              <a:rPr lang="es-CO" sz="1800" dirty="0">
                <a:solidFill>
                  <a:schemeClr val="accent4">
                    <a:lumMod val="75000"/>
                  </a:schemeClr>
                </a:solidFill>
                <a:latin typeface="Arial"/>
                <a:cs typeface="Arial"/>
              </a:rPr>
              <a:t>2. Selecciona el programa a </a:t>
            </a:r>
            <a:r>
              <a:rPr lang="es-CO" sz="1800" dirty="0" err="1">
                <a:solidFill>
                  <a:schemeClr val="accent4">
                    <a:lumMod val="75000"/>
                  </a:schemeClr>
                </a:solidFill>
                <a:latin typeface="Arial"/>
                <a:cs typeface="Arial"/>
              </a:rPr>
              <a:t>evalular</a:t>
            </a:r>
            <a:r>
              <a:rPr lang="es-CO" sz="1800" dirty="0">
                <a:solidFill>
                  <a:schemeClr val="accent4">
                    <a:lumMod val="75000"/>
                  </a:schemeClr>
                </a:solidFill>
                <a:latin typeface="Arial"/>
                <a:cs typeface="Arial"/>
              </a:rPr>
              <a:t>.</a:t>
            </a:r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EFA3E8B5-0AE0-DD85-C993-1CF2A62ECD80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8835776" y="4820367"/>
            <a:ext cx="338081" cy="314119"/>
          </a:xfrm>
          <a:prstGeom prst="bentConnector3">
            <a:avLst>
              <a:gd name="adj1" fmla="val 50000"/>
            </a:avLst>
          </a:prstGeom>
          <a:ln w="38100">
            <a:solidFill>
              <a:srgbClr val="D9BC6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6510E069-C833-AFFA-C1CA-A715A47A9CF1}"/>
              </a:ext>
            </a:extLst>
          </p:cNvPr>
          <p:cNvSpPr/>
          <p:nvPr/>
        </p:nvSpPr>
        <p:spPr>
          <a:xfrm>
            <a:off x="645559" y="4541179"/>
            <a:ext cx="1964077" cy="32535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99E9263-7397-B6D4-1401-6895386387C7}"/>
              </a:ext>
            </a:extLst>
          </p:cNvPr>
          <p:cNvSpPr/>
          <p:nvPr/>
        </p:nvSpPr>
        <p:spPr>
          <a:xfrm>
            <a:off x="3154167" y="4048019"/>
            <a:ext cx="5582726" cy="2073902"/>
          </a:xfrm>
          <a:prstGeom prst="roundRect">
            <a:avLst>
              <a:gd name="adj" fmla="val 5985"/>
            </a:avLst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422193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4400"/>
            </a:pPr>
            <a:r>
              <a:rPr lang="es-CO" sz="4400" dirty="0">
                <a:solidFill>
                  <a:schemeClr val="lt1"/>
                </a:solidFill>
              </a:rPr>
              <a:t>Gestión de instrumentos a evaluar</a:t>
            </a:r>
            <a:endParaRPr lang="es-CO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6478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EA05FEBE-C2E0-9CE3-F9DE-42083016ACCF}"/>
              </a:ext>
            </a:extLst>
          </p:cNvPr>
          <p:cNvSpPr/>
          <p:nvPr/>
        </p:nvSpPr>
        <p:spPr>
          <a:xfrm>
            <a:off x="478781" y="3097422"/>
            <a:ext cx="2476500" cy="6223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Estudiantes</a:t>
            </a:r>
            <a:endParaRPr lang="es-CO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EB650C6-18FB-7938-71C2-78983F357EA5}"/>
              </a:ext>
            </a:extLst>
          </p:cNvPr>
          <p:cNvSpPr/>
          <p:nvPr/>
        </p:nvSpPr>
        <p:spPr>
          <a:xfrm>
            <a:off x="3387034" y="3097422"/>
            <a:ext cx="2476500" cy="6223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Profesores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6159282-2A13-DF25-D872-EDBBE86B3026}"/>
              </a:ext>
            </a:extLst>
          </p:cNvPr>
          <p:cNvSpPr/>
          <p:nvPr/>
        </p:nvSpPr>
        <p:spPr>
          <a:xfrm>
            <a:off x="6289263" y="3097422"/>
            <a:ext cx="2476500" cy="6223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Admin</a:t>
            </a:r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/Directivos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6534B99-0C10-5684-32AE-85DAA7952757}"/>
              </a:ext>
            </a:extLst>
          </p:cNvPr>
          <p:cNvSpPr/>
          <p:nvPr/>
        </p:nvSpPr>
        <p:spPr>
          <a:xfrm>
            <a:off x="9243927" y="3097422"/>
            <a:ext cx="2476500" cy="6223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Egresados</a:t>
            </a:r>
          </a:p>
        </p:txBody>
      </p:sp>
      <p:sp>
        <p:nvSpPr>
          <p:cNvPr id="98" name="Google Shape;98;p3"/>
          <p:cNvSpPr txBox="1"/>
          <p:nvPr/>
        </p:nvSpPr>
        <p:spPr>
          <a:xfrm>
            <a:off x="388573" y="993676"/>
            <a:ext cx="11507134" cy="189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instrumentos de autoevaluaci</a:t>
            </a:r>
            <a:r>
              <a:rPr lang="es-MX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ón están divididos por 4 tipos de roles, por esta razón de acuerdo a el perfil de SIA se direccionara  al instrumento relacionado con su rol:</a:t>
            </a:r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-MX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Estudiantes</a:t>
            </a:r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-MX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Profesores</a:t>
            </a:r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-MX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Administrativos</a:t>
            </a:r>
            <a:r>
              <a:rPr lang="es-MX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/Directivos</a:t>
            </a:r>
          </a:p>
          <a:p>
            <a:pPr marL="342900" marR="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-MX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Egresados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39C173D-931D-F885-15F7-CBBAFA871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160" y="3630822"/>
            <a:ext cx="2788707" cy="20599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7D69C3A-8449-9634-0EFD-4E9EE0493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655" y="3630822"/>
            <a:ext cx="2800753" cy="20599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D1EA565-3894-C0D6-A3B6-07744ECF3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189" y="3630822"/>
            <a:ext cx="2722190" cy="20599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7E98C01-E7A6-D3D0-B3A2-B65221EB74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8648" y="3630822"/>
            <a:ext cx="2827059" cy="205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710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BBD575CA-FF23-4063-B498-6A3881741B50}"/>
</file>

<file path=customXml/itemProps2.xml><?xml version="1.0" encoding="utf-8"?>
<ds:datastoreItem xmlns:ds="http://schemas.openxmlformats.org/officeDocument/2006/customXml" ds:itemID="{2A23D148-5857-4E5B-8ABA-8CE6E3B812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F17545-09FB-41A8-B550-5DA279D6760D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www.w3.org/XML/1998/namespace"/>
    <ds:schemaRef ds:uri="9257db38-f83e-44fa-b9f4-e78d67340a44"/>
    <ds:schemaRef ds:uri="http://purl.org/dc/dcmitype/"/>
    <ds:schemaRef ds:uri="http://schemas.openxmlformats.org/package/2006/metadata/core-properties"/>
    <ds:schemaRef ds:uri="63e5e1e3-d502-40f8-9976-781b6dbf368c"/>
    <ds:schemaRef ds:uri="http://schemas.microsoft.com/office/2006/metadata/properties"/>
    <ds:schemaRef ds:uri="62b5035e-b578-4e65-b593-ca609c2ca356"/>
    <ds:schemaRef ds:uri="7fc45227-09d8-40c5-97c0-2d2ec2961a2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5036</TotalTime>
  <Words>113</Words>
  <Application>Microsoft Office PowerPoint</Application>
  <PresentationFormat>Panorámica</PresentationFormat>
  <Paragraphs>17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Gustavo Junior Marriaga Caballero</cp:lastModifiedBy>
  <cp:revision>198</cp:revision>
  <dcterms:created xsi:type="dcterms:W3CDTF">2021-08-30T16:06:06Z</dcterms:created>
  <dcterms:modified xsi:type="dcterms:W3CDTF">2023-04-25T15:50:03Z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