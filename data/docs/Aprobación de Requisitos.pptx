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4" r:id="rId3"/>
    <p:sldId id="265" r:id="rId4"/>
    <p:sldId id="266" r:id="rId5"/>
    <p:sldId id="267" r:id="rId6"/>
    <p:sldId id="269" r:id="rId7"/>
    <p:sldId id="270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28/05/2020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28/05/2020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unisimon.edu.co/portales/administrativo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891142"/>
            <a:ext cx="741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974850" y="2486637"/>
            <a:ext cx="5422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 smtClean="0"/>
              <a:t>APROBACIÓN DE REQUISITOS ASPIRANTES</a:t>
            </a:r>
            <a:endParaRPr lang="es-CO" sz="3200" b="1" dirty="0"/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1"/>
          <p:cNvSpPr txBox="1"/>
          <p:nvPr/>
        </p:nvSpPr>
        <p:spPr>
          <a:xfrm>
            <a:off x="0" y="929161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Ingreso</a:t>
            </a:r>
            <a:endParaRPr lang="es-CO" sz="2200" b="1" dirty="0"/>
          </a:p>
        </p:txBody>
      </p:sp>
      <p:sp>
        <p:nvSpPr>
          <p:cNvPr id="7" name="CuadroTexto 2"/>
          <p:cNvSpPr txBox="1"/>
          <p:nvPr/>
        </p:nvSpPr>
        <p:spPr>
          <a:xfrm>
            <a:off x="267026" y="1459085"/>
            <a:ext cx="8394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Desde la página web de la universidad, en la sección de «Portales» (</a:t>
            </a:r>
            <a:r>
              <a:rPr lang="es-CO" dirty="0">
                <a:hlinkClick r:id="rId2"/>
              </a:rPr>
              <a:t>http://</a:t>
            </a:r>
            <a:r>
              <a:rPr lang="es-CO" dirty="0" smtClean="0">
                <a:hlinkClick r:id="rId2"/>
              </a:rPr>
              <a:t>www.unisimon.edu.co/portales</a:t>
            </a:r>
            <a:r>
              <a:rPr lang="es-CO" dirty="0">
                <a:hlinkClick r:id="rId2"/>
              </a:rPr>
              <a:t>/administrativos</a:t>
            </a:r>
            <a:r>
              <a:rPr lang="es-CO" dirty="0" smtClean="0"/>
              <a:t>), ingrese </a:t>
            </a:r>
            <a:r>
              <a:rPr lang="es-CO" dirty="0"/>
              <a:t>su usuario y contraseña, y presione el botón «Acceder»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4"/>
          <a:stretch/>
        </p:blipFill>
        <p:spPr bwMode="auto">
          <a:xfrm>
            <a:off x="620419" y="2734236"/>
            <a:ext cx="7687588" cy="3564697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737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91" y="2348000"/>
            <a:ext cx="8817935" cy="35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Elipse"/>
          <p:cNvSpPr/>
          <p:nvPr/>
        </p:nvSpPr>
        <p:spPr>
          <a:xfrm>
            <a:off x="636726" y="3871207"/>
            <a:ext cx="1607128" cy="997527"/>
          </a:xfrm>
          <a:prstGeom prst="ellipse">
            <a:avLst/>
          </a:prstGeom>
          <a:noFill/>
          <a:ln w="57150"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10 CuadroTexto"/>
          <p:cNvSpPr txBox="1"/>
          <p:nvPr/>
        </p:nvSpPr>
        <p:spPr>
          <a:xfrm>
            <a:off x="1025714" y="900552"/>
            <a:ext cx="712829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 smtClean="0"/>
              <a:t>Oferta de inscripción para grados</a:t>
            </a:r>
            <a:endParaRPr lang="es-CO" b="1" dirty="0"/>
          </a:p>
          <a:p>
            <a:endParaRPr lang="es-CO" dirty="0" smtClean="0"/>
          </a:p>
          <a:p>
            <a:endParaRPr lang="es-CO" sz="800" dirty="0"/>
          </a:p>
          <a:p>
            <a:r>
              <a:rPr lang="es-CO" dirty="0" smtClean="0"/>
              <a:t>Al ingresar al portal (SIA WEB), seleccione el icono “Procesos estudiantes”.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63498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6250"/>
          <a:stretch/>
        </p:blipFill>
        <p:spPr bwMode="auto">
          <a:xfrm>
            <a:off x="188982" y="2711450"/>
            <a:ext cx="8789918" cy="3552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88982" y="957645"/>
            <a:ext cx="87899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 smtClean="0"/>
              <a:t>Al </a:t>
            </a:r>
            <a:r>
              <a:rPr lang="es-CO" dirty="0"/>
              <a:t>ingresar, </a:t>
            </a:r>
            <a:r>
              <a:rPr lang="es-CO" dirty="0" smtClean="0"/>
              <a:t>seleccione el </a:t>
            </a:r>
            <a:r>
              <a:rPr lang="es-CO" dirty="0"/>
              <a:t>proceso, periodo </a:t>
            </a:r>
            <a:r>
              <a:rPr lang="es-CO" dirty="0" smtClean="0"/>
              <a:t>actual, nivel y programa académico y se listarán todos los aspirantes que están en este proceso.</a:t>
            </a:r>
            <a:endParaRPr lang="es-CO" dirty="0"/>
          </a:p>
          <a:p>
            <a:pPr algn="just"/>
            <a:endParaRPr lang="es-CO" dirty="0"/>
          </a:p>
          <a:p>
            <a:pPr algn="just"/>
            <a:r>
              <a:rPr lang="es-CO" dirty="0" smtClean="0"/>
              <a:t>También podrá buscar a un aspirante por su número de identificación, digitándolo en el campo «</a:t>
            </a:r>
            <a:r>
              <a:rPr lang="es-CO" b="1" dirty="0" smtClean="0"/>
              <a:t>Documento</a:t>
            </a:r>
            <a:r>
              <a:rPr lang="es-CO" dirty="0" smtClean="0"/>
              <a:t>» y luego haciendo clic </a:t>
            </a:r>
            <a:r>
              <a:rPr lang="es-CO" dirty="0"/>
              <a:t>en el botón «</a:t>
            </a:r>
            <a:r>
              <a:rPr lang="es-CO" b="1" dirty="0"/>
              <a:t>Buscar</a:t>
            </a:r>
            <a:r>
              <a:rPr lang="es-CO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2679349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363678" y="3606165"/>
            <a:ext cx="83980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 smtClean="0"/>
              <a:t>Opciones</a:t>
            </a:r>
            <a:r>
              <a:rPr lang="es-CO" b="1" dirty="0" smtClean="0"/>
              <a:t>:</a:t>
            </a:r>
            <a:endParaRPr lang="es-CO" b="1" dirty="0"/>
          </a:p>
          <a:p>
            <a:pPr marL="342900" indent="-342900" algn="just">
              <a:buFont typeface="+mj-lt"/>
              <a:buAutoNum type="arabicPeriod"/>
            </a:pPr>
            <a:r>
              <a:rPr lang="es-CO" b="1" dirty="0" smtClean="0"/>
              <a:t>Ver Requisitos:</a:t>
            </a:r>
            <a:r>
              <a:rPr lang="es-CO" dirty="0" smtClean="0"/>
              <a:t> </a:t>
            </a:r>
            <a:r>
              <a:rPr lang="es-CO" dirty="0" smtClean="0"/>
              <a:t>Visualizar y </a:t>
            </a:r>
            <a:r>
              <a:rPr lang="es-CO" dirty="0" smtClean="0"/>
              <a:t>aprobar cada uno de los </a:t>
            </a:r>
            <a:r>
              <a:rPr lang="es-CO" dirty="0" smtClean="0"/>
              <a:t>requisitos asignados al área a la que pertenece el usuario.</a:t>
            </a:r>
            <a:endParaRPr lang="es-CO" b="1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s-CO" b="1" dirty="0" smtClean="0"/>
              <a:t>Ver Hoja de Vida:</a:t>
            </a:r>
            <a:r>
              <a:rPr lang="es-CO" dirty="0" smtClean="0"/>
              <a:t> Visualizar todos los datos pertenecientes a la Hoja de Vida </a:t>
            </a:r>
            <a:r>
              <a:rPr lang="es-CO" smtClean="0"/>
              <a:t>del </a:t>
            </a:r>
            <a:r>
              <a:rPr lang="es-CO" smtClean="0"/>
              <a:t>Aspirante.</a:t>
            </a:r>
            <a:endParaRPr lang="es-CO" b="1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s-CO" b="1" dirty="0" smtClean="0">
                <a:solidFill>
                  <a:schemeClr val="bg1">
                    <a:lumMod val="50000"/>
                  </a:schemeClr>
                </a:solidFill>
              </a:rPr>
              <a:t>Aprobar/Admitir: </a:t>
            </a:r>
            <a:r>
              <a:rPr lang="es-CO" dirty="0" smtClean="0">
                <a:solidFill>
                  <a:schemeClr val="bg1">
                    <a:lumMod val="50000"/>
                  </a:schemeClr>
                </a:solidFill>
              </a:rPr>
              <a:t>Aprobar </a:t>
            </a:r>
            <a:r>
              <a:rPr lang="es-CO" dirty="0" smtClean="0">
                <a:solidFill>
                  <a:schemeClr val="bg1">
                    <a:lumMod val="50000"/>
                  </a:schemeClr>
                </a:solidFill>
              </a:rPr>
              <a:t>la solicitud, con el fin de que el Aspirante pueda continuar el proceso.</a:t>
            </a:r>
            <a:endParaRPr lang="es-CO" b="1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CO" b="1" dirty="0" smtClean="0">
                <a:solidFill>
                  <a:schemeClr val="bg1">
                    <a:lumMod val="50000"/>
                  </a:schemeClr>
                </a:solidFill>
              </a:rPr>
              <a:t>Enviar Correo Personalizado:</a:t>
            </a:r>
            <a:r>
              <a:rPr lang="es-CO" dirty="0" smtClean="0">
                <a:solidFill>
                  <a:schemeClr val="bg1">
                    <a:lumMod val="50000"/>
                  </a:schemeClr>
                </a:solidFill>
              </a:rPr>
              <a:t> Permite enviar un correo personalizado, en caso de novedad e inconveniente durante el proceso</a:t>
            </a:r>
            <a:r>
              <a:rPr lang="es-CO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s-CO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510" y="1816100"/>
            <a:ext cx="227838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7" name="56 Conector recto de flecha"/>
          <p:cNvCxnSpPr/>
          <p:nvPr/>
        </p:nvCxnSpPr>
        <p:spPr>
          <a:xfrm rot="5400000">
            <a:off x="2977474" y="2087563"/>
            <a:ext cx="0" cy="5280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57 Elipse"/>
          <p:cNvSpPr/>
          <p:nvPr/>
        </p:nvSpPr>
        <p:spPr>
          <a:xfrm rot="5400000">
            <a:off x="2339630" y="2166774"/>
            <a:ext cx="377960" cy="369653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1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59" name="58 Conector recto de flecha"/>
          <p:cNvCxnSpPr/>
          <p:nvPr/>
        </p:nvCxnSpPr>
        <p:spPr>
          <a:xfrm>
            <a:off x="4277194" y="2496288"/>
            <a:ext cx="0" cy="51075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59 Elipse"/>
          <p:cNvSpPr/>
          <p:nvPr/>
        </p:nvSpPr>
        <p:spPr>
          <a:xfrm>
            <a:off x="4081806" y="3007045"/>
            <a:ext cx="390775" cy="357530"/>
          </a:xfrm>
          <a:prstGeom prst="ellipse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CO" dirty="0" smtClean="0">
                <a:solidFill>
                  <a:schemeClr val="tx1"/>
                </a:solidFill>
              </a:rPr>
              <a:t>2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61" name="60 Conector recto de flecha"/>
          <p:cNvCxnSpPr/>
          <p:nvPr/>
        </p:nvCxnSpPr>
        <p:spPr>
          <a:xfrm>
            <a:off x="5179707" y="2498004"/>
            <a:ext cx="0" cy="51075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61 Elipse"/>
          <p:cNvSpPr/>
          <p:nvPr/>
        </p:nvSpPr>
        <p:spPr>
          <a:xfrm>
            <a:off x="4984319" y="3008761"/>
            <a:ext cx="390775" cy="357530"/>
          </a:xfrm>
          <a:prstGeom prst="ellipse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CO" dirty="0" smtClean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es-CO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3" name="62 Conector recto de flecha"/>
          <p:cNvCxnSpPr/>
          <p:nvPr/>
        </p:nvCxnSpPr>
        <p:spPr>
          <a:xfrm rot="10800000">
            <a:off x="4767707" y="1580277"/>
            <a:ext cx="0" cy="510757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63 Elipse"/>
          <p:cNvSpPr/>
          <p:nvPr/>
        </p:nvSpPr>
        <p:spPr>
          <a:xfrm rot="5400000">
            <a:off x="4570028" y="1216673"/>
            <a:ext cx="377960" cy="369653"/>
          </a:xfrm>
          <a:prstGeom prst="ellipse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CO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es-CO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18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596900" y="2095500"/>
            <a:ext cx="8064500" cy="4489515"/>
            <a:chOff x="596900" y="1917700"/>
            <a:chExt cx="8064500" cy="448951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87" t="21354" r="16838" b="13021"/>
            <a:stretch/>
          </p:blipFill>
          <p:spPr bwMode="auto">
            <a:xfrm>
              <a:off x="596900" y="1917700"/>
              <a:ext cx="8064500" cy="4489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4 Conector recto de flecha"/>
            <p:cNvCxnSpPr/>
            <p:nvPr/>
          </p:nvCxnSpPr>
          <p:spPr>
            <a:xfrm>
              <a:off x="1256731" y="5949643"/>
              <a:ext cx="100993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5 Rectángulo redondeado"/>
            <p:cNvSpPr/>
            <p:nvPr/>
          </p:nvSpPr>
          <p:spPr>
            <a:xfrm>
              <a:off x="897081" y="5758574"/>
              <a:ext cx="359650" cy="35484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6 Rectángulo redondeado"/>
            <p:cNvSpPr/>
            <p:nvPr/>
          </p:nvSpPr>
          <p:spPr>
            <a:xfrm>
              <a:off x="2266664" y="5758574"/>
              <a:ext cx="3384645" cy="35484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 smtClean="0">
                  <a:solidFill>
                    <a:schemeClr val="tx1"/>
                  </a:solidFill>
                </a:rPr>
                <a:t>Actualizar listado</a:t>
              </a:r>
              <a:endParaRPr lang="es-CO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7 Conector recto de flecha"/>
            <p:cNvCxnSpPr/>
            <p:nvPr/>
          </p:nvCxnSpPr>
          <p:spPr>
            <a:xfrm>
              <a:off x="1347655" y="4815681"/>
              <a:ext cx="1009934" cy="0"/>
            </a:xfrm>
            <a:prstGeom prst="straightConnector1">
              <a:avLst/>
            </a:prstGeom>
            <a:solidFill>
              <a:schemeClr val="bg1">
                <a:lumMod val="95000"/>
              </a:schemeClr>
            </a:solidFill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Rectángulo redondeado"/>
            <p:cNvSpPr/>
            <p:nvPr/>
          </p:nvSpPr>
          <p:spPr>
            <a:xfrm>
              <a:off x="988005" y="4624612"/>
              <a:ext cx="359650" cy="35484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9 Rectángulo redondeado"/>
            <p:cNvSpPr/>
            <p:nvPr/>
          </p:nvSpPr>
          <p:spPr>
            <a:xfrm>
              <a:off x="2357588" y="4624612"/>
              <a:ext cx="3384645" cy="35484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 smtClean="0">
                  <a:solidFill>
                    <a:schemeClr val="tx1"/>
                  </a:solidFill>
                </a:rPr>
                <a:t>Aprobar requisito</a:t>
              </a:r>
              <a:endParaRPr lang="es-CO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11 CuadroTexto"/>
          <p:cNvSpPr txBox="1"/>
          <p:nvPr/>
        </p:nvSpPr>
        <p:spPr>
          <a:xfrm>
            <a:off x="124619" y="1026577"/>
            <a:ext cx="887616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1100" b="1" dirty="0" smtClean="0"/>
          </a:p>
          <a:p>
            <a:pPr algn="just"/>
            <a:r>
              <a:rPr lang="es-CO" b="1" dirty="0" smtClean="0"/>
              <a:t>Ver requisitos: </a:t>
            </a:r>
            <a:r>
              <a:rPr lang="es-CO" dirty="0" smtClean="0"/>
              <a:t>En esta sección se listarán todos los requisitos que se hayan </a:t>
            </a:r>
            <a:r>
              <a:rPr lang="es-CO" dirty="0" err="1" smtClean="0"/>
              <a:t>parametrizado</a:t>
            </a:r>
            <a:r>
              <a:rPr lang="es-CO" dirty="0" smtClean="0"/>
              <a:t> para el programa académico del Aspirante, para su visualización y aprobación</a:t>
            </a:r>
            <a:r>
              <a:rPr lang="es-CO" dirty="0" smtClean="0"/>
              <a:t>.</a:t>
            </a:r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408121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8" t="21180" r="16934" b="12674"/>
          <a:stretch/>
        </p:blipFill>
        <p:spPr bwMode="auto">
          <a:xfrm>
            <a:off x="676500" y="2376024"/>
            <a:ext cx="7772400" cy="436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24619" y="1026577"/>
            <a:ext cx="8876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b="1" dirty="0" smtClean="0"/>
              <a:t>Aprobar requisitos</a:t>
            </a:r>
            <a:r>
              <a:rPr lang="es-CO" b="1" dirty="0" smtClean="0"/>
              <a:t>: </a:t>
            </a:r>
            <a:r>
              <a:rPr lang="es-CO" dirty="0" smtClean="0"/>
              <a:t>Al seleccionar un requisito con la intención de aprobarlo, el sistema le pedirá confirmación.</a:t>
            </a:r>
            <a:endParaRPr lang="es-CO" dirty="0"/>
          </a:p>
          <a:p>
            <a:pPr algn="just"/>
            <a:r>
              <a:rPr lang="es-CO" dirty="0" smtClean="0"/>
              <a:t>En caso de que el usuario no posea permisos asociados al área que aparece como Dependencia Responsable del requisito, el sistema arrojará el respectivo mensaje de error.</a:t>
            </a:r>
            <a:endParaRPr lang="es-CO" dirty="0" smtClean="0"/>
          </a:p>
        </p:txBody>
      </p:sp>
    </p:spTree>
    <p:extLst>
      <p:ext uri="{BB962C8B-B14F-4D97-AF65-F5344CB8AC3E}">
        <p14:creationId xmlns:p14="http://schemas.microsoft.com/office/powerpoint/2010/main" val="3044519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5254503-E8FB-4202-B2F8-1C39282BDF07}"/>
</file>

<file path=customXml/itemProps2.xml><?xml version="1.0" encoding="utf-8"?>
<ds:datastoreItem xmlns:ds="http://schemas.openxmlformats.org/officeDocument/2006/customXml" ds:itemID="{DB596345-E445-4DD5-B439-D65BCE93F5F0}"/>
</file>

<file path=customXml/itemProps3.xml><?xml version="1.0" encoding="utf-8"?>
<ds:datastoreItem xmlns:ds="http://schemas.openxmlformats.org/officeDocument/2006/customXml" ds:itemID="{34F70978-A06E-4EA3-890E-833A2F013C3C}"/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277</Words>
  <Application>Microsoft Office PowerPoint</Application>
  <PresentationFormat>Presentación en pantalla (4:3)</PresentationFormat>
  <Paragraphs>28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Rose</cp:lastModifiedBy>
  <cp:revision>54</cp:revision>
  <dcterms:created xsi:type="dcterms:W3CDTF">2017-01-26T20:10:20Z</dcterms:created>
  <dcterms:modified xsi:type="dcterms:W3CDTF">2020-05-28T22:43:27Z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